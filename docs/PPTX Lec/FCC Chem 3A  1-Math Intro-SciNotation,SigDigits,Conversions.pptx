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53"/>
  </p:notesMasterIdLst>
  <p:sldIdLst>
    <p:sldId id="608" r:id="rId2"/>
    <p:sldId id="859" r:id="rId3"/>
    <p:sldId id="815" r:id="rId4"/>
    <p:sldId id="840" r:id="rId5"/>
    <p:sldId id="797" r:id="rId6"/>
    <p:sldId id="799" r:id="rId7"/>
    <p:sldId id="798" r:id="rId8"/>
    <p:sldId id="800" r:id="rId9"/>
    <p:sldId id="801" r:id="rId10"/>
    <p:sldId id="802" r:id="rId11"/>
    <p:sldId id="803" r:id="rId12"/>
    <p:sldId id="842" r:id="rId13"/>
    <p:sldId id="843" r:id="rId14"/>
    <p:sldId id="844" r:id="rId15"/>
    <p:sldId id="845" r:id="rId16"/>
    <p:sldId id="846" r:id="rId17"/>
    <p:sldId id="812" r:id="rId18"/>
    <p:sldId id="814" r:id="rId19"/>
    <p:sldId id="813" r:id="rId20"/>
    <p:sldId id="833" r:id="rId21"/>
    <p:sldId id="811" r:id="rId22"/>
    <p:sldId id="804" r:id="rId23"/>
    <p:sldId id="831" r:id="rId24"/>
    <p:sldId id="834" r:id="rId25"/>
    <p:sldId id="858" r:id="rId26"/>
    <p:sldId id="830" r:id="rId27"/>
    <p:sldId id="832" r:id="rId28"/>
    <p:sldId id="847" r:id="rId29"/>
    <p:sldId id="848" r:id="rId30"/>
    <p:sldId id="849" r:id="rId31"/>
    <p:sldId id="860" r:id="rId32"/>
    <p:sldId id="821" r:id="rId33"/>
    <p:sldId id="823" r:id="rId34"/>
    <p:sldId id="850" r:id="rId35"/>
    <p:sldId id="851" r:id="rId36"/>
    <p:sldId id="852" r:id="rId37"/>
    <p:sldId id="853" r:id="rId38"/>
    <p:sldId id="854" r:id="rId39"/>
    <p:sldId id="855" r:id="rId40"/>
    <p:sldId id="856" r:id="rId41"/>
    <p:sldId id="805" r:id="rId42"/>
    <p:sldId id="835" r:id="rId43"/>
    <p:sldId id="836" r:id="rId44"/>
    <p:sldId id="838" r:id="rId45"/>
    <p:sldId id="839" r:id="rId46"/>
    <p:sldId id="857" r:id="rId47"/>
    <p:sldId id="827" r:id="rId48"/>
    <p:sldId id="807" r:id="rId49"/>
    <p:sldId id="828" r:id="rId50"/>
    <p:sldId id="808" r:id="rId51"/>
    <p:sldId id="829" r:id="rId52"/>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15:clr>
            <a:srgbClr val="A4A3A4"/>
          </p15:clr>
        </p15:guide>
        <p15:guide id="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FF"/>
    <a:srgbClr val="FF9933"/>
    <a:srgbClr val="00FF00"/>
    <a:srgbClr val="FFFFCC"/>
    <a:srgbClr val="339933"/>
    <a:srgbClr val="CCFFFF"/>
    <a:srgbClr val="FFFF99"/>
    <a:srgbClr val="99FFCC"/>
    <a:srgbClr val="99FF66"/>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22" autoAdjust="0"/>
    <p:restoredTop sz="94620" autoAdjust="0"/>
  </p:normalViewPr>
  <p:slideViewPr>
    <p:cSldViewPr snapToGrid="0">
      <p:cViewPr varScale="1">
        <p:scale>
          <a:sx n="99" d="100"/>
          <a:sy n="99" d="100"/>
        </p:scale>
        <p:origin x="96" y="798"/>
      </p:cViewPr>
      <p:guideLst>
        <p:guide orient="horz"/>
        <p:guide/>
      </p:guideLst>
    </p:cSldViewPr>
  </p:slideViewPr>
  <p:notesTextViewPr>
    <p:cViewPr>
      <p:scale>
        <a:sx n="100" d="100"/>
        <a:sy n="100" d="100"/>
      </p:scale>
      <p:origin x="0" y="0"/>
    </p:cViewPr>
  </p:notesTextViewPr>
  <p:sorterViewPr>
    <p:cViewPr>
      <p:scale>
        <a:sx n="80" d="100"/>
        <a:sy n="80" d="100"/>
      </p:scale>
      <p:origin x="0" y="329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dk1"/>
                </a:solidFill>
                <a:latin typeface="+mn-lt"/>
                <a:ea typeface="+mn-ea"/>
                <a:cs typeface="+mn-cs"/>
              </a:defRPr>
            </a:pPr>
            <a:r>
              <a:rPr lang="en-US" dirty="0"/>
              <a:t>Celsius</a:t>
            </a:r>
            <a:r>
              <a:rPr lang="en-US" baseline="0" dirty="0"/>
              <a:t> </a:t>
            </a:r>
            <a:r>
              <a:rPr lang="en-US" baseline="0" dirty="0">
                <a:sym typeface="Wingdings" panose="05000000000000000000" pitchFamily="2" charset="2"/>
              </a:rPr>
              <a:t> Kelvin</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dk1"/>
              </a:solidFill>
              <a:latin typeface="+mn-lt"/>
              <a:ea typeface="+mn-ea"/>
              <a:cs typeface="+mn-cs"/>
            </a:defRPr>
          </a:pPr>
          <a:endParaRPr lang="en-US"/>
        </a:p>
      </c:txPr>
    </c:title>
    <c:autoTitleDeleted val="0"/>
    <c:plotArea>
      <c:layout>
        <c:manualLayout>
          <c:layoutTarget val="inner"/>
          <c:xMode val="edge"/>
          <c:yMode val="edge"/>
          <c:x val="0.22525174030605966"/>
          <c:y val="0.20285544599893368"/>
          <c:w val="0.69792373528940743"/>
          <c:h val="0.58971101347748911"/>
        </c:manualLayout>
      </c:layout>
      <c:scatterChart>
        <c:scatterStyle val="lineMarker"/>
        <c:varyColors val="0"/>
        <c:ser>
          <c:idx val="0"/>
          <c:order val="0"/>
          <c:tx>
            <c:strRef>
              <c:f>Sheet1!$B$1</c:f>
              <c:strCache>
                <c:ptCount val="1"/>
                <c:pt idx="0">
                  <c:v>Y-Values</c:v>
                </c:pt>
              </c:strCache>
            </c:strRef>
          </c:tx>
          <c:spPr>
            <a:ln w="19050"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Sheet1!$A$2:$A$4</c:f>
              <c:numCache>
                <c:formatCode>General</c:formatCode>
                <c:ptCount val="3"/>
                <c:pt idx="0">
                  <c:v>0</c:v>
                </c:pt>
                <c:pt idx="1">
                  <c:v>100</c:v>
                </c:pt>
              </c:numCache>
            </c:numRef>
          </c:xVal>
          <c:yVal>
            <c:numRef>
              <c:f>Sheet1!$B$2:$B$4</c:f>
              <c:numCache>
                <c:formatCode>General</c:formatCode>
                <c:ptCount val="3"/>
                <c:pt idx="0">
                  <c:v>273</c:v>
                </c:pt>
                <c:pt idx="1">
                  <c:v>373</c:v>
                </c:pt>
              </c:numCache>
            </c:numRef>
          </c:yVal>
          <c:smooth val="0"/>
          <c:extLst>
            <c:ext xmlns:c16="http://schemas.microsoft.com/office/drawing/2014/chart" uri="{C3380CC4-5D6E-409C-BE32-E72D297353CC}">
              <c16:uniqueId val="{00000000-3DD8-4599-A0B8-8FF4E32AAD26}"/>
            </c:ext>
          </c:extLst>
        </c:ser>
        <c:dLbls>
          <c:showLegendKey val="0"/>
          <c:showVal val="0"/>
          <c:showCatName val="0"/>
          <c:showSerName val="0"/>
          <c:showPercent val="0"/>
          <c:showBubbleSize val="0"/>
        </c:dLbls>
        <c:axId val="1090176911"/>
        <c:axId val="1090174991"/>
      </c:scatterChart>
      <c:valAx>
        <c:axId val="1090176911"/>
        <c:scaling>
          <c:orientation val="minMax"/>
          <c:max val="1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dk1"/>
                    </a:solidFill>
                    <a:latin typeface="+mn-lt"/>
                    <a:ea typeface="+mn-ea"/>
                    <a:cs typeface="+mn-cs"/>
                  </a:defRPr>
                </a:pPr>
                <a:r>
                  <a:rPr lang="en-US" dirty="0"/>
                  <a:t>Celsius</a:t>
                </a:r>
                <a:r>
                  <a:rPr lang="en-US" baseline="0" dirty="0"/>
                  <a:t> (°C)</a:t>
                </a:r>
                <a:endParaRPr lang="en-US"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dk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dk1"/>
                </a:solidFill>
                <a:latin typeface="+mn-lt"/>
                <a:ea typeface="+mn-ea"/>
                <a:cs typeface="+mn-cs"/>
              </a:defRPr>
            </a:pPr>
            <a:endParaRPr lang="en-US"/>
          </a:p>
        </c:txPr>
        <c:crossAx val="1090174991"/>
        <c:crosses val="autoZero"/>
        <c:crossBetween val="midCat"/>
        <c:majorUnit val="25"/>
      </c:valAx>
      <c:valAx>
        <c:axId val="1090174991"/>
        <c:scaling>
          <c:orientation val="minMax"/>
          <c:max val="380"/>
          <c:min val="27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dk1"/>
                    </a:solidFill>
                    <a:latin typeface="+mn-lt"/>
                    <a:ea typeface="+mn-ea"/>
                    <a:cs typeface="+mn-cs"/>
                  </a:defRPr>
                </a:pPr>
                <a:r>
                  <a:rPr lang="en-US" dirty="0"/>
                  <a:t>Kelvin</a:t>
                </a:r>
                <a:r>
                  <a:rPr lang="en-US" baseline="0" dirty="0"/>
                  <a:t> (K)</a:t>
                </a:r>
                <a:endParaRPr lang="en-US" dirty="0"/>
              </a:p>
            </c:rich>
          </c:tx>
          <c:layout>
            <c:manualLayout>
              <c:xMode val="edge"/>
              <c:yMode val="edge"/>
              <c:x val="2.1446863987197178E-2"/>
              <c:y val="0.323118246914080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dk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dk1"/>
                </a:solidFill>
                <a:latin typeface="+mn-lt"/>
                <a:ea typeface="+mn-ea"/>
                <a:cs typeface="+mn-cs"/>
              </a:defRPr>
            </a:pPr>
            <a:endParaRPr lang="en-US"/>
          </a:p>
        </c:txPr>
        <c:crossAx val="1090176911"/>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25400" cap="flat" cmpd="sng" algn="ctr">
      <a:solidFill>
        <a:schemeClr val="dk1"/>
      </a:solidFill>
      <a:prstDash val="solid"/>
    </a:ln>
    <a:effectLst/>
  </c:spPr>
  <c:txPr>
    <a:bodyPr/>
    <a:lstStyle/>
    <a:p>
      <a:pPr>
        <a:defRPr>
          <a:solidFill>
            <a:schemeClr val="dk1"/>
          </a:solidFill>
          <a:latin typeface="+mn-lt"/>
          <a:ea typeface="+mn-ea"/>
          <a:cs typeface="+mn-cs"/>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dk1"/>
                </a:solidFill>
                <a:latin typeface="+mn-lt"/>
                <a:ea typeface="+mn-ea"/>
                <a:cs typeface="+mn-cs"/>
              </a:defRPr>
            </a:pPr>
            <a:r>
              <a:rPr lang="en-US" dirty="0"/>
              <a:t>Kelvin</a:t>
            </a:r>
            <a:r>
              <a:rPr lang="en-US" baseline="0" dirty="0"/>
              <a:t> </a:t>
            </a:r>
            <a:r>
              <a:rPr lang="en-US" baseline="0" dirty="0">
                <a:sym typeface="Wingdings" panose="05000000000000000000" pitchFamily="2" charset="2"/>
              </a:rPr>
              <a:t> Celsius</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dk1"/>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Celsius</c:v>
                </c:pt>
              </c:strCache>
            </c:strRef>
          </c:tx>
          <c:spPr>
            <a:ln w="19050"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Sheet1!$A$2:$A$4</c:f>
              <c:numCache>
                <c:formatCode>General</c:formatCode>
                <c:ptCount val="3"/>
                <c:pt idx="0">
                  <c:v>273</c:v>
                </c:pt>
                <c:pt idx="1">
                  <c:v>373</c:v>
                </c:pt>
              </c:numCache>
            </c:numRef>
          </c:xVal>
          <c:yVal>
            <c:numRef>
              <c:f>Sheet1!$B$2:$B$4</c:f>
              <c:numCache>
                <c:formatCode>General</c:formatCode>
                <c:ptCount val="3"/>
                <c:pt idx="0">
                  <c:v>0</c:v>
                </c:pt>
                <c:pt idx="1">
                  <c:v>100</c:v>
                </c:pt>
              </c:numCache>
            </c:numRef>
          </c:yVal>
          <c:smooth val="0"/>
          <c:extLst>
            <c:ext xmlns:c16="http://schemas.microsoft.com/office/drawing/2014/chart" uri="{C3380CC4-5D6E-409C-BE32-E72D297353CC}">
              <c16:uniqueId val="{00000000-6295-4224-BF88-5064F39A6CC1}"/>
            </c:ext>
          </c:extLst>
        </c:ser>
        <c:dLbls>
          <c:showLegendKey val="0"/>
          <c:showVal val="0"/>
          <c:showCatName val="0"/>
          <c:showSerName val="0"/>
          <c:showPercent val="0"/>
          <c:showBubbleSize val="0"/>
        </c:dLbls>
        <c:axId val="1090176911"/>
        <c:axId val="1090174991"/>
      </c:scatterChart>
      <c:valAx>
        <c:axId val="1090176911"/>
        <c:scaling>
          <c:orientation val="minMax"/>
          <c:max val="373"/>
          <c:min val="273"/>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dk1"/>
                    </a:solidFill>
                    <a:latin typeface="+mn-lt"/>
                    <a:ea typeface="+mn-ea"/>
                    <a:cs typeface="+mn-cs"/>
                  </a:defRPr>
                </a:pPr>
                <a:r>
                  <a:rPr lang="en-US" dirty="0"/>
                  <a:t>Kelvin</a:t>
                </a:r>
                <a:r>
                  <a:rPr lang="en-US" baseline="0" dirty="0"/>
                  <a:t> (K)</a:t>
                </a:r>
                <a:endParaRPr lang="en-US"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dk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dk1"/>
                </a:solidFill>
                <a:latin typeface="+mn-lt"/>
                <a:ea typeface="+mn-ea"/>
                <a:cs typeface="+mn-cs"/>
              </a:defRPr>
            </a:pPr>
            <a:endParaRPr lang="en-US"/>
          </a:p>
        </c:txPr>
        <c:crossAx val="1090174991"/>
        <c:crosses val="autoZero"/>
        <c:crossBetween val="midCat"/>
        <c:majorUnit val="25"/>
      </c:valAx>
      <c:valAx>
        <c:axId val="1090174991"/>
        <c:scaling>
          <c:orientation val="minMax"/>
          <c:max val="1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dk1"/>
                    </a:solidFill>
                    <a:latin typeface="+mn-lt"/>
                    <a:ea typeface="+mn-ea"/>
                    <a:cs typeface="+mn-cs"/>
                  </a:defRPr>
                </a:pPr>
                <a:r>
                  <a:rPr lang="en-US" dirty="0"/>
                  <a:t>Celsius</a:t>
                </a:r>
                <a:r>
                  <a:rPr lang="en-US" baseline="0" dirty="0"/>
                  <a:t> (°C)</a:t>
                </a:r>
                <a:endParaRPr lang="en-US" dirty="0"/>
              </a:p>
            </c:rich>
          </c:tx>
          <c:layout>
            <c:manualLayout>
              <c:xMode val="edge"/>
              <c:yMode val="edge"/>
              <c:x val="2.1446863987197178E-2"/>
              <c:y val="0.323118246914080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dk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dk1"/>
                </a:solidFill>
                <a:latin typeface="+mn-lt"/>
                <a:ea typeface="+mn-ea"/>
                <a:cs typeface="+mn-cs"/>
              </a:defRPr>
            </a:pPr>
            <a:endParaRPr lang="en-US"/>
          </a:p>
        </c:txPr>
        <c:crossAx val="1090176911"/>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25400" cap="flat" cmpd="sng" algn="ctr">
      <a:solidFill>
        <a:schemeClr val="dk1"/>
      </a:solidFill>
      <a:prstDash val="solid"/>
    </a:ln>
    <a:effectLst/>
  </c:spPr>
  <c:txPr>
    <a:bodyPr/>
    <a:lstStyle/>
    <a:p>
      <a:pPr>
        <a:defRPr>
          <a:solidFill>
            <a:schemeClr val="dk1"/>
          </a:solidFill>
          <a:latin typeface="+mn-lt"/>
          <a:ea typeface="+mn-ea"/>
          <a:cs typeface="+mn-cs"/>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dk1"/>
                </a:solidFill>
                <a:latin typeface="+mn-lt"/>
                <a:ea typeface="+mn-ea"/>
                <a:cs typeface="+mn-cs"/>
              </a:defRPr>
            </a:pPr>
            <a:r>
              <a:rPr lang="en-US" dirty="0"/>
              <a:t>Celsius</a:t>
            </a:r>
            <a:r>
              <a:rPr lang="en-US" baseline="0" dirty="0"/>
              <a:t> </a:t>
            </a:r>
            <a:r>
              <a:rPr lang="en-US" baseline="0" dirty="0">
                <a:sym typeface="Wingdings" panose="05000000000000000000" pitchFamily="2" charset="2"/>
              </a:rPr>
              <a:t> Fahrenheit</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dk1"/>
              </a:solidFill>
              <a:latin typeface="+mn-lt"/>
              <a:ea typeface="+mn-ea"/>
              <a:cs typeface="+mn-cs"/>
            </a:defRPr>
          </a:pPr>
          <a:endParaRPr lang="en-US"/>
        </a:p>
      </c:txPr>
    </c:title>
    <c:autoTitleDeleted val="0"/>
    <c:plotArea>
      <c:layout>
        <c:manualLayout>
          <c:layoutTarget val="inner"/>
          <c:xMode val="edge"/>
          <c:yMode val="edge"/>
          <c:x val="0.22525174030605966"/>
          <c:y val="0.20285544599893368"/>
          <c:w val="0.69792373528940743"/>
          <c:h val="0.58971101347748911"/>
        </c:manualLayout>
      </c:layout>
      <c:scatterChart>
        <c:scatterStyle val="lineMarker"/>
        <c:varyColors val="0"/>
        <c:ser>
          <c:idx val="0"/>
          <c:order val="0"/>
          <c:tx>
            <c:strRef>
              <c:f>Sheet1!$B$1</c:f>
              <c:strCache>
                <c:ptCount val="1"/>
                <c:pt idx="0">
                  <c:v>Fahrenheit</c:v>
                </c:pt>
              </c:strCache>
            </c:strRef>
          </c:tx>
          <c:spPr>
            <a:ln w="19050"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Sheet1!$A$2:$A$4</c:f>
              <c:numCache>
                <c:formatCode>General</c:formatCode>
                <c:ptCount val="3"/>
                <c:pt idx="0">
                  <c:v>0</c:v>
                </c:pt>
                <c:pt idx="1">
                  <c:v>100</c:v>
                </c:pt>
              </c:numCache>
            </c:numRef>
          </c:xVal>
          <c:yVal>
            <c:numRef>
              <c:f>Sheet1!$B$2:$B$4</c:f>
              <c:numCache>
                <c:formatCode>General</c:formatCode>
                <c:ptCount val="3"/>
                <c:pt idx="0">
                  <c:v>32</c:v>
                </c:pt>
                <c:pt idx="1">
                  <c:v>212</c:v>
                </c:pt>
              </c:numCache>
            </c:numRef>
          </c:yVal>
          <c:smooth val="0"/>
          <c:extLst>
            <c:ext xmlns:c16="http://schemas.microsoft.com/office/drawing/2014/chart" uri="{C3380CC4-5D6E-409C-BE32-E72D297353CC}">
              <c16:uniqueId val="{00000000-3DD8-4599-A0B8-8FF4E32AAD26}"/>
            </c:ext>
          </c:extLst>
        </c:ser>
        <c:dLbls>
          <c:showLegendKey val="0"/>
          <c:showVal val="0"/>
          <c:showCatName val="0"/>
          <c:showSerName val="0"/>
          <c:showPercent val="0"/>
          <c:showBubbleSize val="0"/>
        </c:dLbls>
        <c:axId val="1090176911"/>
        <c:axId val="1090174991"/>
      </c:scatterChart>
      <c:valAx>
        <c:axId val="1090176911"/>
        <c:scaling>
          <c:orientation val="minMax"/>
          <c:max val="1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dk1"/>
                    </a:solidFill>
                    <a:latin typeface="+mn-lt"/>
                    <a:ea typeface="+mn-ea"/>
                    <a:cs typeface="+mn-cs"/>
                  </a:defRPr>
                </a:pPr>
                <a:r>
                  <a:rPr lang="en-US" dirty="0"/>
                  <a:t>Celsius</a:t>
                </a:r>
                <a:r>
                  <a:rPr lang="en-US" baseline="0" dirty="0"/>
                  <a:t> (°C)</a:t>
                </a:r>
                <a:endParaRPr lang="en-US"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dk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dk1"/>
                </a:solidFill>
                <a:latin typeface="+mn-lt"/>
                <a:ea typeface="+mn-ea"/>
                <a:cs typeface="+mn-cs"/>
              </a:defRPr>
            </a:pPr>
            <a:endParaRPr lang="en-US"/>
          </a:p>
        </c:txPr>
        <c:crossAx val="1090174991"/>
        <c:crosses val="autoZero"/>
        <c:crossBetween val="midCat"/>
        <c:majorUnit val="25"/>
      </c:valAx>
      <c:valAx>
        <c:axId val="1090174991"/>
        <c:scaling>
          <c:orientation val="minMax"/>
          <c:max val="220"/>
          <c:min val="3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dk1"/>
                    </a:solidFill>
                    <a:latin typeface="+mn-lt"/>
                    <a:ea typeface="+mn-ea"/>
                    <a:cs typeface="+mn-cs"/>
                  </a:defRPr>
                </a:pPr>
                <a:r>
                  <a:rPr lang="en-US" dirty="0"/>
                  <a:t>Fahrenheit</a:t>
                </a:r>
                <a:r>
                  <a:rPr lang="en-US" baseline="0" dirty="0"/>
                  <a:t> (°F)</a:t>
                </a:r>
                <a:endParaRPr lang="en-US" dirty="0"/>
              </a:p>
            </c:rich>
          </c:tx>
          <c:layout>
            <c:manualLayout>
              <c:xMode val="edge"/>
              <c:yMode val="edge"/>
              <c:x val="2.1446863987197178E-2"/>
              <c:y val="0.323118246914080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dk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dk1"/>
                </a:solidFill>
                <a:latin typeface="+mn-lt"/>
                <a:ea typeface="+mn-ea"/>
                <a:cs typeface="+mn-cs"/>
              </a:defRPr>
            </a:pPr>
            <a:endParaRPr lang="en-US"/>
          </a:p>
        </c:txPr>
        <c:crossAx val="1090176911"/>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25400" cap="flat" cmpd="sng" algn="ctr">
      <a:solidFill>
        <a:schemeClr val="dk1"/>
      </a:solidFill>
      <a:prstDash val="solid"/>
    </a:ln>
    <a:effectLst/>
  </c:spPr>
  <c:txPr>
    <a:bodyPr/>
    <a:lstStyle/>
    <a:p>
      <a:pPr>
        <a:defRPr>
          <a:solidFill>
            <a:schemeClr val="dk1"/>
          </a:solidFill>
          <a:latin typeface="+mn-lt"/>
          <a:ea typeface="+mn-ea"/>
          <a:cs typeface="+mn-cs"/>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dk1"/>
                </a:solidFill>
                <a:latin typeface="+mn-lt"/>
                <a:ea typeface="+mn-ea"/>
                <a:cs typeface="+mn-cs"/>
              </a:defRPr>
            </a:pPr>
            <a:r>
              <a:rPr lang="en-US" dirty="0"/>
              <a:t>Fahrenheit</a:t>
            </a:r>
            <a:r>
              <a:rPr lang="en-US" baseline="0" dirty="0"/>
              <a:t> </a:t>
            </a:r>
            <a:r>
              <a:rPr lang="en-US" baseline="0" dirty="0">
                <a:sym typeface="Wingdings" panose="05000000000000000000" pitchFamily="2" charset="2"/>
              </a:rPr>
              <a:t> Celsius</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dk1"/>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Celsius</c:v>
                </c:pt>
              </c:strCache>
            </c:strRef>
          </c:tx>
          <c:spPr>
            <a:ln w="19050"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Sheet1!$A$2:$A$4</c:f>
              <c:numCache>
                <c:formatCode>General</c:formatCode>
                <c:ptCount val="3"/>
                <c:pt idx="0">
                  <c:v>32</c:v>
                </c:pt>
                <c:pt idx="1">
                  <c:v>212</c:v>
                </c:pt>
              </c:numCache>
            </c:numRef>
          </c:xVal>
          <c:yVal>
            <c:numRef>
              <c:f>Sheet1!$B$2:$B$4</c:f>
              <c:numCache>
                <c:formatCode>General</c:formatCode>
                <c:ptCount val="3"/>
                <c:pt idx="0">
                  <c:v>0</c:v>
                </c:pt>
                <c:pt idx="1">
                  <c:v>100</c:v>
                </c:pt>
              </c:numCache>
            </c:numRef>
          </c:yVal>
          <c:smooth val="0"/>
          <c:extLst>
            <c:ext xmlns:c16="http://schemas.microsoft.com/office/drawing/2014/chart" uri="{C3380CC4-5D6E-409C-BE32-E72D297353CC}">
              <c16:uniqueId val="{00000000-6295-4224-BF88-5064F39A6CC1}"/>
            </c:ext>
          </c:extLst>
        </c:ser>
        <c:dLbls>
          <c:showLegendKey val="0"/>
          <c:showVal val="0"/>
          <c:showCatName val="0"/>
          <c:showSerName val="0"/>
          <c:showPercent val="0"/>
          <c:showBubbleSize val="0"/>
        </c:dLbls>
        <c:axId val="1090176911"/>
        <c:axId val="1090174991"/>
      </c:scatterChart>
      <c:valAx>
        <c:axId val="1090176911"/>
        <c:scaling>
          <c:orientation val="minMax"/>
          <c:max val="220"/>
          <c:min val="3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dk1"/>
                    </a:solidFill>
                    <a:latin typeface="+mn-lt"/>
                    <a:ea typeface="+mn-ea"/>
                    <a:cs typeface="+mn-cs"/>
                  </a:defRPr>
                </a:pPr>
                <a:r>
                  <a:rPr lang="en-US" dirty="0"/>
                  <a:t>Fahrenheit</a:t>
                </a:r>
                <a:r>
                  <a:rPr lang="en-US" baseline="0" dirty="0"/>
                  <a:t> (°F)</a:t>
                </a:r>
                <a:endParaRPr lang="en-US"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dk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dk1"/>
                </a:solidFill>
                <a:latin typeface="+mn-lt"/>
                <a:ea typeface="+mn-ea"/>
                <a:cs typeface="+mn-cs"/>
              </a:defRPr>
            </a:pPr>
            <a:endParaRPr lang="en-US"/>
          </a:p>
        </c:txPr>
        <c:crossAx val="1090174991"/>
        <c:crosses val="autoZero"/>
        <c:crossBetween val="midCat"/>
        <c:majorUnit val="25"/>
      </c:valAx>
      <c:valAx>
        <c:axId val="1090174991"/>
        <c:scaling>
          <c:orientation val="minMax"/>
          <c:max val="1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dk1"/>
                    </a:solidFill>
                    <a:latin typeface="+mn-lt"/>
                    <a:ea typeface="+mn-ea"/>
                    <a:cs typeface="+mn-cs"/>
                  </a:defRPr>
                </a:pPr>
                <a:r>
                  <a:rPr lang="en-US" dirty="0"/>
                  <a:t>Celsius</a:t>
                </a:r>
                <a:r>
                  <a:rPr lang="en-US" baseline="0" dirty="0"/>
                  <a:t> (°C)</a:t>
                </a:r>
                <a:endParaRPr lang="en-US" dirty="0"/>
              </a:p>
            </c:rich>
          </c:tx>
          <c:layout>
            <c:manualLayout>
              <c:xMode val="edge"/>
              <c:yMode val="edge"/>
              <c:x val="2.1446863987197178E-2"/>
              <c:y val="0.323118246914080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dk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dk1"/>
                </a:solidFill>
                <a:latin typeface="+mn-lt"/>
                <a:ea typeface="+mn-ea"/>
                <a:cs typeface="+mn-cs"/>
              </a:defRPr>
            </a:pPr>
            <a:endParaRPr lang="en-US"/>
          </a:p>
        </c:txPr>
        <c:crossAx val="1090176911"/>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25400" cap="flat" cmpd="sng" algn="ctr">
      <a:solidFill>
        <a:schemeClr val="dk1"/>
      </a:solidFill>
      <a:prstDash val="solid"/>
    </a:ln>
    <a:effectLst/>
  </c:spPr>
  <c:txPr>
    <a:bodyPr/>
    <a:lstStyle/>
    <a:p>
      <a:pPr>
        <a:defRPr>
          <a:solidFill>
            <a:schemeClr val="dk1"/>
          </a:solidFill>
          <a:latin typeface="+mn-lt"/>
          <a:ea typeface="+mn-ea"/>
          <a:cs typeface="+mn-cs"/>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defRPr sz="1300"/>
            </a:lvl1pPr>
          </a:lstStyle>
          <a:p>
            <a:endParaRPr lang="en-US"/>
          </a:p>
        </p:txBody>
      </p:sp>
      <p:sp>
        <p:nvSpPr>
          <p:cNvPr id="4099" name="Rectangle 3"/>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lvl1pPr>
          </a:lstStyle>
          <a:p>
            <a:endParaRPr lang="en-US"/>
          </a:p>
        </p:txBody>
      </p:sp>
      <p:sp>
        <p:nvSpPr>
          <p:cNvPr id="410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4101" name="Rectangle 5"/>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02" name="Rectangle 6"/>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defRPr sz="1300"/>
            </a:lvl1pPr>
          </a:lstStyle>
          <a:p>
            <a:endParaRPr lang="en-US"/>
          </a:p>
        </p:txBody>
      </p:sp>
      <p:sp>
        <p:nvSpPr>
          <p:cNvPr id="4103" name="Rectangle 7"/>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lvl1pPr>
          </a:lstStyle>
          <a:p>
            <a:fld id="{F80B39F9-9779-49E4-9061-3C452DBF8DE4}" type="slidenum">
              <a:rPr lang="en-US"/>
              <a:pPr/>
              <a:t>‹#›</a:t>
            </a:fld>
            <a:endParaRPr lang="en-US"/>
          </a:p>
        </p:txBody>
      </p:sp>
    </p:spTree>
    <p:extLst>
      <p:ext uri="{BB962C8B-B14F-4D97-AF65-F5344CB8AC3E}">
        <p14:creationId xmlns:p14="http://schemas.microsoft.com/office/powerpoint/2010/main" val="417767103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80B39F9-9779-49E4-9061-3C452DBF8DE4}"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08000" y="1355676"/>
            <a:ext cx="8111067" cy="2308324"/>
          </a:xfrm>
        </p:spPr>
        <p:txBody>
          <a:bodyPr/>
          <a:lstStyle>
            <a:lvl1pPr>
              <a:defRPr sz="7200"/>
            </a:lvl1pPr>
          </a:lstStyle>
          <a:p>
            <a:r>
              <a:rPr lang="en-US"/>
              <a:t>Click to edit Master title style</a:t>
            </a:r>
          </a:p>
        </p:txBody>
      </p:sp>
      <p:sp>
        <p:nvSpPr>
          <p:cNvPr id="3" name="Subtitle 2"/>
          <p:cNvSpPr>
            <a:spLocks noGrp="1"/>
          </p:cNvSpPr>
          <p:nvPr>
            <p:ph type="subTitle" idx="1"/>
          </p:nvPr>
        </p:nvSpPr>
        <p:spPr>
          <a:xfrm>
            <a:off x="521208" y="4297679"/>
            <a:ext cx="6793992" cy="1157901"/>
          </a:xfrm>
        </p:spPr>
        <p:txBody>
          <a:bodyPr/>
          <a:lstStyle>
            <a:lvl1pPr marL="0" indent="0" algn="l">
              <a:buNone/>
              <a:defRPr sz="3200" i="1">
                <a:solidFill>
                  <a:schemeClr val="accent1">
                    <a:lumMod val="60000"/>
                    <a:lumOff val="40000"/>
                  </a:schemeClr>
                </a:solidFill>
                <a:latin typeface="Times New Roman" panose="02020603050405020304" pitchFamily="18" charset="0"/>
                <a:cs typeface="Times New Roman" panose="02020603050405020304" pitchFamily="18"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extLst>
      <p:ext uri="{BB962C8B-B14F-4D97-AF65-F5344CB8AC3E}">
        <p14:creationId xmlns:p14="http://schemas.microsoft.com/office/powerpoint/2010/main" val="214629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2C5B0E79-F880-13C0-68E0-BEA8BCF0D6D0}"/>
              </a:ext>
            </a:extLst>
          </p:cNvPr>
          <p:cNvSpPr>
            <a:spLocks noGrp="1"/>
          </p:cNvSpPr>
          <p:nvPr>
            <p:ph type="sldNum" sz="quarter" idx="10"/>
          </p:nvPr>
        </p:nvSpPr>
        <p:spPr/>
        <p:txBody>
          <a:bodyPr/>
          <a:lstStyle/>
          <a:p>
            <a:fld id="{12356DF5-CFED-4016-A2DB-A70AC2735480}" type="slidenum">
              <a:rPr lang="en-US" smtClean="0"/>
              <a:pPr/>
              <a:t>‹#›</a:t>
            </a:fld>
            <a:endParaRPr lang="en-US" dirty="0">
              <a:solidFill>
                <a:schemeClr val="bg1"/>
              </a:solidFill>
            </a:endParaRPr>
          </a:p>
        </p:txBody>
      </p:sp>
    </p:spTree>
    <p:extLst>
      <p:ext uri="{BB962C8B-B14F-4D97-AF65-F5344CB8AC3E}">
        <p14:creationId xmlns:p14="http://schemas.microsoft.com/office/powerpoint/2010/main" val="742633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Subtitle+Content">
    <p:spTree>
      <p:nvGrpSpPr>
        <p:cNvPr id="1" name=""/>
        <p:cNvGrpSpPr/>
        <p:nvPr/>
      </p:nvGrpSpPr>
      <p:grpSpPr>
        <a:xfrm>
          <a:off x="0" y="0"/>
          <a:ext cx="0" cy="0"/>
          <a:chOff x="0" y="0"/>
          <a:chExt cx="0" cy="0"/>
        </a:xfrm>
      </p:grpSpPr>
      <p:sp>
        <p:nvSpPr>
          <p:cNvPr id="2" name="Title 1"/>
          <p:cNvSpPr>
            <a:spLocks noGrp="1"/>
          </p:cNvSpPr>
          <p:nvPr>
            <p:ph type="title"/>
          </p:nvPr>
        </p:nvSpPr>
        <p:spPr>
          <a:xfrm>
            <a:off x="341246" y="307480"/>
            <a:ext cx="8421512" cy="769441"/>
          </a:xfrm>
        </p:spPr>
        <p:txBody>
          <a:bodyPr/>
          <a:lstStyle/>
          <a:p>
            <a:r>
              <a:rPr lang="en-US"/>
              <a:t>Click to edit Master title style</a:t>
            </a:r>
          </a:p>
        </p:txBody>
      </p:sp>
      <p:sp>
        <p:nvSpPr>
          <p:cNvPr id="3" name="Content Placeholder 2"/>
          <p:cNvSpPr>
            <a:spLocks noGrp="1"/>
          </p:cNvSpPr>
          <p:nvPr>
            <p:ph idx="1"/>
          </p:nvPr>
        </p:nvSpPr>
        <p:spPr>
          <a:xfrm>
            <a:off x="330927" y="1611086"/>
            <a:ext cx="8464730" cy="4936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0"/>
          </p:nvPr>
        </p:nvSpPr>
        <p:spPr>
          <a:xfrm>
            <a:off x="331016" y="1114697"/>
            <a:ext cx="8439150" cy="435428"/>
          </a:xfrm>
        </p:spPr>
        <p:txBody>
          <a:bodyPr/>
          <a:lstStyle>
            <a:lvl1pPr>
              <a:buNone/>
              <a:defRPr sz="2200" i="1">
                <a:solidFill>
                  <a:srgbClr val="CCFFFF"/>
                </a:solidFill>
                <a:latin typeface="Times New Roman" pitchFamily="18" charset="0"/>
                <a:cs typeface="Times New Roman" pitchFamily="18" charset="0"/>
              </a:defRPr>
            </a:lvl1pPr>
          </a:lstStyle>
          <a:p>
            <a:pPr lvl="0"/>
            <a:r>
              <a:rPr lang="en-US"/>
              <a:t>Click to edit Master text styles</a:t>
            </a:r>
          </a:p>
        </p:txBody>
      </p:sp>
    </p:spTree>
    <p:extLst>
      <p:ext uri="{BB962C8B-B14F-4D97-AF65-F5344CB8AC3E}">
        <p14:creationId xmlns:p14="http://schemas.microsoft.com/office/powerpoint/2010/main" val="506351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66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5246" y="1512554"/>
            <a:ext cx="8167688" cy="1754326"/>
          </a:xfrm>
        </p:spPr>
        <p:txBody>
          <a:bodyPr anchor="ctr" anchorCtr="0"/>
          <a:lstStyle>
            <a:lvl1pPr algn="l">
              <a:defRPr sz="5400" b="0" i="0" cap="none" baseline="0">
                <a:solidFill>
                  <a:srgbClr val="FFFF99"/>
                </a:solidFill>
                <a:latin typeface="+mj-lt"/>
              </a:defRPr>
            </a:lvl1pPr>
          </a:lstStyle>
          <a:p>
            <a:r>
              <a:rPr lang="en-US"/>
              <a:t>Click to edit Master title style</a:t>
            </a:r>
            <a:endParaRPr lang="en-US" dirty="0"/>
          </a:p>
        </p:txBody>
      </p:sp>
      <p:sp>
        <p:nvSpPr>
          <p:cNvPr id="3" name="Text Placeholder 2"/>
          <p:cNvSpPr>
            <a:spLocks noGrp="1"/>
          </p:cNvSpPr>
          <p:nvPr>
            <p:ph type="body" idx="1"/>
          </p:nvPr>
        </p:nvSpPr>
        <p:spPr>
          <a:xfrm>
            <a:off x="482600" y="4075113"/>
            <a:ext cx="816186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667805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8500" y="1617663"/>
            <a:ext cx="3810000" cy="4732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0900" y="1617663"/>
            <a:ext cx="3810000" cy="4732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7344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003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67905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8690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48594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81713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2476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27800" y="612775"/>
            <a:ext cx="1943100" cy="57372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8500" y="612775"/>
            <a:ext cx="5676900" cy="57372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8643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98500" y="612775"/>
            <a:ext cx="7772400" cy="5737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01593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98500" y="612775"/>
            <a:ext cx="7772400" cy="762000"/>
          </a:xfrm>
        </p:spPr>
        <p:txBody>
          <a:bodyPr/>
          <a:lstStyle/>
          <a:p>
            <a:r>
              <a:rPr lang="en-US"/>
              <a:t>Click to edit Master title style</a:t>
            </a:r>
          </a:p>
        </p:txBody>
      </p:sp>
      <p:sp>
        <p:nvSpPr>
          <p:cNvPr id="3" name="Text Placeholder 2"/>
          <p:cNvSpPr>
            <a:spLocks noGrp="1"/>
          </p:cNvSpPr>
          <p:nvPr>
            <p:ph type="body" sz="half" idx="1"/>
          </p:nvPr>
        </p:nvSpPr>
        <p:spPr>
          <a:xfrm>
            <a:off x="698500" y="1617663"/>
            <a:ext cx="7772400" cy="2289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98500" y="4059238"/>
            <a:ext cx="7772400" cy="22907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10213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98500" y="612775"/>
            <a:ext cx="7772400" cy="762000"/>
          </a:xfrm>
        </p:spPr>
        <p:txBody>
          <a:bodyPr/>
          <a:lstStyle/>
          <a:p>
            <a:r>
              <a:rPr lang="en-US"/>
              <a:t>Click to edit Master title style</a:t>
            </a:r>
          </a:p>
        </p:txBody>
      </p:sp>
      <p:sp>
        <p:nvSpPr>
          <p:cNvPr id="3" name="Content Placeholder 2"/>
          <p:cNvSpPr>
            <a:spLocks noGrp="1"/>
          </p:cNvSpPr>
          <p:nvPr>
            <p:ph sz="half" idx="1"/>
          </p:nvPr>
        </p:nvSpPr>
        <p:spPr>
          <a:xfrm>
            <a:off x="698500" y="1617663"/>
            <a:ext cx="3810000" cy="4732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60900" y="1617663"/>
            <a:ext cx="3810000" cy="2289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60900" y="4059238"/>
            <a:ext cx="3810000" cy="22907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10624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Subtitle+Content">
    <p:spTree>
      <p:nvGrpSpPr>
        <p:cNvPr id="1" name=""/>
        <p:cNvGrpSpPr/>
        <p:nvPr/>
      </p:nvGrpSpPr>
      <p:grpSpPr>
        <a:xfrm>
          <a:off x="0" y="0"/>
          <a:ext cx="0" cy="0"/>
          <a:chOff x="0" y="0"/>
          <a:chExt cx="0" cy="0"/>
        </a:xfrm>
      </p:grpSpPr>
      <p:sp>
        <p:nvSpPr>
          <p:cNvPr id="2" name="Title 1"/>
          <p:cNvSpPr>
            <a:spLocks noGrp="1"/>
          </p:cNvSpPr>
          <p:nvPr>
            <p:ph type="title"/>
          </p:nvPr>
        </p:nvSpPr>
        <p:spPr>
          <a:xfrm>
            <a:off x="341246" y="307480"/>
            <a:ext cx="8421512" cy="769441"/>
          </a:xfrm>
        </p:spPr>
        <p:txBody>
          <a:bodyPr/>
          <a:lstStyle/>
          <a:p>
            <a:r>
              <a:rPr lang="en-US"/>
              <a:t>Click to edit Master title style</a:t>
            </a:r>
          </a:p>
        </p:txBody>
      </p:sp>
      <p:sp>
        <p:nvSpPr>
          <p:cNvPr id="3" name="Content Placeholder 2"/>
          <p:cNvSpPr>
            <a:spLocks noGrp="1"/>
          </p:cNvSpPr>
          <p:nvPr>
            <p:ph idx="1"/>
          </p:nvPr>
        </p:nvSpPr>
        <p:spPr>
          <a:xfrm>
            <a:off x="330927" y="1611086"/>
            <a:ext cx="8464730" cy="49364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0"/>
          </p:nvPr>
        </p:nvSpPr>
        <p:spPr>
          <a:xfrm>
            <a:off x="331016" y="1114697"/>
            <a:ext cx="8439150" cy="435428"/>
          </a:xfrm>
        </p:spPr>
        <p:txBody>
          <a:bodyPr/>
          <a:lstStyle>
            <a:lvl1pPr>
              <a:buNone/>
              <a:defRPr sz="2200" i="1">
                <a:solidFill>
                  <a:srgbClr val="CCFFFF"/>
                </a:solidFill>
                <a:latin typeface="Times New Roman" pitchFamily="18" charset="0"/>
                <a:cs typeface="Times New Roman" pitchFamily="18" charset="0"/>
              </a:defRPr>
            </a:lvl1pPr>
          </a:lstStyle>
          <a:p>
            <a:pPr lvl="0"/>
            <a:r>
              <a:rPr lang="en-US" dirty="0"/>
              <a:t>Click to edit Master text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tx1"/>
            </a:gs>
            <a:gs pos="100000">
              <a:srgbClr val="333399"/>
            </a:gs>
          </a:gsLst>
          <a:lin ang="2700000" scaled="1"/>
        </a:gra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349955" y="363788"/>
            <a:ext cx="8421512"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r>
              <a:rPr lang="en-US" dirty="0"/>
              <a:t>This is the Master </a:t>
            </a:r>
            <a:r>
              <a:rPr lang="en-US" dirty="0" err="1"/>
              <a:t>supraTitle</a:t>
            </a:r>
            <a:endParaRPr lang="en-US" dirty="0"/>
          </a:p>
        </p:txBody>
      </p:sp>
      <p:sp>
        <p:nvSpPr>
          <p:cNvPr id="38915" name="Rectangle 3"/>
          <p:cNvSpPr>
            <a:spLocks noGrp="1" noChangeArrowheads="1"/>
          </p:cNvSpPr>
          <p:nvPr>
            <p:ph type="body" idx="1"/>
          </p:nvPr>
        </p:nvSpPr>
        <p:spPr bwMode="auto">
          <a:xfrm>
            <a:off x="372533" y="1332090"/>
            <a:ext cx="8387645" cy="521546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1">
            <a:extLst>
              <a:ext uri="{FF2B5EF4-FFF2-40B4-BE49-F238E27FC236}">
                <a16:creationId xmlns:a16="http://schemas.microsoft.com/office/drawing/2014/main" id="{E86AD604-EEF8-1685-D4F5-1D44F4D882CB}"/>
              </a:ext>
            </a:extLst>
          </p:cNvPr>
          <p:cNvSpPr>
            <a:spLocks noGrp="1"/>
          </p:cNvSpPr>
          <p:nvPr>
            <p:ph type="sldNum" sz="quarter" idx="4"/>
          </p:nvPr>
        </p:nvSpPr>
        <p:spPr>
          <a:xfrm>
            <a:off x="6921974" y="6319735"/>
            <a:ext cx="2057400" cy="365125"/>
          </a:xfrm>
          <a:prstGeom prst="rect">
            <a:avLst/>
          </a:prstGeom>
        </p:spPr>
        <p:txBody>
          <a:bodyPr vert="horz" lIns="91440" tIns="45720" rIns="91440" bIns="45720" rtlCol="0" anchor="ctr"/>
          <a:lstStyle>
            <a:lvl1pPr algn="r">
              <a:defRPr sz="1200" baseline="0">
                <a:solidFill>
                  <a:schemeClr val="bg1"/>
                </a:solidFill>
              </a:defRPr>
            </a:lvl1pPr>
          </a:lstStyle>
          <a:p>
            <a:fld id="{12356DF5-CFED-4016-A2DB-A70AC2735480}" type="slidenum">
              <a:rPr lang="en-US" smtClean="0"/>
              <a:pPr/>
              <a:t>‹#›</a:t>
            </a:fld>
            <a:endParaRPr lang="en-US" dirty="0">
              <a:solidFill>
                <a:schemeClr val="bg1"/>
              </a:solidFill>
            </a:endParaRPr>
          </a:p>
        </p:txBody>
      </p:sp>
    </p:spTree>
    <p:extLst>
      <p:ext uri="{BB962C8B-B14F-4D97-AF65-F5344CB8AC3E}">
        <p14:creationId xmlns:p14="http://schemas.microsoft.com/office/powerpoint/2010/main" val="3552443571"/>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 id="2147483817" r:id="rId14"/>
    <p:sldLayoutId id="2147483818" r:id="rId15"/>
    <p:sldLayoutId id="2147483802" r:id="rId16"/>
  </p:sldLayoutIdLst>
  <p:hf hdr="0" ftr="0" dt="0"/>
  <p:txStyles>
    <p:titleStyle>
      <a:lvl1pPr algn="l" rtl="0" eaLnBrk="1" fontAlgn="base" hangingPunct="1">
        <a:spcBef>
          <a:spcPct val="0"/>
        </a:spcBef>
        <a:spcAft>
          <a:spcPct val="0"/>
        </a:spcAft>
        <a:defRPr sz="4800">
          <a:solidFill>
            <a:srgbClr val="FFFF99"/>
          </a:solidFill>
          <a:latin typeface="+mj-lt"/>
          <a:ea typeface="+mj-ea"/>
          <a:cs typeface="+mj-cs"/>
        </a:defRPr>
      </a:lvl1pPr>
      <a:lvl2pPr algn="l" rtl="0" eaLnBrk="1" fontAlgn="base" hangingPunct="1">
        <a:spcBef>
          <a:spcPct val="0"/>
        </a:spcBef>
        <a:spcAft>
          <a:spcPct val="0"/>
        </a:spcAft>
        <a:defRPr sz="4400">
          <a:solidFill>
            <a:srgbClr val="FFFF99"/>
          </a:solidFill>
          <a:latin typeface="Arial" charset="0"/>
        </a:defRPr>
      </a:lvl2pPr>
      <a:lvl3pPr algn="l" rtl="0" eaLnBrk="1" fontAlgn="base" hangingPunct="1">
        <a:spcBef>
          <a:spcPct val="0"/>
        </a:spcBef>
        <a:spcAft>
          <a:spcPct val="0"/>
        </a:spcAft>
        <a:defRPr sz="4400">
          <a:solidFill>
            <a:srgbClr val="FFFF99"/>
          </a:solidFill>
          <a:latin typeface="Arial" charset="0"/>
        </a:defRPr>
      </a:lvl3pPr>
      <a:lvl4pPr algn="l" rtl="0" eaLnBrk="1" fontAlgn="base" hangingPunct="1">
        <a:spcBef>
          <a:spcPct val="0"/>
        </a:spcBef>
        <a:spcAft>
          <a:spcPct val="0"/>
        </a:spcAft>
        <a:defRPr sz="4400">
          <a:solidFill>
            <a:srgbClr val="FFFF99"/>
          </a:solidFill>
          <a:latin typeface="Arial" charset="0"/>
        </a:defRPr>
      </a:lvl4pPr>
      <a:lvl5pPr algn="l" rtl="0" eaLnBrk="1" fontAlgn="base" hangingPunct="1">
        <a:spcBef>
          <a:spcPct val="0"/>
        </a:spcBef>
        <a:spcAft>
          <a:spcPct val="0"/>
        </a:spcAft>
        <a:defRPr sz="4400">
          <a:solidFill>
            <a:srgbClr val="FFFF99"/>
          </a:solidFill>
          <a:latin typeface="Arial" charset="0"/>
        </a:defRPr>
      </a:lvl5pPr>
      <a:lvl6pPr marL="457200" algn="l" rtl="0" eaLnBrk="1" fontAlgn="base" hangingPunct="1">
        <a:spcBef>
          <a:spcPct val="0"/>
        </a:spcBef>
        <a:spcAft>
          <a:spcPct val="0"/>
        </a:spcAft>
        <a:defRPr sz="4400">
          <a:solidFill>
            <a:srgbClr val="FFFF99"/>
          </a:solidFill>
          <a:latin typeface="Arial" charset="0"/>
        </a:defRPr>
      </a:lvl6pPr>
      <a:lvl7pPr marL="914400" algn="l" rtl="0" eaLnBrk="1" fontAlgn="base" hangingPunct="1">
        <a:spcBef>
          <a:spcPct val="0"/>
        </a:spcBef>
        <a:spcAft>
          <a:spcPct val="0"/>
        </a:spcAft>
        <a:defRPr sz="4400">
          <a:solidFill>
            <a:srgbClr val="FFFF99"/>
          </a:solidFill>
          <a:latin typeface="Arial" charset="0"/>
        </a:defRPr>
      </a:lvl7pPr>
      <a:lvl8pPr marL="1371600" algn="l" rtl="0" eaLnBrk="1" fontAlgn="base" hangingPunct="1">
        <a:spcBef>
          <a:spcPct val="0"/>
        </a:spcBef>
        <a:spcAft>
          <a:spcPct val="0"/>
        </a:spcAft>
        <a:defRPr sz="4400">
          <a:solidFill>
            <a:srgbClr val="FFFF99"/>
          </a:solidFill>
          <a:latin typeface="Arial" charset="0"/>
        </a:defRPr>
      </a:lvl8pPr>
      <a:lvl9pPr marL="1828800" algn="l" rtl="0" eaLnBrk="1" fontAlgn="base" hangingPunct="1">
        <a:spcBef>
          <a:spcPct val="0"/>
        </a:spcBef>
        <a:spcAft>
          <a:spcPct val="0"/>
        </a:spcAft>
        <a:defRPr sz="4400">
          <a:solidFill>
            <a:srgbClr val="FFFF99"/>
          </a:solidFill>
          <a:latin typeface="Arial" charset="0"/>
        </a:defRPr>
      </a:lvl9pPr>
    </p:titleStyle>
    <p:bodyStyle>
      <a:lvl1pPr marL="282575" indent="-282575" algn="l" rtl="0" eaLnBrk="1" fontAlgn="base" hangingPunct="1">
        <a:spcBef>
          <a:spcPct val="20000"/>
        </a:spcBef>
        <a:spcAft>
          <a:spcPct val="0"/>
        </a:spcAft>
        <a:buChar char="•"/>
        <a:defRPr sz="2400">
          <a:solidFill>
            <a:schemeClr val="bg1"/>
          </a:solidFill>
          <a:latin typeface="+mn-lt"/>
          <a:ea typeface="+mn-ea"/>
          <a:cs typeface="+mn-cs"/>
        </a:defRPr>
      </a:lvl1pPr>
      <a:lvl2pPr marL="519113" indent="-287338" algn="l" rtl="0" eaLnBrk="1" fontAlgn="base" hangingPunct="1">
        <a:spcBef>
          <a:spcPct val="20000"/>
        </a:spcBef>
        <a:spcAft>
          <a:spcPct val="0"/>
        </a:spcAft>
        <a:buFont typeface="Wingdings" pitchFamily="2" charset="2"/>
        <a:buChar char="§"/>
        <a:defRPr sz="2000">
          <a:solidFill>
            <a:schemeClr val="bg1"/>
          </a:solidFill>
          <a:latin typeface="+mn-lt"/>
        </a:defRPr>
      </a:lvl2pPr>
      <a:lvl3pPr marL="801688" indent="-225425" algn="l" rtl="0" eaLnBrk="1" fontAlgn="base" hangingPunct="1">
        <a:spcBef>
          <a:spcPct val="20000"/>
        </a:spcBef>
        <a:spcAft>
          <a:spcPct val="0"/>
        </a:spcAft>
        <a:buFont typeface="Wingdings" pitchFamily="2" charset="2"/>
        <a:buChar char="Ø"/>
        <a:defRPr sz="1800">
          <a:solidFill>
            <a:schemeClr val="bg1"/>
          </a:solidFill>
          <a:latin typeface="+mn-lt"/>
        </a:defRPr>
      </a:lvl3pPr>
      <a:lvl4pPr marL="1084263" indent="-288925" algn="l" rtl="0" eaLnBrk="1" fontAlgn="base" hangingPunct="1">
        <a:spcBef>
          <a:spcPct val="20000"/>
        </a:spcBef>
        <a:spcAft>
          <a:spcPct val="0"/>
        </a:spcAft>
        <a:buFont typeface="Courier New" pitchFamily="49" charset="0"/>
        <a:buChar char="o"/>
        <a:defRPr sz="1600">
          <a:solidFill>
            <a:schemeClr val="bg1"/>
          </a:solidFill>
          <a:latin typeface="+mn-lt"/>
        </a:defRPr>
      </a:lvl4pPr>
      <a:lvl5pPr marL="1377950" indent="-293688" algn="l" rtl="0" eaLnBrk="1" fontAlgn="base" hangingPunct="1">
        <a:spcBef>
          <a:spcPct val="20000"/>
        </a:spcBef>
        <a:spcAft>
          <a:spcPct val="0"/>
        </a:spcAft>
        <a:buChar char="»"/>
        <a:defRPr sz="1400">
          <a:solidFill>
            <a:schemeClr val="bg1"/>
          </a:solidFill>
          <a:latin typeface="+mn-lt"/>
        </a:defRPr>
      </a:lvl5pPr>
      <a:lvl6pPr marL="2514600" indent="-228600" algn="l" rtl="0" eaLnBrk="1" fontAlgn="base" hangingPunct="1">
        <a:spcBef>
          <a:spcPct val="20000"/>
        </a:spcBef>
        <a:spcAft>
          <a:spcPct val="0"/>
        </a:spcAft>
        <a:buChar char="»"/>
        <a:defRPr sz="2000">
          <a:solidFill>
            <a:schemeClr val="bg1"/>
          </a:solidFill>
          <a:latin typeface="+mn-lt"/>
        </a:defRPr>
      </a:lvl6pPr>
      <a:lvl7pPr marL="2971800" indent="-228600" algn="l" rtl="0" eaLnBrk="1" fontAlgn="base" hangingPunct="1">
        <a:spcBef>
          <a:spcPct val="20000"/>
        </a:spcBef>
        <a:spcAft>
          <a:spcPct val="0"/>
        </a:spcAft>
        <a:buChar char="»"/>
        <a:defRPr sz="2000">
          <a:solidFill>
            <a:schemeClr val="bg1"/>
          </a:solidFill>
          <a:latin typeface="+mn-lt"/>
        </a:defRPr>
      </a:lvl7pPr>
      <a:lvl8pPr marL="3429000" indent="-228600" algn="l" rtl="0" eaLnBrk="1" fontAlgn="base" hangingPunct="1">
        <a:spcBef>
          <a:spcPct val="20000"/>
        </a:spcBef>
        <a:spcAft>
          <a:spcPct val="0"/>
        </a:spcAft>
        <a:buChar char="»"/>
        <a:defRPr sz="2000">
          <a:solidFill>
            <a:schemeClr val="bg1"/>
          </a:solidFill>
          <a:latin typeface="+mn-lt"/>
        </a:defRPr>
      </a:lvl8pPr>
      <a:lvl9pPr marL="3886200"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chart" Target="../charts/chart1.xml"/><Relationship Id="rId7"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0.png"/><Relationship Id="rId4" Type="http://schemas.openxmlformats.org/officeDocument/2006/relationships/image" Target="../media/image70.png"/></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chart" Target="../charts/chart3.xml"/><Relationship Id="rId1" Type="http://schemas.openxmlformats.org/officeDocument/2006/relationships/slideLayout" Target="../slideLayouts/slideLayout2.xml"/><Relationship Id="rId6" Type="http://schemas.openxmlformats.org/officeDocument/2006/relationships/chart" Target="../charts/chart4.xm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03197" y="382012"/>
            <a:ext cx="8111067" cy="3046988"/>
          </a:xfrm>
        </p:spPr>
        <p:txBody>
          <a:bodyPr/>
          <a:lstStyle/>
          <a:p>
            <a:r>
              <a:rPr lang="en-US" sz="4800" i="1" dirty="0">
                <a:solidFill>
                  <a:schemeClr val="accent1">
                    <a:lumMod val="60000"/>
                    <a:lumOff val="40000"/>
                  </a:schemeClr>
                </a:solidFill>
                <a:latin typeface="Cambria" panose="02040503050406030204" pitchFamily="18" charset="0"/>
                <a:ea typeface="Cambria" panose="02040503050406030204" pitchFamily="18" charset="0"/>
              </a:rPr>
              <a:t>Chemistry 3A</a:t>
            </a:r>
            <a:br>
              <a:rPr lang="en-US" sz="4800" i="1" dirty="0">
                <a:solidFill>
                  <a:schemeClr val="accent1">
                    <a:lumMod val="60000"/>
                    <a:lumOff val="40000"/>
                  </a:schemeClr>
                </a:solidFill>
                <a:latin typeface="Cambria" panose="02040503050406030204" pitchFamily="18" charset="0"/>
                <a:ea typeface="Cambria" panose="02040503050406030204" pitchFamily="18" charset="0"/>
              </a:rPr>
            </a:br>
            <a:r>
              <a:rPr lang="en-US" sz="7200" dirty="0"/>
              <a:t>Introductory General Chemistry</a:t>
            </a:r>
          </a:p>
        </p:txBody>
      </p:sp>
      <p:sp>
        <p:nvSpPr>
          <p:cNvPr id="3" name="Subtitle 2"/>
          <p:cNvSpPr>
            <a:spLocks noGrp="1"/>
          </p:cNvSpPr>
          <p:nvPr>
            <p:ph type="subTitle" idx="1"/>
          </p:nvPr>
        </p:nvSpPr>
        <p:spPr>
          <a:xfrm>
            <a:off x="503197" y="3710119"/>
            <a:ext cx="8275312" cy="2000634"/>
          </a:xfrm>
        </p:spPr>
        <p:txBody>
          <a:bodyPr/>
          <a:lstStyle/>
          <a:p>
            <a:r>
              <a:rPr lang="en-US" sz="3600" i="0" dirty="0">
                <a:solidFill>
                  <a:schemeClr val="bg1"/>
                </a:solidFill>
                <a:latin typeface="Segoe UI" panose="020B0502040204020203" pitchFamily="34" charset="0"/>
                <a:ea typeface="Cambria" panose="02040503050406030204" pitchFamily="18" charset="0"/>
                <a:cs typeface="Segoe UI" panose="020B0502040204020203" pitchFamily="34" charset="0"/>
              </a:rPr>
              <a:t>Math of Chemistry: Scientific Notation, Significant Digits/Figures, Conversions, Density, Temperature Scales</a:t>
            </a:r>
          </a:p>
        </p:txBody>
      </p:sp>
      <p:sp>
        <p:nvSpPr>
          <p:cNvPr id="5" name="Rectangle 3"/>
          <p:cNvSpPr txBox="1">
            <a:spLocks noChangeArrowheads="1"/>
          </p:cNvSpPr>
          <p:nvPr/>
        </p:nvSpPr>
        <p:spPr bwMode="auto">
          <a:xfrm>
            <a:off x="452436" y="6115140"/>
            <a:ext cx="8212591" cy="3385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600" b="0" i="0" u="none" strike="noStrike" kern="0" cap="none" spc="0" normalizeH="0" baseline="0" noProof="0" dirty="0">
                <a:ln>
                  <a:noFill/>
                </a:ln>
                <a:solidFill>
                  <a:srgbClr val="99FFCC"/>
                </a:solidFill>
                <a:effectLst/>
                <a:uLnTx/>
                <a:uFillTx/>
                <a:latin typeface="Tahoma" pitchFamily="34" charset="0"/>
                <a:ea typeface="+mn-ea"/>
                <a:cs typeface="+mn-cs"/>
              </a:rPr>
              <a:t>S. M. Halloran</a:t>
            </a:r>
          </a:p>
        </p:txBody>
      </p:sp>
      <p:grpSp>
        <p:nvGrpSpPr>
          <p:cNvPr id="7" name="Graphic 5">
            <a:extLst>
              <a:ext uri="{FF2B5EF4-FFF2-40B4-BE49-F238E27FC236}">
                <a16:creationId xmlns:a16="http://schemas.microsoft.com/office/drawing/2014/main" id="{5B52E0F6-8842-2F84-F5D5-89B62A99B5B8}"/>
              </a:ext>
            </a:extLst>
          </p:cNvPr>
          <p:cNvGrpSpPr/>
          <p:nvPr/>
        </p:nvGrpSpPr>
        <p:grpSpPr>
          <a:xfrm>
            <a:off x="6173698" y="6065033"/>
            <a:ext cx="2491329" cy="325030"/>
            <a:chOff x="3790393" y="2022509"/>
            <a:chExt cx="3776519" cy="492702"/>
          </a:xfrm>
          <a:solidFill>
            <a:schemeClr val="bg1"/>
          </a:solidFill>
        </p:grpSpPr>
        <p:sp>
          <p:nvSpPr>
            <p:cNvPr id="8" name="Freeform: Shape 7">
              <a:extLst>
                <a:ext uri="{FF2B5EF4-FFF2-40B4-BE49-F238E27FC236}">
                  <a16:creationId xmlns:a16="http://schemas.microsoft.com/office/drawing/2014/main" id="{4445359E-6CDB-90C0-FF05-8856FBB015CC}"/>
                </a:ext>
              </a:extLst>
            </p:cNvPr>
            <p:cNvSpPr/>
            <p:nvPr/>
          </p:nvSpPr>
          <p:spPr>
            <a:xfrm>
              <a:off x="3790393" y="2022509"/>
              <a:ext cx="492702" cy="492702"/>
            </a:xfrm>
            <a:custGeom>
              <a:avLst/>
              <a:gdLst>
                <a:gd name="connsiteX0" fmla="*/ 21214 w 492702"/>
                <a:gd name="connsiteY0" fmla="*/ 0 h 492702"/>
                <a:gd name="connsiteX1" fmla="*/ 471489 w 492702"/>
                <a:gd name="connsiteY1" fmla="*/ 0 h 492702"/>
                <a:gd name="connsiteX2" fmla="*/ 492703 w 492702"/>
                <a:gd name="connsiteY2" fmla="*/ 21122 h 492702"/>
                <a:gd name="connsiteX3" fmla="*/ 492703 w 492702"/>
                <a:gd name="connsiteY3" fmla="*/ 471580 h 492702"/>
                <a:gd name="connsiteX4" fmla="*/ 471489 w 492702"/>
                <a:gd name="connsiteY4" fmla="*/ 492703 h 492702"/>
                <a:gd name="connsiteX5" fmla="*/ 21214 w 492702"/>
                <a:gd name="connsiteY5" fmla="*/ 492703 h 492702"/>
                <a:gd name="connsiteX6" fmla="*/ 0 w 492702"/>
                <a:gd name="connsiteY6" fmla="*/ 471580 h 492702"/>
                <a:gd name="connsiteX7" fmla="*/ 0 w 492702"/>
                <a:gd name="connsiteY7" fmla="*/ 21122 h 492702"/>
                <a:gd name="connsiteX8" fmla="*/ 21214 w 492702"/>
                <a:gd name="connsiteY8" fmla="*/ 0 h 49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2702" h="492702">
                  <a:moveTo>
                    <a:pt x="21214" y="0"/>
                  </a:moveTo>
                  <a:lnTo>
                    <a:pt x="471489" y="0"/>
                  </a:lnTo>
                  <a:cubicBezTo>
                    <a:pt x="483182" y="-27"/>
                    <a:pt x="492675" y="9430"/>
                    <a:pt x="492703" y="21122"/>
                  </a:cubicBezTo>
                  <a:lnTo>
                    <a:pt x="492703" y="471580"/>
                  </a:lnTo>
                  <a:cubicBezTo>
                    <a:pt x="492675" y="483273"/>
                    <a:pt x="483182" y="492725"/>
                    <a:pt x="471489" y="492703"/>
                  </a:cubicBezTo>
                  <a:lnTo>
                    <a:pt x="21214" y="492703"/>
                  </a:lnTo>
                  <a:cubicBezTo>
                    <a:pt x="9523" y="492730"/>
                    <a:pt x="25" y="483273"/>
                    <a:pt x="0" y="471580"/>
                  </a:cubicBezTo>
                  <a:lnTo>
                    <a:pt x="0" y="21122"/>
                  </a:lnTo>
                  <a:cubicBezTo>
                    <a:pt x="25" y="9430"/>
                    <a:pt x="9523" y="-27"/>
                    <a:pt x="21214" y="0"/>
                  </a:cubicBezTo>
                </a:path>
              </a:pathLst>
            </a:custGeom>
            <a:grpFill/>
            <a:ln w="4553"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909A04D-0D5D-01FD-7DB9-AC8C8BC673AF}"/>
                </a:ext>
              </a:extLst>
            </p:cNvPr>
            <p:cNvSpPr/>
            <p:nvPr/>
          </p:nvSpPr>
          <p:spPr>
            <a:xfrm>
              <a:off x="3790393" y="2022509"/>
              <a:ext cx="492702" cy="492702"/>
            </a:xfrm>
            <a:custGeom>
              <a:avLst/>
              <a:gdLst>
                <a:gd name="connsiteX0" fmla="*/ 21214 w 492702"/>
                <a:gd name="connsiteY0" fmla="*/ 0 h 492702"/>
                <a:gd name="connsiteX1" fmla="*/ 471489 w 492702"/>
                <a:gd name="connsiteY1" fmla="*/ 0 h 492702"/>
                <a:gd name="connsiteX2" fmla="*/ 492703 w 492702"/>
                <a:gd name="connsiteY2" fmla="*/ 21122 h 492702"/>
                <a:gd name="connsiteX3" fmla="*/ 492703 w 492702"/>
                <a:gd name="connsiteY3" fmla="*/ 471580 h 492702"/>
                <a:gd name="connsiteX4" fmla="*/ 471489 w 492702"/>
                <a:gd name="connsiteY4" fmla="*/ 492703 h 492702"/>
                <a:gd name="connsiteX5" fmla="*/ 21214 w 492702"/>
                <a:gd name="connsiteY5" fmla="*/ 492703 h 492702"/>
                <a:gd name="connsiteX6" fmla="*/ 0 w 492702"/>
                <a:gd name="connsiteY6" fmla="*/ 471580 h 492702"/>
                <a:gd name="connsiteX7" fmla="*/ 0 w 492702"/>
                <a:gd name="connsiteY7" fmla="*/ 21122 h 492702"/>
                <a:gd name="connsiteX8" fmla="*/ 21214 w 492702"/>
                <a:gd name="connsiteY8" fmla="*/ 0 h 49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2702" h="492702">
                  <a:moveTo>
                    <a:pt x="21214" y="0"/>
                  </a:moveTo>
                  <a:lnTo>
                    <a:pt x="471489" y="0"/>
                  </a:lnTo>
                  <a:cubicBezTo>
                    <a:pt x="483182" y="-27"/>
                    <a:pt x="492675" y="9430"/>
                    <a:pt x="492703" y="21122"/>
                  </a:cubicBezTo>
                  <a:lnTo>
                    <a:pt x="492703" y="471580"/>
                  </a:lnTo>
                  <a:cubicBezTo>
                    <a:pt x="492675" y="483273"/>
                    <a:pt x="483182" y="492725"/>
                    <a:pt x="471489" y="492703"/>
                  </a:cubicBezTo>
                  <a:lnTo>
                    <a:pt x="21214" y="492703"/>
                  </a:lnTo>
                  <a:cubicBezTo>
                    <a:pt x="9523" y="492730"/>
                    <a:pt x="25" y="483273"/>
                    <a:pt x="0" y="471580"/>
                  </a:cubicBezTo>
                  <a:lnTo>
                    <a:pt x="0" y="21122"/>
                  </a:lnTo>
                  <a:cubicBezTo>
                    <a:pt x="25" y="9430"/>
                    <a:pt x="9523" y="-27"/>
                    <a:pt x="21214" y="0"/>
                  </a:cubicBezTo>
                  <a:close/>
                </a:path>
              </a:pathLst>
            </a:custGeom>
            <a:grpFill/>
            <a:ln w="7968" cap="flat">
              <a:solidFill>
                <a:srgbClr val="232020"/>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6EE4331-1540-5318-0722-CE5188B33B81}"/>
                </a:ext>
              </a:extLst>
            </p:cNvPr>
            <p:cNvSpPr/>
            <p:nvPr/>
          </p:nvSpPr>
          <p:spPr>
            <a:xfrm>
              <a:off x="3825932" y="2058504"/>
              <a:ext cx="421762" cy="419709"/>
            </a:xfrm>
            <a:custGeom>
              <a:avLst/>
              <a:gdLst>
                <a:gd name="connsiteX0" fmla="*/ 59717 w 421762"/>
                <a:gd name="connsiteY0" fmla="*/ 0 h 419709"/>
                <a:gd name="connsiteX1" fmla="*/ 421489 w 421762"/>
                <a:gd name="connsiteY1" fmla="*/ 0 h 419709"/>
                <a:gd name="connsiteX2" fmla="*/ 421489 w 421762"/>
                <a:gd name="connsiteY2" fmla="*/ 57117 h 419709"/>
                <a:gd name="connsiteX3" fmla="*/ 57391 w 421762"/>
                <a:gd name="connsiteY3" fmla="*/ 57117 h 419709"/>
                <a:gd name="connsiteX4" fmla="*/ 57391 w 421762"/>
                <a:gd name="connsiteY4" fmla="*/ 167656 h 419709"/>
                <a:gd name="connsiteX5" fmla="*/ 91059 w 421762"/>
                <a:gd name="connsiteY5" fmla="*/ 167656 h 419709"/>
                <a:gd name="connsiteX6" fmla="*/ 91059 w 421762"/>
                <a:gd name="connsiteY6" fmla="*/ 144024 h 419709"/>
                <a:gd name="connsiteX7" fmla="*/ 150913 w 421762"/>
                <a:gd name="connsiteY7" fmla="*/ 90648 h 419709"/>
                <a:gd name="connsiteX8" fmla="*/ 421626 w 421762"/>
                <a:gd name="connsiteY8" fmla="*/ 90648 h 419709"/>
                <a:gd name="connsiteX9" fmla="*/ 421626 w 421762"/>
                <a:gd name="connsiteY9" fmla="*/ 147902 h 419709"/>
                <a:gd name="connsiteX10" fmla="*/ 149681 w 421762"/>
                <a:gd name="connsiteY10" fmla="*/ 147902 h 419709"/>
                <a:gd name="connsiteX11" fmla="*/ 149681 w 421762"/>
                <a:gd name="connsiteY11" fmla="*/ 167793 h 419709"/>
                <a:gd name="connsiteX12" fmla="*/ 421626 w 421762"/>
                <a:gd name="connsiteY12" fmla="*/ 167793 h 419709"/>
                <a:gd name="connsiteX13" fmla="*/ 421626 w 421762"/>
                <a:gd name="connsiteY13" fmla="*/ 224910 h 419709"/>
                <a:gd name="connsiteX14" fmla="*/ 225776 w 421762"/>
                <a:gd name="connsiteY14" fmla="*/ 224910 h 419709"/>
                <a:gd name="connsiteX15" fmla="*/ 225776 w 421762"/>
                <a:gd name="connsiteY15" fmla="*/ 284490 h 419709"/>
                <a:gd name="connsiteX16" fmla="*/ 421626 w 421762"/>
                <a:gd name="connsiteY16" fmla="*/ 284490 h 419709"/>
                <a:gd name="connsiteX17" fmla="*/ 421626 w 421762"/>
                <a:gd name="connsiteY17" fmla="*/ 342702 h 419709"/>
                <a:gd name="connsiteX18" fmla="*/ 220895 w 421762"/>
                <a:gd name="connsiteY18" fmla="*/ 342702 h 419709"/>
                <a:gd name="connsiteX19" fmla="*/ 168523 w 421762"/>
                <a:gd name="connsiteY19" fmla="*/ 284353 h 419709"/>
                <a:gd name="connsiteX20" fmla="*/ 168523 w 421762"/>
                <a:gd name="connsiteY20" fmla="*/ 224773 h 419709"/>
                <a:gd name="connsiteX21" fmla="*/ 149818 w 421762"/>
                <a:gd name="connsiteY21" fmla="*/ 224773 h 419709"/>
                <a:gd name="connsiteX22" fmla="*/ 149818 w 421762"/>
                <a:gd name="connsiteY22" fmla="*/ 362593 h 419709"/>
                <a:gd name="connsiteX23" fmla="*/ 421763 w 421762"/>
                <a:gd name="connsiteY23" fmla="*/ 362593 h 419709"/>
                <a:gd name="connsiteX24" fmla="*/ 421763 w 421762"/>
                <a:gd name="connsiteY24" fmla="*/ 419710 h 419709"/>
                <a:gd name="connsiteX25" fmla="*/ 144845 w 421762"/>
                <a:gd name="connsiteY25" fmla="*/ 419710 h 419709"/>
                <a:gd name="connsiteX26" fmla="*/ 91196 w 421762"/>
                <a:gd name="connsiteY26" fmla="*/ 364969 h 419709"/>
                <a:gd name="connsiteX27" fmla="*/ 91196 w 421762"/>
                <a:gd name="connsiteY27" fmla="*/ 364965 h 419709"/>
                <a:gd name="connsiteX28" fmla="*/ 91196 w 421762"/>
                <a:gd name="connsiteY28" fmla="*/ 224773 h 419709"/>
                <a:gd name="connsiteX29" fmla="*/ 57528 w 421762"/>
                <a:gd name="connsiteY29" fmla="*/ 224773 h 419709"/>
                <a:gd name="connsiteX30" fmla="*/ 57528 w 421762"/>
                <a:gd name="connsiteY30" fmla="*/ 419710 h 419709"/>
                <a:gd name="connsiteX31" fmla="*/ 0 w 421762"/>
                <a:gd name="connsiteY31" fmla="*/ 419710 h 419709"/>
                <a:gd name="connsiteX32" fmla="*/ 0 w 421762"/>
                <a:gd name="connsiteY32" fmla="*/ 53422 h 419709"/>
                <a:gd name="connsiteX33" fmla="*/ 59854 w 421762"/>
                <a:gd name="connsiteY33" fmla="*/ 0 h 41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1762" h="419709">
                  <a:moveTo>
                    <a:pt x="59717" y="0"/>
                  </a:moveTo>
                  <a:lnTo>
                    <a:pt x="421489" y="0"/>
                  </a:lnTo>
                  <a:lnTo>
                    <a:pt x="421489" y="57117"/>
                  </a:lnTo>
                  <a:lnTo>
                    <a:pt x="57391" y="57117"/>
                  </a:lnTo>
                  <a:lnTo>
                    <a:pt x="57391" y="167656"/>
                  </a:lnTo>
                  <a:lnTo>
                    <a:pt x="91059" y="167656"/>
                  </a:lnTo>
                  <a:lnTo>
                    <a:pt x="91059" y="144024"/>
                  </a:lnTo>
                  <a:cubicBezTo>
                    <a:pt x="91059" y="112865"/>
                    <a:pt x="119572" y="90648"/>
                    <a:pt x="150913" y="90648"/>
                  </a:cubicBezTo>
                  <a:lnTo>
                    <a:pt x="421626" y="90648"/>
                  </a:lnTo>
                  <a:lnTo>
                    <a:pt x="421626" y="147902"/>
                  </a:lnTo>
                  <a:lnTo>
                    <a:pt x="149681" y="147902"/>
                  </a:lnTo>
                  <a:lnTo>
                    <a:pt x="149681" y="167793"/>
                  </a:lnTo>
                  <a:lnTo>
                    <a:pt x="421626" y="167793"/>
                  </a:lnTo>
                  <a:lnTo>
                    <a:pt x="421626" y="224910"/>
                  </a:lnTo>
                  <a:lnTo>
                    <a:pt x="225776" y="224910"/>
                  </a:lnTo>
                  <a:lnTo>
                    <a:pt x="225776" y="284490"/>
                  </a:lnTo>
                  <a:lnTo>
                    <a:pt x="421626" y="284490"/>
                  </a:lnTo>
                  <a:lnTo>
                    <a:pt x="421626" y="342702"/>
                  </a:lnTo>
                  <a:lnTo>
                    <a:pt x="220895" y="342702"/>
                  </a:lnTo>
                  <a:cubicBezTo>
                    <a:pt x="190192" y="342702"/>
                    <a:pt x="168523" y="314919"/>
                    <a:pt x="168523" y="284353"/>
                  </a:cubicBezTo>
                  <a:lnTo>
                    <a:pt x="168523" y="224773"/>
                  </a:lnTo>
                  <a:lnTo>
                    <a:pt x="149818" y="224773"/>
                  </a:lnTo>
                  <a:lnTo>
                    <a:pt x="149818" y="362593"/>
                  </a:lnTo>
                  <a:lnTo>
                    <a:pt x="421763" y="362593"/>
                  </a:lnTo>
                  <a:lnTo>
                    <a:pt x="421763" y="419710"/>
                  </a:lnTo>
                  <a:lnTo>
                    <a:pt x="144845" y="419710"/>
                  </a:lnTo>
                  <a:cubicBezTo>
                    <a:pt x="114914" y="419408"/>
                    <a:pt x="90894" y="394901"/>
                    <a:pt x="91196" y="364969"/>
                  </a:cubicBezTo>
                  <a:cubicBezTo>
                    <a:pt x="91196" y="364969"/>
                    <a:pt x="91196" y="364965"/>
                    <a:pt x="91196" y="364965"/>
                  </a:cubicBezTo>
                  <a:lnTo>
                    <a:pt x="91196" y="224773"/>
                  </a:lnTo>
                  <a:lnTo>
                    <a:pt x="57528" y="224773"/>
                  </a:lnTo>
                  <a:lnTo>
                    <a:pt x="57528" y="419710"/>
                  </a:lnTo>
                  <a:lnTo>
                    <a:pt x="0" y="419710"/>
                  </a:lnTo>
                  <a:lnTo>
                    <a:pt x="0" y="53422"/>
                  </a:lnTo>
                  <a:cubicBezTo>
                    <a:pt x="0" y="22217"/>
                    <a:pt x="28513" y="0"/>
                    <a:pt x="59854" y="0"/>
                  </a:cubicBezTo>
                </a:path>
              </a:pathLst>
            </a:custGeom>
            <a:grpFill/>
            <a:ln w="4553"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A72C943D-29C0-01D5-C496-31B31C02ECE3}"/>
                </a:ext>
              </a:extLst>
            </p:cNvPr>
            <p:cNvSpPr/>
            <p:nvPr/>
          </p:nvSpPr>
          <p:spPr>
            <a:xfrm>
              <a:off x="3825932" y="2058504"/>
              <a:ext cx="421762" cy="419709"/>
            </a:xfrm>
            <a:custGeom>
              <a:avLst/>
              <a:gdLst>
                <a:gd name="connsiteX0" fmla="*/ 59717 w 421762"/>
                <a:gd name="connsiteY0" fmla="*/ 0 h 419709"/>
                <a:gd name="connsiteX1" fmla="*/ 421489 w 421762"/>
                <a:gd name="connsiteY1" fmla="*/ 0 h 419709"/>
                <a:gd name="connsiteX2" fmla="*/ 421489 w 421762"/>
                <a:gd name="connsiteY2" fmla="*/ 57117 h 419709"/>
                <a:gd name="connsiteX3" fmla="*/ 57391 w 421762"/>
                <a:gd name="connsiteY3" fmla="*/ 57117 h 419709"/>
                <a:gd name="connsiteX4" fmla="*/ 57391 w 421762"/>
                <a:gd name="connsiteY4" fmla="*/ 167656 h 419709"/>
                <a:gd name="connsiteX5" fmla="*/ 91059 w 421762"/>
                <a:gd name="connsiteY5" fmla="*/ 167656 h 419709"/>
                <a:gd name="connsiteX6" fmla="*/ 91059 w 421762"/>
                <a:gd name="connsiteY6" fmla="*/ 144024 h 419709"/>
                <a:gd name="connsiteX7" fmla="*/ 150913 w 421762"/>
                <a:gd name="connsiteY7" fmla="*/ 90648 h 419709"/>
                <a:gd name="connsiteX8" fmla="*/ 421626 w 421762"/>
                <a:gd name="connsiteY8" fmla="*/ 90648 h 419709"/>
                <a:gd name="connsiteX9" fmla="*/ 421626 w 421762"/>
                <a:gd name="connsiteY9" fmla="*/ 147902 h 419709"/>
                <a:gd name="connsiteX10" fmla="*/ 149681 w 421762"/>
                <a:gd name="connsiteY10" fmla="*/ 147902 h 419709"/>
                <a:gd name="connsiteX11" fmla="*/ 149681 w 421762"/>
                <a:gd name="connsiteY11" fmla="*/ 167793 h 419709"/>
                <a:gd name="connsiteX12" fmla="*/ 421626 w 421762"/>
                <a:gd name="connsiteY12" fmla="*/ 167793 h 419709"/>
                <a:gd name="connsiteX13" fmla="*/ 421626 w 421762"/>
                <a:gd name="connsiteY13" fmla="*/ 224910 h 419709"/>
                <a:gd name="connsiteX14" fmla="*/ 225776 w 421762"/>
                <a:gd name="connsiteY14" fmla="*/ 224910 h 419709"/>
                <a:gd name="connsiteX15" fmla="*/ 225776 w 421762"/>
                <a:gd name="connsiteY15" fmla="*/ 284490 h 419709"/>
                <a:gd name="connsiteX16" fmla="*/ 421626 w 421762"/>
                <a:gd name="connsiteY16" fmla="*/ 284490 h 419709"/>
                <a:gd name="connsiteX17" fmla="*/ 421626 w 421762"/>
                <a:gd name="connsiteY17" fmla="*/ 342702 h 419709"/>
                <a:gd name="connsiteX18" fmla="*/ 220895 w 421762"/>
                <a:gd name="connsiteY18" fmla="*/ 342702 h 419709"/>
                <a:gd name="connsiteX19" fmla="*/ 168523 w 421762"/>
                <a:gd name="connsiteY19" fmla="*/ 284353 h 419709"/>
                <a:gd name="connsiteX20" fmla="*/ 168523 w 421762"/>
                <a:gd name="connsiteY20" fmla="*/ 224773 h 419709"/>
                <a:gd name="connsiteX21" fmla="*/ 149818 w 421762"/>
                <a:gd name="connsiteY21" fmla="*/ 224773 h 419709"/>
                <a:gd name="connsiteX22" fmla="*/ 149818 w 421762"/>
                <a:gd name="connsiteY22" fmla="*/ 362593 h 419709"/>
                <a:gd name="connsiteX23" fmla="*/ 421763 w 421762"/>
                <a:gd name="connsiteY23" fmla="*/ 362593 h 419709"/>
                <a:gd name="connsiteX24" fmla="*/ 421763 w 421762"/>
                <a:gd name="connsiteY24" fmla="*/ 419710 h 419709"/>
                <a:gd name="connsiteX25" fmla="*/ 144845 w 421762"/>
                <a:gd name="connsiteY25" fmla="*/ 419710 h 419709"/>
                <a:gd name="connsiteX26" fmla="*/ 91196 w 421762"/>
                <a:gd name="connsiteY26" fmla="*/ 364969 h 419709"/>
                <a:gd name="connsiteX27" fmla="*/ 91196 w 421762"/>
                <a:gd name="connsiteY27" fmla="*/ 364965 h 419709"/>
                <a:gd name="connsiteX28" fmla="*/ 91196 w 421762"/>
                <a:gd name="connsiteY28" fmla="*/ 224773 h 419709"/>
                <a:gd name="connsiteX29" fmla="*/ 57528 w 421762"/>
                <a:gd name="connsiteY29" fmla="*/ 224773 h 419709"/>
                <a:gd name="connsiteX30" fmla="*/ 57528 w 421762"/>
                <a:gd name="connsiteY30" fmla="*/ 419710 h 419709"/>
                <a:gd name="connsiteX31" fmla="*/ 0 w 421762"/>
                <a:gd name="connsiteY31" fmla="*/ 419710 h 419709"/>
                <a:gd name="connsiteX32" fmla="*/ 0 w 421762"/>
                <a:gd name="connsiteY32" fmla="*/ 53422 h 419709"/>
                <a:gd name="connsiteX33" fmla="*/ 59717 w 421762"/>
                <a:gd name="connsiteY33" fmla="*/ 0 h 41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1762" h="419709">
                  <a:moveTo>
                    <a:pt x="59717" y="0"/>
                  </a:moveTo>
                  <a:lnTo>
                    <a:pt x="421489" y="0"/>
                  </a:lnTo>
                  <a:lnTo>
                    <a:pt x="421489" y="57117"/>
                  </a:lnTo>
                  <a:lnTo>
                    <a:pt x="57391" y="57117"/>
                  </a:lnTo>
                  <a:lnTo>
                    <a:pt x="57391" y="167656"/>
                  </a:lnTo>
                  <a:lnTo>
                    <a:pt x="91059" y="167656"/>
                  </a:lnTo>
                  <a:lnTo>
                    <a:pt x="91059" y="144024"/>
                  </a:lnTo>
                  <a:cubicBezTo>
                    <a:pt x="91059" y="112865"/>
                    <a:pt x="119572" y="90648"/>
                    <a:pt x="150913" y="90648"/>
                  </a:cubicBezTo>
                  <a:lnTo>
                    <a:pt x="421626" y="90648"/>
                  </a:lnTo>
                  <a:lnTo>
                    <a:pt x="421626" y="147902"/>
                  </a:lnTo>
                  <a:lnTo>
                    <a:pt x="149681" y="147902"/>
                  </a:lnTo>
                  <a:lnTo>
                    <a:pt x="149681" y="167793"/>
                  </a:lnTo>
                  <a:lnTo>
                    <a:pt x="421626" y="167793"/>
                  </a:lnTo>
                  <a:lnTo>
                    <a:pt x="421626" y="224910"/>
                  </a:lnTo>
                  <a:lnTo>
                    <a:pt x="225776" y="224910"/>
                  </a:lnTo>
                  <a:lnTo>
                    <a:pt x="225776" y="284490"/>
                  </a:lnTo>
                  <a:lnTo>
                    <a:pt x="421626" y="284490"/>
                  </a:lnTo>
                  <a:lnTo>
                    <a:pt x="421626" y="342702"/>
                  </a:lnTo>
                  <a:lnTo>
                    <a:pt x="220895" y="342702"/>
                  </a:lnTo>
                  <a:cubicBezTo>
                    <a:pt x="190192" y="342702"/>
                    <a:pt x="168523" y="314919"/>
                    <a:pt x="168523" y="284353"/>
                  </a:cubicBezTo>
                  <a:lnTo>
                    <a:pt x="168523" y="224773"/>
                  </a:lnTo>
                  <a:lnTo>
                    <a:pt x="149818" y="224773"/>
                  </a:lnTo>
                  <a:lnTo>
                    <a:pt x="149818" y="362593"/>
                  </a:lnTo>
                  <a:lnTo>
                    <a:pt x="421763" y="362593"/>
                  </a:lnTo>
                  <a:lnTo>
                    <a:pt x="421763" y="419710"/>
                  </a:lnTo>
                  <a:lnTo>
                    <a:pt x="144845" y="419710"/>
                  </a:lnTo>
                  <a:cubicBezTo>
                    <a:pt x="114914" y="419408"/>
                    <a:pt x="90894" y="394901"/>
                    <a:pt x="91196" y="364969"/>
                  </a:cubicBezTo>
                  <a:cubicBezTo>
                    <a:pt x="91196" y="364969"/>
                    <a:pt x="91196" y="364965"/>
                    <a:pt x="91196" y="364965"/>
                  </a:cubicBezTo>
                  <a:lnTo>
                    <a:pt x="91196" y="224773"/>
                  </a:lnTo>
                  <a:lnTo>
                    <a:pt x="57528" y="224773"/>
                  </a:lnTo>
                  <a:lnTo>
                    <a:pt x="57528" y="419710"/>
                  </a:lnTo>
                  <a:lnTo>
                    <a:pt x="0" y="419710"/>
                  </a:lnTo>
                  <a:lnTo>
                    <a:pt x="0" y="53422"/>
                  </a:lnTo>
                  <a:cubicBezTo>
                    <a:pt x="0" y="22217"/>
                    <a:pt x="28513" y="0"/>
                    <a:pt x="59717" y="0"/>
                  </a:cubicBezTo>
                  <a:close/>
                </a:path>
              </a:pathLst>
            </a:custGeom>
            <a:solidFill>
              <a:srgbClr val="C00000"/>
            </a:solidFill>
            <a:ln w="820" cap="flat">
              <a:solidFill>
                <a:srgbClr val="DB003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0741ADA-80E5-F192-86C1-F7E0C41F5B41}"/>
                </a:ext>
              </a:extLst>
            </p:cNvPr>
            <p:cNvSpPr/>
            <p:nvPr/>
          </p:nvSpPr>
          <p:spPr>
            <a:xfrm>
              <a:off x="4352622" y="2133413"/>
              <a:ext cx="200183" cy="271807"/>
            </a:xfrm>
            <a:custGeom>
              <a:avLst/>
              <a:gdLst>
                <a:gd name="connsiteX0" fmla="*/ 75913 w 200183"/>
                <a:gd name="connsiteY0" fmla="*/ 14736 h 271807"/>
                <a:gd name="connsiteX1" fmla="*/ 75913 w 200183"/>
                <a:gd name="connsiteY1" fmla="*/ 121670 h 271807"/>
                <a:gd name="connsiteX2" fmla="*/ 124179 w 200183"/>
                <a:gd name="connsiteY2" fmla="*/ 121670 h 271807"/>
                <a:gd name="connsiteX3" fmla="*/ 148586 w 200183"/>
                <a:gd name="connsiteY3" fmla="*/ 114143 h 271807"/>
                <a:gd name="connsiteX4" fmla="*/ 158851 w 200183"/>
                <a:gd name="connsiteY4" fmla="*/ 84444 h 271807"/>
                <a:gd name="connsiteX5" fmla="*/ 166196 w 200183"/>
                <a:gd name="connsiteY5" fmla="*/ 84444 h 271807"/>
                <a:gd name="connsiteX6" fmla="*/ 166196 w 200183"/>
                <a:gd name="connsiteY6" fmla="*/ 176415 h 271807"/>
                <a:gd name="connsiteX7" fmla="*/ 158851 w 200183"/>
                <a:gd name="connsiteY7" fmla="*/ 176415 h 271807"/>
                <a:gd name="connsiteX8" fmla="*/ 154836 w 200183"/>
                <a:gd name="connsiteY8" fmla="*/ 153148 h 271807"/>
                <a:gd name="connsiteX9" fmla="*/ 144298 w 200183"/>
                <a:gd name="connsiteY9" fmla="*/ 142063 h 271807"/>
                <a:gd name="connsiteX10" fmla="*/ 124179 w 200183"/>
                <a:gd name="connsiteY10" fmla="*/ 138367 h 271807"/>
                <a:gd name="connsiteX11" fmla="*/ 75913 w 200183"/>
                <a:gd name="connsiteY11" fmla="*/ 138367 h 271807"/>
                <a:gd name="connsiteX12" fmla="*/ 75913 w 200183"/>
                <a:gd name="connsiteY12" fmla="*/ 223541 h 271807"/>
                <a:gd name="connsiteX13" fmla="*/ 78467 w 200183"/>
                <a:gd name="connsiteY13" fmla="*/ 250913 h 271807"/>
                <a:gd name="connsiteX14" fmla="*/ 86725 w 200183"/>
                <a:gd name="connsiteY14" fmla="*/ 259490 h 271807"/>
                <a:gd name="connsiteX15" fmla="*/ 104745 w 200183"/>
                <a:gd name="connsiteY15" fmla="*/ 264326 h 271807"/>
                <a:gd name="connsiteX16" fmla="*/ 114371 w 200183"/>
                <a:gd name="connsiteY16" fmla="*/ 264326 h 271807"/>
                <a:gd name="connsiteX17" fmla="*/ 114371 w 200183"/>
                <a:gd name="connsiteY17" fmla="*/ 271808 h 271807"/>
                <a:gd name="connsiteX18" fmla="*/ 319 w 200183"/>
                <a:gd name="connsiteY18" fmla="*/ 271808 h 271807"/>
                <a:gd name="connsiteX19" fmla="*/ 319 w 200183"/>
                <a:gd name="connsiteY19" fmla="*/ 264326 h 271807"/>
                <a:gd name="connsiteX20" fmla="*/ 9717 w 200183"/>
                <a:gd name="connsiteY20" fmla="*/ 264326 h 271807"/>
                <a:gd name="connsiteX21" fmla="*/ 33668 w 200183"/>
                <a:gd name="connsiteY21" fmla="*/ 254517 h 271807"/>
                <a:gd name="connsiteX22" fmla="*/ 38230 w 200183"/>
                <a:gd name="connsiteY22" fmla="*/ 223678 h 271807"/>
                <a:gd name="connsiteX23" fmla="*/ 38230 w 200183"/>
                <a:gd name="connsiteY23" fmla="*/ 48084 h 271807"/>
                <a:gd name="connsiteX24" fmla="*/ 35675 w 200183"/>
                <a:gd name="connsiteY24" fmla="*/ 20712 h 271807"/>
                <a:gd name="connsiteX25" fmla="*/ 27646 w 200183"/>
                <a:gd name="connsiteY25" fmla="*/ 12089 h 271807"/>
                <a:gd name="connsiteX26" fmla="*/ 9398 w 200183"/>
                <a:gd name="connsiteY26" fmla="*/ 7299 h 271807"/>
                <a:gd name="connsiteX27" fmla="*/ 0 w 200183"/>
                <a:gd name="connsiteY27" fmla="*/ 7299 h 271807"/>
                <a:gd name="connsiteX28" fmla="*/ 0 w 200183"/>
                <a:gd name="connsiteY28" fmla="*/ 0 h 271807"/>
                <a:gd name="connsiteX29" fmla="*/ 197446 w 200183"/>
                <a:gd name="connsiteY29" fmla="*/ 0 h 271807"/>
                <a:gd name="connsiteX30" fmla="*/ 200183 w 200183"/>
                <a:gd name="connsiteY30" fmla="*/ 59672 h 271807"/>
                <a:gd name="connsiteX31" fmla="*/ 193295 w 200183"/>
                <a:gd name="connsiteY31" fmla="*/ 59672 h 271807"/>
                <a:gd name="connsiteX32" fmla="*/ 181479 w 200183"/>
                <a:gd name="connsiteY32" fmla="*/ 31706 h 271807"/>
                <a:gd name="connsiteX33" fmla="*/ 164827 w 200183"/>
                <a:gd name="connsiteY33" fmla="*/ 18750 h 271807"/>
                <a:gd name="connsiteX34" fmla="*/ 134170 w 200183"/>
                <a:gd name="connsiteY34" fmla="*/ 14736 h 271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00183" h="271807">
                  <a:moveTo>
                    <a:pt x="75913" y="14736"/>
                  </a:moveTo>
                  <a:lnTo>
                    <a:pt x="75913" y="121670"/>
                  </a:lnTo>
                  <a:lnTo>
                    <a:pt x="124179" y="121670"/>
                  </a:lnTo>
                  <a:cubicBezTo>
                    <a:pt x="135311" y="121670"/>
                    <a:pt x="143445" y="119161"/>
                    <a:pt x="148586" y="114143"/>
                  </a:cubicBezTo>
                  <a:cubicBezTo>
                    <a:pt x="153728" y="109125"/>
                    <a:pt x="157149" y="99225"/>
                    <a:pt x="158851" y="84444"/>
                  </a:cubicBezTo>
                  <a:lnTo>
                    <a:pt x="166196" y="84444"/>
                  </a:lnTo>
                  <a:lnTo>
                    <a:pt x="166196" y="176415"/>
                  </a:lnTo>
                  <a:lnTo>
                    <a:pt x="158851" y="176415"/>
                  </a:lnTo>
                  <a:cubicBezTo>
                    <a:pt x="159234" y="168459"/>
                    <a:pt x="157866" y="160516"/>
                    <a:pt x="154836" y="153148"/>
                  </a:cubicBezTo>
                  <a:cubicBezTo>
                    <a:pt x="152523" y="148472"/>
                    <a:pt x="148851" y="144608"/>
                    <a:pt x="144298" y="142063"/>
                  </a:cubicBezTo>
                  <a:cubicBezTo>
                    <a:pt x="137984" y="139239"/>
                    <a:pt x="131086" y="137970"/>
                    <a:pt x="124179" y="138367"/>
                  </a:cubicBezTo>
                  <a:lnTo>
                    <a:pt x="75913" y="138367"/>
                  </a:lnTo>
                  <a:lnTo>
                    <a:pt x="75913" y="223541"/>
                  </a:lnTo>
                  <a:cubicBezTo>
                    <a:pt x="75393" y="232743"/>
                    <a:pt x="76255" y="241967"/>
                    <a:pt x="78467" y="250913"/>
                  </a:cubicBezTo>
                  <a:cubicBezTo>
                    <a:pt x="80146" y="254641"/>
                    <a:pt x="83066" y="257670"/>
                    <a:pt x="86725" y="259490"/>
                  </a:cubicBezTo>
                  <a:cubicBezTo>
                    <a:pt x="92213" y="262638"/>
                    <a:pt x="98422" y="264303"/>
                    <a:pt x="104745" y="264326"/>
                  </a:cubicBezTo>
                  <a:lnTo>
                    <a:pt x="114371" y="264326"/>
                  </a:lnTo>
                  <a:lnTo>
                    <a:pt x="114371" y="271808"/>
                  </a:lnTo>
                  <a:lnTo>
                    <a:pt x="319" y="271808"/>
                  </a:lnTo>
                  <a:lnTo>
                    <a:pt x="319" y="264326"/>
                  </a:lnTo>
                  <a:lnTo>
                    <a:pt x="9717" y="264326"/>
                  </a:lnTo>
                  <a:cubicBezTo>
                    <a:pt x="20698" y="264326"/>
                    <a:pt x="28682" y="261055"/>
                    <a:pt x="33668" y="254517"/>
                  </a:cubicBezTo>
                  <a:cubicBezTo>
                    <a:pt x="36770" y="250229"/>
                    <a:pt x="38230" y="239964"/>
                    <a:pt x="38230" y="223678"/>
                  </a:cubicBezTo>
                  <a:lnTo>
                    <a:pt x="38230" y="48084"/>
                  </a:lnTo>
                  <a:cubicBezTo>
                    <a:pt x="38759" y="38882"/>
                    <a:pt x="37897" y="29658"/>
                    <a:pt x="35675" y="20712"/>
                  </a:cubicBezTo>
                  <a:cubicBezTo>
                    <a:pt x="34024" y="17030"/>
                    <a:pt x="31204" y="13996"/>
                    <a:pt x="27646" y="12089"/>
                  </a:cubicBezTo>
                  <a:cubicBezTo>
                    <a:pt x="22099" y="8901"/>
                    <a:pt x="15798" y="7249"/>
                    <a:pt x="9398" y="7299"/>
                  </a:cubicBezTo>
                  <a:lnTo>
                    <a:pt x="0" y="7299"/>
                  </a:lnTo>
                  <a:lnTo>
                    <a:pt x="0" y="0"/>
                  </a:lnTo>
                  <a:lnTo>
                    <a:pt x="197446" y="0"/>
                  </a:lnTo>
                  <a:lnTo>
                    <a:pt x="200183" y="59672"/>
                  </a:lnTo>
                  <a:lnTo>
                    <a:pt x="193295" y="59672"/>
                  </a:lnTo>
                  <a:cubicBezTo>
                    <a:pt x="191109" y="49704"/>
                    <a:pt x="187104" y="40224"/>
                    <a:pt x="181479" y="31706"/>
                  </a:cubicBezTo>
                  <a:cubicBezTo>
                    <a:pt x="177227" y="25940"/>
                    <a:pt x="171465" y="21455"/>
                    <a:pt x="164827" y="18750"/>
                  </a:cubicBezTo>
                  <a:cubicBezTo>
                    <a:pt x="154928" y="15602"/>
                    <a:pt x="144544" y="14243"/>
                    <a:pt x="134170" y="14736"/>
                  </a:cubicBezTo>
                  <a:close/>
                </a:path>
              </a:pathLst>
            </a:custGeom>
            <a:grpFill/>
            <a:ln w="4553"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C2904AC-BC83-A3A1-4615-D3F6C57D071B}"/>
                </a:ext>
              </a:extLst>
            </p:cNvPr>
            <p:cNvSpPr/>
            <p:nvPr/>
          </p:nvSpPr>
          <p:spPr>
            <a:xfrm>
              <a:off x="4572239" y="2216155"/>
              <a:ext cx="133308" cy="189156"/>
            </a:xfrm>
            <a:custGeom>
              <a:avLst/>
              <a:gdLst>
                <a:gd name="connsiteX0" fmla="*/ 62683 w 133308"/>
                <a:gd name="connsiteY0" fmla="*/ 14 h 189156"/>
                <a:gd name="connsiteX1" fmla="*/ 62683 w 133308"/>
                <a:gd name="connsiteY1" fmla="*/ 41072 h 189156"/>
                <a:gd name="connsiteX2" fmla="*/ 108577 w 133308"/>
                <a:gd name="connsiteY2" fmla="*/ 14 h 189156"/>
                <a:gd name="connsiteX3" fmla="*/ 126278 w 133308"/>
                <a:gd name="connsiteY3" fmla="*/ 6720 h 189156"/>
                <a:gd name="connsiteX4" fmla="*/ 133303 w 133308"/>
                <a:gd name="connsiteY4" fmla="*/ 22231 h 189156"/>
                <a:gd name="connsiteX5" fmla="*/ 128239 w 133308"/>
                <a:gd name="connsiteY5" fmla="*/ 35461 h 189156"/>
                <a:gd name="connsiteX6" fmla="*/ 116196 w 133308"/>
                <a:gd name="connsiteY6" fmla="*/ 40844 h 189156"/>
                <a:gd name="connsiteX7" fmla="*/ 100913 w 133308"/>
                <a:gd name="connsiteY7" fmla="*/ 34001 h 189156"/>
                <a:gd name="connsiteX8" fmla="*/ 88367 w 133308"/>
                <a:gd name="connsiteY8" fmla="*/ 27158 h 189156"/>
                <a:gd name="connsiteX9" fmla="*/ 80749 w 133308"/>
                <a:gd name="connsiteY9" fmla="*/ 31173 h 189156"/>
                <a:gd name="connsiteX10" fmla="*/ 62500 w 133308"/>
                <a:gd name="connsiteY10" fmla="*/ 58089 h 189156"/>
                <a:gd name="connsiteX11" fmla="*/ 62500 w 133308"/>
                <a:gd name="connsiteY11" fmla="*/ 146045 h 189156"/>
                <a:gd name="connsiteX12" fmla="*/ 66196 w 133308"/>
                <a:gd name="connsiteY12" fmla="*/ 169175 h 189156"/>
                <a:gd name="connsiteX13" fmla="*/ 75320 w 133308"/>
                <a:gd name="connsiteY13" fmla="*/ 178299 h 189156"/>
                <a:gd name="connsiteX14" fmla="*/ 93933 w 133308"/>
                <a:gd name="connsiteY14" fmla="*/ 181857 h 189156"/>
                <a:gd name="connsiteX15" fmla="*/ 93933 w 133308"/>
                <a:gd name="connsiteY15" fmla="*/ 189157 h 189156"/>
                <a:gd name="connsiteX16" fmla="*/ 1779 w 133308"/>
                <a:gd name="connsiteY16" fmla="*/ 189157 h 189156"/>
                <a:gd name="connsiteX17" fmla="*/ 1779 w 133308"/>
                <a:gd name="connsiteY17" fmla="*/ 181857 h 189156"/>
                <a:gd name="connsiteX18" fmla="*/ 22126 w 133308"/>
                <a:gd name="connsiteY18" fmla="*/ 177295 h 189156"/>
                <a:gd name="connsiteX19" fmla="*/ 29015 w 133308"/>
                <a:gd name="connsiteY19" fmla="*/ 167031 h 189156"/>
                <a:gd name="connsiteX20" fmla="*/ 29973 w 133308"/>
                <a:gd name="connsiteY20" fmla="*/ 147505 h 189156"/>
                <a:gd name="connsiteX21" fmla="*/ 29973 w 133308"/>
                <a:gd name="connsiteY21" fmla="*/ 76565 h 189156"/>
                <a:gd name="connsiteX22" fmla="*/ 28695 w 133308"/>
                <a:gd name="connsiteY22" fmla="*/ 38426 h 189156"/>
                <a:gd name="connsiteX23" fmla="*/ 24133 w 133308"/>
                <a:gd name="connsiteY23" fmla="*/ 29530 h 189156"/>
                <a:gd name="connsiteX24" fmla="*/ 15648 w 133308"/>
                <a:gd name="connsiteY24" fmla="*/ 26702 h 189156"/>
                <a:gd name="connsiteX25" fmla="*/ 1962 w 133308"/>
                <a:gd name="connsiteY25" fmla="*/ 29713 h 189156"/>
                <a:gd name="connsiteX26" fmla="*/ 0 w 133308"/>
                <a:gd name="connsiteY26" fmla="*/ 22459 h 189156"/>
                <a:gd name="connsiteX27" fmla="*/ 54471 w 133308"/>
                <a:gd name="connsiteY27" fmla="*/ 14 h 18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3308" h="189156">
                  <a:moveTo>
                    <a:pt x="62683" y="14"/>
                  </a:moveTo>
                  <a:lnTo>
                    <a:pt x="62683" y="41072"/>
                  </a:lnTo>
                  <a:cubicBezTo>
                    <a:pt x="77555" y="13700"/>
                    <a:pt x="92852" y="14"/>
                    <a:pt x="108577" y="14"/>
                  </a:cubicBezTo>
                  <a:cubicBezTo>
                    <a:pt x="115137" y="-205"/>
                    <a:pt x="121511" y="2208"/>
                    <a:pt x="126278" y="6720"/>
                  </a:cubicBezTo>
                  <a:cubicBezTo>
                    <a:pt x="130712" y="10661"/>
                    <a:pt x="133262" y="16300"/>
                    <a:pt x="133303" y="22231"/>
                  </a:cubicBezTo>
                  <a:cubicBezTo>
                    <a:pt x="133422" y="27135"/>
                    <a:pt x="131602" y="31889"/>
                    <a:pt x="128239" y="35461"/>
                  </a:cubicBezTo>
                  <a:cubicBezTo>
                    <a:pt x="125192" y="38914"/>
                    <a:pt x="120799" y="40876"/>
                    <a:pt x="116196" y="40844"/>
                  </a:cubicBezTo>
                  <a:cubicBezTo>
                    <a:pt x="110475" y="40351"/>
                    <a:pt x="105092" y="37938"/>
                    <a:pt x="100913" y="34001"/>
                  </a:cubicBezTo>
                  <a:cubicBezTo>
                    <a:pt x="97482" y="30552"/>
                    <a:pt x="93125" y="28171"/>
                    <a:pt x="88367" y="27158"/>
                  </a:cubicBezTo>
                  <a:cubicBezTo>
                    <a:pt x="85402" y="27450"/>
                    <a:pt x="82665" y="28891"/>
                    <a:pt x="80749" y="31173"/>
                  </a:cubicBezTo>
                  <a:cubicBezTo>
                    <a:pt x="73166" y="39028"/>
                    <a:pt x="66994" y="48134"/>
                    <a:pt x="62500" y="58089"/>
                  </a:cubicBezTo>
                  <a:lnTo>
                    <a:pt x="62500" y="146045"/>
                  </a:lnTo>
                  <a:cubicBezTo>
                    <a:pt x="62090" y="153928"/>
                    <a:pt x="63349" y="161812"/>
                    <a:pt x="66196" y="169175"/>
                  </a:cubicBezTo>
                  <a:cubicBezTo>
                    <a:pt x="68162" y="173126"/>
                    <a:pt x="71369" y="176333"/>
                    <a:pt x="75320" y="178299"/>
                  </a:cubicBezTo>
                  <a:cubicBezTo>
                    <a:pt x="81141" y="180991"/>
                    <a:pt x="87532" y="182213"/>
                    <a:pt x="93933" y="181857"/>
                  </a:cubicBezTo>
                  <a:lnTo>
                    <a:pt x="93933" y="189157"/>
                  </a:lnTo>
                  <a:lnTo>
                    <a:pt x="1779" y="189157"/>
                  </a:lnTo>
                  <a:lnTo>
                    <a:pt x="1779" y="181857"/>
                  </a:lnTo>
                  <a:cubicBezTo>
                    <a:pt x="8859" y="182313"/>
                    <a:pt x="15922" y="180731"/>
                    <a:pt x="22126" y="177295"/>
                  </a:cubicBezTo>
                  <a:cubicBezTo>
                    <a:pt x="25616" y="174846"/>
                    <a:pt x="28070" y="171187"/>
                    <a:pt x="29015" y="167031"/>
                  </a:cubicBezTo>
                  <a:cubicBezTo>
                    <a:pt x="29923" y="160566"/>
                    <a:pt x="30242" y="154029"/>
                    <a:pt x="29973" y="147505"/>
                  </a:cubicBezTo>
                  <a:lnTo>
                    <a:pt x="29973" y="76565"/>
                  </a:lnTo>
                  <a:cubicBezTo>
                    <a:pt x="30361" y="63837"/>
                    <a:pt x="29936" y="51100"/>
                    <a:pt x="28695" y="38426"/>
                  </a:cubicBezTo>
                  <a:cubicBezTo>
                    <a:pt x="28244" y="35023"/>
                    <a:pt x="26633" y="31884"/>
                    <a:pt x="24133" y="29530"/>
                  </a:cubicBezTo>
                  <a:cubicBezTo>
                    <a:pt x="21729" y="27610"/>
                    <a:pt x="18723" y="26606"/>
                    <a:pt x="15648" y="26702"/>
                  </a:cubicBezTo>
                  <a:cubicBezTo>
                    <a:pt x="10940" y="26871"/>
                    <a:pt x="6305" y="27892"/>
                    <a:pt x="1962" y="29713"/>
                  </a:cubicBezTo>
                  <a:lnTo>
                    <a:pt x="0" y="22459"/>
                  </a:lnTo>
                  <a:lnTo>
                    <a:pt x="54471" y="14"/>
                  </a:lnTo>
                  <a:close/>
                </a:path>
              </a:pathLst>
            </a:custGeom>
            <a:grpFill/>
            <a:ln w="4553"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85C475EE-EFC4-76F2-B18E-BD376DF85512}"/>
                </a:ext>
              </a:extLst>
            </p:cNvPr>
            <p:cNvSpPr/>
            <p:nvPr/>
          </p:nvSpPr>
          <p:spPr>
            <a:xfrm>
              <a:off x="4717951" y="2216088"/>
              <a:ext cx="151916" cy="194663"/>
            </a:xfrm>
            <a:custGeom>
              <a:avLst/>
              <a:gdLst>
                <a:gd name="connsiteX0" fmla="*/ 27783 w 151916"/>
                <a:gd name="connsiteY0" fmla="*/ 74716 h 194663"/>
                <a:gd name="connsiteX1" fmla="*/ 47217 w 151916"/>
                <a:gd name="connsiteY1" fmla="*/ 138585 h 194663"/>
                <a:gd name="connsiteX2" fmla="*/ 93294 w 151916"/>
                <a:gd name="connsiteY2" fmla="*/ 161760 h 194663"/>
                <a:gd name="connsiteX3" fmla="*/ 123951 w 151916"/>
                <a:gd name="connsiteY3" fmla="*/ 151906 h 194663"/>
                <a:gd name="connsiteX4" fmla="*/ 145849 w 151916"/>
                <a:gd name="connsiteY4" fmla="*/ 117919 h 194663"/>
                <a:gd name="connsiteX5" fmla="*/ 151917 w 151916"/>
                <a:gd name="connsiteY5" fmla="*/ 121933 h 194663"/>
                <a:gd name="connsiteX6" fmla="*/ 127966 w 151916"/>
                <a:gd name="connsiteY6" fmla="*/ 172116 h 194663"/>
                <a:gd name="connsiteX7" fmla="*/ 78376 w 151916"/>
                <a:gd name="connsiteY7" fmla="*/ 194653 h 194663"/>
                <a:gd name="connsiteX8" fmla="*/ 23038 w 151916"/>
                <a:gd name="connsiteY8" fmla="*/ 168923 h 194663"/>
                <a:gd name="connsiteX9" fmla="*/ 0 w 151916"/>
                <a:gd name="connsiteY9" fmla="*/ 99716 h 194663"/>
                <a:gd name="connsiteX10" fmla="*/ 23586 w 151916"/>
                <a:gd name="connsiteY10" fmla="*/ 26358 h 194663"/>
                <a:gd name="connsiteX11" fmla="*/ 82893 w 151916"/>
                <a:gd name="connsiteY11" fmla="*/ 35 h 194663"/>
                <a:gd name="connsiteX12" fmla="*/ 132482 w 151916"/>
                <a:gd name="connsiteY12" fmla="*/ 20336 h 194663"/>
                <a:gd name="connsiteX13" fmla="*/ 151917 w 151916"/>
                <a:gd name="connsiteY13" fmla="*/ 74670 h 194663"/>
                <a:gd name="connsiteX14" fmla="*/ 27783 w 151916"/>
                <a:gd name="connsiteY14" fmla="*/ 63174 h 194663"/>
                <a:gd name="connsiteX15" fmla="*/ 111132 w 151916"/>
                <a:gd name="connsiteY15" fmla="*/ 63174 h 194663"/>
                <a:gd name="connsiteX16" fmla="*/ 107026 w 151916"/>
                <a:gd name="connsiteY16" fmla="*/ 38402 h 194663"/>
                <a:gd name="connsiteX17" fmla="*/ 92382 w 151916"/>
                <a:gd name="connsiteY17" fmla="*/ 20792 h 194663"/>
                <a:gd name="connsiteX18" fmla="*/ 72035 w 151916"/>
                <a:gd name="connsiteY18" fmla="*/ 14406 h 194663"/>
                <a:gd name="connsiteX19" fmla="*/ 42838 w 151916"/>
                <a:gd name="connsiteY19" fmla="*/ 27316 h 194663"/>
                <a:gd name="connsiteX20" fmla="*/ 27783 w 151916"/>
                <a:gd name="connsiteY20" fmla="*/ 63174 h 194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916" h="194663">
                  <a:moveTo>
                    <a:pt x="27783" y="74716"/>
                  </a:moveTo>
                  <a:cubicBezTo>
                    <a:pt x="27783" y="101906"/>
                    <a:pt x="34261" y="123197"/>
                    <a:pt x="47217" y="138585"/>
                  </a:cubicBezTo>
                  <a:cubicBezTo>
                    <a:pt x="60174" y="153973"/>
                    <a:pt x="75534" y="161701"/>
                    <a:pt x="93294" y="161760"/>
                  </a:cubicBezTo>
                  <a:cubicBezTo>
                    <a:pt x="104325" y="161993"/>
                    <a:pt x="115119" y="158521"/>
                    <a:pt x="123951" y="151906"/>
                  </a:cubicBezTo>
                  <a:cubicBezTo>
                    <a:pt x="132651" y="145337"/>
                    <a:pt x="139950" y="134009"/>
                    <a:pt x="145849" y="117919"/>
                  </a:cubicBezTo>
                  <a:lnTo>
                    <a:pt x="151917" y="121933"/>
                  </a:lnTo>
                  <a:cubicBezTo>
                    <a:pt x="149029" y="140647"/>
                    <a:pt x="140699" y="158101"/>
                    <a:pt x="127966" y="172116"/>
                  </a:cubicBezTo>
                  <a:cubicBezTo>
                    <a:pt x="115685" y="186728"/>
                    <a:pt x="97459" y="195008"/>
                    <a:pt x="78376" y="194653"/>
                  </a:cubicBezTo>
                  <a:cubicBezTo>
                    <a:pt x="57021" y="194744"/>
                    <a:pt x="36734" y="185310"/>
                    <a:pt x="23038" y="168923"/>
                  </a:cubicBezTo>
                  <a:cubicBezTo>
                    <a:pt x="7651" y="151769"/>
                    <a:pt x="-32" y="128699"/>
                    <a:pt x="0" y="99716"/>
                  </a:cubicBezTo>
                  <a:cubicBezTo>
                    <a:pt x="0" y="68361"/>
                    <a:pt x="7860" y="43909"/>
                    <a:pt x="23586" y="26358"/>
                  </a:cubicBezTo>
                  <a:cubicBezTo>
                    <a:pt x="38449" y="9196"/>
                    <a:pt x="60192" y="-458"/>
                    <a:pt x="82893" y="35"/>
                  </a:cubicBezTo>
                  <a:cubicBezTo>
                    <a:pt x="101561" y="-576"/>
                    <a:pt x="119604" y="6810"/>
                    <a:pt x="132482" y="20336"/>
                  </a:cubicBezTo>
                  <a:cubicBezTo>
                    <a:pt x="145439" y="33899"/>
                    <a:pt x="151917" y="52011"/>
                    <a:pt x="151917" y="74670"/>
                  </a:cubicBezTo>
                  <a:close/>
                  <a:moveTo>
                    <a:pt x="27783" y="63174"/>
                  </a:moveTo>
                  <a:lnTo>
                    <a:pt x="111132" y="63174"/>
                  </a:lnTo>
                  <a:cubicBezTo>
                    <a:pt x="111091" y="54752"/>
                    <a:pt x="109709" y="46386"/>
                    <a:pt x="107026" y="38402"/>
                  </a:cubicBezTo>
                  <a:cubicBezTo>
                    <a:pt x="103979" y="31221"/>
                    <a:pt x="98887" y="25099"/>
                    <a:pt x="92382" y="20792"/>
                  </a:cubicBezTo>
                  <a:cubicBezTo>
                    <a:pt x="86378" y="16700"/>
                    <a:pt x="79298" y="14479"/>
                    <a:pt x="72035" y="14406"/>
                  </a:cubicBezTo>
                  <a:cubicBezTo>
                    <a:pt x="60936" y="14483"/>
                    <a:pt x="50365" y="19159"/>
                    <a:pt x="42838" y="27316"/>
                  </a:cubicBezTo>
                  <a:cubicBezTo>
                    <a:pt x="33695" y="37084"/>
                    <a:pt x="28353" y="49807"/>
                    <a:pt x="27783" y="63174"/>
                  </a:cubicBezTo>
                </a:path>
              </a:pathLst>
            </a:custGeom>
            <a:grpFill/>
            <a:ln w="4553"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42E6D0B-515E-6869-B7D3-2582328136FD}"/>
                </a:ext>
              </a:extLst>
            </p:cNvPr>
            <p:cNvSpPr/>
            <p:nvPr/>
          </p:nvSpPr>
          <p:spPr>
            <a:xfrm>
              <a:off x="4900760" y="2216169"/>
              <a:ext cx="122511" cy="194800"/>
            </a:xfrm>
            <a:custGeom>
              <a:avLst/>
              <a:gdLst>
                <a:gd name="connsiteX0" fmla="*/ 108890 w 122511"/>
                <a:gd name="connsiteY0" fmla="*/ 0 h 194800"/>
                <a:gd name="connsiteX1" fmla="*/ 108890 w 122511"/>
                <a:gd name="connsiteY1" fmla="*/ 62637 h 194800"/>
                <a:gd name="connsiteX2" fmla="*/ 102594 w 122511"/>
                <a:gd name="connsiteY2" fmla="*/ 62637 h 194800"/>
                <a:gd name="connsiteX3" fmla="*/ 83570 w 122511"/>
                <a:gd name="connsiteY3" fmla="*/ 22400 h 194800"/>
                <a:gd name="connsiteX4" fmla="*/ 53917 w 122511"/>
                <a:gd name="connsiteY4" fmla="*/ 11770 h 194800"/>
                <a:gd name="connsiteX5" fmla="*/ 31837 w 122511"/>
                <a:gd name="connsiteY5" fmla="*/ 19161 h 194800"/>
                <a:gd name="connsiteX6" fmla="*/ 23214 w 122511"/>
                <a:gd name="connsiteY6" fmla="*/ 35858 h 194800"/>
                <a:gd name="connsiteX7" fmla="*/ 29464 w 122511"/>
                <a:gd name="connsiteY7" fmla="*/ 55110 h 194800"/>
                <a:gd name="connsiteX8" fmla="*/ 54100 w 122511"/>
                <a:gd name="connsiteY8" fmla="*/ 72537 h 194800"/>
                <a:gd name="connsiteX9" fmla="*/ 82749 w 122511"/>
                <a:gd name="connsiteY9" fmla="*/ 86770 h 194800"/>
                <a:gd name="connsiteX10" fmla="*/ 122485 w 122511"/>
                <a:gd name="connsiteY10" fmla="*/ 139097 h 194800"/>
                <a:gd name="connsiteX11" fmla="*/ 103963 w 122511"/>
                <a:gd name="connsiteY11" fmla="*/ 179471 h 194800"/>
                <a:gd name="connsiteX12" fmla="*/ 62585 w 122511"/>
                <a:gd name="connsiteY12" fmla="*/ 194800 h 194800"/>
                <a:gd name="connsiteX13" fmla="*/ 24994 w 122511"/>
                <a:gd name="connsiteY13" fmla="*/ 188732 h 194800"/>
                <a:gd name="connsiteX14" fmla="*/ 14410 w 122511"/>
                <a:gd name="connsiteY14" fmla="*/ 186679 h 194800"/>
                <a:gd name="connsiteX15" fmla="*/ 7338 w 122511"/>
                <a:gd name="connsiteY15" fmla="*/ 192063 h 194800"/>
                <a:gd name="connsiteX16" fmla="*/ 860 w 122511"/>
                <a:gd name="connsiteY16" fmla="*/ 192063 h 194800"/>
                <a:gd name="connsiteX17" fmla="*/ 860 w 122511"/>
                <a:gd name="connsiteY17" fmla="*/ 126369 h 194800"/>
                <a:gd name="connsiteX18" fmla="*/ 7338 w 122511"/>
                <a:gd name="connsiteY18" fmla="*/ 126369 h 194800"/>
                <a:gd name="connsiteX19" fmla="*/ 28278 w 122511"/>
                <a:gd name="connsiteY19" fmla="*/ 168796 h 194800"/>
                <a:gd name="connsiteX20" fmla="*/ 62904 w 122511"/>
                <a:gd name="connsiteY20" fmla="*/ 183076 h 194800"/>
                <a:gd name="connsiteX21" fmla="*/ 84939 w 122511"/>
                <a:gd name="connsiteY21" fmla="*/ 174955 h 194800"/>
                <a:gd name="connsiteX22" fmla="*/ 93425 w 122511"/>
                <a:gd name="connsiteY22" fmla="*/ 155384 h 194800"/>
                <a:gd name="connsiteX23" fmla="*/ 83981 w 122511"/>
                <a:gd name="connsiteY23" fmla="*/ 132117 h 194800"/>
                <a:gd name="connsiteX24" fmla="*/ 46070 w 122511"/>
                <a:gd name="connsiteY24" fmla="*/ 108303 h 194800"/>
                <a:gd name="connsiteX25" fmla="*/ 8844 w 122511"/>
                <a:gd name="connsiteY25" fmla="*/ 82299 h 194800"/>
                <a:gd name="connsiteX26" fmla="*/ 39 w 122511"/>
                <a:gd name="connsiteY26" fmla="*/ 53422 h 194800"/>
                <a:gd name="connsiteX27" fmla="*/ 15231 w 122511"/>
                <a:gd name="connsiteY27" fmla="*/ 15465 h 194800"/>
                <a:gd name="connsiteX28" fmla="*/ 54465 w 122511"/>
                <a:gd name="connsiteY28" fmla="*/ 228 h 194800"/>
                <a:gd name="connsiteX29" fmla="*/ 80103 w 122511"/>
                <a:gd name="connsiteY29" fmla="*/ 4790 h 194800"/>
                <a:gd name="connsiteX30" fmla="*/ 93425 w 122511"/>
                <a:gd name="connsiteY30" fmla="*/ 7847 h 194800"/>
                <a:gd name="connsiteX31" fmla="*/ 98306 w 122511"/>
                <a:gd name="connsiteY31" fmla="*/ 6432 h 194800"/>
                <a:gd name="connsiteX32" fmla="*/ 102412 w 122511"/>
                <a:gd name="connsiteY32" fmla="*/ 137 h 19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2511" h="194800">
                  <a:moveTo>
                    <a:pt x="108890" y="0"/>
                  </a:moveTo>
                  <a:lnTo>
                    <a:pt x="108890" y="62637"/>
                  </a:lnTo>
                  <a:lnTo>
                    <a:pt x="102594" y="62637"/>
                  </a:lnTo>
                  <a:cubicBezTo>
                    <a:pt x="97667" y="42929"/>
                    <a:pt x="91326" y="29516"/>
                    <a:pt x="83570" y="22400"/>
                  </a:cubicBezTo>
                  <a:cubicBezTo>
                    <a:pt x="75418" y="15182"/>
                    <a:pt x="64798" y="11378"/>
                    <a:pt x="53917" y="11770"/>
                  </a:cubicBezTo>
                  <a:cubicBezTo>
                    <a:pt x="45893" y="11396"/>
                    <a:pt x="38018" y="14028"/>
                    <a:pt x="31837" y="19161"/>
                  </a:cubicBezTo>
                  <a:cubicBezTo>
                    <a:pt x="26590" y="23139"/>
                    <a:pt x="23420" y="29275"/>
                    <a:pt x="23214" y="35858"/>
                  </a:cubicBezTo>
                  <a:cubicBezTo>
                    <a:pt x="23041" y="42801"/>
                    <a:pt x="25249" y="49590"/>
                    <a:pt x="29464" y="55110"/>
                  </a:cubicBezTo>
                  <a:cubicBezTo>
                    <a:pt x="33479" y="60584"/>
                    <a:pt x="41691" y="66424"/>
                    <a:pt x="54100" y="72537"/>
                  </a:cubicBezTo>
                  <a:lnTo>
                    <a:pt x="82749" y="86770"/>
                  </a:lnTo>
                  <a:cubicBezTo>
                    <a:pt x="109269" y="100000"/>
                    <a:pt x="122517" y="117441"/>
                    <a:pt x="122485" y="139097"/>
                  </a:cubicBezTo>
                  <a:cubicBezTo>
                    <a:pt x="122991" y="154718"/>
                    <a:pt x="116134" y="169668"/>
                    <a:pt x="103963" y="179471"/>
                  </a:cubicBezTo>
                  <a:cubicBezTo>
                    <a:pt x="92462" y="189389"/>
                    <a:pt x="77772" y="194832"/>
                    <a:pt x="62585" y="194800"/>
                  </a:cubicBezTo>
                  <a:cubicBezTo>
                    <a:pt x="49834" y="194526"/>
                    <a:pt x="37183" y="192487"/>
                    <a:pt x="24994" y="188732"/>
                  </a:cubicBezTo>
                  <a:cubicBezTo>
                    <a:pt x="21586" y="187533"/>
                    <a:pt x="18018" y="186839"/>
                    <a:pt x="14410" y="186679"/>
                  </a:cubicBezTo>
                  <a:cubicBezTo>
                    <a:pt x="11175" y="186862"/>
                    <a:pt x="8374" y="188993"/>
                    <a:pt x="7338" y="192063"/>
                  </a:cubicBezTo>
                  <a:lnTo>
                    <a:pt x="860" y="192063"/>
                  </a:lnTo>
                  <a:lnTo>
                    <a:pt x="860" y="126369"/>
                  </a:lnTo>
                  <a:lnTo>
                    <a:pt x="7338" y="126369"/>
                  </a:lnTo>
                  <a:cubicBezTo>
                    <a:pt x="10988" y="145165"/>
                    <a:pt x="17968" y="159261"/>
                    <a:pt x="28278" y="168796"/>
                  </a:cubicBezTo>
                  <a:cubicBezTo>
                    <a:pt x="37544" y="177847"/>
                    <a:pt x="49953" y="182961"/>
                    <a:pt x="62904" y="183076"/>
                  </a:cubicBezTo>
                  <a:cubicBezTo>
                    <a:pt x="71034" y="183399"/>
                    <a:pt x="78963" y="180480"/>
                    <a:pt x="84939" y="174955"/>
                  </a:cubicBezTo>
                  <a:cubicBezTo>
                    <a:pt x="90423" y="169937"/>
                    <a:pt x="93507" y="162815"/>
                    <a:pt x="93425" y="155384"/>
                  </a:cubicBezTo>
                  <a:cubicBezTo>
                    <a:pt x="93625" y="146656"/>
                    <a:pt x="90204" y="138235"/>
                    <a:pt x="83981" y="132117"/>
                  </a:cubicBezTo>
                  <a:cubicBezTo>
                    <a:pt x="77626" y="125821"/>
                    <a:pt x="64989" y="117884"/>
                    <a:pt x="46070" y="108303"/>
                  </a:cubicBezTo>
                  <a:cubicBezTo>
                    <a:pt x="27152" y="98723"/>
                    <a:pt x="14743" y="90055"/>
                    <a:pt x="8844" y="82299"/>
                  </a:cubicBezTo>
                  <a:cubicBezTo>
                    <a:pt x="2717" y="73951"/>
                    <a:pt x="-390" y="63768"/>
                    <a:pt x="39" y="53422"/>
                  </a:cubicBezTo>
                  <a:cubicBezTo>
                    <a:pt x="-335" y="39220"/>
                    <a:pt x="5162" y="25488"/>
                    <a:pt x="15231" y="15465"/>
                  </a:cubicBezTo>
                  <a:cubicBezTo>
                    <a:pt x="25632" y="5169"/>
                    <a:pt x="39839" y="-347"/>
                    <a:pt x="54465" y="228"/>
                  </a:cubicBezTo>
                  <a:cubicBezTo>
                    <a:pt x="63187" y="488"/>
                    <a:pt x="71828" y="2026"/>
                    <a:pt x="80103" y="4790"/>
                  </a:cubicBezTo>
                  <a:cubicBezTo>
                    <a:pt x="84415" y="6309"/>
                    <a:pt x="88881" y="7336"/>
                    <a:pt x="93425" y="7847"/>
                  </a:cubicBezTo>
                  <a:cubicBezTo>
                    <a:pt x="95163" y="7938"/>
                    <a:pt x="96883" y="7441"/>
                    <a:pt x="98306" y="6432"/>
                  </a:cubicBezTo>
                  <a:cubicBezTo>
                    <a:pt x="100071" y="4621"/>
                    <a:pt x="101467" y="2482"/>
                    <a:pt x="102412" y="137"/>
                  </a:cubicBezTo>
                  <a:close/>
                </a:path>
              </a:pathLst>
            </a:custGeom>
            <a:grpFill/>
            <a:ln w="4553"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E9BDD159-DC9A-CECF-B4BD-755C737B9356}"/>
                </a:ext>
              </a:extLst>
            </p:cNvPr>
            <p:cNvSpPr/>
            <p:nvPr/>
          </p:nvSpPr>
          <p:spPr>
            <a:xfrm>
              <a:off x="5039531" y="2216032"/>
              <a:ext cx="196488" cy="189279"/>
            </a:xfrm>
            <a:custGeom>
              <a:avLst/>
              <a:gdLst>
                <a:gd name="connsiteX0" fmla="*/ 62957 w 196488"/>
                <a:gd name="connsiteY0" fmla="*/ 38960 h 189279"/>
                <a:gd name="connsiteX1" fmla="*/ 122993 w 196488"/>
                <a:gd name="connsiteY1" fmla="*/ 137 h 189279"/>
                <a:gd name="connsiteX2" fmla="*/ 148176 w 196488"/>
                <a:gd name="connsiteY2" fmla="*/ 7664 h 189279"/>
                <a:gd name="connsiteX3" fmla="*/ 165010 w 196488"/>
                <a:gd name="connsiteY3" fmla="*/ 32391 h 189279"/>
                <a:gd name="connsiteX4" fmla="*/ 169298 w 196488"/>
                <a:gd name="connsiteY4" fmla="*/ 69298 h 189279"/>
                <a:gd name="connsiteX5" fmla="*/ 169298 w 196488"/>
                <a:gd name="connsiteY5" fmla="*/ 147674 h 189279"/>
                <a:gd name="connsiteX6" fmla="*/ 172035 w 196488"/>
                <a:gd name="connsiteY6" fmla="*/ 171305 h 189279"/>
                <a:gd name="connsiteX7" fmla="*/ 178970 w 196488"/>
                <a:gd name="connsiteY7" fmla="*/ 179107 h 189279"/>
                <a:gd name="connsiteX8" fmla="*/ 196488 w 196488"/>
                <a:gd name="connsiteY8" fmla="*/ 181981 h 189279"/>
                <a:gd name="connsiteX9" fmla="*/ 196488 w 196488"/>
                <a:gd name="connsiteY9" fmla="*/ 189280 h 189279"/>
                <a:gd name="connsiteX10" fmla="*/ 107665 w 196488"/>
                <a:gd name="connsiteY10" fmla="*/ 189280 h 189279"/>
                <a:gd name="connsiteX11" fmla="*/ 107665 w 196488"/>
                <a:gd name="connsiteY11" fmla="*/ 181981 h 189279"/>
                <a:gd name="connsiteX12" fmla="*/ 111406 w 196488"/>
                <a:gd name="connsiteY12" fmla="*/ 181981 h 189279"/>
                <a:gd name="connsiteX13" fmla="*/ 128970 w 196488"/>
                <a:gd name="connsiteY13" fmla="*/ 178103 h 189279"/>
                <a:gd name="connsiteX14" fmla="*/ 135950 w 196488"/>
                <a:gd name="connsiteY14" fmla="*/ 166607 h 189279"/>
                <a:gd name="connsiteX15" fmla="*/ 136725 w 196488"/>
                <a:gd name="connsiteY15" fmla="*/ 147765 h 189279"/>
                <a:gd name="connsiteX16" fmla="*/ 136725 w 196488"/>
                <a:gd name="connsiteY16" fmla="*/ 72491 h 189279"/>
                <a:gd name="connsiteX17" fmla="*/ 130384 w 196488"/>
                <a:gd name="connsiteY17" fmla="*/ 35995 h 189279"/>
                <a:gd name="connsiteX18" fmla="*/ 109079 w 196488"/>
                <a:gd name="connsiteY18" fmla="*/ 24681 h 189279"/>
                <a:gd name="connsiteX19" fmla="*/ 62957 w 196488"/>
                <a:gd name="connsiteY19" fmla="*/ 50730 h 189279"/>
                <a:gd name="connsiteX20" fmla="*/ 62957 w 196488"/>
                <a:gd name="connsiteY20" fmla="*/ 147628 h 189279"/>
                <a:gd name="connsiteX21" fmla="*/ 65101 w 196488"/>
                <a:gd name="connsiteY21" fmla="*/ 170439 h 189279"/>
                <a:gd name="connsiteX22" fmla="*/ 72674 w 196488"/>
                <a:gd name="connsiteY22" fmla="*/ 178924 h 189279"/>
                <a:gd name="connsiteX23" fmla="*/ 92199 w 196488"/>
                <a:gd name="connsiteY23" fmla="*/ 181616 h 189279"/>
                <a:gd name="connsiteX24" fmla="*/ 92199 w 196488"/>
                <a:gd name="connsiteY24" fmla="*/ 188915 h 189279"/>
                <a:gd name="connsiteX25" fmla="*/ 3193 w 196488"/>
                <a:gd name="connsiteY25" fmla="*/ 188915 h 189279"/>
                <a:gd name="connsiteX26" fmla="*/ 3193 w 196488"/>
                <a:gd name="connsiteY26" fmla="*/ 181981 h 189279"/>
                <a:gd name="connsiteX27" fmla="*/ 7117 w 196488"/>
                <a:gd name="connsiteY27" fmla="*/ 181981 h 189279"/>
                <a:gd name="connsiteX28" fmla="*/ 25365 w 196488"/>
                <a:gd name="connsiteY28" fmla="*/ 174910 h 189279"/>
                <a:gd name="connsiteX29" fmla="*/ 30155 w 196488"/>
                <a:gd name="connsiteY29" fmla="*/ 147765 h 189279"/>
                <a:gd name="connsiteX30" fmla="*/ 30155 w 196488"/>
                <a:gd name="connsiteY30" fmla="*/ 79334 h 189279"/>
                <a:gd name="connsiteX31" fmla="*/ 28695 w 196488"/>
                <a:gd name="connsiteY31" fmla="*/ 39097 h 189279"/>
                <a:gd name="connsiteX32" fmla="*/ 24133 w 196488"/>
                <a:gd name="connsiteY32" fmla="*/ 29334 h 189279"/>
                <a:gd name="connsiteX33" fmla="*/ 16013 w 196488"/>
                <a:gd name="connsiteY33" fmla="*/ 26734 h 189279"/>
                <a:gd name="connsiteX34" fmla="*/ 2920 w 196488"/>
                <a:gd name="connsiteY34" fmla="*/ 29699 h 189279"/>
                <a:gd name="connsiteX35" fmla="*/ 0 w 196488"/>
                <a:gd name="connsiteY35" fmla="*/ 22445 h 189279"/>
                <a:gd name="connsiteX36" fmla="*/ 54243 w 196488"/>
                <a:gd name="connsiteY36" fmla="*/ 0 h 189279"/>
                <a:gd name="connsiteX37" fmla="*/ 62683 w 196488"/>
                <a:gd name="connsiteY37" fmla="*/ 0 h 189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6488" h="189279">
                  <a:moveTo>
                    <a:pt x="62957" y="38960"/>
                  </a:moveTo>
                  <a:cubicBezTo>
                    <a:pt x="83942" y="13107"/>
                    <a:pt x="103956" y="169"/>
                    <a:pt x="122993" y="137"/>
                  </a:cubicBezTo>
                  <a:cubicBezTo>
                    <a:pt x="131976" y="-100"/>
                    <a:pt x="140799" y="2537"/>
                    <a:pt x="148176" y="7664"/>
                  </a:cubicBezTo>
                  <a:cubicBezTo>
                    <a:pt x="156168" y="14006"/>
                    <a:pt x="162045" y="22628"/>
                    <a:pt x="165010" y="32391"/>
                  </a:cubicBezTo>
                  <a:cubicBezTo>
                    <a:pt x="168390" y="44389"/>
                    <a:pt x="169836" y="56848"/>
                    <a:pt x="169298" y="69298"/>
                  </a:cubicBezTo>
                  <a:lnTo>
                    <a:pt x="169298" y="147674"/>
                  </a:lnTo>
                  <a:cubicBezTo>
                    <a:pt x="168805" y="155653"/>
                    <a:pt x="169732" y="163650"/>
                    <a:pt x="172035" y="171305"/>
                  </a:cubicBezTo>
                  <a:cubicBezTo>
                    <a:pt x="173440" y="174590"/>
                    <a:pt x="175872" y="177327"/>
                    <a:pt x="178970" y="179107"/>
                  </a:cubicBezTo>
                  <a:cubicBezTo>
                    <a:pt x="184508" y="181410"/>
                    <a:pt x="190503" y="182396"/>
                    <a:pt x="196488" y="181981"/>
                  </a:cubicBezTo>
                  <a:lnTo>
                    <a:pt x="196488" y="189280"/>
                  </a:lnTo>
                  <a:lnTo>
                    <a:pt x="107665" y="189280"/>
                  </a:lnTo>
                  <a:lnTo>
                    <a:pt x="107665" y="181981"/>
                  </a:lnTo>
                  <a:lnTo>
                    <a:pt x="111406" y="181981"/>
                  </a:lnTo>
                  <a:cubicBezTo>
                    <a:pt x="117523" y="182546"/>
                    <a:pt x="123659" y="181192"/>
                    <a:pt x="128970" y="178103"/>
                  </a:cubicBezTo>
                  <a:cubicBezTo>
                    <a:pt x="132514" y="175160"/>
                    <a:pt x="134973" y="171109"/>
                    <a:pt x="135950" y="166607"/>
                  </a:cubicBezTo>
                  <a:cubicBezTo>
                    <a:pt x="136689" y="160357"/>
                    <a:pt x="136949" y="154056"/>
                    <a:pt x="136725" y="147765"/>
                  </a:cubicBezTo>
                  <a:lnTo>
                    <a:pt x="136725" y="72491"/>
                  </a:lnTo>
                  <a:cubicBezTo>
                    <a:pt x="136725" y="55794"/>
                    <a:pt x="134613" y="43627"/>
                    <a:pt x="130384" y="35995"/>
                  </a:cubicBezTo>
                  <a:cubicBezTo>
                    <a:pt x="126086" y="28403"/>
                    <a:pt x="117774" y="23992"/>
                    <a:pt x="109079" y="24681"/>
                  </a:cubicBezTo>
                  <a:cubicBezTo>
                    <a:pt x="93659" y="24681"/>
                    <a:pt x="78239" y="33349"/>
                    <a:pt x="62957" y="50730"/>
                  </a:cubicBezTo>
                  <a:lnTo>
                    <a:pt x="62957" y="147628"/>
                  </a:lnTo>
                  <a:cubicBezTo>
                    <a:pt x="62957" y="160037"/>
                    <a:pt x="63686" y="167701"/>
                    <a:pt x="65101" y="170439"/>
                  </a:cubicBezTo>
                  <a:cubicBezTo>
                    <a:pt x="66656" y="174002"/>
                    <a:pt x="69311" y="176976"/>
                    <a:pt x="72674" y="178924"/>
                  </a:cubicBezTo>
                  <a:cubicBezTo>
                    <a:pt x="78910" y="181233"/>
                    <a:pt x="85571" y="182154"/>
                    <a:pt x="92199" y="181616"/>
                  </a:cubicBezTo>
                  <a:lnTo>
                    <a:pt x="92199" y="188915"/>
                  </a:lnTo>
                  <a:lnTo>
                    <a:pt x="3193" y="188915"/>
                  </a:lnTo>
                  <a:lnTo>
                    <a:pt x="3193" y="181981"/>
                  </a:lnTo>
                  <a:lnTo>
                    <a:pt x="7117" y="181981"/>
                  </a:lnTo>
                  <a:cubicBezTo>
                    <a:pt x="16241" y="181981"/>
                    <a:pt x="22400" y="179608"/>
                    <a:pt x="25365" y="174910"/>
                  </a:cubicBezTo>
                  <a:cubicBezTo>
                    <a:pt x="28331" y="170210"/>
                    <a:pt x="30155" y="161223"/>
                    <a:pt x="30155" y="147765"/>
                  </a:cubicBezTo>
                  <a:lnTo>
                    <a:pt x="30155" y="79334"/>
                  </a:lnTo>
                  <a:cubicBezTo>
                    <a:pt x="30575" y="65904"/>
                    <a:pt x="30087" y="52459"/>
                    <a:pt x="28695" y="39097"/>
                  </a:cubicBezTo>
                  <a:cubicBezTo>
                    <a:pt x="28257" y="35438"/>
                    <a:pt x="26656" y="32017"/>
                    <a:pt x="24133" y="29334"/>
                  </a:cubicBezTo>
                  <a:cubicBezTo>
                    <a:pt x="21834" y="27505"/>
                    <a:pt x="18946" y="26583"/>
                    <a:pt x="16013" y="26734"/>
                  </a:cubicBezTo>
                  <a:cubicBezTo>
                    <a:pt x="11501" y="26902"/>
                    <a:pt x="7062" y="27911"/>
                    <a:pt x="2920" y="29699"/>
                  </a:cubicBezTo>
                  <a:lnTo>
                    <a:pt x="0" y="22445"/>
                  </a:lnTo>
                  <a:lnTo>
                    <a:pt x="54243" y="0"/>
                  </a:lnTo>
                  <a:lnTo>
                    <a:pt x="62683" y="0"/>
                  </a:lnTo>
                  <a:close/>
                </a:path>
              </a:pathLst>
            </a:custGeom>
            <a:grpFill/>
            <a:ln w="4553"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19D5DED-3EF9-AF86-EB61-9CD3E816C78F}"/>
                </a:ext>
              </a:extLst>
            </p:cNvPr>
            <p:cNvSpPr/>
            <p:nvPr/>
          </p:nvSpPr>
          <p:spPr>
            <a:xfrm>
              <a:off x="5251388" y="2216137"/>
              <a:ext cx="173326" cy="194631"/>
            </a:xfrm>
            <a:custGeom>
              <a:avLst/>
              <a:gdLst>
                <a:gd name="connsiteX0" fmla="*/ 86912 w 173326"/>
                <a:gd name="connsiteY0" fmla="*/ 32 h 194631"/>
                <a:gd name="connsiteX1" fmla="*/ 152332 w 173326"/>
                <a:gd name="connsiteY1" fmla="*/ 31693 h 194631"/>
                <a:gd name="connsiteX2" fmla="*/ 173318 w 173326"/>
                <a:gd name="connsiteY2" fmla="*/ 93828 h 194631"/>
                <a:gd name="connsiteX3" fmla="*/ 161730 w 173326"/>
                <a:gd name="connsiteY3" fmla="*/ 143737 h 194631"/>
                <a:gd name="connsiteX4" fmla="*/ 129796 w 173326"/>
                <a:gd name="connsiteY4" fmla="*/ 181784 h 194631"/>
                <a:gd name="connsiteX5" fmla="*/ 84631 w 173326"/>
                <a:gd name="connsiteY5" fmla="*/ 194604 h 194631"/>
                <a:gd name="connsiteX6" fmla="*/ 20169 w 173326"/>
                <a:gd name="connsiteY6" fmla="*/ 161574 h 194631"/>
                <a:gd name="connsiteX7" fmla="*/ 5 w 173326"/>
                <a:gd name="connsiteY7" fmla="*/ 99029 h 194631"/>
                <a:gd name="connsiteX8" fmla="*/ 12231 w 173326"/>
                <a:gd name="connsiteY8" fmla="*/ 48846 h 194631"/>
                <a:gd name="connsiteX9" fmla="*/ 44485 w 173326"/>
                <a:gd name="connsiteY9" fmla="*/ 11939 h 194631"/>
                <a:gd name="connsiteX10" fmla="*/ 86821 w 173326"/>
                <a:gd name="connsiteY10" fmla="*/ 32 h 194631"/>
                <a:gd name="connsiteX11" fmla="*/ 80799 w 173326"/>
                <a:gd name="connsiteY11" fmla="*/ 13079 h 194631"/>
                <a:gd name="connsiteX12" fmla="*/ 59905 w 173326"/>
                <a:gd name="connsiteY12" fmla="*/ 19375 h 194631"/>
                <a:gd name="connsiteX13" fmla="*/ 42934 w 173326"/>
                <a:gd name="connsiteY13" fmla="*/ 41501 h 194631"/>
                <a:gd name="connsiteX14" fmla="*/ 36456 w 173326"/>
                <a:gd name="connsiteY14" fmla="*/ 82149 h 194631"/>
                <a:gd name="connsiteX15" fmla="*/ 52058 w 173326"/>
                <a:gd name="connsiteY15" fmla="*/ 151264 h 194631"/>
                <a:gd name="connsiteX16" fmla="*/ 93117 w 173326"/>
                <a:gd name="connsiteY16" fmla="*/ 180279 h 194631"/>
                <a:gd name="connsiteX17" fmla="*/ 124549 w 173326"/>
                <a:gd name="connsiteY17" fmla="*/ 164266 h 194631"/>
                <a:gd name="connsiteX18" fmla="*/ 136912 w 173326"/>
                <a:gd name="connsiteY18" fmla="*/ 109202 h 194631"/>
                <a:gd name="connsiteX19" fmla="*/ 116292 w 173326"/>
                <a:gd name="connsiteY19" fmla="*/ 32286 h 194631"/>
                <a:gd name="connsiteX20" fmla="*/ 80753 w 173326"/>
                <a:gd name="connsiteY20" fmla="*/ 13079 h 194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3326" h="194631">
                  <a:moveTo>
                    <a:pt x="86912" y="32"/>
                  </a:moveTo>
                  <a:cubicBezTo>
                    <a:pt x="112574" y="-698"/>
                    <a:pt x="136981" y="11118"/>
                    <a:pt x="152332" y="31693"/>
                  </a:cubicBezTo>
                  <a:cubicBezTo>
                    <a:pt x="166224" y="49398"/>
                    <a:pt x="173628" y="71328"/>
                    <a:pt x="173318" y="93828"/>
                  </a:cubicBezTo>
                  <a:cubicBezTo>
                    <a:pt x="173117" y="111109"/>
                    <a:pt x="169162" y="128134"/>
                    <a:pt x="161730" y="143737"/>
                  </a:cubicBezTo>
                  <a:cubicBezTo>
                    <a:pt x="155092" y="159303"/>
                    <a:pt x="143975" y="172546"/>
                    <a:pt x="129796" y="181784"/>
                  </a:cubicBezTo>
                  <a:cubicBezTo>
                    <a:pt x="116301" y="190343"/>
                    <a:pt x="100612" y="194800"/>
                    <a:pt x="84631" y="194604"/>
                  </a:cubicBezTo>
                  <a:cubicBezTo>
                    <a:pt x="58919" y="195302"/>
                    <a:pt x="34622" y="182852"/>
                    <a:pt x="20169" y="161574"/>
                  </a:cubicBezTo>
                  <a:cubicBezTo>
                    <a:pt x="6862" y="143454"/>
                    <a:pt x="-214" y="121510"/>
                    <a:pt x="5" y="99029"/>
                  </a:cubicBezTo>
                  <a:cubicBezTo>
                    <a:pt x="142" y="81579"/>
                    <a:pt x="4330" y="64403"/>
                    <a:pt x="12231" y="48846"/>
                  </a:cubicBezTo>
                  <a:cubicBezTo>
                    <a:pt x="19134" y="33650"/>
                    <a:pt x="30352" y="20817"/>
                    <a:pt x="44485" y="11939"/>
                  </a:cubicBezTo>
                  <a:cubicBezTo>
                    <a:pt x="57236" y="4156"/>
                    <a:pt x="71885" y="36"/>
                    <a:pt x="86821" y="32"/>
                  </a:cubicBezTo>
                  <a:moveTo>
                    <a:pt x="80799" y="13079"/>
                  </a:moveTo>
                  <a:cubicBezTo>
                    <a:pt x="73390" y="13216"/>
                    <a:pt x="66159" y="15397"/>
                    <a:pt x="59905" y="19375"/>
                  </a:cubicBezTo>
                  <a:cubicBezTo>
                    <a:pt x="51985" y="24704"/>
                    <a:pt x="46027" y="32473"/>
                    <a:pt x="42934" y="41501"/>
                  </a:cubicBezTo>
                  <a:cubicBezTo>
                    <a:pt x="38194" y="54512"/>
                    <a:pt x="35995" y="68312"/>
                    <a:pt x="36456" y="82149"/>
                  </a:cubicBezTo>
                  <a:cubicBezTo>
                    <a:pt x="35817" y="106127"/>
                    <a:pt x="41182" y="129886"/>
                    <a:pt x="52058" y="151264"/>
                  </a:cubicBezTo>
                  <a:cubicBezTo>
                    <a:pt x="62460" y="170607"/>
                    <a:pt x="76146" y="180279"/>
                    <a:pt x="93117" y="180279"/>
                  </a:cubicBezTo>
                  <a:cubicBezTo>
                    <a:pt x="105580" y="180398"/>
                    <a:pt x="117318" y="174421"/>
                    <a:pt x="124549" y="164266"/>
                  </a:cubicBezTo>
                  <a:cubicBezTo>
                    <a:pt x="132761" y="153591"/>
                    <a:pt x="136880" y="135238"/>
                    <a:pt x="136912" y="109202"/>
                  </a:cubicBezTo>
                  <a:cubicBezTo>
                    <a:pt x="136912" y="76629"/>
                    <a:pt x="130037" y="50990"/>
                    <a:pt x="116292" y="32286"/>
                  </a:cubicBezTo>
                  <a:cubicBezTo>
                    <a:pt x="108468" y="20274"/>
                    <a:pt x="95087" y="13043"/>
                    <a:pt x="80753" y="13079"/>
                  </a:cubicBezTo>
                </a:path>
              </a:pathLst>
            </a:custGeom>
            <a:grpFill/>
            <a:ln w="4553"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2EF4E4A4-7E69-F563-3842-24536A42E614}"/>
                </a:ext>
              </a:extLst>
            </p:cNvPr>
            <p:cNvSpPr/>
            <p:nvPr/>
          </p:nvSpPr>
          <p:spPr>
            <a:xfrm>
              <a:off x="5553456" y="2127023"/>
              <a:ext cx="239088" cy="284304"/>
            </a:xfrm>
            <a:custGeom>
              <a:avLst/>
              <a:gdLst>
                <a:gd name="connsiteX0" fmla="*/ 226863 w 239088"/>
                <a:gd name="connsiteY0" fmla="*/ 185 h 284304"/>
                <a:gd name="connsiteX1" fmla="*/ 232930 w 239088"/>
                <a:gd name="connsiteY1" fmla="*/ 92567 h 284304"/>
                <a:gd name="connsiteX2" fmla="*/ 226863 w 239088"/>
                <a:gd name="connsiteY2" fmla="*/ 92567 h 284304"/>
                <a:gd name="connsiteX3" fmla="*/ 192282 w 239088"/>
                <a:gd name="connsiteY3" fmla="*/ 32758 h 284304"/>
                <a:gd name="connsiteX4" fmla="*/ 138313 w 239088"/>
                <a:gd name="connsiteY4" fmla="*/ 14510 h 284304"/>
                <a:gd name="connsiteX5" fmla="*/ 90594 w 239088"/>
                <a:gd name="connsiteY5" fmla="*/ 28196 h 284304"/>
                <a:gd name="connsiteX6" fmla="*/ 57108 w 239088"/>
                <a:gd name="connsiteY6" fmla="*/ 71992 h 284304"/>
                <a:gd name="connsiteX7" fmla="*/ 44882 w 239088"/>
                <a:gd name="connsiteY7" fmla="*/ 146719 h 284304"/>
                <a:gd name="connsiteX8" fmla="*/ 56424 w 239088"/>
                <a:gd name="connsiteY8" fmla="*/ 210588 h 284304"/>
                <a:gd name="connsiteX9" fmla="*/ 91096 w 239088"/>
                <a:gd name="connsiteY9" fmla="*/ 252057 h 284304"/>
                <a:gd name="connsiteX10" fmla="*/ 143970 w 239088"/>
                <a:gd name="connsiteY10" fmla="*/ 266519 h 284304"/>
                <a:gd name="connsiteX11" fmla="*/ 189591 w 239088"/>
                <a:gd name="connsiteY11" fmla="*/ 255204 h 284304"/>
                <a:gd name="connsiteX12" fmla="*/ 233021 w 239088"/>
                <a:gd name="connsiteY12" fmla="*/ 210268 h 284304"/>
                <a:gd name="connsiteX13" fmla="*/ 239089 w 239088"/>
                <a:gd name="connsiteY13" fmla="*/ 214329 h 284304"/>
                <a:gd name="connsiteX14" fmla="*/ 192465 w 239088"/>
                <a:gd name="connsiteY14" fmla="*/ 267431 h 284304"/>
                <a:gd name="connsiteX15" fmla="*/ 129234 w 239088"/>
                <a:gd name="connsiteY15" fmla="*/ 284265 h 284304"/>
                <a:gd name="connsiteX16" fmla="*/ 27044 w 239088"/>
                <a:gd name="connsiteY16" fmla="*/ 234082 h 284304"/>
                <a:gd name="connsiteX17" fmla="*/ 37 w 239088"/>
                <a:gd name="connsiteY17" fmla="*/ 146308 h 284304"/>
                <a:gd name="connsiteX18" fmla="*/ 17875 w 239088"/>
                <a:gd name="connsiteY18" fmla="*/ 71536 h 284304"/>
                <a:gd name="connsiteX19" fmla="*/ 135120 w 239088"/>
                <a:gd name="connsiteY19" fmla="*/ 3 h 284304"/>
                <a:gd name="connsiteX20" fmla="*/ 191872 w 239088"/>
                <a:gd name="connsiteY20" fmla="*/ 14419 h 284304"/>
                <a:gd name="connsiteX21" fmla="*/ 203642 w 239088"/>
                <a:gd name="connsiteY21" fmla="*/ 18981 h 284304"/>
                <a:gd name="connsiteX22" fmla="*/ 212766 w 239088"/>
                <a:gd name="connsiteY22" fmla="*/ 15194 h 284304"/>
                <a:gd name="connsiteX23" fmla="*/ 220019 w 239088"/>
                <a:gd name="connsiteY23" fmla="*/ 185 h 28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9088" h="284304">
                  <a:moveTo>
                    <a:pt x="226863" y="185"/>
                  </a:moveTo>
                  <a:lnTo>
                    <a:pt x="232930" y="92567"/>
                  </a:lnTo>
                  <a:lnTo>
                    <a:pt x="226863" y="92567"/>
                  </a:lnTo>
                  <a:cubicBezTo>
                    <a:pt x="218802" y="64862"/>
                    <a:pt x="207278" y="44925"/>
                    <a:pt x="192282" y="32758"/>
                  </a:cubicBezTo>
                  <a:cubicBezTo>
                    <a:pt x="177013" y="20491"/>
                    <a:pt x="157893" y="14027"/>
                    <a:pt x="138313" y="14510"/>
                  </a:cubicBezTo>
                  <a:cubicBezTo>
                    <a:pt x="121406" y="14291"/>
                    <a:pt x="104814" y="19049"/>
                    <a:pt x="90594" y="28196"/>
                  </a:cubicBezTo>
                  <a:cubicBezTo>
                    <a:pt x="76406" y="37321"/>
                    <a:pt x="65229" y="51965"/>
                    <a:pt x="57108" y="71992"/>
                  </a:cubicBezTo>
                  <a:cubicBezTo>
                    <a:pt x="48988" y="92020"/>
                    <a:pt x="44882" y="116929"/>
                    <a:pt x="44882" y="146719"/>
                  </a:cubicBezTo>
                  <a:cubicBezTo>
                    <a:pt x="44380" y="168571"/>
                    <a:pt x="48308" y="190296"/>
                    <a:pt x="56424" y="210588"/>
                  </a:cubicBezTo>
                  <a:cubicBezTo>
                    <a:pt x="63345" y="227705"/>
                    <a:pt x="75475" y="242212"/>
                    <a:pt x="91096" y="252057"/>
                  </a:cubicBezTo>
                  <a:cubicBezTo>
                    <a:pt x="106981" y="261815"/>
                    <a:pt x="125329" y="266833"/>
                    <a:pt x="143970" y="266519"/>
                  </a:cubicBezTo>
                  <a:cubicBezTo>
                    <a:pt x="159910" y="266856"/>
                    <a:pt x="175653" y="262951"/>
                    <a:pt x="189591" y="255204"/>
                  </a:cubicBezTo>
                  <a:cubicBezTo>
                    <a:pt x="202761" y="247632"/>
                    <a:pt x="217237" y="232654"/>
                    <a:pt x="233021" y="210268"/>
                  </a:cubicBezTo>
                  <a:lnTo>
                    <a:pt x="239089" y="214329"/>
                  </a:lnTo>
                  <a:cubicBezTo>
                    <a:pt x="225768" y="238507"/>
                    <a:pt x="210225" y="256208"/>
                    <a:pt x="192465" y="267431"/>
                  </a:cubicBezTo>
                  <a:cubicBezTo>
                    <a:pt x="173445" y="279000"/>
                    <a:pt x="151493" y="284849"/>
                    <a:pt x="129234" y="284265"/>
                  </a:cubicBezTo>
                  <a:cubicBezTo>
                    <a:pt x="85256" y="284265"/>
                    <a:pt x="51191" y="267536"/>
                    <a:pt x="27044" y="234082"/>
                  </a:cubicBezTo>
                  <a:cubicBezTo>
                    <a:pt x="8805" y="208507"/>
                    <a:pt x="-670" y="177713"/>
                    <a:pt x="37" y="146308"/>
                  </a:cubicBezTo>
                  <a:cubicBezTo>
                    <a:pt x="-241" y="120300"/>
                    <a:pt x="5886" y="94620"/>
                    <a:pt x="17875" y="71536"/>
                  </a:cubicBezTo>
                  <a:cubicBezTo>
                    <a:pt x="40220" y="27380"/>
                    <a:pt x="85630" y="-326"/>
                    <a:pt x="135120" y="3"/>
                  </a:cubicBezTo>
                  <a:cubicBezTo>
                    <a:pt x="154923" y="153"/>
                    <a:pt x="174399" y="5099"/>
                    <a:pt x="191872" y="14419"/>
                  </a:cubicBezTo>
                  <a:cubicBezTo>
                    <a:pt x="195435" y="16746"/>
                    <a:pt x="199440" y="18301"/>
                    <a:pt x="203642" y="18981"/>
                  </a:cubicBezTo>
                  <a:cubicBezTo>
                    <a:pt x="207072" y="19008"/>
                    <a:pt x="210366" y="17644"/>
                    <a:pt x="212766" y="15194"/>
                  </a:cubicBezTo>
                  <a:cubicBezTo>
                    <a:pt x="216502" y="10943"/>
                    <a:pt x="219011" y="5756"/>
                    <a:pt x="220019" y="185"/>
                  </a:cubicBezTo>
                  <a:close/>
                </a:path>
              </a:pathLst>
            </a:custGeom>
            <a:grpFill/>
            <a:ln w="4553"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6B2DAFA1-CC4A-1850-5E4F-AC454EEBD689}"/>
                </a:ext>
              </a:extLst>
            </p:cNvPr>
            <p:cNvSpPr/>
            <p:nvPr/>
          </p:nvSpPr>
          <p:spPr>
            <a:xfrm>
              <a:off x="5818275" y="2120133"/>
              <a:ext cx="89826" cy="284996"/>
            </a:xfrm>
            <a:custGeom>
              <a:avLst/>
              <a:gdLst>
                <a:gd name="connsiteX0" fmla="*/ 62683 w 89826"/>
                <a:gd name="connsiteY0" fmla="*/ 96036 h 284996"/>
                <a:gd name="connsiteX1" fmla="*/ 62683 w 89826"/>
                <a:gd name="connsiteY1" fmla="*/ 243573 h 284996"/>
                <a:gd name="connsiteX2" fmla="*/ 65146 w 89826"/>
                <a:gd name="connsiteY2" fmla="*/ 266383 h 284996"/>
                <a:gd name="connsiteX3" fmla="*/ 72354 w 89826"/>
                <a:gd name="connsiteY3" fmla="*/ 274914 h 284996"/>
                <a:gd name="connsiteX4" fmla="*/ 89827 w 89826"/>
                <a:gd name="connsiteY4" fmla="*/ 277697 h 284996"/>
                <a:gd name="connsiteX5" fmla="*/ 89827 w 89826"/>
                <a:gd name="connsiteY5" fmla="*/ 284997 h 284996"/>
                <a:gd name="connsiteX6" fmla="*/ 2737 w 89826"/>
                <a:gd name="connsiteY6" fmla="*/ 284997 h 284996"/>
                <a:gd name="connsiteX7" fmla="*/ 2737 w 89826"/>
                <a:gd name="connsiteY7" fmla="*/ 277880 h 284996"/>
                <a:gd name="connsiteX8" fmla="*/ 20301 w 89826"/>
                <a:gd name="connsiteY8" fmla="*/ 275279 h 284996"/>
                <a:gd name="connsiteX9" fmla="*/ 27464 w 89826"/>
                <a:gd name="connsiteY9" fmla="*/ 266703 h 284996"/>
                <a:gd name="connsiteX10" fmla="*/ 30109 w 89826"/>
                <a:gd name="connsiteY10" fmla="*/ 243892 h 284996"/>
                <a:gd name="connsiteX11" fmla="*/ 30109 w 89826"/>
                <a:gd name="connsiteY11" fmla="*/ 172952 h 284996"/>
                <a:gd name="connsiteX12" fmla="*/ 28331 w 89826"/>
                <a:gd name="connsiteY12" fmla="*/ 134312 h 284996"/>
                <a:gd name="connsiteX13" fmla="*/ 24042 w 89826"/>
                <a:gd name="connsiteY13" fmla="*/ 125188 h 284996"/>
                <a:gd name="connsiteX14" fmla="*/ 16013 w 89826"/>
                <a:gd name="connsiteY14" fmla="*/ 122724 h 284996"/>
                <a:gd name="connsiteX15" fmla="*/ 2737 w 89826"/>
                <a:gd name="connsiteY15" fmla="*/ 125690 h 284996"/>
                <a:gd name="connsiteX16" fmla="*/ 0 w 89826"/>
                <a:gd name="connsiteY16" fmla="*/ 118436 h 284996"/>
                <a:gd name="connsiteX17" fmla="*/ 54060 w 89826"/>
                <a:gd name="connsiteY17" fmla="*/ 95990 h 284996"/>
                <a:gd name="connsiteX18" fmla="*/ 46487 w 89826"/>
                <a:gd name="connsiteY18" fmla="*/ 5 h 284996"/>
                <a:gd name="connsiteX19" fmla="*/ 60493 w 89826"/>
                <a:gd name="connsiteY19" fmla="*/ 5935 h 284996"/>
                <a:gd name="connsiteX20" fmla="*/ 66241 w 89826"/>
                <a:gd name="connsiteY20" fmla="*/ 20215 h 284996"/>
                <a:gd name="connsiteX21" fmla="*/ 60493 w 89826"/>
                <a:gd name="connsiteY21" fmla="*/ 34631 h 284996"/>
                <a:gd name="connsiteX22" fmla="*/ 46487 w 89826"/>
                <a:gd name="connsiteY22" fmla="*/ 40653 h 284996"/>
                <a:gd name="connsiteX23" fmla="*/ 32391 w 89826"/>
                <a:gd name="connsiteY23" fmla="*/ 34631 h 284996"/>
                <a:gd name="connsiteX24" fmla="*/ 26551 w 89826"/>
                <a:gd name="connsiteY24" fmla="*/ 20215 h 284996"/>
                <a:gd name="connsiteX25" fmla="*/ 32299 w 89826"/>
                <a:gd name="connsiteY25" fmla="*/ 5935 h 284996"/>
                <a:gd name="connsiteX26" fmla="*/ 46487 w 89826"/>
                <a:gd name="connsiteY26" fmla="*/ 5 h 284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9826" h="284996">
                  <a:moveTo>
                    <a:pt x="62683" y="96036"/>
                  </a:moveTo>
                  <a:lnTo>
                    <a:pt x="62683" y="243573"/>
                  </a:lnTo>
                  <a:cubicBezTo>
                    <a:pt x="62213" y="251260"/>
                    <a:pt x="63048" y="258975"/>
                    <a:pt x="65146" y="266383"/>
                  </a:cubicBezTo>
                  <a:cubicBezTo>
                    <a:pt x="66533" y="269951"/>
                    <a:pt x="69070" y="272953"/>
                    <a:pt x="72354" y="274914"/>
                  </a:cubicBezTo>
                  <a:cubicBezTo>
                    <a:pt x="77879" y="277209"/>
                    <a:pt x="83864" y="278163"/>
                    <a:pt x="89827" y="277697"/>
                  </a:cubicBezTo>
                  <a:lnTo>
                    <a:pt x="89827" y="284997"/>
                  </a:lnTo>
                  <a:lnTo>
                    <a:pt x="2737" y="284997"/>
                  </a:lnTo>
                  <a:lnTo>
                    <a:pt x="2737" y="277880"/>
                  </a:lnTo>
                  <a:cubicBezTo>
                    <a:pt x="8713" y="278354"/>
                    <a:pt x="14717" y="277465"/>
                    <a:pt x="20301" y="275279"/>
                  </a:cubicBezTo>
                  <a:cubicBezTo>
                    <a:pt x="23545" y="273258"/>
                    <a:pt x="26054" y="270252"/>
                    <a:pt x="27464" y="266703"/>
                  </a:cubicBezTo>
                  <a:cubicBezTo>
                    <a:pt x="29653" y="259308"/>
                    <a:pt x="30552" y="251593"/>
                    <a:pt x="30109" y="243892"/>
                  </a:cubicBezTo>
                  <a:lnTo>
                    <a:pt x="30109" y="172952"/>
                  </a:lnTo>
                  <a:cubicBezTo>
                    <a:pt x="30507" y="160046"/>
                    <a:pt x="29909" y="147127"/>
                    <a:pt x="28331" y="134312"/>
                  </a:cubicBezTo>
                  <a:cubicBezTo>
                    <a:pt x="27929" y="130886"/>
                    <a:pt x="26423" y="127683"/>
                    <a:pt x="24042" y="125188"/>
                  </a:cubicBezTo>
                  <a:cubicBezTo>
                    <a:pt x="21747" y="123431"/>
                    <a:pt x="18896" y="122560"/>
                    <a:pt x="16013" y="122724"/>
                  </a:cubicBezTo>
                  <a:cubicBezTo>
                    <a:pt x="11446" y="122902"/>
                    <a:pt x="6948" y="123910"/>
                    <a:pt x="2737" y="125690"/>
                  </a:cubicBezTo>
                  <a:lnTo>
                    <a:pt x="0" y="118436"/>
                  </a:lnTo>
                  <a:lnTo>
                    <a:pt x="54060" y="95990"/>
                  </a:lnTo>
                  <a:close/>
                  <a:moveTo>
                    <a:pt x="46487" y="5"/>
                  </a:moveTo>
                  <a:cubicBezTo>
                    <a:pt x="51784" y="-73"/>
                    <a:pt x="56866" y="2080"/>
                    <a:pt x="60493" y="5935"/>
                  </a:cubicBezTo>
                  <a:cubicBezTo>
                    <a:pt x="64270" y="9717"/>
                    <a:pt x="66346" y="14872"/>
                    <a:pt x="66241" y="20215"/>
                  </a:cubicBezTo>
                  <a:cubicBezTo>
                    <a:pt x="66332" y="25593"/>
                    <a:pt x="64261" y="30790"/>
                    <a:pt x="60493" y="34631"/>
                  </a:cubicBezTo>
                  <a:cubicBezTo>
                    <a:pt x="56889" y="38531"/>
                    <a:pt x="51798" y="40721"/>
                    <a:pt x="46487" y="40653"/>
                  </a:cubicBezTo>
                  <a:cubicBezTo>
                    <a:pt x="41150" y="40712"/>
                    <a:pt x="36036" y="38527"/>
                    <a:pt x="32391" y="34631"/>
                  </a:cubicBezTo>
                  <a:cubicBezTo>
                    <a:pt x="28581" y="30808"/>
                    <a:pt x="26474" y="25612"/>
                    <a:pt x="26551" y="20215"/>
                  </a:cubicBezTo>
                  <a:cubicBezTo>
                    <a:pt x="26446" y="14872"/>
                    <a:pt x="28522" y="9717"/>
                    <a:pt x="32299" y="5935"/>
                  </a:cubicBezTo>
                  <a:cubicBezTo>
                    <a:pt x="35976" y="2039"/>
                    <a:pt x="41132" y="-114"/>
                    <a:pt x="46487" y="5"/>
                  </a:cubicBezTo>
                </a:path>
              </a:pathLst>
            </a:custGeom>
            <a:grpFill/>
            <a:ln w="4553"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E5C8E78-CE94-DB29-587C-3136C70F4E76}"/>
                </a:ext>
              </a:extLst>
            </p:cNvPr>
            <p:cNvSpPr/>
            <p:nvPr/>
          </p:nvSpPr>
          <p:spPr>
            <a:xfrm>
              <a:off x="5921606" y="2161196"/>
              <a:ext cx="108257" cy="246989"/>
            </a:xfrm>
            <a:custGeom>
              <a:avLst/>
              <a:gdLst>
                <a:gd name="connsiteX0" fmla="*/ 61223 w 108257"/>
                <a:gd name="connsiteY0" fmla="*/ 0 h 246989"/>
                <a:gd name="connsiteX1" fmla="*/ 61223 w 108257"/>
                <a:gd name="connsiteY1" fmla="*/ 60310 h 246989"/>
                <a:gd name="connsiteX2" fmla="*/ 103102 w 108257"/>
                <a:gd name="connsiteY2" fmla="*/ 60310 h 246989"/>
                <a:gd name="connsiteX3" fmla="*/ 103102 w 108257"/>
                <a:gd name="connsiteY3" fmla="*/ 74407 h 246989"/>
                <a:gd name="connsiteX4" fmla="*/ 61223 w 108257"/>
                <a:gd name="connsiteY4" fmla="*/ 74407 h 246989"/>
                <a:gd name="connsiteX5" fmla="*/ 61223 w 108257"/>
                <a:gd name="connsiteY5" fmla="*/ 193431 h 246989"/>
                <a:gd name="connsiteX6" fmla="*/ 66150 w 108257"/>
                <a:gd name="connsiteY6" fmla="*/ 217474 h 246989"/>
                <a:gd name="connsiteX7" fmla="*/ 78924 w 108257"/>
                <a:gd name="connsiteY7" fmla="*/ 223678 h 246989"/>
                <a:gd name="connsiteX8" fmla="*/ 91378 w 108257"/>
                <a:gd name="connsiteY8" fmla="*/ 219572 h 246989"/>
                <a:gd name="connsiteX9" fmla="*/ 100502 w 108257"/>
                <a:gd name="connsiteY9" fmla="*/ 207437 h 246989"/>
                <a:gd name="connsiteX10" fmla="*/ 108258 w 108257"/>
                <a:gd name="connsiteY10" fmla="*/ 207437 h 246989"/>
                <a:gd name="connsiteX11" fmla="*/ 88823 w 108257"/>
                <a:gd name="connsiteY11" fmla="*/ 237045 h 246989"/>
                <a:gd name="connsiteX12" fmla="*/ 62956 w 108257"/>
                <a:gd name="connsiteY12" fmla="*/ 246990 h 246989"/>
                <a:gd name="connsiteX13" fmla="*/ 45301 w 108257"/>
                <a:gd name="connsiteY13" fmla="*/ 241880 h 246989"/>
                <a:gd name="connsiteX14" fmla="*/ 32527 w 108257"/>
                <a:gd name="connsiteY14" fmla="*/ 227282 h 246989"/>
                <a:gd name="connsiteX15" fmla="*/ 28422 w 108257"/>
                <a:gd name="connsiteY15" fmla="*/ 197902 h 246989"/>
                <a:gd name="connsiteX16" fmla="*/ 28422 w 108257"/>
                <a:gd name="connsiteY16" fmla="*/ 74407 h 246989"/>
                <a:gd name="connsiteX17" fmla="*/ 0 w 108257"/>
                <a:gd name="connsiteY17" fmla="*/ 74407 h 246989"/>
                <a:gd name="connsiteX18" fmla="*/ 0 w 108257"/>
                <a:gd name="connsiteY18" fmla="*/ 68020 h 246989"/>
                <a:gd name="connsiteX19" fmla="*/ 22080 w 108257"/>
                <a:gd name="connsiteY19" fmla="*/ 53057 h 246989"/>
                <a:gd name="connsiteX20" fmla="*/ 42290 w 108257"/>
                <a:gd name="connsiteY20" fmla="*/ 28102 h 246989"/>
                <a:gd name="connsiteX21" fmla="*/ 54973 w 108257"/>
                <a:gd name="connsiteY21" fmla="*/ 228 h 2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8257" h="246989">
                  <a:moveTo>
                    <a:pt x="61223" y="0"/>
                  </a:moveTo>
                  <a:lnTo>
                    <a:pt x="61223" y="60310"/>
                  </a:lnTo>
                  <a:lnTo>
                    <a:pt x="103102" y="60310"/>
                  </a:lnTo>
                  <a:lnTo>
                    <a:pt x="103102" y="74407"/>
                  </a:lnTo>
                  <a:lnTo>
                    <a:pt x="61223" y="74407"/>
                  </a:lnTo>
                  <a:lnTo>
                    <a:pt x="61223" y="193431"/>
                  </a:lnTo>
                  <a:cubicBezTo>
                    <a:pt x="61223" y="205338"/>
                    <a:pt x="62865" y="213322"/>
                    <a:pt x="66150" y="217474"/>
                  </a:cubicBezTo>
                  <a:cubicBezTo>
                    <a:pt x="69165" y="221470"/>
                    <a:pt x="73919" y="223778"/>
                    <a:pt x="78924" y="223678"/>
                  </a:cubicBezTo>
                  <a:cubicBezTo>
                    <a:pt x="83394" y="223605"/>
                    <a:pt x="87738" y="222172"/>
                    <a:pt x="91378" y="219572"/>
                  </a:cubicBezTo>
                  <a:cubicBezTo>
                    <a:pt x="95548" y="216515"/>
                    <a:pt x="98723" y="212291"/>
                    <a:pt x="100502" y="207437"/>
                  </a:cubicBezTo>
                  <a:lnTo>
                    <a:pt x="108258" y="207437"/>
                  </a:lnTo>
                  <a:cubicBezTo>
                    <a:pt x="104731" y="218956"/>
                    <a:pt x="97988" y="229225"/>
                    <a:pt x="88823" y="237045"/>
                  </a:cubicBezTo>
                  <a:cubicBezTo>
                    <a:pt x="81615" y="243258"/>
                    <a:pt x="72473" y="246771"/>
                    <a:pt x="62956" y="246990"/>
                  </a:cubicBezTo>
                  <a:cubicBezTo>
                    <a:pt x="56715" y="246935"/>
                    <a:pt x="50607" y="245170"/>
                    <a:pt x="45301" y="241880"/>
                  </a:cubicBezTo>
                  <a:cubicBezTo>
                    <a:pt x="39571" y="238532"/>
                    <a:pt x="35087" y="233409"/>
                    <a:pt x="32527" y="227282"/>
                  </a:cubicBezTo>
                  <a:cubicBezTo>
                    <a:pt x="29311" y="217839"/>
                    <a:pt x="27920" y="207866"/>
                    <a:pt x="28422" y="197902"/>
                  </a:cubicBezTo>
                  <a:lnTo>
                    <a:pt x="28422" y="74407"/>
                  </a:lnTo>
                  <a:lnTo>
                    <a:pt x="0" y="74407"/>
                  </a:lnTo>
                  <a:lnTo>
                    <a:pt x="0" y="68020"/>
                  </a:lnTo>
                  <a:cubicBezTo>
                    <a:pt x="8198" y="64398"/>
                    <a:pt x="15675" y="59330"/>
                    <a:pt x="22080" y="53057"/>
                  </a:cubicBezTo>
                  <a:cubicBezTo>
                    <a:pt x="29895" y="45671"/>
                    <a:pt x="36693" y="37281"/>
                    <a:pt x="42290" y="28102"/>
                  </a:cubicBezTo>
                  <a:cubicBezTo>
                    <a:pt x="47121" y="19097"/>
                    <a:pt x="51360" y="9786"/>
                    <a:pt x="54973" y="228"/>
                  </a:cubicBezTo>
                  <a:close/>
                </a:path>
              </a:pathLst>
            </a:custGeom>
            <a:grpFill/>
            <a:ln w="4553"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82FE560-55AF-791C-CF8A-410455028AF7}"/>
                </a:ext>
              </a:extLst>
            </p:cNvPr>
            <p:cNvSpPr/>
            <p:nvPr/>
          </p:nvSpPr>
          <p:spPr>
            <a:xfrm>
              <a:off x="6031186" y="2221506"/>
              <a:ext cx="195940" cy="272599"/>
            </a:xfrm>
            <a:custGeom>
              <a:avLst/>
              <a:gdLst>
                <a:gd name="connsiteX0" fmla="*/ 228 w 195940"/>
                <a:gd name="connsiteY0" fmla="*/ 0 h 272599"/>
                <a:gd name="connsiteX1" fmla="*/ 83988 w 195940"/>
                <a:gd name="connsiteY1" fmla="*/ 0 h 272599"/>
                <a:gd name="connsiteX2" fmla="*/ 83988 w 195940"/>
                <a:gd name="connsiteY2" fmla="*/ 7254 h 272599"/>
                <a:gd name="connsiteX3" fmla="*/ 79882 w 195940"/>
                <a:gd name="connsiteY3" fmla="*/ 7254 h 272599"/>
                <a:gd name="connsiteX4" fmla="*/ 66652 w 195940"/>
                <a:gd name="connsiteY4" fmla="*/ 11223 h 272599"/>
                <a:gd name="connsiteX5" fmla="*/ 62090 w 195940"/>
                <a:gd name="connsiteY5" fmla="*/ 20986 h 272599"/>
                <a:gd name="connsiteX6" fmla="*/ 68568 w 195940"/>
                <a:gd name="connsiteY6" fmla="*/ 42746 h 272599"/>
                <a:gd name="connsiteX7" fmla="*/ 112364 w 195940"/>
                <a:gd name="connsiteY7" fmla="*/ 135813 h 272599"/>
                <a:gd name="connsiteX8" fmla="*/ 152327 w 195940"/>
                <a:gd name="connsiteY8" fmla="*/ 33896 h 272599"/>
                <a:gd name="connsiteX9" fmla="*/ 155658 w 195940"/>
                <a:gd name="connsiteY9" fmla="*/ 17564 h 272599"/>
                <a:gd name="connsiteX10" fmla="*/ 154289 w 195940"/>
                <a:gd name="connsiteY10" fmla="*/ 12135 h 272599"/>
                <a:gd name="connsiteX11" fmla="*/ 149408 w 195940"/>
                <a:gd name="connsiteY11" fmla="*/ 8577 h 272599"/>
                <a:gd name="connsiteX12" fmla="*/ 137637 w 195940"/>
                <a:gd name="connsiteY12" fmla="*/ 7254 h 272599"/>
                <a:gd name="connsiteX13" fmla="*/ 137637 w 195940"/>
                <a:gd name="connsiteY13" fmla="*/ 0 h 272599"/>
                <a:gd name="connsiteX14" fmla="*/ 195941 w 195940"/>
                <a:gd name="connsiteY14" fmla="*/ 0 h 272599"/>
                <a:gd name="connsiteX15" fmla="*/ 195941 w 195940"/>
                <a:gd name="connsiteY15" fmla="*/ 7254 h 272599"/>
                <a:gd name="connsiteX16" fmla="*/ 184763 w 195940"/>
                <a:gd name="connsiteY16" fmla="*/ 10493 h 272599"/>
                <a:gd name="connsiteX17" fmla="*/ 176141 w 195940"/>
                <a:gd name="connsiteY17" fmla="*/ 19617 h 272599"/>
                <a:gd name="connsiteX18" fmla="*/ 169481 w 195940"/>
                <a:gd name="connsiteY18" fmla="*/ 35128 h 272599"/>
                <a:gd name="connsiteX19" fmla="*/ 96488 w 195940"/>
                <a:gd name="connsiteY19" fmla="*/ 218660 h 272599"/>
                <a:gd name="connsiteX20" fmla="*/ 68796 w 195940"/>
                <a:gd name="connsiteY20" fmla="*/ 258897 h 272599"/>
                <a:gd name="connsiteX21" fmla="*/ 35812 w 195940"/>
                <a:gd name="connsiteY21" fmla="*/ 272583 h 272599"/>
                <a:gd name="connsiteX22" fmla="*/ 16788 w 195940"/>
                <a:gd name="connsiteY22" fmla="*/ 265786 h 272599"/>
                <a:gd name="connsiteX23" fmla="*/ 9352 w 195940"/>
                <a:gd name="connsiteY23" fmla="*/ 250138 h 272599"/>
                <a:gd name="connsiteX24" fmla="*/ 14736 w 195940"/>
                <a:gd name="connsiteY24" fmla="*/ 236452 h 272599"/>
                <a:gd name="connsiteX25" fmla="*/ 29517 w 195940"/>
                <a:gd name="connsiteY25" fmla="*/ 231342 h 272599"/>
                <a:gd name="connsiteX26" fmla="*/ 47172 w 195940"/>
                <a:gd name="connsiteY26" fmla="*/ 235904 h 272599"/>
                <a:gd name="connsiteX27" fmla="*/ 56935 w 195940"/>
                <a:gd name="connsiteY27" fmla="*/ 238961 h 272599"/>
                <a:gd name="connsiteX28" fmla="*/ 69754 w 195940"/>
                <a:gd name="connsiteY28" fmla="*/ 232711 h 272599"/>
                <a:gd name="connsiteX29" fmla="*/ 83759 w 195940"/>
                <a:gd name="connsiteY29" fmla="*/ 208623 h 272599"/>
                <a:gd name="connsiteX30" fmla="*/ 96396 w 195940"/>
                <a:gd name="connsiteY30" fmla="*/ 176689 h 272599"/>
                <a:gd name="connsiteX31" fmla="*/ 31934 w 195940"/>
                <a:gd name="connsiteY31" fmla="*/ 38367 h 272599"/>
                <a:gd name="connsiteX32" fmla="*/ 22537 w 195940"/>
                <a:gd name="connsiteY32" fmla="*/ 22765 h 272599"/>
                <a:gd name="connsiteX33" fmla="*/ 14462 w 195940"/>
                <a:gd name="connsiteY33" fmla="*/ 13276 h 272599"/>
                <a:gd name="connsiteX34" fmla="*/ 0 w 195940"/>
                <a:gd name="connsiteY34" fmla="*/ 7573 h 272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5940" h="272599">
                  <a:moveTo>
                    <a:pt x="228" y="0"/>
                  </a:moveTo>
                  <a:lnTo>
                    <a:pt x="83988" y="0"/>
                  </a:lnTo>
                  <a:lnTo>
                    <a:pt x="83988" y="7254"/>
                  </a:lnTo>
                  <a:lnTo>
                    <a:pt x="79882" y="7254"/>
                  </a:lnTo>
                  <a:cubicBezTo>
                    <a:pt x="75133" y="6893"/>
                    <a:pt x="70420" y="8308"/>
                    <a:pt x="66652" y="11223"/>
                  </a:cubicBezTo>
                  <a:cubicBezTo>
                    <a:pt x="63737" y="13622"/>
                    <a:pt x="62058" y="17208"/>
                    <a:pt x="62090" y="20986"/>
                  </a:cubicBezTo>
                  <a:cubicBezTo>
                    <a:pt x="62742" y="28604"/>
                    <a:pt x="64950" y="36008"/>
                    <a:pt x="68568" y="42746"/>
                  </a:cubicBezTo>
                  <a:lnTo>
                    <a:pt x="112364" y="135813"/>
                  </a:lnTo>
                  <a:lnTo>
                    <a:pt x="152327" y="33896"/>
                  </a:lnTo>
                  <a:cubicBezTo>
                    <a:pt x="154490" y="28723"/>
                    <a:pt x="155621" y="23171"/>
                    <a:pt x="155658" y="17564"/>
                  </a:cubicBezTo>
                  <a:cubicBezTo>
                    <a:pt x="155781" y="15657"/>
                    <a:pt x="155302" y="13755"/>
                    <a:pt x="154289" y="12135"/>
                  </a:cubicBezTo>
                  <a:cubicBezTo>
                    <a:pt x="153048" y="10493"/>
                    <a:pt x="151351" y="9252"/>
                    <a:pt x="149408" y="8577"/>
                  </a:cubicBezTo>
                  <a:cubicBezTo>
                    <a:pt x="145580" y="7495"/>
                    <a:pt x="141607" y="7053"/>
                    <a:pt x="137637" y="7254"/>
                  </a:cubicBezTo>
                  <a:lnTo>
                    <a:pt x="137637" y="0"/>
                  </a:lnTo>
                  <a:lnTo>
                    <a:pt x="195941" y="0"/>
                  </a:lnTo>
                  <a:lnTo>
                    <a:pt x="195941" y="7254"/>
                  </a:lnTo>
                  <a:cubicBezTo>
                    <a:pt x="192026" y="7527"/>
                    <a:pt x="188217" y="8631"/>
                    <a:pt x="184763" y="10493"/>
                  </a:cubicBezTo>
                  <a:cubicBezTo>
                    <a:pt x="181333" y="12956"/>
                    <a:pt x="178404" y="16049"/>
                    <a:pt x="176141" y="19617"/>
                  </a:cubicBezTo>
                  <a:cubicBezTo>
                    <a:pt x="173596" y="24640"/>
                    <a:pt x="171374" y="29822"/>
                    <a:pt x="169481" y="35128"/>
                  </a:cubicBezTo>
                  <a:lnTo>
                    <a:pt x="96488" y="218660"/>
                  </a:lnTo>
                  <a:cubicBezTo>
                    <a:pt x="90945" y="234266"/>
                    <a:pt x="81392" y="248144"/>
                    <a:pt x="68796" y="258897"/>
                  </a:cubicBezTo>
                  <a:cubicBezTo>
                    <a:pt x="57391" y="268021"/>
                    <a:pt x="46396" y="272583"/>
                    <a:pt x="35812" y="272583"/>
                  </a:cubicBezTo>
                  <a:cubicBezTo>
                    <a:pt x="28837" y="272825"/>
                    <a:pt x="22030" y="270393"/>
                    <a:pt x="16788" y="265786"/>
                  </a:cubicBezTo>
                  <a:cubicBezTo>
                    <a:pt x="12158" y="261894"/>
                    <a:pt x="9444" y="256187"/>
                    <a:pt x="9352" y="250138"/>
                  </a:cubicBezTo>
                  <a:cubicBezTo>
                    <a:pt x="9101" y="245015"/>
                    <a:pt x="11063" y="240028"/>
                    <a:pt x="14736" y="236452"/>
                  </a:cubicBezTo>
                  <a:cubicBezTo>
                    <a:pt x="18800" y="232870"/>
                    <a:pt x="24111" y="231032"/>
                    <a:pt x="29517" y="231342"/>
                  </a:cubicBezTo>
                  <a:cubicBezTo>
                    <a:pt x="35625" y="231794"/>
                    <a:pt x="41606" y="233340"/>
                    <a:pt x="47172" y="235904"/>
                  </a:cubicBezTo>
                  <a:cubicBezTo>
                    <a:pt x="50283" y="237337"/>
                    <a:pt x="53563" y="238363"/>
                    <a:pt x="56935" y="238961"/>
                  </a:cubicBezTo>
                  <a:cubicBezTo>
                    <a:pt x="61830" y="238514"/>
                    <a:pt x="66387" y="236287"/>
                    <a:pt x="69754" y="232711"/>
                  </a:cubicBezTo>
                  <a:cubicBezTo>
                    <a:pt x="76091" y="225776"/>
                    <a:pt x="80867" y="217560"/>
                    <a:pt x="83759" y="208623"/>
                  </a:cubicBezTo>
                  <a:lnTo>
                    <a:pt x="96396" y="176689"/>
                  </a:lnTo>
                  <a:lnTo>
                    <a:pt x="31934" y="38367"/>
                  </a:lnTo>
                  <a:cubicBezTo>
                    <a:pt x="29225" y="32924"/>
                    <a:pt x="26081" y="27705"/>
                    <a:pt x="22537" y="22765"/>
                  </a:cubicBezTo>
                  <a:cubicBezTo>
                    <a:pt x="20297" y="19243"/>
                    <a:pt x="17578" y="16049"/>
                    <a:pt x="14462" y="13276"/>
                  </a:cubicBezTo>
                  <a:cubicBezTo>
                    <a:pt x="10032" y="10502"/>
                    <a:pt x="5128" y="8568"/>
                    <a:pt x="0" y="7573"/>
                  </a:cubicBezTo>
                  <a:close/>
                </a:path>
              </a:pathLst>
            </a:custGeom>
            <a:grpFill/>
            <a:ln w="4553"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4FA22E4-5909-9CFC-550C-0DF99FF7FC49}"/>
                </a:ext>
              </a:extLst>
            </p:cNvPr>
            <p:cNvSpPr/>
            <p:nvPr/>
          </p:nvSpPr>
          <p:spPr>
            <a:xfrm>
              <a:off x="6344882" y="2127024"/>
              <a:ext cx="239043" cy="284304"/>
            </a:xfrm>
            <a:custGeom>
              <a:avLst/>
              <a:gdLst>
                <a:gd name="connsiteX0" fmla="*/ 226862 w 239043"/>
                <a:gd name="connsiteY0" fmla="*/ 185 h 284304"/>
                <a:gd name="connsiteX1" fmla="*/ 232930 w 239043"/>
                <a:gd name="connsiteY1" fmla="*/ 92567 h 284304"/>
                <a:gd name="connsiteX2" fmla="*/ 226862 w 239043"/>
                <a:gd name="connsiteY2" fmla="*/ 92567 h 284304"/>
                <a:gd name="connsiteX3" fmla="*/ 192237 w 239043"/>
                <a:gd name="connsiteY3" fmla="*/ 32758 h 284304"/>
                <a:gd name="connsiteX4" fmla="*/ 138313 w 239043"/>
                <a:gd name="connsiteY4" fmla="*/ 14510 h 284304"/>
                <a:gd name="connsiteX5" fmla="*/ 90594 w 239043"/>
                <a:gd name="connsiteY5" fmla="*/ 28196 h 284304"/>
                <a:gd name="connsiteX6" fmla="*/ 57063 w 239043"/>
                <a:gd name="connsiteY6" fmla="*/ 71992 h 284304"/>
                <a:gd name="connsiteX7" fmla="*/ 44836 w 239043"/>
                <a:gd name="connsiteY7" fmla="*/ 146718 h 284304"/>
                <a:gd name="connsiteX8" fmla="*/ 56378 w 239043"/>
                <a:gd name="connsiteY8" fmla="*/ 210587 h 284304"/>
                <a:gd name="connsiteX9" fmla="*/ 91096 w 239043"/>
                <a:gd name="connsiteY9" fmla="*/ 252056 h 284304"/>
                <a:gd name="connsiteX10" fmla="*/ 143970 w 239043"/>
                <a:gd name="connsiteY10" fmla="*/ 266518 h 284304"/>
                <a:gd name="connsiteX11" fmla="*/ 189590 w 239043"/>
                <a:gd name="connsiteY11" fmla="*/ 255204 h 284304"/>
                <a:gd name="connsiteX12" fmla="*/ 232976 w 239043"/>
                <a:gd name="connsiteY12" fmla="*/ 210268 h 284304"/>
                <a:gd name="connsiteX13" fmla="*/ 239043 w 239043"/>
                <a:gd name="connsiteY13" fmla="*/ 214328 h 284304"/>
                <a:gd name="connsiteX14" fmla="*/ 192465 w 239043"/>
                <a:gd name="connsiteY14" fmla="*/ 267430 h 284304"/>
                <a:gd name="connsiteX15" fmla="*/ 129235 w 239043"/>
                <a:gd name="connsiteY15" fmla="*/ 284264 h 284304"/>
                <a:gd name="connsiteX16" fmla="*/ 27044 w 239043"/>
                <a:gd name="connsiteY16" fmla="*/ 234082 h 284304"/>
                <a:gd name="connsiteX17" fmla="*/ 37 w 239043"/>
                <a:gd name="connsiteY17" fmla="*/ 146308 h 284304"/>
                <a:gd name="connsiteX18" fmla="*/ 17829 w 239043"/>
                <a:gd name="connsiteY18" fmla="*/ 71535 h 284304"/>
                <a:gd name="connsiteX19" fmla="*/ 135074 w 239043"/>
                <a:gd name="connsiteY19" fmla="*/ 2 h 284304"/>
                <a:gd name="connsiteX20" fmla="*/ 191872 w 239043"/>
                <a:gd name="connsiteY20" fmla="*/ 14418 h 284304"/>
                <a:gd name="connsiteX21" fmla="*/ 203596 w 239043"/>
                <a:gd name="connsiteY21" fmla="*/ 18981 h 284304"/>
                <a:gd name="connsiteX22" fmla="*/ 212720 w 239043"/>
                <a:gd name="connsiteY22" fmla="*/ 15194 h 284304"/>
                <a:gd name="connsiteX23" fmla="*/ 219928 w 239043"/>
                <a:gd name="connsiteY23" fmla="*/ 185 h 28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9043" h="284304">
                  <a:moveTo>
                    <a:pt x="226862" y="185"/>
                  </a:moveTo>
                  <a:lnTo>
                    <a:pt x="232930" y="92567"/>
                  </a:lnTo>
                  <a:lnTo>
                    <a:pt x="226862" y="92567"/>
                  </a:lnTo>
                  <a:cubicBezTo>
                    <a:pt x="218742" y="64861"/>
                    <a:pt x="207200" y="44925"/>
                    <a:pt x="192237" y="32758"/>
                  </a:cubicBezTo>
                  <a:cubicBezTo>
                    <a:pt x="176986" y="20491"/>
                    <a:pt x="157880" y="14026"/>
                    <a:pt x="138313" y="14510"/>
                  </a:cubicBezTo>
                  <a:cubicBezTo>
                    <a:pt x="121406" y="14286"/>
                    <a:pt x="104809" y="19044"/>
                    <a:pt x="90594" y="28196"/>
                  </a:cubicBezTo>
                  <a:cubicBezTo>
                    <a:pt x="76406" y="37320"/>
                    <a:pt x="65229" y="51964"/>
                    <a:pt x="57063" y="71992"/>
                  </a:cubicBezTo>
                  <a:cubicBezTo>
                    <a:pt x="48897" y="92019"/>
                    <a:pt x="44836" y="116928"/>
                    <a:pt x="44836" y="146718"/>
                  </a:cubicBezTo>
                  <a:cubicBezTo>
                    <a:pt x="44357" y="168566"/>
                    <a:pt x="48281" y="190286"/>
                    <a:pt x="56378" y="210587"/>
                  </a:cubicBezTo>
                  <a:cubicBezTo>
                    <a:pt x="63317" y="227708"/>
                    <a:pt x="75462" y="242216"/>
                    <a:pt x="91096" y="252056"/>
                  </a:cubicBezTo>
                  <a:cubicBezTo>
                    <a:pt x="106981" y="261824"/>
                    <a:pt x="125325" y="266842"/>
                    <a:pt x="143970" y="266518"/>
                  </a:cubicBezTo>
                  <a:cubicBezTo>
                    <a:pt x="159910" y="266846"/>
                    <a:pt x="175653" y="262941"/>
                    <a:pt x="189590" y="255204"/>
                  </a:cubicBezTo>
                  <a:cubicBezTo>
                    <a:pt x="202761" y="247631"/>
                    <a:pt x="217223" y="232654"/>
                    <a:pt x="232976" y="210268"/>
                  </a:cubicBezTo>
                  <a:lnTo>
                    <a:pt x="239043" y="214328"/>
                  </a:lnTo>
                  <a:cubicBezTo>
                    <a:pt x="225722" y="238507"/>
                    <a:pt x="210197" y="256208"/>
                    <a:pt x="192465" y="267430"/>
                  </a:cubicBezTo>
                  <a:cubicBezTo>
                    <a:pt x="173445" y="279000"/>
                    <a:pt x="151493" y="284848"/>
                    <a:pt x="129235" y="284264"/>
                  </a:cubicBezTo>
                  <a:cubicBezTo>
                    <a:pt x="85256" y="284264"/>
                    <a:pt x="51191" y="267535"/>
                    <a:pt x="27044" y="234082"/>
                  </a:cubicBezTo>
                  <a:cubicBezTo>
                    <a:pt x="8805" y="208507"/>
                    <a:pt x="-670" y="177713"/>
                    <a:pt x="37" y="146308"/>
                  </a:cubicBezTo>
                  <a:cubicBezTo>
                    <a:pt x="-237" y="120304"/>
                    <a:pt x="5872" y="94629"/>
                    <a:pt x="17829" y="71535"/>
                  </a:cubicBezTo>
                  <a:cubicBezTo>
                    <a:pt x="40201" y="27402"/>
                    <a:pt x="85594" y="-294"/>
                    <a:pt x="135074" y="2"/>
                  </a:cubicBezTo>
                  <a:cubicBezTo>
                    <a:pt x="154891" y="148"/>
                    <a:pt x="174381" y="5094"/>
                    <a:pt x="191872" y="14418"/>
                  </a:cubicBezTo>
                  <a:cubicBezTo>
                    <a:pt x="195421" y="16736"/>
                    <a:pt x="199413" y="18292"/>
                    <a:pt x="203596" y="18981"/>
                  </a:cubicBezTo>
                  <a:cubicBezTo>
                    <a:pt x="207022" y="18999"/>
                    <a:pt x="210311" y="17635"/>
                    <a:pt x="212720" y="15194"/>
                  </a:cubicBezTo>
                  <a:cubicBezTo>
                    <a:pt x="216429" y="10928"/>
                    <a:pt x="218915" y="5746"/>
                    <a:pt x="219928" y="185"/>
                  </a:cubicBezTo>
                  <a:close/>
                </a:path>
              </a:pathLst>
            </a:custGeom>
            <a:grpFill/>
            <a:ln w="4553"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F3FA0E1-3054-E30B-F974-F2373423682A}"/>
                </a:ext>
              </a:extLst>
            </p:cNvPr>
            <p:cNvSpPr/>
            <p:nvPr/>
          </p:nvSpPr>
          <p:spPr>
            <a:xfrm>
              <a:off x="6611248" y="2216137"/>
              <a:ext cx="173325" cy="194631"/>
            </a:xfrm>
            <a:custGeom>
              <a:avLst/>
              <a:gdLst>
                <a:gd name="connsiteX0" fmla="*/ 86911 w 173325"/>
                <a:gd name="connsiteY0" fmla="*/ 32 h 194631"/>
                <a:gd name="connsiteX1" fmla="*/ 152377 w 173325"/>
                <a:gd name="connsiteY1" fmla="*/ 31693 h 194631"/>
                <a:gd name="connsiteX2" fmla="*/ 173317 w 173325"/>
                <a:gd name="connsiteY2" fmla="*/ 93828 h 194631"/>
                <a:gd name="connsiteX3" fmla="*/ 161775 w 173325"/>
                <a:gd name="connsiteY3" fmla="*/ 143737 h 194631"/>
                <a:gd name="connsiteX4" fmla="*/ 129840 w 173325"/>
                <a:gd name="connsiteY4" fmla="*/ 181785 h 194631"/>
                <a:gd name="connsiteX5" fmla="*/ 84676 w 173325"/>
                <a:gd name="connsiteY5" fmla="*/ 194604 h 194631"/>
                <a:gd name="connsiteX6" fmla="*/ 20214 w 173325"/>
                <a:gd name="connsiteY6" fmla="*/ 161575 h 194631"/>
                <a:gd name="connsiteX7" fmla="*/ 4 w 173325"/>
                <a:gd name="connsiteY7" fmla="*/ 99029 h 194631"/>
                <a:gd name="connsiteX8" fmla="*/ 12276 w 173325"/>
                <a:gd name="connsiteY8" fmla="*/ 48846 h 194631"/>
                <a:gd name="connsiteX9" fmla="*/ 44484 w 173325"/>
                <a:gd name="connsiteY9" fmla="*/ 11939 h 194631"/>
                <a:gd name="connsiteX10" fmla="*/ 86820 w 173325"/>
                <a:gd name="connsiteY10" fmla="*/ 32 h 194631"/>
                <a:gd name="connsiteX11" fmla="*/ 80844 w 173325"/>
                <a:gd name="connsiteY11" fmla="*/ 13080 h 194631"/>
                <a:gd name="connsiteX12" fmla="*/ 59904 w 173325"/>
                <a:gd name="connsiteY12" fmla="*/ 19375 h 194631"/>
                <a:gd name="connsiteX13" fmla="*/ 42933 w 173325"/>
                <a:gd name="connsiteY13" fmla="*/ 41501 h 194631"/>
                <a:gd name="connsiteX14" fmla="*/ 36455 w 173325"/>
                <a:gd name="connsiteY14" fmla="*/ 82149 h 194631"/>
                <a:gd name="connsiteX15" fmla="*/ 52057 w 173325"/>
                <a:gd name="connsiteY15" fmla="*/ 151265 h 194631"/>
                <a:gd name="connsiteX16" fmla="*/ 93116 w 173325"/>
                <a:gd name="connsiteY16" fmla="*/ 180279 h 194631"/>
                <a:gd name="connsiteX17" fmla="*/ 124503 w 173325"/>
                <a:gd name="connsiteY17" fmla="*/ 164267 h 194631"/>
                <a:gd name="connsiteX18" fmla="*/ 136866 w 173325"/>
                <a:gd name="connsiteY18" fmla="*/ 109202 h 194631"/>
                <a:gd name="connsiteX19" fmla="*/ 116245 w 173325"/>
                <a:gd name="connsiteY19" fmla="*/ 32286 h 194631"/>
                <a:gd name="connsiteX20" fmla="*/ 80753 w 173325"/>
                <a:gd name="connsiteY20" fmla="*/ 13080 h 194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3325" h="194631">
                  <a:moveTo>
                    <a:pt x="86911" y="32"/>
                  </a:moveTo>
                  <a:cubicBezTo>
                    <a:pt x="112587" y="-702"/>
                    <a:pt x="137012" y="11109"/>
                    <a:pt x="152377" y="31693"/>
                  </a:cubicBezTo>
                  <a:cubicBezTo>
                    <a:pt x="166236" y="49412"/>
                    <a:pt x="173623" y="71337"/>
                    <a:pt x="173317" y="93828"/>
                  </a:cubicBezTo>
                  <a:cubicBezTo>
                    <a:pt x="173134" y="111105"/>
                    <a:pt x="169193" y="128135"/>
                    <a:pt x="161775" y="143737"/>
                  </a:cubicBezTo>
                  <a:cubicBezTo>
                    <a:pt x="155119" y="159294"/>
                    <a:pt x="144010" y="172533"/>
                    <a:pt x="129840" y="181785"/>
                  </a:cubicBezTo>
                  <a:cubicBezTo>
                    <a:pt x="116341" y="190334"/>
                    <a:pt x="100652" y="194787"/>
                    <a:pt x="84676" y="194604"/>
                  </a:cubicBezTo>
                  <a:cubicBezTo>
                    <a:pt x="58964" y="195302"/>
                    <a:pt x="34667" y="182852"/>
                    <a:pt x="20214" y="161575"/>
                  </a:cubicBezTo>
                  <a:cubicBezTo>
                    <a:pt x="6893" y="143459"/>
                    <a:pt x="-197" y="121515"/>
                    <a:pt x="4" y="99029"/>
                  </a:cubicBezTo>
                  <a:cubicBezTo>
                    <a:pt x="159" y="81579"/>
                    <a:pt x="4361" y="64398"/>
                    <a:pt x="12276" y="48846"/>
                  </a:cubicBezTo>
                  <a:cubicBezTo>
                    <a:pt x="19160" y="33655"/>
                    <a:pt x="30360" y="20817"/>
                    <a:pt x="44484" y="11939"/>
                  </a:cubicBezTo>
                  <a:cubicBezTo>
                    <a:pt x="57235" y="4156"/>
                    <a:pt x="71884" y="37"/>
                    <a:pt x="86820" y="32"/>
                  </a:cubicBezTo>
                  <a:moveTo>
                    <a:pt x="80844" y="13080"/>
                  </a:moveTo>
                  <a:cubicBezTo>
                    <a:pt x="73421" y="13226"/>
                    <a:pt x="66177" y="15402"/>
                    <a:pt x="59904" y="19375"/>
                  </a:cubicBezTo>
                  <a:cubicBezTo>
                    <a:pt x="52011" y="24731"/>
                    <a:pt x="46058" y="32491"/>
                    <a:pt x="42933" y="41501"/>
                  </a:cubicBezTo>
                  <a:cubicBezTo>
                    <a:pt x="38193" y="54512"/>
                    <a:pt x="35994" y="68313"/>
                    <a:pt x="36455" y="82149"/>
                  </a:cubicBezTo>
                  <a:cubicBezTo>
                    <a:pt x="35816" y="106128"/>
                    <a:pt x="41181" y="129887"/>
                    <a:pt x="52057" y="151265"/>
                  </a:cubicBezTo>
                  <a:cubicBezTo>
                    <a:pt x="62459" y="170608"/>
                    <a:pt x="76145" y="180279"/>
                    <a:pt x="93116" y="180279"/>
                  </a:cubicBezTo>
                  <a:cubicBezTo>
                    <a:pt x="105566" y="180393"/>
                    <a:pt x="117286" y="174413"/>
                    <a:pt x="124503" y="164267"/>
                  </a:cubicBezTo>
                  <a:cubicBezTo>
                    <a:pt x="132774" y="153591"/>
                    <a:pt x="136898" y="135238"/>
                    <a:pt x="136866" y="109202"/>
                  </a:cubicBezTo>
                  <a:cubicBezTo>
                    <a:pt x="136866" y="76629"/>
                    <a:pt x="129991" y="50990"/>
                    <a:pt x="116245" y="32286"/>
                  </a:cubicBezTo>
                  <a:cubicBezTo>
                    <a:pt x="108449" y="20270"/>
                    <a:pt x="95077" y="13034"/>
                    <a:pt x="80753" y="13080"/>
                  </a:cubicBezTo>
                </a:path>
              </a:pathLst>
            </a:custGeom>
            <a:grpFill/>
            <a:ln w="4553"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AA0948F-C7F0-344B-8FBA-3F08EAAC389D}"/>
                </a:ext>
              </a:extLst>
            </p:cNvPr>
            <p:cNvSpPr/>
            <p:nvPr/>
          </p:nvSpPr>
          <p:spPr>
            <a:xfrm>
              <a:off x="6810341" y="2120137"/>
              <a:ext cx="91651" cy="285083"/>
            </a:xfrm>
            <a:custGeom>
              <a:avLst/>
              <a:gdLst>
                <a:gd name="connsiteX0" fmla="*/ 62637 w 91651"/>
                <a:gd name="connsiteY0" fmla="*/ 0 h 285083"/>
                <a:gd name="connsiteX1" fmla="*/ 62637 w 91651"/>
                <a:gd name="connsiteY1" fmla="*/ 243568 h 285083"/>
                <a:gd name="connsiteX2" fmla="*/ 65055 w 91651"/>
                <a:gd name="connsiteY2" fmla="*/ 266379 h 285083"/>
                <a:gd name="connsiteX3" fmla="*/ 72628 w 91651"/>
                <a:gd name="connsiteY3" fmla="*/ 274910 h 285083"/>
                <a:gd name="connsiteX4" fmla="*/ 91652 w 91651"/>
                <a:gd name="connsiteY4" fmla="*/ 277784 h 285083"/>
                <a:gd name="connsiteX5" fmla="*/ 91652 w 91651"/>
                <a:gd name="connsiteY5" fmla="*/ 285083 h 285083"/>
                <a:gd name="connsiteX6" fmla="*/ 3285 w 91651"/>
                <a:gd name="connsiteY6" fmla="*/ 285083 h 285083"/>
                <a:gd name="connsiteX7" fmla="*/ 3285 w 91651"/>
                <a:gd name="connsiteY7" fmla="*/ 277875 h 285083"/>
                <a:gd name="connsiteX8" fmla="*/ 20301 w 91651"/>
                <a:gd name="connsiteY8" fmla="*/ 275275 h 285083"/>
                <a:gd name="connsiteX9" fmla="*/ 27463 w 91651"/>
                <a:gd name="connsiteY9" fmla="*/ 266698 h 285083"/>
                <a:gd name="connsiteX10" fmla="*/ 30018 w 91651"/>
                <a:gd name="connsiteY10" fmla="*/ 243888 h 285083"/>
                <a:gd name="connsiteX11" fmla="*/ 30018 w 91651"/>
                <a:gd name="connsiteY11" fmla="*/ 76780 h 285083"/>
                <a:gd name="connsiteX12" fmla="*/ 28650 w 91651"/>
                <a:gd name="connsiteY12" fmla="*/ 38823 h 285083"/>
                <a:gd name="connsiteX13" fmla="*/ 24088 w 91651"/>
                <a:gd name="connsiteY13" fmla="*/ 29106 h 285083"/>
                <a:gd name="connsiteX14" fmla="*/ 16332 w 91651"/>
                <a:gd name="connsiteY14" fmla="*/ 26506 h 285083"/>
                <a:gd name="connsiteX15" fmla="*/ 3330 w 91651"/>
                <a:gd name="connsiteY15" fmla="*/ 29745 h 285083"/>
                <a:gd name="connsiteX16" fmla="*/ 0 w 91651"/>
                <a:gd name="connsiteY16" fmla="*/ 22445 h 285083"/>
                <a:gd name="connsiteX17" fmla="*/ 53650 w 91651"/>
                <a:gd name="connsiteY17" fmla="*/ 0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651" h="285083">
                  <a:moveTo>
                    <a:pt x="62637" y="0"/>
                  </a:moveTo>
                  <a:lnTo>
                    <a:pt x="62637" y="243568"/>
                  </a:lnTo>
                  <a:cubicBezTo>
                    <a:pt x="62163" y="251255"/>
                    <a:pt x="62984" y="258965"/>
                    <a:pt x="65055" y="266379"/>
                  </a:cubicBezTo>
                  <a:cubicBezTo>
                    <a:pt x="66570" y="269978"/>
                    <a:pt x="69234" y="272976"/>
                    <a:pt x="72628" y="274910"/>
                  </a:cubicBezTo>
                  <a:cubicBezTo>
                    <a:pt x="78673" y="277287"/>
                    <a:pt x="85174" y="278272"/>
                    <a:pt x="91652" y="277784"/>
                  </a:cubicBezTo>
                  <a:lnTo>
                    <a:pt x="91652" y="285083"/>
                  </a:lnTo>
                  <a:lnTo>
                    <a:pt x="3285" y="285083"/>
                  </a:lnTo>
                  <a:lnTo>
                    <a:pt x="3285" y="277875"/>
                  </a:lnTo>
                  <a:cubicBezTo>
                    <a:pt x="9083" y="278322"/>
                    <a:pt x="14904" y="277433"/>
                    <a:pt x="20301" y="275275"/>
                  </a:cubicBezTo>
                  <a:cubicBezTo>
                    <a:pt x="23567" y="273281"/>
                    <a:pt x="26086" y="270266"/>
                    <a:pt x="27463" y="266698"/>
                  </a:cubicBezTo>
                  <a:cubicBezTo>
                    <a:pt x="29589" y="259294"/>
                    <a:pt x="30452" y="251580"/>
                    <a:pt x="30018" y="243888"/>
                  </a:cubicBezTo>
                  <a:lnTo>
                    <a:pt x="30018" y="76780"/>
                  </a:lnTo>
                  <a:cubicBezTo>
                    <a:pt x="30383" y="64111"/>
                    <a:pt x="29927" y="51433"/>
                    <a:pt x="28650" y="38823"/>
                  </a:cubicBezTo>
                  <a:cubicBezTo>
                    <a:pt x="28234" y="35173"/>
                    <a:pt x="26629" y="31757"/>
                    <a:pt x="24088" y="29106"/>
                  </a:cubicBezTo>
                  <a:cubicBezTo>
                    <a:pt x="21907" y="27322"/>
                    <a:pt x="19147" y="26396"/>
                    <a:pt x="16332" y="26506"/>
                  </a:cubicBezTo>
                  <a:cubicBezTo>
                    <a:pt x="11834" y="26766"/>
                    <a:pt x="7427" y="27865"/>
                    <a:pt x="3330" y="29745"/>
                  </a:cubicBezTo>
                  <a:lnTo>
                    <a:pt x="0" y="22445"/>
                  </a:lnTo>
                  <a:lnTo>
                    <a:pt x="53650" y="0"/>
                  </a:lnTo>
                  <a:close/>
                </a:path>
              </a:pathLst>
            </a:custGeom>
            <a:grpFill/>
            <a:ln w="4553"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ADAAF86-E777-6606-9547-36B0E3A5AB12}"/>
                </a:ext>
              </a:extLst>
            </p:cNvPr>
            <p:cNvSpPr/>
            <p:nvPr/>
          </p:nvSpPr>
          <p:spPr>
            <a:xfrm>
              <a:off x="6921792" y="2120137"/>
              <a:ext cx="91651" cy="285083"/>
            </a:xfrm>
            <a:custGeom>
              <a:avLst/>
              <a:gdLst>
                <a:gd name="connsiteX0" fmla="*/ 62637 w 91651"/>
                <a:gd name="connsiteY0" fmla="*/ 0 h 285083"/>
                <a:gd name="connsiteX1" fmla="*/ 62637 w 91651"/>
                <a:gd name="connsiteY1" fmla="*/ 243568 h 285083"/>
                <a:gd name="connsiteX2" fmla="*/ 65100 w 91651"/>
                <a:gd name="connsiteY2" fmla="*/ 266379 h 285083"/>
                <a:gd name="connsiteX3" fmla="*/ 72628 w 91651"/>
                <a:gd name="connsiteY3" fmla="*/ 274910 h 285083"/>
                <a:gd name="connsiteX4" fmla="*/ 91652 w 91651"/>
                <a:gd name="connsiteY4" fmla="*/ 277784 h 285083"/>
                <a:gd name="connsiteX5" fmla="*/ 91652 w 91651"/>
                <a:gd name="connsiteY5" fmla="*/ 285083 h 285083"/>
                <a:gd name="connsiteX6" fmla="*/ 3285 w 91651"/>
                <a:gd name="connsiteY6" fmla="*/ 285083 h 285083"/>
                <a:gd name="connsiteX7" fmla="*/ 3285 w 91651"/>
                <a:gd name="connsiteY7" fmla="*/ 277875 h 285083"/>
                <a:gd name="connsiteX8" fmla="*/ 20301 w 91651"/>
                <a:gd name="connsiteY8" fmla="*/ 275275 h 285083"/>
                <a:gd name="connsiteX9" fmla="*/ 27463 w 91651"/>
                <a:gd name="connsiteY9" fmla="*/ 266698 h 285083"/>
                <a:gd name="connsiteX10" fmla="*/ 30018 w 91651"/>
                <a:gd name="connsiteY10" fmla="*/ 243888 h 285083"/>
                <a:gd name="connsiteX11" fmla="*/ 30018 w 91651"/>
                <a:gd name="connsiteY11" fmla="*/ 76780 h 285083"/>
                <a:gd name="connsiteX12" fmla="*/ 28650 w 91651"/>
                <a:gd name="connsiteY12" fmla="*/ 38823 h 285083"/>
                <a:gd name="connsiteX13" fmla="*/ 24088 w 91651"/>
                <a:gd name="connsiteY13" fmla="*/ 29106 h 285083"/>
                <a:gd name="connsiteX14" fmla="*/ 16332 w 91651"/>
                <a:gd name="connsiteY14" fmla="*/ 26506 h 285083"/>
                <a:gd name="connsiteX15" fmla="*/ 3376 w 91651"/>
                <a:gd name="connsiteY15" fmla="*/ 29745 h 285083"/>
                <a:gd name="connsiteX16" fmla="*/ 0 w 91651"/>
                <a:gd name="connsiteY16" fmla="*/ 22445 h 285083"/>
                <a:gd name="connsiteX17" fmla="*/ 53650 w 91651"/>
                <a:gd name="connsiteY17" fmla="*/ 0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651" h="285083">
                  <a:moveTo>
                    <a:pt x="62637" y="0"/>
                  </a:moveTo>
                  <a:lnTo>
                    <a:pt x="62637" y="243568"/>
                  </a:lnTo>
                  <a:cubicBezTo>
                    <a:pt x="62149" y="251255"/>
                    <a:pt x="62984" y="258970"/>
                    <a:pt x="65100" y="266379"/>
                  </a:cubicBezTo>
                  <a:cubicBezTo>
                    <a:pt x="66602" y="269974"/>
                    <a:pt x="69247" y="272976"/>
                    <a:pt x="72628" y="274910"/>
                  </a:cubicBezTo>
                  <a:cubicBezTo>
                    <a:pt x="78673" y="277287"/>
                    <a:pt x="85174" y="278272"/>
                    <a:pt x="91652" y="277784"/>
                  </a:cubicBezTo>
                  <a:lnTo>
                    <a:pt x="91652" y="285083"/>
                  </a:lnTo>
                  <a:lnTo>
                    <a:pt x="3285" y="285083"/>
                  </a:lnTo>
                  <a:lnTo>
                    <a:pt x="3285" y="277875"/>
                  </a:lnTo>
                  <a:cubicBezTo>
                    <a:pt x="9083" y="278322"/>
                    <a:pt x="14904" y="277433"/>
                    <a:pt x="20301" y="275275"/>
                  </a:cubicBezTo>
                  <a:cubicBezTo>
                    <a:pt x="23567" y="273281"/>
                    <a:pt x="26086" y="270266"/>
                    <a:pt x="27463" y="266698"/>
                  </a:cubicBezTo>
                  <a:cubicBezTo>
                    <a:pt x="29589" y="259294"/>
                    <a:pt x="30452" y="251580"/>
                    <a:pt x="30018" y="243888"/>
                  </a:cubicBezTo>
                  <a:lnTo>
                    <a:pt x="30018" y="76780"/>
                  </a:lnTo>
                  <a:cubicBezTo>
                    <a:pt x="30383" y="64111"/>
                    <a:pt x="29927" y="51433"/>
                    <a:pt x="28650" y="38823"/>
                  </a:cubicBezTo>
                  <a:cubicBezTo>
                    <a:pt x="28234" y="35173"/>
                    <a:pt x="26629" y="31757"/>
                    <a:pt x="24088" y="29106"/>
                  </a:cubicBezTo>
                  <a:cubicBezTo>
                    <a:pt x="21911" y="27313"/>
                    <a:pt x="19152" y="26387"/>
                    <a:pt x="16332" y="26506"/>
                  </a:cubicBezTo>
                  <a:cubicBezTo>
                    <a:pt x="11848" y="26761"/>
                    <a:pt x="7454" y="27860"/>
                    <a:pt x="3376" y="29745"/>
                  </a:cubicBezTo>
                  <a:lnTo>
                    <a:pt x="0" y="22445"/>
                  </a:lnTo>
                  <a:lnTo>
                    <a:pt x="53650" y="0"/>
                  </a:lnTo>
                  <a:close/>
                </a:path>
              </a:pathLst>
            </a:custGeom>
            <a:grpFill/>
            <a:ln w="4553"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DEE901E-7A41-7C7F-DD7B-9D29A15C4950}"/>
                </a:ext>
              </a:extLst>
            </p:cNvPr>
            <p:cNvSpPr/>
            <p:nvPr/>
          </p:nvSpPr>
          <p:spPr>
            <a:xfrm>
              <a:off x="7036345" y="2216089"/>
              <a:ext cx="151916" cy="194661"/>
            </a:xfrm>
            <a:custGeom>
              <a:avLst/>
              <a:gdLst>
                <a:gd name="connsiteX0" fmla="*/ 27555 w 151916"/>
                <a:gd name="connsiteY0" fmla="*/ 74715 h 194661"/>
                <a:gd name="connsiteX1" fmla="*/ 46989 w 151916"/>
                <a:gd name="connsiteY1" fmla="*/ 138584 h 194661"/>
                <a:gd name="connsiteX2" fmla="*/ 93066 w 151916"/>
                <a:gd name="connsiteY2" fmla="*/ 161759 h 194661"/>
                <a:gd name="connsiteX3" fmla="*/ 123769 w 151916"/>
                <a:gd name="connsiteY3" fmla="*/ 151905 h 194661"/>
                <a:gd name="connsiteX4" fmla="*/ 145621 w 151916"/>
                <a:gd name="connsiteY4" fmla="*/ 117918 h 194661"/>
                <a:gd name="connsiteX5" fmla="*/ 151689 w 151916"/>
                <a:gd name="connsiteY5" fmla="*/ 121932 h 194661"/>
                <a:gd name="connsiteX6" fmla="*/ 127783 w 151916"/>
                <a:gd name="connsiteY6" fmla="*/ 172115 h 194661"/>
                <a:gd name="connsiteX7" fmla="*/ 78194 w 151916"/>
                <a:gd name="connsiteY7" fmla="*/ 194652 h 194661"/>
                <a:gd name="connsiteX8" fmla="*/ 22810 w 151916"/>
                <a:gd name="connsiteY8" fmla="*/ 168922 h 194661"/>
                <a:gd name="connsiteX9" fmla="*/ 0 w 151916"/>
                <a:gd name="connsiteY9" fmla="*/ 99715 h 194661"/>
                <a:gd name="connsiteX10" fmla="*/ 23631 w 151916"/>
                <a:gd name="connsiteY10" fmla="*/ 26357 h 194661"/>
                <a:gd name="connsiteX11" fmla="*/ 82938 w 151916"/>
                <a:gd name="connsiteY11" fmla="*/ 34 h 194661"/>
                <a:gd name="connsiteX12" fmla="*/ 132528 w 151916"/>
                <a:gd name="connsiteY12" fmla="*/ 20335 h 194661"/>
                <a:gd name="connsiteX13" fmla="*/ 151917 w 151916"/>
                <a:gd name="connsiteY13" fmla="*/ 74669 h 194661"/>
                <a:gd name="connsiteX14" fmla="*/ 27555 w 151916"/>
                <a:gd name="connsiteY14" fmla="*/ 63173 h 194661"/>
                <a:gd name="connsiteX15" fmla="*/ 111177 w 151916"/>
                <a:gd name="connsiteY15" fmla="*/ 63173 h 194661"/>
                <a:gd name="connsiteX16" fmla="*/ 107026 w 151916"/>
                <a:gd name="connsiteY16" fmla="*/ 38401 h 194661"/>
                <a:gd name="connsiteX17" fmla="*/ 92382 w 151916"/>
                <a:gd name="connsiteY17" fmla="*/ 20791 h 194661"/>
                <a:gd name="connsiteX18" fmla="*/ 72035 w 151916"/>
                <a:gd name="connsiteY18" fmla="*/ 14405 h 194661"/>
                <a:gd name="connsiteX19" fmla="*/ 42838 w 151916"/>
                <a:gd name="connsiteY19" fmla="*/ 27315 h 194661"/>
                <a:gd name="connsiteX20" fmla="*/ 27783 w 151916"/>
                <a:gd name="connsiteY20" fmla="*/ 63173 h 194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916" h="194661">
                  <a:moveTo>
                    <a:pt x="27555" y="74715"/>
                  </a:moveTo>
                  <a:cubicBezTo>
                    <a:pt x="27555" y="101905"/>
                    <a:pt x="34033" y="123196"/>
                    <a:pt x="46989" y="138584"/>
                  </a:cubicBezTo>
                  <a:cubicBezTo>
                    <a:pt x="59946" y="153972"/>
                    <a:pt x="75306" y="161700"/>
                    <a:pt x="93066" y="161759"/>
                  </a:cubicBezTo>
                  <a:cubicBezTo>
                    <a:pt x="104111" y="161992"/>
                    <a:pt x="114918" y="158520"/>
                    <a:pt x="123769" y="151905"/>
                  </a:cubicBezTo>
                  <a:cubicBezTo>
                    <a:pt x="132436" y="145336"/>
                    <a:pt x="139722" y="134008"/>
                    <a:pt x="145621" y="117918"/>
                  </a:cubicBezTo>
                  <a:lnTo>
                    <a:pt x="151689" y="121932"/>
                  </a:lnTo>
                  <a:cubicBezTo>
                    <a:pt x="148837" y="140651"/>
                    <a:pt x="140521" y="158110"/>
                    <a:pt x="127783" y="172115"/>
                  </a:cubicBezTo>
                  <a:cubicBezTo>
                    <a:pt x="115489" y="186709"/>
                    <a:pt x="97272" y="194989"/>
                    <a:pt x="78194" y="194652"/>
                  </a:cubicBezTo>
                  <a:cubicBezTo>
                    <a:pt x="56825" y="194743"/>
                    <a:pt x="36524" y="185313"/>
                    <a:pt x="22810" y="168922"/>
                  </a:cubicBezTo>
                  <a:cubicBezTo>
                    <a:pt x="7605" y="151768"/>
                    <a:pt x="0" y="128698"/>
                    <a:pt x="0" y="99715"/>
                  </a:cubicBezTo>
                  <a:cubicBezTo>
                    <a:pt x="0" y="68360"/>
                    <a:pt x="7879" y="43908"/>
                    <a:pt x="23631" y="26357"/>
                  </a:cubicBezTo>
                  <a:cubicBezTo>
                    <a:pt x="38495" y="9186"/>
                    <a:pt x="60237" y="-463"/>
                    <a:pt x="82938" y="34"/>
                  </a:cubicBezTo>
                  <a:cubicBezTo>
                    <a:pt x="101606" y="-568"/>
                    <a:pt x="119640" y="6818"/>
                    <a:pt x="132528" y="20335"/>
                  </a:cubicBezTo>
                  <a:cubicBezTo>
                    <a:pt x="145452" y="33898"/>
                    <a:pt x="151917" y="52010"/>
                    <a:pt x="151917" y="74669"/>
                  </a:cubicBezTo>
                  <a:close/>
                  <a:moveTo>
                    <a:pt x="27555" y="63173"/>
                  </a:moveTo>
                  <a:lnTo>
                    <a:pt x="111177" y="63173"/>
                  </a:lnTo>
                  <a:cubicBezTo>
                    <a:pt x="111127" y="54747"/>
                    <a:pt x="109727" y="46385"/>
                    <a:pt x="107026" y="38401"/>
                  </a:cubicBezTo>
                  <a:cubicBezTo>
                    <a:pt x="104010" y="31202"/>
                    <a:pt x="98910" y="25071"/>
                    <a:pt x="92382" y="20791"/>
                  </a:cubicBezTo>
                  <a:cubicBezTo>
                    <a:pt x="86387" y="16686"/>
                    <a:pt x="79302" y="14459"/>
                    <a:pt x="72035" y="14405"/>
                  </a:cubicBezTo>
                  <a:cubicBezTo>
                    <a:pt x="60935" y="14491"/>
                    <a:pt x="50370" y="19167"/>
                    <a:pt x="42838" y="27315"/>
                  </a:cubicBezTo>
                  <a:cubicBezTo>
                    <a:pt x="33727" y="37105"/>
                    <a:pt x="28394" y="49815"/>
                    <a:pt x="27783" y="63173"/>
                  </a:cubicBezTo>
                </a:path>
              </a:pathLst>
            </a:custGeom>
            <a:grpFill/>
            <a:ln w="4553"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1F4C010-6487-1B56-B492-F585DC2F0D68}"/>
                </a:ext>
              </a:extLst>
            </p:cNvPr>
            <p:cNvSpPr/>
            <p:nvPr/>
          </p:nvSpPr>
          <p:spPr>
            <a:xfrm>
              <a:off x="7211391" y="2216256"/>
              <a:ext cx="181796" cy="277621"/>
            </a:xfrm>
            <a:custGeom>
              <a:avLst/>
              <a:gdLst>
                <a:gd name="connsiteX0" fmla="*/ 48586 w 181796"/>
                <a:gd name="connsiteY0" fmla="*/ 121948 h 277621"/>
                <a:gd name="connsiteX1" fmla="*/ 23312 w 181796"/>
                <a:gd name="connsiteY1" fmla="*/ 99137 h 277621"/>
                <a:gd name="connsiteX2" fmla="*/ 14507 w 181796"/>
                <a:gd name="connsiteY2" fmla="*/ 66564 h 277621"/>
                <a:gd name="connsiteX3" fmla="*/ 34626 w 181796"/>
                <a:gd name="connsiteY3" fmla="*/ 19666 h 277621"/>
                <a:gd name="connsiteX4" fmla="*/ 86132 w 181796"/>
                <a:gd name="connsiteY4" fmla="*/ 50 h 277621"/>
                <a:gd name="connsiteX5" fmla="*/ 130657 w 181796"/>
                <a:gd name="connsiteY5" fmla="*/ 12869 h 277621"/>
                <a:gd name="connsiteX6" fmla="*/ 168796 w 181796"/>
                <a:gd name="connsiteY6" fmla="*/ 12869 h 277621"/>
                <a:gd name="connsiteX7" fmla="*/ 178605 w 181796"/>
                <a:gd name="connsiteY7" fmla="*/ 13371 h 277621"/>
                <a:gd name="connsiteX8" fmla="*/ 180566 w 181796"/>
                <a:gd name="connsiteY8" fmla="*/ 15059 h 277621"/>
                <a:gd name="connsiteX9" fmla="*/ 181753 w 181796"/>
                <a:gd name="connsiteY9" fmla="*/ 21445 h 277621"/>
                <a:gd name="connsiteX10" fmla="*/ 180749 w 181796"/>
                <a:gd name="connsiteY10" fmla="*/ 28654 h 277621"/>
                <a:gd name="connsiteX11" fmla="*/ 178696 w 181796"/>
                <a:gd name="connsiteY11" fmla="*/ 30250 h 277621"/>
                <a:gd name="connsiteX12" fmla="*/ 168705 w 181796"/>
                <a:gd name="connsiteY12" fmla="*/ 30843 h 277621"/>
                <a:gd name="connsiteX13" fmla="*/ 145302 w 181796"/>
                <a:gd name="connsiteY13" fmla="*/ 30843 h 277621"/>
                <a:gd name="connsiteX14" fmla="*/ 156251 w 181796"/>
                <a:gd name="connsiteY14" fmla="*/ 67796 h 277621"/>
                <a:gd name="connsiteX15" fmla="*/ 137044 w 181796"/>
                <a:gd name="connsiteY15" fmla="*/ 111774 h 277621"/>
                <a:gd name="connsiteX16" fmla="*/ 85539 w 181796"/>
                <a:gd name="connsiteY16" fmla="*/ 130022 h 277621"/>
                <a:gd name="connsiteX17" fmla="*/ 58166 w 181796"/>
                <a:gd name="connsiteY17" fmla="*/ 125917 h 277621"/>
                <a:gd name="connsiteX18" fmla="*/ 46533 w 181796"/>
                <a:gd name="connsiteY18" fmla="*/ 139238 h 277621"/>
                <a:gd name="connsiteX19" fmla="*/ 43522 w 181796"/>
                <a:gd name="connsiteY19" fmla="*/ 148955 h 277621"/>
                <a:gd name="connsiteX20" fmla="*/ 46715 w 181796"/>
                <a:gd name="connsiteY20" fmla="*/ 155570 h 277621"/>
                <a:gd name="connsiteX21" fmla="*/ 59352 w 181796"/>
                <a:gd name="connsiteY21" fmla="*/ 160132 h 277621"/>
                <a:gd name="connsiteX22" fmla="*/ 86725 w 181796"/>
                <a:gd name="connsiteY22" fmla="*/ 161546 h 277621"/>
                <a:gd name="connsiteX23" fmla="*/ 138960 w 181796"/>
                <a:gd name="connsiteY23" fmla="*/ 164421 h 277621"/>
                <a:gd name="connsiteX24" fmla="*/ 168021 w 181796"/>
                <a:gd name="connsiteY24" fmla="*/ 178107 h 277621"/>
                <a:gd name="connsiteX25" fmla="*/ 178879 w 181796"/>
                <a:gd name="connsiteY25" fmla="*/ 205799 h 277621"/>
                <a:gd name="connsiteX26" fmla="*/ 158167 w 181796"/>
                <a:gd name="connsiteY26" fmla="*/ 248317 h 277621"/>
                <a:gd name="connsiteX27" fmla="*/ 78559 w 181796"/>
                <a:gd name="connsiteY27" fmla="*/ 277560 h 277621"/>
                <a:gd name="connsiteX28" fmla="*/ 14690 w 181796"/>
                <a:gd name="connsiteY28" fmla="*/ 260087 h 277621"/>
                <a:gd name="connsiteX29" fmla="*/ 0 w 181796"/>
                <a:gd name="connsiteY29" fmla="*/ 239193 h 277621"/>
                <a:gd name="connsiteX30" fmla="*/ 2144 w 181796"/>
                <a:gd name="connsiteY30" fmla="*/ 229567 h 277621"/>
                <a:gd name="connsiteX31" fmla="*/ 15830 w 181796"/>
                <a:gd name="connsiteY31" fmla="*/ 208901 h 277621"/>
                <a:gd name="connsiteX32" fmla="*/ 35767 w 181796"/>
                <a:gd name="connsiteY32" fmla="*/ 187185 h 277621"/>
                <a:gd name="connsiteX33" fmla="*/ 21350 w 181796"/>
                <a:gd name="connsiteY33" fmla="*/ 176054 h 277621"/>
                <a:gd name="connsiteX34" fmla="*/ 17108 w 181796"/>
                <a:gd name="connsiteY34" fmla="*/ 164922 h 277621"/>
                <a:gd name="connsiteX35" fmla="*/ 22719 w 181796"/>
                <a:gd name="connsiteY35" fmla="*/ 148499 h 277621"/>
                <a:gd name="connsiteX36" fmla="*/ 48495 w 181796"/>
                <a:gd name="connsiteY36" fmla="*/ 121811 h 277621"/>
                <a:gd name="connsiteX37" fmla="*/ 46533 w 181796"/>
                <a:gd name="connsiteY37" fmla="*/ 188827 h 277621"/>
                <a:gd name="connsiteX38" fmla="*/ 32847 w 181796"/>
                <a:gd name="connsiteY38" fmla="*/ 207851 h 277621"/>
                <a:gd name="connsiteX39" fmla="*/ 28285 w 181796"/>
                <a:gd name="connsiteY39" fmla="*/ 224092 h 277621"/>
                <a:gd name="connsiteX40" fmla="*/ 39644 w 181796"/>
                <a:gd name="connsiteY40" fmla="*/ 240972 h 277621"/>
                <a:gd name="connsiteX41" fmla="*/ 96214 w 181796"/>
                <a:gd name="connsiteY41" fmla="*/ 253381 h 277621"/>
                <a:gd name="connsiteX42" fmla="*/ 148176 w 181796"/>
                <a:gd name="connsiteY42" fmla="*/ 240652 h 277621"/>
                <a:gd name="connsiteX43" fmla="*/ 164919 w 181796"/>
                <a:gd name="connsiteY43" fmla="*/ 213554 h 277621"/>
                <a:gd name="connsiteX44" fmla="*/ 154928 w 181796"/>
                <a:gd name="connsiteY44" fmla="*/ 198727 h 277621"/>
                <a:gd name="connsiteX45" fmla="*/ 114553 w 181796"/>
                <a:gd name="connsiteY45" fmla="*/ 193527 h 277621"/>
                <a:gd name="connsiteX46" fmla="*/ 46807 w 181796"/>
                <a:gd name="connsiteY46" fmla="*/ 188964 h 277621"/>
                <a:gd name="connsiteX47" fmla="*/ 82893 w 181796"/>
                <a:gd name="connsiteY47" fmla="*/ 9539 h 277621"/>
                <a:gd name="connsiteX48" fmla="*/ 58531 w 181796"/>
                <a:gd name="connsiteY48" fmla="*/ 21354 h 277621"/>
                <a:gd name="connsiteX49" fmla="*/ 48723 w 181796"/>
                <a:gd name="connsiteY49" fmla="*/ 57577 h 277621"/>
                <a:gd name="connsiteX50" fmla="*/ 62090 w 181796"/>
                <a:gd name="connsiteY50" fmla="*/ 106665 h 277621"/>
                <a:gd name="connsiteX51" fmla="*/ 87957 w 181796"/>
                <a:gd name="connsiteY51" fmla="*/ 119895 h 277621"/>
                <a:gd name="connsiteX52" fmla="*/ 112455 w 181796"/>
                <a:gd name="connsiteY52" fmla="*/ 108444 h 277621"/>
                <a:gd name="connsiteX53" fmla="*/ 122081 w 181796"/>
                <a:gd name="connsiteY53" fmla="*/ 72586 h 277621"/>
                <a:gd name="connsiteX54" fmla="*/ 108395 w 181796"/>
                <a:gd name="connsiteY54" fmla="*/ 22768 h 277621"/>
                <a:gd name="connsiteX55" fmla="*/ 82756 w 181796"/>
                <a:gd name="connsiteY55" fmla="*/ 9539 h 27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81796" h="277621">
                  <a:moveTo>
                    <a:pt x="48586" y="121948"/>
                  </a:moveTo>
                  <a:cubicBezTo>
                    <a:pt x="38134" y="116948"/>
                    <a:pt x="29357" y="109023"/>
                    <a:pt x="23312" y="99137"/>
                  </a:cubicBezTo>
                  <a:cubicBezTo>
                    <a:pt x="17432" y="89297"/>
                    <a:pt x="14389" y="78024"/>
                    <a:pt x="14507" y="66564"/>
                  </a:cubicBezTo>
                  <a:cubicBezTo>
                    <a:pt x="14334" y="48800"/>
                    <a:pt x="21633" y="31783"/>
                    <a:pt x="34626" y="19666"/>
                  </a:cubicBezTo>
                  <a:cubicBezTo>
                    <a:pt x="48422" y="6414"/>
                    <a:pt x="67012" y="-667"/>
                    <a:pt x="86132" y="50"/>
                  </a:cubicBezTo>
                  <a:cubicBezTo>
                    <a:pt x="101935" y="-316"/>
                    <a:pt x="117469" y="4160"/>
                    <a:pt x="130657" y="12869"/>
                  </a:cubicBezTo>
                  <a:lnTo>
                    <a:pt x="168796" y="12869"/>
                  </a:lnTo>
                  <a:cubicBezTo>
                    <a:pt x="172076" y="12714"/>
                    <a:pt x="175361" y="12883"/>
                    <a:pt x="178605" y="13371"/>
                  </a:cubicBezTo>
                  <a:cubicBezTo>
                    <a:pt x="179462" y="13640"/>
                    <a:pt x="180169" y="14251"/>
                    <a:pt x="180566" y="15059"/>
                  </a:cubicBezTo>
                  <a:cubicBezTo>
                    <a:pt x="181515" y="17048"/>
                    <a:pt x="181921" y="19251"/>
                    <a:pt x="181753" y="21445"/>
                  </a:cubicBezTo>
                  <a:cubicBezTo>
                    <a:pt x="181926" y="23891"/>
                    <a:pt x="181584" y="26345"/>
                    <a:pt x="180749" y="28654"/>
                  </a:cubicBezTo>
                  <a:cubicBezTo>
                    <a:pt x="180261" y="29397"/>
                    <a:pt x="179540" y="29958"/>
                    <a:pt x="178696" y="30250"/>
                  </a:cubicBezTo>
                  <a:cubicBezTo>
                    <a:pt x="175402" y="30834"/>
                    <a:pt x="172049" y="31035"/>
                    <a:pt x="168705" y="30843"/>
                  </a:cubicBezTo>
                  <a:lnTo>
                    <a:pt x="145302" y="30843"/>
                  </a:lnTo>
                  <a:cubicBezTo>
                    <a:pt x="152961" y="41601"/>
                    <a:pt x="156816" y="54603"/>
                    <a:pt x="156251" y="67796"/>
                  </a:cubicBezTo>
                  <a:cubicBezTo>
                    <a:pt x="156442" y="84530"/>
                    <a:pt x="149448" y="100543"/>
                    <a:pt x="137044" y="111774"/>
                  </a:cubicBezTo>
                  <a:cubicBezTo>
                    <a:pt x="124271" y="123941"/>
                    <a:pt x="107103" y="130022"/>
                    <a:pt x="85539" y="130022"/>
                  </a:cubicBezTo>
                  <a:cubicBezTo>
                    <a:pt x="76264" y="129986"/>
                    <a:pt x="67044" y="128604"/>
                    <a:pt x="58166" y="125917"/>
                  </a:cubicBezTo>
                  <a:cubicBezTo>
                    <a:pt x="53559" y="129662"/>
                    <a:pt x="49622" y="134165"/>
                    <a:pt x="46533" y="139238"/>
                  </a:cubicBezTo>
                  <a:cubicBezTo>
                    <a:pt x="44772" y="142190"/>
                    <a:pt x="43741" y="145524"/>
                    <a:pt x="43522" y="148955"/>
                  </a:cubicBezTo>
                  <a:cubicBezTo>
                    <a:pt x="43641" y="151505"/>
                    <a:pt x="44795" y="153891"/>
                    <a:pt x="46715" y="155570"/>
                  </a:cubicBezTo>
                  <a:cubicBezTo>
                    <a:pt x="50397" y="158284"/>
                    <a:pt x="54786" y="159872"/>
                    <a:pt x="59352" y="160132"/>
                  </a:cubicBezTo>
                  <a:cubicBezTo>
                    <a:pt x="63002" y="160680"/>
                    <a:pt x="72126" y="161149"/>
                    <a:pt x="86725" y="161546"/>
                  </a:cubicBezTo>
                  <a:cubicBezTo>
                    <a:pt x="113609" y="162245"/>
                    <a:pt x="131022" y="163202"/>
                    <a:pt x="138960" y="164421"/>
                  </a:cubicBezTo>
                  <a:cubicBezTo>
                    <a:pt x="149918" y="165547"/>
                    <a:pt x="160169" y="170374"/>
                    <a:pt x="168021" y="178107"/>
                  </a:cubicBezTo>
                  <a:cubicBezTo>
                    <a:pt x="175233" y="185488"/>
                    <a:pt x="179152" y="195479"/>
                    <a:pt x="178879" y="205799"/>
                  </a:cubicBezTo>
                  <a:cubicBezTo>
                    <a:pt x="178879" y="221004"/>
                    <a:pt x="171976" y="235178"/>
                    <a:pt x="158167" y="248317"/>
                  </a:cubicBezTo>
                  <a:cubicBezTo>
                    <a:pt x="137879" y="267810"/>
                    <a:pt x="111346" y="277560"/>
                    <a:pt x="78559" y="277560"/>
                  </a:cubicBezTo>
                  <a:cubicBezTo>
                    <a:pt x="55995" y="278312"/>
                    <a:pt x="33727" y="272222"/>
                    <a:pt x="14690" y="260087"/>
                  </a:cubicBezTo>
                  <a:cubicBezTo>
                    <a:pt x="4881" y="253381"/>
                    <a:pt x="0" y="246401"/>
                    <a:pt x="0" y="239193"/>
                  </a:cubicBezTo>
                  <a:cubicBezTo>
                    <a:pt x="14" y="235867"/>
                    <a:pt x="748" y="232582"/>
                    <a:pt x="2144" y="229567"/>
                  </a:cubicBezTo>
                  <a:cubicBezTo>
                    <a:pt x="5899" y="222176"/>
                    <a:pt x="10493" y="215242"/>
                    <a:pt x="15830" y="208901"/>
                  </a:cubicBezTo>
                  <a:cubicBezTo>
                    <a:pt x="16743" y="207669"/>
                    <a:pt x="23358" y="200461"/>
                    <a:pt x="35767" y="187185"/>
                  </a:cubicBezTo>
                  <a:cubicBezTo>
                    <a:pt x="30424" y="184224"/>
                    <a:pt x="25566" y="180474"/>
                    <a:pt x="21350" y="176054"/>
                  </a:cubicBezTo>
                  <a:cubicBezTo>
                    <a:pt x="18600" y="173002"/>
                    <a:pt x="17089" y="169033"/>
                    <a:pt x="17108" y="164922"/>
                  </a:cubicBezTo>
                  <a:cubicBezTo>
                    <a:pt x="17496" y="159046"/>
                    <a:pt x="19434" y="153380"/>
                    <a:pt x="22719" y="148499"/>
                  </a:cubicBezTo>
                  <a:cubicBezTo>
                    <a:pt x="26414" y="142203"/>
                    <a:pt x="35037" y="133307"/>
                    <a:pt x="48495" y="121811"/>
                  </a:cubicBezTo>
                  <a:moveTo>
                    <a:pt x="46533" y="188827"/>
                  </a:moveTo>
                  <a:cubicBezTo>
                    <a:pt x="41223" y="194594"/>
                    <a:pt x="36624" y="200981"/>
                    <a:pt x="32847" y="207851"/>
                  </a:cubicBezTo>
                  <a:cubicBezTo>
                    <a:pt x="30037" y="212815"/>
                    <a:pt x="28472" y="218390"/>
                    <a:pt x="28285" y="224092"/>
                  </a:cubicBezTo>
                  <a:cubicBezTo>
                    <a:pt x="28285" y="230538"/>
                    <a:pt x="32071" y="236168"/>
                    <a:pt x="39644" y="240972"/>
                  </a:cubicBezTo>
                  <a:cubicBezTo>
                    <a:pt x="52692" y="249243"/>
                    <a:pt x="71547" y="253381"/>
                    <a:pt x="96214" y="253381"/>
                  </a:cubicBezTo>
                  <a:cubicBezTo>
                    <a:pt x="119722" y="253381"/>
                    <a:pt x="137044" y="249138"/>
                    <a:pt x="148176" y="240652"/>
                  </a:cubicBezTo>
                  <a:cubicBezTo>
                    <a:pt x="159353" y="232213"/>
                    <a:pt x="164919" y="223134"/>
                    <a:pt x="164919" y="213554"/>
                  </a:cubicBezTo>
                  <a:cubicBezTo>
                    <a:pt x="165170" y="206962"/>
                    <a:pt x="161132" y="200967"/>
                    <a:pt x="154928" y="198727"/>
                  </a:cubicBezTo>
                  <a:cubicBezTo>
                    <a:pt x="148116" y="195684"/>
                    <a:pt x="134658" y="193951"/>
                    <a:pt x="114553" y="193527"/>
                  </a:cubicBezTo>
                  <a:cubicBezTo>
                    <a:pt x="91907" y="193230"/>
                    <a:pt x="69289" y="191706"/>
                    <a:pt x="46807" y="188964"/>
                  </a:cubicBezTo>
                  <a:moveTo>
                    <a:pt x="82893" y="9539"/>
                  </a:moveTo>
                  <a:cubicBezTo>
                    <a:pt x="73372" y="9447"/>
                    <a:pt x="64357" y="13822"/>
                    <a:pt x="58531" y="21354"/>
                  </a:cubicBezTo>
                  <a:cubicBezTo>
                    <a:pt x="52008" y="29247"/>
                    <a:pt x="48723" y="41290"/>
                    <a:pt x="48723" y="57577"/>
                  </a:cubicBezTo>
                  <a:cubicBezTo>
                    <a:pt x="48723" y="78713"/>
                    <a:pt x="53180" y="95077"/>
                    <a:pt x="62090" y="106665"/>
                  </a:cubicBezTo>
                  <a:cubicBezTo>
                    <a:pt x="68029" y="115041"/>
                    <a:pt x="77687" y="119981"/>
                    <a:pt x="87957" y="119895"/>
                  </a:cubicBezTo>
                  <a:cubicBezTo>
                    <a:pt x="97459" y="120096"/>
                    <a:pt x="106515" y="115862"/>
                    <a:pt x="112455" y="108444"/>
                  </a:cubicBezTo>
                  <a:cubicBezTo>
                    <a:pt x="118874" y="100871"/>
                    <a:pt x="122081" y="88918"/>
                    <a:pt x="122081" y="72586"/>
                  </a:cubicBezTo>
                  <a:cubicBezTo>
                    <a:pt x="122081" y="51295"/>
                    <a:pt x="117519" y="34689"/>
                    <a:pt x="108395" y="22768"/>
                  </a:cubicBezTo>
                  <a:cubicBezTo>
                    <a:pt x="102583" y="14370"/>
                    <a:pt x="92970" y="9406"/>
                    <a:pt x="82756" y="9539"/>
                  </a:cubicBezTo>
                </a:path>
              </a:pathLst>
            </a:custGeom>
            <a:grpFill/>
            <a:ln w="4553"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A188572-6908-5846-7F7A-EA9130A2071E}"/>
                </a:ext>
              </a:extLst>
            </p:cNvPr>
            <p:cNvSpPr/>
            <p:nvPr/>
          </p:nvSpPr>
          <p:spPr>
            <a:xfrm>
              <a:off x="7414996" y="2216089"/>
              <a:ext cx="151916" cy="194662"/>
            </a:xfrm>
            <a:custGeom>
              <a:avLst/>
              <a:gdLst>
                <a:gd name="connsiteX0" fmla="*/ 27600 w 151916"/>
                <a:gd name="connsiteY0" fmla="*/ 74715 h 194662"/>
                <a:gd name="connsiteX1" fmla="*/ 46989 w 151916"/>
                <a:gd name="connsiteY1" fmla="*/ 138584 h 194662"/>
                <a:gd name="connsiteX2" fmla="*/ 93066 w 151916"/>
                <a:gd name="connsiteY2" fmla="*/ 161759 h 194662"/>
                <a:gd name="connsiteX3" fmla="*/ 123769 w 151916"/>
                <a:gd name="connsiteY3" fmla="*/ 151905 h 194662"/>
                <a:gd name="connsiteX4" fmla="*/ 145621 w 151916"/>
                <a:gd name="connsiteY4" fmla="*/ 117918 h 194662"/>
                <a:gd name="connsiteX5" fmla="*/ 151689 w 151916"/>
                <a:gd name="connsiteY5" fmla="*/ 121932 h 194662"/>
                <a:gd name="connsiteX6" fmla="*/ 127783 w 151916"/>
                <a:gd name="connsiteY6" fmla="*/ 172115 h 194662"/>
                <a:gd name="connsiteX7" fmla="*/ 78194 w 151916"/>
                <a:gd name="connsiteY7" fmla="*/ 194652 h 194662"/>
                <a:gd name="connsiteX8" fmla="*/ 22810 w 151916"/>
                <a:gd name="connsiteY8" fmla="*/ 168922 h 194662"/>
                <a:gd name="connsiteX9" fmla="*/ 0 w 151916"/>
                <a:gd name="connsiteY9" fmla="*/ 99715 h 194662"/>
                <a:gd name="connsiteX10" fmla="*/ 23631 w 151916"/>
                <a:gd name="connsiteY10" fmla="*/ 26357 h 194662"/>
                <a:gd name="connsiteX11" fmla="*/ 82938 w 151916"/>
                <a:gd name="connsiteY11" fmla="*/ 34 h 194662"/>
                <a:gd name="connsiteX12" fmla="*/ 132528 w 151916"/>
                <a:gd name="connsiteY12" fmla="*/ 20335 h 194662"/>
                <a:gd name="connsiteX13" fmla="*/ 151917 w 151916"/>
                <a:gd name="connsiteY13" fmla="*/ 74669 h 194662"/>
                <a:gd name="connsiteX14" fmla="*/ 27600 w 151916"/>
                <a:gd name="connsiteY14" fmla="*/ 63173 h 194662"/>
                <a:gd name="connsiteX15" fmla="*/ 111177 w 151916"/>
                <a:gd name="connsiteY15" fmla="*/ 63173 h 194662"/>
                <a:gd name="connsiteX16" fmla="*/ 107071 w 151916"/>
                <a:gd name="connsiteY16" fmla="*/ 38401 h 194662"/>
                <a:gd name="connsiteX17" fmla="*/ 92382 w 151916"/>
                <a:gd name="connsiteY17" fmla="*/ 20791 h 194662"/>
                <a:gd name="connsiteX18" fmla="*/ 72035 w 151916"/>
                <a:gd name="connsiteY18" fmla="*/ 14405 h 194662"/>
                <a:gd name="connsiteX19" fmla="*/ 42838 w 151916"/>
                <a:gd name="connsiteY19" fmla="*/ 27315 h 194662"/>
                <a:gd name="connsiteX20" fmla="*/ 27828 w 151916"/>
                <a:gd name="connsiteY20" fmla="*/ 63173 h 19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916" h="194662">
                  <a:moveTo>
                    <a:pt x="27600" y="74715"/>
                  </a:moveTo>
                  <a:cubicBezTo>
                    <a:pt x="27600" y="101905"/>
                    <a:pt x="34065" y="123196"/>
                    <a:pt x="46989" y="138584"/>
                  </a:cubicBezTo>
                  <a:cubicBezTo>
                    <a:pt x="59914" y="153972"/>
                    <a:pt x="75274" y="161700"/>
                    <a:pt x="93066" y="161759"/>
                  </a:cubicBezTo>
                  <a:cubicBezTo>
                    <a:pt x="104111" y="161992"/>
                    <a:pt x="114918" y="158520"/>
                    <a:pt x="123769" y="151905"/>
                  </a:cubicBezTo>
                  <a:cubicBezTo>
                    <a:pt x="132436" y="145336"/>
                    <a:pt x="139722" y="134008"/>
                    <a:pt x="145621" y="117918"/>
                  </a:cubicBezTo>
                  <a:lnTo>
                    <a:pt x="151689" y="121932"/>
                  </a:lnTo>
                  <a:cubicBezTo>
                    <a:pt x="148837" y="140651"/>
                    <a:pt x="140521" y="158110"/>
                    <a:pt x="127783" y="172115"/>
                  </a:cubicBezTo>
                  <a:cubicBezTo>
                    <a:pt x="115493" y="186718"/>
                    <a:pt x="97277" y="194999"/>
                    <a:pt x="78194" y="194652"/>
                  </a:cubicBezTo>
                  <a:cubicBezTo>
                    <a:pt x="56825" y="194743"/>
                    <a:pt x="36524" y="185313"/>
                    <a:pt x="22810" y="168922"/>
                  </a:cubicBezTo>
                  <a:cubicBezTo>
                    <a:pt x="7605" y="151768"/>
                    <a:pt x="0" y="128698"/>
                    <a:pt x="0" y="99715"/>
                  </a:cubicBezTo>
                  <a:cubicBezTo>
                    <a:pt x="0" y="68360"/>
                    <a:pt x="7879" y="43908"/>
                    <a:pt x="23631" y="26357"/>
                  </a:cubicBezTo>
                  <a:cubicBezTo>
                    <a:pt x="38495" y="9195"/>
                    <a:pt x="60237" y="-459"/>
                    <a:pt x="82938" y="34"/>
                  </a:cubicBezTo>
                  <a:cubicBezTo>
                    <a:pt x="101606" y="-568"/>
                    <a:pt x="119640" y="6818"/>
                    <a:pt x="132528" y="20335"/>
                  </a:cubicBezTo>
                  <a:cubicBezTo>
                    <a:pt x="145452" y="33898"/>
                    <a:pt x="151917" y="52010"/>
                    <a:pt x="151917" y="74669"/>
                  </a:cubicBezTo>
                  <a:close/>
                  <a:moveTo>
                    <a:pt x="27600" y="63173"/>
                  </a:moveTo>
                  <a:lnTo>
                    <a:pt x="111177" y="63173"/>
                  </a:lnTo>
                  <a:cubicBezTo>
                    <a:pt x="111114" y="54751"/>
                    <a:pt x="109731" y="46394"/>
                    <a:pt x="107071" y="38401"/>
                  </a:cubicBezTo>
                  <a:cubicBezTo>
                    <a:pt x="104024" y="31207"/>
                    <a:pt x="98910" y="25080"/>
                    <a:pt x="92382" y="20791"/>
                  </a:cubicBezTo>
                  <a:cubicBezTo>
                    <a:pt x="86387" y="16686"/>
                    <a:pt x="79302" y="14459"/>
                    <a:pt x="72035" y="14405"/>
                  </a:cubicBezTo>
                  <a:cubicBezTo>
                    <a:pt x="60935" y="14491"/>
                    <a:pt x="50370" y="19167"/>
                    <a:pt x="42838" y="27315"/>
                  </a:cubicBezTo>
                  <a:cubicBezTo>
                    <a:pt x="33727" y="37101"/>
                    <a:pt x="28403" y="49815"/>
                    <a:pt x="27828" y="63173"/>
                  </a:cubicBezTo>
                </a:path>
              </a:pathLst>
            </a:custGeom>
            <a:grpFill/>
            <a:ln w="4553" cap="flat">
              <a:noFill/>
              <a:prstDash val="solid"/>
              <a:miter/>
            </a:ln>
          </p:spPr>
          <p:txBody>
            <a:bodyPr rtlCol="0" anchor="ctr"/>
            <a:lstStyle/>
            <a:p>
              <a:endParaRPr 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F12353-C8F8-4FBB-1FE0-D5E9B6FD8F83}"/>
              </a:ext>
            </a:extLst>
          </p:cNvPr>
          <p:cNvSpPr>
            <a:spLocks noGrp="1"/>
          </p:cNvSpPr>
          <p:nvPr>
            <p:ph idx="1"/>
          </p:nvPr>
        </p:nvSpPr>
        <p:spPr>
          <a:xfrm>
            <a:off x="372533" y="430306"/>
            <a:ext cx="8387645" cy="6117249"/>
          </a:xfrm>
        </p:spPr>
        <p:txBody>
          <a:bodyPr/>
          <a:lstStyle/>
          <a:p>
            <a:r>
              <a:rPr lang="en-US" dirty="0"/>
              <a:t>Math in review</a:t>
            </a:r>
          </a:p>
          <a:p>
            <a:r>
              <a:rPr lang="en-US" dirty="0"/>
              <a:t>(Measured) Quantities</a:t>
            </a:r>
          </a:p>
          <a:p>
            <a:r>
              <a:rPr lang="en-US" dirty="0"/>
              <a:t>Scientific Notation / Standard Notation</a:t>
            </a:r>
          </a:p>
          <a:p>
            <a:r>
              <a:rPr lang="en-US" dirty="0"/>
              <a:t>Precision: Significant Digits (Significant Figures)</a:t>
            </a:r>
          </a:p>
          <a:p>
            <a:r>
              <a:rPr lang="en-US" dirty="0"/>
              <a:t>Decimal Places</a:t>
            </a:r>
          </a:p>
          <a:p>
            <a:r>
              <a:rPr lang="en-US" dirty="0"/>
              <a:t>Operations on Numbers (multiplication/division, addition/subtraction) &amp; How Precision Affected</a:t>
            </a:r>
          </a:p>
          <a:p>
            <a:r>
              <a:rPr lang="en-US" dirty="0"/>
              <a:t>Conversions / Dimensional Analysis</a:t>
            </a:r>
          </a:p>
          <a:p>
            <a:r>
              <a:rPr lang="en-US" dirty="0"/>
              <a:t>Density</a:t>
            </a:r>
          </a:p>
          <a:p>
            <a:r>
              <a:rPr lang="en-US" dirty="0"/>
              <a:t>Temperature: Scales, Conversion</a:t>
            </a:r>
          </a:p>
          <a:p>
            <a:endParaRPr lang="en-US" dirty="0"/>
          </a:p>
        </p:txBody>
      </p:sp>
      <p:sp>
        <p:nvSpPr>
          <p:cNvPr id="2" name="Slide Number Placeholder 1">
            <a:extLst>
              <a:ext uri="{FF2B5EF4-FFF2-40B4-BE49-F238E27FC236}">
                <a16:creationId xmlns:a16="http://schemas.microsoft.com/office/drawing/2014/main" id="{7A49D591-D6B7-FB34-2059-433F07687A36}"/>
              </a:ext>
            </a:extLst>
          </p:cNvPr>
          <p:cNvSpPr>
            <a:spLocks noGrp="1"/>
          </p:cNvSpPr>
          <p:nvPr>
            <p:ph type="sldNum" sz="quarter" idx="10"/>
          </p:nvPr>
        </p:nvSpPr>
        <p:spPr/>
        <p:txBody>
          <a:bodyPr/>
          <a:lstStyle/>
          <a:p>
            <a:fld id="{12356DF5-CFED-4016-A2DB-A70AC2735480}" type="slidenum">
              <a:rPr lang="en-US" smtClean="0"/>
              <a:pPr/>
              <a:t>2</a:t>
            </a:fld>
            <a:endParaRPr lang="en-US" dirty="0">
              <a:solidFill>
                <a:schemeClr val="bg1"/>
              </a:solidFill>
            </a:endParaRPr>
          </a:p>
        </p:txBody>
      </p:sp>
    </p:spTree>
    <p:extLst>
      <p:ext uri="{BB962C8B-B14F-4D97-AF65-F5344CB8AC3E}">
        <p14:creationId xmlns:p14="http://schemas.microsoft.com/office/powerpoint/2010/main" val="4181320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9C372-E0EB-F23A-F780-3AF8671B2F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752546-70AA-D0C0-E874-D152FC5A0928}"/>
              </a:ext>
            </a:extLst>
          </p:cNvPr>
          <p:cNvSpPr>
            <a:spLocks noGrp="1"/>
          </p:cNvSpPr>
          <p:nvPr>
            <p:ph type="title"/>
          </p:nvPr>
        </p:nvSpPr>
        <p:spPr>
          <a:xfrm>
            <a:off x="364067" y="306073"/>
            <a:ext cx="8421512" cy="707886"/>
          </a:xfrm>
        </p:spPr>
        <p:txBody>
          <a:bodyPr/>
          <a:lstStyle/>
          <a:p>
            <a:r>
              <a:rPr lang="en-US" sz="4000" dirty="0"/>
              <a:t>Math in Chem: Algebra Review</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CE41B5C-23C2-2673-2768-2C627594B6D5}"/>
                  </a:ext>
                </a:extLst>
              </p:cNvPr>
              <p:cNvSpPr>
                <a:spLocks noGrp="1"/>
              </p:cNvSpPr>
              <p:nvPr>
                <p:ph idx="1"/>
              </p:nvPr>
            </p:nvSpPr>
            <p:spPr/>
            <p:txBody>
              <a:bodyPr/>
              <a:lstStyle/>
              <a:p>
                <a:r>
                  <a:rPr lang="en-US" dirty="0"/>
                  <a:t>The quantity </a:t>
                </a:r>
                <a:r>
                  <a:rPr lang="en-US" sz="2800" i="1" dirty="0">
                    <a:solidFill>
                      <a:srgbClr val="00FF00"/>
                    </a:solidFill>
                    <a:latin typeface="Times New Roman" panose="02020603050405020304" pitchFamily="18" charset="0"/>
                    <a:cs typeface="Times New Roman" panose="02020603050405020304" pitchFamily="18" charset="0"/>
                  </a:rPr>
                  <a:t>a</a:t>
                </a:r>
              </a:p>
              <a:p>
                <a:r>
                  <a:rPr lang="en-US" dirty="0"/>
                  <a:t>The inverse of the quantity: </a:t>
                </a:r>
                <a14:m>
                  <m:oMath xmlns:m="http://schemas.openxmlformats.org/officeDocument/2006/math">
                    <m:f>
                      <m:fPr>
                        <m:ctrlPr>
                          <a:rPr lang="en-US" i="1" smtClean="0">
                            <a:solidFill>
                              <a:srgbClr val="00FF00"/>
                            </a:solidFill>
                            <a:latin typeface="Cambria Math" panose="02040503050406030204" pitchFamily="18" charset="0"/>
                          </a:rPr>
                        </m:ctrlPr>
                      </m:fPr>
                      <m:num>
                        <m:r>
                          <a:rPr lang="en-US" b="0" i="1" smtClean="0">
                            <a:solidFill>
                              <a:srgbClr val="00FF00"/>
                            </a:solidFill>
                            <a:latin typeface="Cambria Math" panose="02040503050406030204" pitchFamily="18" charset="0"/>
                          </a:rPr>
                          <m:t>1</m:t>
                        </m:r>
                      </m:num>
                      <m:den>
                        <m:r>
                          <a:rPr lang="en-US" b="0" i="1" smtClean="0">
                            <a:solidFill>
                              <a:srgbClr val="00FF00"/>
                            </a:solidFill>
                            <a:latin typeface="Cambria Math" panose="02040503050406030204" pitchFamily="18" charset="0"/>
                          </a:rPr>
                          <m:t>𝑎</m:t>
                        </m:r>
                      </m:den>
                    </m:f>
                    <m:r>
                      <a:rPr lang="en-US" b="0" i="1" smtClean="0">
                        <a:solidFill>
                          <a:srgbClr val="00FF00"/>
                        </a:solidFill>
                        <a:latin typeface="Cambria Math" panose="02040503050406030204" pitchFamily="18" charset="0"/>
                      </a:rPr>
                      <m:t>=</m:t>
                    </m:r>
                    <m:f>
                      <m:fPr>
                        <m:type m:val="skw"/>
                        <m:ctrlPr>
                          <a:rPr lang="en-US" b="0" i="1" smtClean="0">
                            <a:solidFill>
                              <a:srgbClr val="00FF00"/>
                            </a:solidFill>
                            <a:latin typeface="Cambria Math" panose="02040503050406030204" pitchFamily="18" charset="0"/>
                          </a:rPr>
                        </m:ctrlPr>
                      </m:fPr>
                      <m:num>
                        <m:r>
                          <a:rPr lang="en-US" b="0" i="1" smtClean="0">
                            <a:solidFill>
                              <a:srgbClr val="00FF00"/>
                            </a:solidFill>
                            <a:latin typeface="Cambria Math" panose="02040503050406030204" pitchFamily="18" charset="0"/>
                          </a:rPr>
                          <m:t>1</m:t>
                        </m:r>
                      </m:num>
                      <m:den>
                        <m:r>
                          <a:rPr lang="en-US" b="0" i="1" smtClean="0">
                            <a:solidFill>
                              <a:srgbClr val="00FF00"/>
                            </a:solidFill>
                            <a:latin typeface="Cambria Math" panose="02040503050406030204" pitchFamily="18" charset="0"/>
                          </a:rPr>
                          <m:t>𝑎</m:t>
                        </m:r>
                      </m:den>
                    </m:f>
                  </m:oMath>
                </a14:m>
                <a:endParaRPr lang="en-US" dirty="0"/>
              </a:p>
              <a:p>
                <a:r>
                  <a:rPr lang="en-US" dirty="0"/>
                  <a:t>The inverse of the inverse takes you back: </a:t>
                </a:r>
                <a14:m>
                  <m:oMath xmlns:m="http://schemas.openxmlformats.org/officeDocument/2006/math">
                    <m:f>
                      <m:fPr>
                        <m:ctrlPr>
                          <a:rPr lang="en-US" i="1" smtClean="0">
                            <a:solidFill>
                              <a:srgbClr val="00FF00"/>
                            </a:solidFill>
                            <a:latin typeface="Cambria Math" panose="02040503050406030204" pitchFamily="18" charset="0"/>
                          </a:rPr>
                        </m:ctrlPr>
                      </m:fPr>
                      <m:num>
                        <m:r>
                          <a:rPr lang="en-US" b="0" i="1" smtClean="0">
                            <a:solidFill>
                              <a:srgbClr val="00FF00"/>
                            </a:solidFill>
                            <a:latin typeface="Cambria Math" panose="02040503050406030204" pitchFamily="18" charset="0"/>
                          </a:rPr>
                          <m:t>1</m:t>
                        </m:r>
                      </m:num>
                      <m:den>
                        <m:d>
                          <m:dPr>
                            <m:ctrlPr>
                              <a:rPr lang="en-US" i="1" smtClean="0">
                                <a:solidFill>
                                  <a:srgbClr val="00FF00"/>
                                </a:solidFill>
                                <a:latin typeface="Cambria Math" panose="02040503050406030204" pitchFamily="18" charset="0"/>
                              </a:rPr>
                            </m:ctrlPr>
                          </m:dPr>
                          <m:e>
                            <m:f>
                              <m:fPr>
                                <m:ctrlPr>
                                  <a:rPr lang="en-US" i="1">
                                    <a:solidFill>
                                      <a:srgbClr val="00FF00"/>
                                    </a:solidFill>
                                    <a:latin typeface="Cambria Math" panose="02040503050406030204" pitchFamily="18" charset="0"/>
                                  </a:rPr>
                                </m:ctrlPr>
                              </m:fPr>
                              <m:num>
                                <m:r>
                                  <a:rPr lang="en-US" i="1">
                                    <a:solidFill>
                                      <a:srgbClr val="00FF00"/>
                                    </a:solidFill>
                                    <a:latin typeface="Cambria Math" panose="02040503050406030204" pitchFamily="18" charset="0"/>
                                  </a:rPr>
                                  <m:t>1</m:t>
                                </m:r>
                              </m:num>
                              <m:den>
                                <m:r>
                                  <a:rPr lang="en-US" i="1">
                                    <a:solidFill>
                                      <a:srgbClr val="00FF00"/>
                                    </a:solidFill>
                                    <a:latin typeface="Cambria Math" panose="02040503050406030204" pitchFamily="18" charset="0"/>
                                  </a:rPr>
                                  <m:t>𝑎</m:t>
                                </m:r>
                              </m:den>
                            </m:f>
                          </m:e>
                        </m:d>
                      </m:den>
                    </m:f>
                    <m:r>
                      <a:rPr lang="en-US" b="0" i="1" smtClean="0">
                        <a:solidFill>
                          <a:srgbClr val="00FF00"/>
                        </a:solidFill>
                        <a:latin typeface="Cambria Math" panose="02040503050406030204" pitchFamily="18" charset="0"/>
                      </a:rPr>
                      <m:t>=</m:t>
                    </m:r>
                    <m:r>
                      <a:rPr lang="en-US" b="0" i="1" smtClean="0">
                        <a:solidFill>
                          <a:srgbClr val="00FF00"/>
                        </a:solidFill>
                        <a:latin typeface="Cambria Math" panose="02040503050406030204" pitchFamily="18" charset="0"/>
                      </a:rPr>
                      <m:t>𝑎</m:t>
                    </m:r>
                  </m:oMath>
                </a14:m>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i="1">
                              <a:solidFill>
                                <a:srgbClr val="00FF00"/>
                              </a:solidFill>
                              <a:latin typeface="Cambria Math" panose="02040503050406030204" pitchFamily="18" charset="0"/>
                            </a:rPr>
                          </m:ctrlPr>
                        </m:fPr>
                        <m:num>
                          <m:d>
                            <m:dPr>
                              <m:ctrlPr>
                                <a:rPr lang="en-US" i="1" smtClean="0">
                                  <a:solidFill>
                                    <a:srgbClr val="00FF00"/>
                                  </a:solidFill>
                                  <a:latin typeface="Cambria Math" panose="02040503050406030204" pitchFamily="18" charset="0"/>
                                </a:rPr>
                              </m:ctrlPr>
                            </m:dPr>
                            <m:e>
                              <m:f>
                                <m:fPr>
                                  <m:ctrlPr>
                                    <a:rPr lang="en-US" i="1">
                                      <a:solidFill>
                                        <a:srgbClr val="00FF00"/>
                                      </a:solidFill>
                                      <a:latin typeface="Cambria Math" panose="02040503050406030204" pitchFamily="18" charset="0"/>
                                    </a:rPr>
                                  </m:ctrlPr>
                                </m:fPr>
                                <m:num>
                                  <m:r>
                                    <a:rPr lang="en-US" i="1">
                                      <a:solidFill>
                                        <a:srgbClr val="00FF00"/>
                                      </a:solidFill>
                                      <a:latin typeface="Cambria Math" panose="02040503050406030204" pitchFamily="18" charset="0"/>
                                    </a:rPr>
                                    <m:t>𝑎</m:t>
                                  </m:r>
                                  <m:r>
                                    <a:rPr lang="en-US" i="1">
                                      <a:solidFill>
                                        <a:srgbClr val="00FF00"/>
                                      </a:solidFill>
                                      <a:latin typeface="Cambria Math" panose="02040503050406030204" pitchFamily="18" charset="0"/>
                                    </a:rPr>
                                    <m:t>+</m:t>
                                  </m:r>
                                  <m:r>
                                    <a:rPr lang="en-US" i="1">
                                      <a:solidFill>
                                        <a:srgbClr val="00FF00"/>
                                      </a:solidFill>
                                      <a:latin typeface="Cambria Math" panose="02040503050406030204" pitchFamily="18" charset="0"/>
                                    </a:rPr>
                                    <m:t>𝑏</m:t>
                                  </m:r>
                                </m:num>
                                <m:den>
                                  <m:r>
                                    <a:rPr lang="en-US" i="1">
                                      <a:solidFill>
                                        <a:srgbClr val="00FF00"/>
                                      </a:solidFill>
                                      <a:latin typeface="Cambria Math" panose="02040503050406030204" pitchFamily="18" charset="0"/>
                                    </a:rPr>
                                    <m:t>𝑐</m:t>
                                  </m:r>
                                  <m:r>
                                    <a:rPr lang="en-US" i="1">
                                      <a:solidFill>
                                        <a:srgbClr val="00FF00"/>
                                      </a:solidFill>
                                      <a:latin typeface="Cambria Math" panose="02040503050406030204" pitchFamily="18" charset="0"/>
                                    </a:rPr>
                                    <m:t> −</m:t>
                                  </m:r>
                                  <m:r>
                                    <a:rPr lang="en-US" i="1">
                                      <a:solidFill>
                                        <a:srgbClr val="00FF00"/>
                                      </a:solidFill>
                                      <a:latin typeface="Cambria Math" panose="02040503050406030204" pitchFamily="18" charset="0"/>
                                    </a:rPr>
                                    <m:t>𝑑</m:t>
                                  </m:r>
                                </m:den>
                              </m:f>
                            </m:e>
                          </m:d>
                        </m:num>
                        <m:den>
                          <m:d>
                            <m:dPr>
                              <m:ctrlPr>
                                <a:rPr lang="en-US" i="1">
                                  <a:solidFill>
                                    <a:srgbClr val="00FF00"/>
                                  </a:solidFill>
                                  <a:latin typeface="Cambria Math" panose="02040503050406030204" pitchFamily="18" charset="0"/>
                                </a:rPr>
                              </m:ctrlPr>
                            </m:dPr>
                            <m:e>
                              <m:f>
                                <m:fPr>
                                  <m:ctrlPr>
                                    <a:rPr lang="en-US" i="1">
                                      <a:solidFill>
                                        <a:srgbClr val="00FF00"/>
                                      </a:solidFill>
                                      <a:latin typeface="Cambria Math" panose="02040503050406030204" pitchFamily="18" charset="0"/>
                                    </a:rPr>
                                  </m:ctrlPr>
                                </m:fPr>
                                <m:num>
                                  <m:r>
                                    <a:rPr lang="en-US" b="0" i="1" smtClean="0">
                                      <a:solidFill>
                                        <a:srgbClr val="00FF00"/>
                                      </a:solidFill>
                                      <a:latin typeface="Cambria Math" panose="02040503050406030204" pitchFamily="18" charset="0"/>
                                    </a:rPr>
                                    <m:t>𝑒</m:t>
                                  </m:r>
                                  <m:r>
                                    <a:rPr lang="en-US" b="0" i="1" smtClean="0">
                                      <a:solidFill>
                                        <a:srgbClr val="00FF00"/>
                                      </a:solidFill>
                                      <a:latin typeface="Cambria Math" panose="02040503050406030204" pitchFamily="18" charset="0"/>
                                    </a:rPr>
                                    <m:t>+</m:t>
                                  </m:r>
                                  <m:r>
                                    <a:rPr lang="en-US" b="0" i="1" smtClean="0">
                                      <a:solidFill>
                                        <a:srgbClr val="00FF00"/>
                                      </a:solidFill>
                                      <a:latin typeface="Cambria Math" panose="02040503050406030204" pitchFamily="18" charset="0"/>
                                    </a:rPr>
                                    <m:t>𝑓</m:t>
                                  </m:r>
                                </m:num>
                                <m:den>
                                  <m:r>
                                    <a:rPr lang="en-US" b="0" i="1" smtClean="0">
                                      <a:solidFill>
                                        <a:srgbClr val="00FF00"/>
                                      </a:solidFill>
                                      <a:latin typeface="Cambria Math" panose="02040503050406030204" pitchFamily="18" charset="0"/>
                                    </a:rPr>
                                    <m:t>𝑔</m:t>
                                  </m:r>
                                  <m:r>
                                    <a:rPr lang="en-US" b="0" i="1" smtClean="0">
                                      <a:solidFill>
                                        <a:srgbClr val="00FF00"/>
                                      </a:solidFill>
                                      <a:latin typeface="Cambria Math" panose="02040503050406030204" pitchFamily="18" charset="0"/>
                                    </a:rPr>
                                    <m:t>−</m:t>
                                  </m:r>
                                  <m:r>
                                    <a:rPr lang="en-US" b="0" i="1" smtClean="0">
                                      <a:solidFill>
                                        <a:srgbClr val="00FF00"/>
                                      </a:solidFill>
                                      <a:latin typeface="Cambria Math" panose="02040503050406030204" pitchFamily="18" charset="0"/>
                                    </a:rPr>
                                    <m:t>h</m:t>
                                  </m:r>
                                </m:den>
                              </m:f>
                            </m:e>
                          </m:d>
                        </m:den>
                      </m:f>
                      <m:r>
                        <a:rPr lang="en-US" i="1">
                          <a:solidFill>
                            <a:srgbClr val="00FF00"/>
                          </a:solidFill>
                          <a:latin typeface="Cambria Math" panose="02040503050406030204" pitchFamily="18" charset="0"/>
                        </a:rPr>
                        <m:t>=</m:t>
                      </m:r>
                      <m:f>
                        <m:fPr>
                          <m:ctrlPr>
                            <a:rPr lang="en-US" i="1" smtClean="0">
                              <a:solidFill>
                                <a:srgbClr val="00FF00"/>
                              </a:solidFill>
                              <a:latin typeface="Cambria Math" panose="02040503050406030204" pitchFamily="18" charset="0"/>
                            </a:rPr>
                          </m:ctrlPr>
                        </m:fPr>
                        <m:num>
                          <m:d>
                            <m:dPr>
                              <m:ctrlPr>
                                <a:rPr lang="en-US" i="1" smtClean="0">
                                  <a:solidFill>
                                    <a:srgbClr val="00FF00"/>
                                  </a:solidFill>
                                  <a:latin typeface="Cambria Math" panose="02040503050406030204" pitchFamily="18" charset="0"/>
                                </a:rPr>
                              </m:ctrlPr>
                            </m:dPr>
                            <m:e>
                              <m:r>
                                <a:rPr lang="en-US" b="0" i="1" smtClean="0">
                                  <a:solidFill>
                                    <a:srgbClr val="00FF00"/>
                                  </a:solidFill>
                                  <a:latin typeface="Cambria Math" panose="02040503050406030204" pitchFamily="18" charset="0"/>
                                </a:rPr>
                                <m:t>𝑎</m:t>
                              </m:r>
                              <m:r>
                                <a:rPr lang="en-US" b="0" i="1" smtClean="0">
                                  <a:solidFill>
                                    <a:srgbClr val="00FF00"/>
                                  </a:solidFill>
                                  <a:latin typeface="Cambria Math" panose="02040503050406030204" pitchFamily="18" charset="0"/>
                                </a:rPr>
                                <m:t>+</m:t>
                              </m:r>
                              <m:r>
                                <a:rPr lang="en-US" b="0" i="1" smtClean="0">
                                  <a:solidFill>
                                    <a:srgbClr val="00FF00"/>
                                  </a:solidFill>
                                  <a:latin typeface="Cambria Math" panose="02040503050406030204" pitchFamily="18" charset="0"/>
                                </a:rPr>
                                <m:t>𝑏</m:t>
                              </m:r>
                            </m:e>
                          </m:d>
                          <m:d>
                            <m:dPr>
                              <m:ctrlPr>
                                <a:rPr lang="en-US" i="1" smtClean="0">
                                  <a:solidFill>
                                    <a:srgbClr val="00FF00"/>
                                  </a:solidFill>
                                  <a:latin typeface="Cambria Math" panose="02040503050406030204" pitchFamily="18" charset="0"/>
                                </a:rPr>
                              </m:ctrlPr>
                            </m:dPr>
                            <m:e>
                              <m:r>
                                <a:rPr lang="en-US" b="0" i="1" smtClean="0">
                                  <a:solidFill>
                                    <a:srgbClr val="00FF00"/>
                                  </a:solidFill>
                                  <a:latin typeface="Cambria Math" panose="02040503050406030204" pitchFamily="18" charset="0"/>
                                </a:rPr>
                                <m:t>𝑔</m:t>
                              </m:r>
                              <m:r>
                                <a:rPr lang="en-US" b="0" i="1" smtClean="0">
                                  <a:solidFill>
                                    <a:srgbClr val="00FF00"/>
                                  </a:solidFill>
                                  <a:latin typeface="Cambria Math" panose="02040503050406030204" pitchFamily="18" charset="0"/>
                                </a:rPr>
                                <m:t>−</m:t>
                              </m:r>
                              <m:r>
                                <a:rPr lang="en-US" b="0" i="1" smtClean="0">
                                  <a:solidFill>
                                    <a:srgbClr val="00FF00"/>
                                  </a:solidFill>
                                  <a:latin typeface="Cambria Math" panose="02040503050406030204" pitchFamily="18" charset="0"/>
                                </a:rPr>
                                <m:t>h</m:t>
                              </m:r>
                            </m:e>
                          </m:d>
                        </m:num>
                        <m:den>
                          <m:d>
                            <m:dPr>
                              <m:ctrlPr>
                                <a:rPr lang="en-US" i="1" smtClean="0">
                                  <a:solidFill>
                                    <a:srgbClr val="00FF00"/>
                                  </a:solidFill>
                                  <a:latin typeface="Cambria Math" panose="02040503050406030204" pitchFamily="18" charset="0"/>
                                </a:rPr>
                              </m:ctrlPr>
                            </m:dPr>
                            <m:e>
                              <m:r>
                                <a:rPr lang="en-US" b="0" i="1" smtClean="0">
                                  <a:solidFill>
                                    <a:srgbClr val="00FF00"/>
                                  </a:solidFill>
                                  <a:latin typeface="Cambria Math" panose="02040503050406030204" pitchFamily="18" charset="0"/>
                                </a:rPr>
                                <m:t>𝑐</m:t>
                              </m:r>
                              <m:r>
                                <a:rPr lang="en-US" b="0" i="1" smtClean="0">
                                  <a:solidFill>
                                    <a:srgbClr val="00FF00"/>
                                  </a:solidFill>
                                  <a:latin typeface="Cambria Math" panose="02040503050406030204" pitchFamily="18" charset="0"/>
                                </a:rPr>
                                <m:t>−</m:t>
                              </m:r>
                              <m:r>
                                <a:rPr lang="en-US" b="0" i="1" smtClean="0">
                                  <a:solidFill>
                                    <a:srgbClr val="00FF00"/>
                                  </a:solidFill>
                                  <a:latin typeface="Cambria Math" panose="02040503050406030204" pitchFamily="18" charset="0"/>
                                </a:rPr>
                                <m:t>𝑑</m:t>
                              </m:r>
                            </m:e>
                          </m:d>
                          <m:d>
                            <m:dPr>
                              <m:ctrlPr>
                                <a:rPr lang="en-US" i="1" smtClean="0">
                                  <a:solidFill>
                                    <a:srgbClr val="00FF00"/>
                                  </a:solidFill>
                                  <a:latin typeface="Cambria Math" panose="02040503050406030204" pitchFamily="18" charset="0"/>
                                </a:rPr>
                              </m:ctrlPr>
                            </m:dPr>
                            <m:e>
                              <m:r>
                                <a:rPr lang="en-US" b="0" i="1" smtClean="0">
                                  <a:solidFill>
                                    <a:srgbClr val="00FF00"/>
                                  </a:solidFill>
                                  <a:latin typeface="Cambria Math" panose="02040503050406030204" pitchFamily="18" charset="0"/>
                                </a:rPr>
                                <m:t>𝑒</m:t>
                              </m:r>
                              <m:r>
                                <a:rPr lang="en-US" b="0" i="1" smtClean="0">
                                  <a:solidFill>
                                    <a:srgbClr val="00FF00"/>
                                  </a:solidFill>
                                  <a:latin typeface="Cambria Math" panose="02040503050406030204" pitchFamily="18" charset="0"/>
                                </a:rPr>
                                <m:t>+</m:t>
                              </m:r>
                              <m:r>
                                <a:rPr lang="en-US" b="0" i="1" smtClean="0">
                                  <a:solidFill>
                                    <a:srgbClr val="00FF00"/>
                                  </a:solidFill>
                                  <a:latin typeface="Cambria Math" panose="02040503050406030204" pitchFamily="18" charset="0"/>
                                </a:rPr>
                                <m:t>𝑓</m:t>
                              </m:r>
                            </m:e>
                          </m:d>
                        </m:den>
                      </m:f>
                    </m:oMath>
                  </m:oMathPara>
                </a14:m>
                <a:endParaRPr lang="en-US" dirty="0"/>
              </a:p>
              <a:p>
                <a:r>
                  <a:rPr lang="en-US" dirty="0"/>
                  <a:t>“Implied denominator of 1”. It might help when solving chemistry problems</a:t>
                </a:r>
              </a:p>
              <a:p>
                <a:pPr marL="0" indent="0" algn="ctr">
                  <a:buNone/>
                </a:pPr>
                <a:r>
                  <a:rPr lang="en-US" dirty="0"/>
                  <a:t>The number 2.4 = </a:t>
                </a:r>
                <a14:m>
                  <m:oMath xmlns:m="http://schemas.openxmlformats.org/officeDocument/2006/math">
                    <m:f>
                      <m:fPr>
                        <m:ctrlPr>
                          <a:rPr lang="en-US" sz="2800" i="1" smtClean="0">
                            <a:solidFill>
                              <a:srgbClr val="00FF00"/>
                            </a:solidFill>
                            <a:latin typeface="Cambria Math" panose="02040503050406030204" pitchFamily="18" charset="0"/>
                          </a:rPr>
                        </m:ctrlPr>
                      </m:fPr>
                      <m:num>
                        <m:r>
                          <a:rPr lang="en-US" sz="2800" b="0" i="1" smtClean="0">
                            <a:solidFill>
                              <a:srgbClr val="00FF00"/>
                            </a:solidFill>
                            <a:latin typeface="Cambria Math" panose="02040503050406030204" pitchFamily="18" charset="0"/>
                          </a:rPr>
                          <m:t>2.4</m:t>
                        </m:r>
                      </m:num>
                      <m:den>
                        <m:r>
                          <a:rPr lang="en-US" sz="2800" b="0" i="1" smtClean="0">
                            <a:solidFill>
                              <a:srgbClr val="00FF00"/>
                            </a:solidFill>
                            <a:latin typeface="Cambria Math" panose="02040503050406030204" pitchFamily="18" charset="0"/>
                          </a:rPr>
                          <m:t>1</m:t>
                        </m:r>
                      </m:den>
                    </m:f>
                  </m:oMath>
                </a14:m>
                <a:endParaRPr lang="en-US" dirty="0"/>
              </a:p>
            </p:txBody>
          </p:sp>
        </mc:Choice>
        <mc:Fallback xmlns="">
          <p:sp>
            <p:nvSpPr>
              <p:cNvPr id="5" name="Content Placeholder 4">
                <a:extLst>
                  <a:ext uri="{FF2B5EF4-FFF2-40B4-BE49-F238E27FC236}">
                    <a16:creationId xmlns:a16="http://schemas.microsoft.com/office/drawing/2014/main" id="{4CE41B5C-23C2-2673-2768-2C627594B6D5}"/>
                  </a:ext>
                </a:extLst>
              </p:cNvPr>
              <p:cNvSpPr>
                <a:spLocks noGrp="1" noRot="1" noChangeAspect="1" noMove="1" noResize="1" noEditPoints="1" noAdjustHandles="1" noChangeArrowheads="1" noChangeShapeType="1" noTextEdit="1"/>
              </p:cNvSpPr>
              <p:nvPr>
                <p:ph idx="1"/>
              </p:nvPr>
            </p:nvSpPr>
            <p:spPr>
              <a:blipFill>
                <a:blip r:embed="rId2"/>
                <a:stretch>
                  <a:fillRect l="-1090" t="-1287"/>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EBC33C4C-F39F-13D6-2859-660F10D99093}"/>
              </a:ext>
            </a:extLst>
          </p:cNvPr>
          <p:cNvSpPr>
            <a:spLocks noGrp="1"/>
          </p:cNvSpPr>
          <p:nvPr>
            <p:ph type="sldNum" sz="quarter" idx="10"/>
          </p:nvPr>
        </p:nvSpPr>
        <p:spPr/>
        <p:txBody>
          <a:bodyPr/>
          <a:lstStyle/>
          <a:p>
            <a:fld id="{12356DF5-CFED-4016-A2DB-A70AC2735480}" type="slidenum">
              <a:rPr lang="en-US" smtClean="0"/>
              <a:pPr/>
              <a:t>3</a:t>
            </a:fld>
            <a:endParaRPr lang="en-US" dirty="0">
              <a:solidFill>
                <a:schemeClr val="bg1"/>
              </a:solidFill>
            </a:endParaRPr>
          </a:p>
        </p:txBody>
      </p:sp>
    </p:spTree>
    <p:extLst>
      <p:ext uri="{BB962C8B-B14F-4D97-AF65-F5344CB8AC3E}">
        <p14:creationId xmlns:p14="http://schemas.microsoft.com/office/powerpoint/2010/main" val="2298144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103EB-CC86-4B9D-53D9-5AC56739B2D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2B6A09-1BE9-ACE0-A2AB-B982D205D8DF}"/>
              </a:ext>
            </a:extLst>
          </p:cNvPr>
          <p:cNvSpPr>
            <a:spLocks noGrp="1"/>
          </p:cNvSpPr>
          <p:nvPr>
            <p:ph type="title"/>
          </p:nvPr>
        </p:nvSpPr>
        <p:spPr>
          <a:xfrm>
            <a:off x="364067" y="306073"/>
            <a:ext cx="8421512" cy="707886"/>
          </a:xfrm>
        </p:spPr>
        <p:txBody>
          <a:bodyPr/>
          <a:lstStyle/>
          <a:p>
            <a:r>
              <a:rPr lang="en-US" sz="4000" dirty="0"/>
              <a:t>Quantities</a:t>
            </a:r>
          </a:p>
        </p:txBody>
      </p:sp>
      <p:sp>
        <p:nvSpPr>
          <p:cNvPr id="5" name="Content Placeholder 4">
            <a:extLst>
              <a:ext uri="{FF2B5EF4-FFF2-40B4-BE49-F238E27FC236}">
                <a16:creationId xmlns:a16="http://schemas.microsoft.com/office/drawing/2014/main" id="{1D39DEEF-638D-3201-6F38-646025C91AE5}"/>
              </a:ext>
            </a:extLst>
          </p:cNvPr>
          <p:cNvSpPr>
            <a:spLocks noGrp="1"/>
          </p:cNvSpPr>
          <p:nvPr>
            <p:ph idx="1"/>
          </p:nvPr>
        </p:nvSpPr>
        <p:spPr>
          <a:xfrm>
            <a:off x="372533" y="2495693"/>
            <a:ext cx="8387645" cy="4051862"/>
          </a:xfrm>
        </p:spPr>
        <p:txBody>
          <a:bodyPr/>
          <a:lstStyle/>
          <a:p>
            <a:pPr marL="0" indent="0" fontAlgn="t">
              <a:buNone/>
            </a:pPr>
            <a:r>
              <a:rPr lang="en-US" dirty="0"/>
              <a:t>A (measured) </a:t>
            </a:r>
            <a:r>
              <a:rPr lang="en-US" b="1" dirty="0">
                <a:solidFill>
                  <a:schemeClr val="accent1">
                    <a:lumMod val="60000"/>
                    <a:lumOff val="40000"/>
                  </a:schemeClr>
                </a:solidFill>
              </a:rPr>
              <a:t>quantity </a:t>
            </a:r>
            <a:r>
              <a:rPr lang="en-US" dirty="0"/>
              <a:t>in science, in chemistry has a </a:t>
            </a:r>
            <a:r>
              <a:rPr lang="en-US" b="1" dirty="0">
                <a:solidFill>
                  <a:schemeClr val="accent1">
                    <a:lumMod val="60000"/>
                    <a:lumOff val="40000"/>
                  </a:schemeClr>
                </a:solidFill>
              </a:rPr>
              <a:t>number</a:t>
            </a:r>
            <a:r>
              <a:rPr lang="en-US" dirty="0"/>
              <a:t> and a </a:t>
            </a:r>
            <a:r>
              <a:rPr lang="en-US" b="1" dirty="0">
                <a:solidFill>
                  <a:schemeClr val="accent1">
                    <a:lumMod val="60000"/>
                    <a:lumOff val="40000"/>
                  </a:schemeClr>
                </a:solidFill>
              </a:rPr>
              <a:t>unit</a:t>
            </a:r>
            <a:r>
              <a:rPr lang="en-US" dirty="0"/>
              <a:t> associated with it</a:t>
            </a:r>
            <a:endParaRPr lang="en-US" b="1" dirty="0"/>
          </a:p>
          <a:p>
            <a:r>
              <a:rPr lang="en-US" dirty="0"/>
              <a:t>The </a:t>
            </a:r>
            <a:r>
              <a:rPr lang="en-US" dirty="0">
                <a:solidFill>
                  <a:srgbClr val="FFFF00"/>
                </a:solidFill>
              </a:rPr>
              <a:t>number</a:t>
            </a:r>
            <a:r>
              <a:rPr lang="en-US" dirty="0"/>
              <a:t> is how many/much</a:t>
            </a:r>
          </a:p>
          <a:p>
            <a:r>
              <a:rPr lang="en-US" dirty="0"/>
              <a:t>The </a:t>
            </a:r>
            <a:r>
              <a:rPr lang="en-US" dirty="0">
                <a:solidFill>
                  <a:srgbClr val="FFFF00"/>
                </a:solidFill>
              </a:rPr>
              <a:t>unit</a:t>
            </a:r>
            <a:r>
              <a:rPr lang="en-US" dirty="0"/>
              <a:t> is a scale of the measurement, the how many/much of what</a:t>
            </a:r>
          </a:p>
        </p:txBody>
      </p:sp>
      <p:graphicFrame>
        <p:nvGraphicFramePr>
          <p:cNvPr id="6" name="Table 5">
            <a:extLst>
              <a:ext uri="{FF2B5EF4-FFF2-40B4-BE49-F238E27FC236}">
                <a16:creationId xmlns:a16="http://schemas.microsoft.com/office/drawing/2014/main" id="{FA41F84B-408A-A308-BC74-1D27C5A6B43F}"/>
              </a:ext>
            </a:extLst>
          </p:cNvPr>
          <p:cNvGraphicFramePr>
            <a:graphicFrameLocks noGrp="1"/>
          </p:cNvGraphicFramePr>
          <p:nvPr>
            <p:extLst>
              <p:ext uri="{D42A27DB-BD31-4B8C-83A1-F6EECF244321}">
                <p14:modId xmlns:p14="http://schemas.microsoft.com/office/powerpoint/2010/main" val="720763608"/>
              </p:ext>
            </p:extLst>
          </p:nvPr>
        </p:nvGraphicFramePr>
        <p:xfrm>
          <a:off x="3905191" y="709481"/>
          <a:ext cx="4854987" cy="1483360"/>
        </p:xfrm>
        <a:graphic>
          <a:graphicData uri="http://schemas.openxmlformats.org/drawingml/2006/table">
            <a:tbl>
              <a:tblPr firstRow="1" bandRow="1">
                <a:tableStyleId>{073A0DAA-6AF3-43AB-8588-CEC1D06C72B9}</a:tableStyleId>
              </a:tblPr>
              <a:tblGrid>
                <a:gridCol w="1231763">
                  <a:extLst>
                    <a:ext uri="{9D8B030D-6E8A-4147-A177-3AD203B41FA5}">
                      <a16:colId xmlns:a16="http://schemas.microsoft.com/office/drawing/2014/main" val="1921975404"/>
                    </a:ext>
                  </a:extLst>
                </a:gridCol>
                <a:gridCol w="1561855">
                  <a:extLst>
                    <a:ext uri="{9D8B030D-6E8A-4147-A177-3AD203B41FA5}">
                      <a16:colId xmlns:a16="http://schemas.microsoft.com/office/drawing/2014/main" val="341523574"/>
                    </a:ext>
                  </a:extLst>
                </a:gridCol>
                <a:gridCol w="2061369">
                  <a:extLst>
                    <a:ext uri="{9D8B030D-6E8A-4147-A177-3AD203B41FA5}">
                      <a16:colId xmlns:a16="http://schemas.microsoft.com/office/drawing/2014/main" val="2000266567"/>
                    </a:ext>
                  </a:extLst>
                </a:gridCol>
              </a:tblGrid>
              <a:tr h="370840">
                <a:tc>
                  <a:txBody>
                    <a:bodyPr/>
                    <a:lstStyle/>
                    <a:p>
                      <a:pPr algn="ctr"/>
                      <a:r>
                        <a:rPr lang="en-US" dirty="0"/>
                        <a:t>Number</a:t>
                      </a:r>
                    </a:p>
                  </a:txBody>
                  <a:tcPr/>
                </a:tc>
                <a:tc>
                  <a:txBody>
                    <a:bodyPr/>
                    <a:lstStyle/>
                    <a:p>
                      <a:pPr algn="ctr"/>
                      <a:r>
                        <a:rPr lang="en-US" dirty="0"/>
                        <a:t>Unit</a:t>
                      </a:r>
                    </a:p>
                  </a:txBody>
                  <a:tcPr/>
                </a:tc>
                <a:tc>
                  <a:txBody>
                    <a:bodyPr/>
                    <a:lstStyle/>
                    <a:p>
                      <a:pPr algn="ctr"/>
                      <a:r>
                        <a:rPr lang="en-US" dirty="0"/>
                        <a:t>Dimension</a:t>
                      </a:r>
                    </a:p>
                  </a:txBody>
                  <a:tcPr/>
                </a:tc>
                <a:extLst>
                  <a:ext uri="{0D108BD9-81ED-4DB2-BD59-A6C34878D82A}">
                    <a16:rowId xmlns:a16="http://schemas.microsoft.com/office/drawing/2014/main" val="2720772072"/>
                  </a:ext>
                </a:extLst>
              </a:tr>
              <a:tr h="370840">
                <a:tc>
                  <a:txBody>
                    <a:bodyPr/>
                    <a:lstStyle/>
                    <a:p>
                      <a:pPr algn="ctr"/>
                      <a:r>
                        <a:rPr lang="en-US" dirty="0"/>
                        <a:t>1</a:t>
                      </a:r>
                    </a:p>
                  </a:txBody>
                  <a:tcPr/>
                </a:tc>
                <a:tc>
                  <a:txBody>
                    <a:bodyPr/>
                    <a:lstStyle/>
                    <a:p>
                      <a:pPr algn="ctr"/>
                      <a:r>
                        <a:rPr lang="en-US" dirty="0"/>
                        <a:t>mile</a:t>
                      </a:r>
                    </a:p>
                  </a:txBody>
                  <a:tcPr/>
                </a:tc>
                <a:tc>
                  <a:txBody>
                    <a:bodyPr/>
                    <a:lstStyle/>
                    <a:p>
                      <a:pPr algn="ctr"/>
                      <a:r>
                        <a:rPr lang="en-US" dirty="0"/>
                        <a:t>length </a:t>
                      </a:r>
                      <a:r>
                        <a:rPr lang="en-US" sz="1400" dirty="0"/>
                        <a:t>(distance)</a:t>
                      </a:r>
                      <a:endParaRPr lang="en-US" dirty="0"/>
                    </a:p>
                  </a:txBody>
                  <a:tcPr/>
                </a:tc>
                <a:extLst>
                  <a:ext uri="{0D108BD9-81ED-4DB2-BD59-A6C34878D82A}">
                    <a16:rowId xmlns:a16="http://schemas.microsoft.com/office/drawing/2014/main" val="2306227637"/>
                  </a:ext>
                </a:extLst>
              </a:tr>
              <a:tr h="370840">
                <a:tc>
                  <a:txBody>
                    <a:bodyPr/>
                    <a:lstStyle/>
                    <a:p>
                      <a:pPr algn="ctr"/>
                      <a:r>
                        <a:rPr lang="en-US" dirty="0"/>
                        <a:t>0.25</a:t>
                      </a:r>
                    </a:p>
                  </a:txBody>
                  <a:tcPr/>
                </a:tc>
                <a:tc>
                  <a:txBody>
                    <a:bodyPr/>
                    <a:lstStyle/>
                    <a:p>
                      <a:pPr algn="ctr"/>
                      <a:r>
                        <a:rPr lang="en-US" dirty="0"/>
                        <a:t>liters</a:t>
                      </a:r>
                    </a:p>
                  </a:txBody>
                  <a:tcPr/>
                </a:tc>
                <a:tc>
                  <a:txBody>
                    <a:bodyPr/>
                    <a:lstStyle/>
                    <a:p>
                      <a:pPr algn="ctr"/>
                      <a:r>
                        <a:rPr lang="en-US" dirty="0"/>
                        <a:t>volume</a:t>
                      </a:r>
                    </a:p>
                  </a:txBody>
                  <a:tcPr/>
                </a:tc>
                <a:extLst>
                  <a:ext uri="{0D108BD9-81ED-4DB2-BD59-A6C34878D82A}">
                    <a16:rowId xmlns:a16="http://schemas.microsoft.com/office/drawing/2014/main" val="2606270391"/>
                  </a:ext>
                </a:extLst>
              </a:tr>
              <a:tr h="370840">
                <a:tc>
                  <a:txBody>
                    <a:bodyPr/>
                    <a:lstStyle/>
                    <a:p>
                      <a:pPr algn="ctr"/>
                      <a:r>
                        <a:rPr lang="en-US" dirty="0"/>
                        <a:t>15</a:t>
                      </a:r>
                    </a:p>
                  </a:txBody>
                  <a:tcPr/>
                </a:tc>
                <a:tc>
                  <a:txBody>
                    <a:bodyPr/>
                    <a:lstStyle/>
                    <a:p>
                      <a:pPr algn="ctr"/>
                      <a:r>
                        <a:rPr lang="en-US" dirty="0"/>
                        <a:t>amperes</a:t>
                      </a:r>
                    </a:p>
                  </a:txBody>
                  <a:tcPr/>
                </a:tc>
                <a:tc>
                  <a:txBody>
                    <a:bodyPr/>
                    <a:lstStyle/>
                    <a:p>
                      <a:pPr algn="ctr"/>
                      <a:r>
                        <a:rPr lang="en-US" dirty="0"/>
                        <a:t>electric current</a:t>
                      </a:r>
                    </a:p>
                  </a:txBody>
                  <a:tcPr/>
                </a:tc>
                <a:extLst>
                  <a:ext uri="{0D108BD9-81ED-4DB2-BD59-A6C34878D82A}">
                    <a16:rowId xmlns:a16="http://schemas.microsoft.com/office/drawing/2014/main" val="3697944946"/>
                  </a:ext>
                </a:extLst>
              </a:tr>
            </a:tbl>
          </a:graphicData>
        </a:graphic>
      </p:graphicFrame>
      <p:sp>
        <p:nvSpPr>
          <p:cNvPr id="2" name="Slide Number Placeholder 1">
            <a:extLst>
              <a:ext uri="{FF2B5EF4-FFF2-40B4-BE49-F238E27FC236}">
                <a16:creationId xmlns:a16="http://schemas.microsoft.com/office/drawing/2014/main" id="{17460670-F2DE-1724-005F-B8EFF070C362}"/>
              </a:ext>
            </a:extLst>
          </p:cNvPr>
          <p:cNvSpPr>
            <a:spLocks noGrp="1"/>
          </p:cNvSpPr>
          <p:nvPr>
            <p:ph type="sldNum" sz="quarter" idx="10"/>
          </p:nvPr>
        </p:nvSpPr>
        <p:spPr/>
        <p:txBody>
          <a:bodyPr/>
          <a:lstStyle/>
          <a:p>
            <a:fld id="{12356DF5-CFED-4016-A2DB-A70AC2735480}" type="slidenum">
              <a:rPr lang="en-US" smtClean="0"/>
              <a:pPr/>
              <a:t>4</a:t>
            </a:fld>
            <a:endParaRPr lang="en-US" dirty="0">
              <a:solidFill>
                <a:schemeClr val="bg1"/>
              </a:solidFill>
            </a:endParaRPr>
          </a:p>
        </p:txBody>
      </p:sp>
    </p:spTree>
    <p:extLst>
      <p:ext uri="{BB962C8B-B14F-4D97-AF65-F5344CB8AC3E}">
        <p14:creationId xmlns:p14="http://schemas.microsoft.com/office/powerpoint/2010/main" val="1712757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5898-47DB-81B7-F63B-65FCBBEA12C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7E8F352-CE19-BD16-D0FA-ED2971FDDA4B}"/>
              </a:ext>
            </a:extLst>
          </p:cNvPr>
          <p:cNvSpPr>
            <a:spLocks noGrp="1"/>
          </p:cNvSpPr>
          <p:nvPr>
            <p:ph type="title"/>
          </p:nvPr>
        </p:nvSpPr>
        <p:spPr>
          <a:xfrm>
            <a:off x="364067" y="306073"/>
            <a:ext cx="8421512" cy="707886"/>
          </a:xfrm>
        </p:spPr>
        <p:txBody>
          <a:bodyPr/>
          <a:lstStyle/>
          <a:p>
            <a:r>
              <a:rPr lang="en-US" sz="4000" dirty="0"/>
              <a:t>Scientific Notation</a:t>
            </a:r>
          </a:p>
        </p:txBody>
      </p:sp>
      <p:sp>
        <p:nvSpPr>
          <p:cNvPr id="6" name="Content Placeholder 5">
            <a:extLst>
              <a:ext uri="{FF2B5EF4-FFF2-40B4-BE49-F238E27FC236}">
                <a16:creationId xmlns:a16="http://schemas.microsoft.com/office/drawing/2014/main" id="{452EC8EF-100A-C97D-FC60-0F9A0B8B0A80}"/>
              </a:ext>
            </a:extLst>
          </p:cNvPr>
          <p:cNvSpPr>
            <a:spLocks noGrp="1"/>
          </p:cNvSpPr>
          <p:nvPr>
            <p:ph idx="1"/>
          </p:nvPr>
        </p:nvSpPr>
        <p:spPr/>
        <p:txBody>
          <a:bodyPr/>
          <a:lstStyle/>
          <a:p>
            <a:pPr marL="0" indent="0">
              <a:buNone/>
            </a:pPr>
            <a:r>
              <a:rPr lang="en-US" dirty="0"/>
              <a:t>A way of expressing numerical values</a:t>
            </a:r>
          </a:p>
          <a:p>
            <a:pPr marL="0" indent="0">
              <a:buNone/>
            </a:pPr>
            <a:endParaRPr lang="en-US" sz="1200" dirty="0"/>
          </a:p>
          <a:p>
            <a:pPr marL="0" indent="0">
              <a:buNone/>
            </a:pPr>
            <a:r>
              <a:rPr lang="en-US" dirty="0"/>
              <a:t>Format:  </a:t>
            </a:r>
            <a:r>
              <a:rPr lang="en-US" i="1" dirty="0" err="1">
                <a:solidFill>
                  <a:srgbClr val="FFC000"/>
                </a:solidFill>
              </a:rPr>
              <a:t>d.mmm</a:t>
            </a:r>
            <a:r>
              <a:rPr lang="en-US" i="1" dirty="0">
                <a:solidFill>
                  <a:srgbClr val="FFC000"/>
                </a:solidFill>
              </a:rPr>
              <a:t> </a:t>
            </a:r>
            <a:r>
              <a:rPr lang="en-US" dirty="0"/>
              <a:t>× </a:t>
            </a:r>
            <a:r>
              <a:rPr lang="en-US" dirty="0">
                <a:solidFill>
                  <a:schemeClr val="accent1">
                    <a:lumMod val="60000"/>
                    <a:lumOff val="40000"/>
                  </a:schemeClr>
                </a:solidFill>
              </a:rPr>
              <a:t>10</a:t>
            </a:r>
            <a:r>
              <a:rPr lang="en-US" baseline="30000" dirty="0">
                <a:solidFill>
                  <a:schemeClr val="accent1">
                    <a:lumMod val="60000"/>
                    <a:lumOff val="40000"/>
                  </a:schemeClr>
                </a:solidFill>
              </a:rPr>
              <a:t>n</a:t>
            </a:r>
            <a:endParaRPr lang="en-US" i="1" baseline="30000" dirty="0">
              <a:solidFill>
                <a:schemeClr val="accent1">
                  <a:lumMod val="60000"/>
                  <a:lumOff val="40000"/>
                </a:schemeClr>
              </a:solidFill>
            </a:endParaRPr>
          </a:p>
          <a:p>
            <a:pPr marL="0" indent="0">
              <a:buNone/>
            </a:pPr>
            <a:endParaRPr lang="en-US" i="1" baseline="30000" dirty="0"/>
          </a:p>
        </p:txBody>
      </p:sp>
      <p:graphicFrame>
        <p:nvGraphicFramePr>
          <p:cNvPr id="7" name="Content Placeholder 2">
            <a:extLst>
              <a:ext uri="{FF2B5EF4-FFF2-40B4-BE49-F238E27FC236}">
                <a16:creationId xmlns:a16="http://schemas.microsoft.com/office/drawing/2014/main" id="{0EDC1EB6-DB92-CFB3-343C-FFDD22B1C09E}"/>
              </a:ext>
            </a:extLst>
          </p:cNvPr>
          <p:cNvGraphicFramePr>
            <a:graphicFrameLocks/>
          </p:cNvGraphicFramePr>
          <p:nvPr>
            <p:extLst>
              <p:ext uri="{D42A27DB-BD31-4B8C-83A1-F6EECF244321}">
                <p14:modId xmlns:p14="http://schemas.microsoft.com/office/powerpoint/2010/main" val="2048550704"/>
              </p:ext>
            </p:extLst>
          </p:nvPr>
        </p:nvGraphicFramePr>
        <p:xfrm>
          <a:off x="696033" y="2667230"/>
          <a:ext cx="7042247" cy="3677920"/>
        </p:xfrm>
        <a:graphic>
          <a:graphicData uri="http://schemas.openxmlformats.org/drawingml/2006/table">
            <a:tbl>
              <a:tblPr firstRow="1" bandRow="1"/>
              <a:tblGrid>
                <a:gridCol w="2535211">
                  <a:extLst>
                    <a:ext uri="{9D8B030D-6E8A-4147-A177-3AD203B41FA5}">
                      <a16:colId xmlns:a16="http://schemas.microsoft.com/office/drawing/2014/main" val="3744240669"/>
                    </a:ext>
                  </a:extLst>
                </a:gridCol>
                <a:gridCol w="4507036">
                  <a:extLst>
                    <a:ext uri="{9D8B030D-6E8A-4147-A177-3AD203B41FA5}">
                      <a16:colId xmlns:a16="http://schemas.microsoft.com/office/drawing/2014/main" val="1648944909"/>
                    </a:ext>
                  </a:extLst>
                </a:gridCol>
              </a:tblGrid>
              <a:tr h="370840">
                <a:tc>
                  <a:txBody>
                    <a:bodyPr/>
                    <a:lstStyle/>
                    <a:p>
                      <a:pPr algn="r"/>
                      <a:r>
                        <a:rPr lang="en-US" sz="1400" i="1" kern="1200" dirty="0">
                          <a:solidFill>
                            <a:schemeClr val="bg1"/>
                          </a:solidFill>
                          <a:latin typeface="+mj-lt"/>
                          <a:ea typeface="+mn-ea"/>
                          <a:cs typeface="+mn-cs"/>
                        </a:rPr>
                        <a:t>Part</a:t>
                      </a:r>
                      <a:endParaRPr lang="en-US" sz="1400" i="1" baseline="0" dirty="0">
                        <a:solidFill>
                          <a:schemeClr val="bg1"/>
                        </a:solidFill>
                        <a:latin typeface="+mj-lt"/>
                      </a:endParaRPr>
                    </a:p>
                  </a:txBody>
                  <a:tcPr>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baseline="0" dirty="0" err="1">
                          <a:solidFill>
                            <a:srgbClr val="FFC000"/>
                          </a:solidFill>
                        </a:rPr>
                        <a:t>d.mmm</a:t>
                      </a:r>
                      <a:endParaRPr lang="en-US" i="1" baseline="0" dirty="0">
                        <a:solidFill>
                          <a:srgbClr val="FFC000"/>
                        </a:solidFill>
                      </a:endParaRPr>
                    </a:p>
                  </a:txBody>
                  <a:tcPr>
                    <a:lnL w="127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167940327"/>
                  </a:ext>
                </a:extLst>
              </a:tr>
              <a:tr h="37084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i="1" kern="1200" baseline="0" dirty="0">
                          <a:solidFill>
                            <a:schemeClr val="bg1"/>
                          </a:solidFill>
                          <a:latin typeface="+mj-lt"/>
                          <a:ea typeface="+mn-ea"/>
                          <a:cs typeface="+mn-cs"/>
                        </a:rPr>
                        <a:t>Part Name</a:t>
                      </a:r>
                    </a:p>
                  </a:txBody>
                  <a:tcP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solidFill>
                            <a:srgbClr val="00FF00"/>
                          </a:solidFill>
                        </a:rPr>
                        <a:t>Significand</a:t>
                      </a:r>
                      <a:r>
                        <a:rPr lang="en-US" baseline="0" dirty="0">
                          <a:solidFill>
                            <a:schemeClr val="bg1"/>
                          </a:solidFill>
                        </a:rPr>
                        <a:t> (preferred), </a:t>
                      </a:r>
                      <a:r>
                        <a:rPr lang="en-US" baseline="0" dirty="0">
                          <a:solidFill>
                            <a:srgbClr val="00FF00"/>
                          </a:solidFill>
                        </a:rPr>
                        <a:t>Coefficient</a:t>
                      </a:r>
                      <a:r>
                        <a:rPr lang="en-US" baseline="0" dirty="0">
                          <a:solidFill>
                            <a:schemeClr val="bg1"/>
                          </a:solidFill>
                        </a:rPr>
                        <a:t>,</a:t>
                      </a:r>
                      <a:br>
                        <a:rPr lang="en-US" baseline="0" dirty="0">
                          <a:solidFill>
                            <a:schemeClr val="bg1"/>
                          </a:solidFill>
                        </a:rPr>
                      </a:br>
                      <a:r>
                        <a:rPr lang="en-US" baseline="0" dirty="0">
                          <a:solidFill>
                            <a:schemeClr val="bg1"/>
                          </a:solidFill>
                        </a:rPr>
                        <a:t>(</a:t>
                      </a:r>
                      <a:r>
                        <a:rPr lang="en-US" baseline="0" dirty="0">
                          <a:solidFill>
                            <a:srgbClr val="00FF00"/>
                          </a:solidFill>
                        </a:rPr>
                        <a:t>Mantissa</a:t>
                      </a:r>
                      <a:r>
                        <a:rPr lang="en-US" baseline="0" dirty="0">
                          <a:solidFill>
                            <a:schemeClr val="bg1"/>
                          </a:solidFill>
                        </a:rPr>
                        <a:t> is obsolete term)</a:t>
                      </a:r>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5307444"/>
                  </a:ext>
                </a:extLst>
              </a:tr>
              <a:tr h="37084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i="1" kern="1200" baseline="0" dirty="0">
                          <a:solidFill>
                            <a:schemeClr val="bg1"/>
                          </a:solidFill>
                          <a:latin typeface="+mj-lt"/>
                          <a:ea typeface="+mn-ea"/>
                          <a:cs typeface="+mn-cs"/>
                        </a:rPr>
                        <a:t>Part Property</a:t>
                      </a:r>
                    </a:p>
                  </a:txBody>
                  <a:tcP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baseline="0" dirty="0">
                          <a:solidFill>
                            <a:schemeClr val="bg1"/>
                          </a:solidFill>
                        </a:rPr>
                        <a:t>Number greater than or equal to 1.0 and less than 10. This number properly express significant digits</a:t>
                      </a:r>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30359962"/>
                  </a:ext>
                </a:extLst>
              </a:tr>
              <a:tr h="370840">
                <a:tc>
                  <a:txBody>
                    <a:bodyPr/>
                    <a:lstStyle/>
                    <a:p>
                      <a:pPr algn="r"/>
                      <a:endParaRPr lang="en-US" sz="1400" i="1" baseline="0" dirty="0">
                        <a:solidFill>
                          <a:schemeClr val="bg1"/>
                        </a:solidFill>
                        <a:highlight>
                          <a:srgbClr val="CCFFFF"/>
                        </a:highlight>
                        <a:latin typeface="+mj-lt"/>
                      </a:endParaRPr>
                    </a:p>
                  </a:txBody>
                  <a:tcP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a:txBody>
                    <a:bodyPr/>
                    <a:lstStyle/>
                    <a:p>
                      <a:endParaRPr lang="en-US" baseline="0" dirty="0">
                        <a:solidFill>
                          <a:schemeClr val="bg1"/>
                        </a:solidFill>
                        <a:highlight>
                          <a:srgbClr val="CCFFFF"/>
                        </a:highlight>
                      </a:endParaRPr>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3176547581"/>
                  </a:ext>
                </a:extLst>
              </a:tr>
              <a:tr h="370840">
                <a:tc>
                  <a:txBody>
                    <a:bodyPr/>
                    <a:lstStyle/>
                    <a:p>
                      <a:pPr algn="r"/>
                      <a:r>
                        <a:rPr lang="en-US" sz="1400" i="1" kern="1200" dirty="0">
                          <a:solidFill>
                            <a:schemeClr val="bg1"/>
                          </a:solidFill>
                          <a:latin typeface="+mj-lt"/>
                          <a:ea typeface="+mn-ea"/>
                          <a:cs typeface="+mn-cs"/>
                        </a:rPr>
                        <a:t>Part</a:t>
                      </a:r>
                      <a:endParaRPr lang="en-US" sz="1400" i="1" baseline="0" dirty="0">
                        <a:solidFill>
                          <a:schemeClr val="bg1"/>
                        </a:solidFill>
                        <a:latin typeface="+mj-lt"/>
                      </a:endParaRPr>
                    </a:p>
                  </a:txBody>
                  <a:tcP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accent1">
                              <a:lumMod val="60000"/>
                              <a:lumOff val="40000"/>
                            </a:schemeClr>
                          </a:solidFill>
                        </a:rPr>
                        <a:t>10</a:t>
                      </a:r>
                      <a:r>
                        <a:rPr lang="en-US" i="1" baseline="30000" dirty="0">
                          <a:solidFill>
                            <a:schemeClr val="accent1">
                              <a:lumMod val="60000"/>
                              <a:lumOff val="40000"/>
                            </a:schemeClr>
                          </a:solidFill>
                        </a:rPr>
                        <a:t>n</a:t>
                      </a:r>
                      <a:endParaRPr lang="en-US" baseline="0" dirty="0">
                        <a:solidFill>
                          <a:schemeClr val="accent1">
                            <a:lumMod val="60000"/>
                            <a:lumOff val="40000"/>
                          </a:schemeClr>
                        </a:solidFill>
                      </a:endParaRPr>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069714395"/>
                  </a:ext>
                </a:extLst>
              </a:tr>
              <a:tr h="370840">
                <a:tc>
                  <a:txBody>
                    <a:bodyPr/>
                    <a:lstStyle/>
                    <a:p>
                      <a:pPr algn="r"/>
                      <a:r>
                        <a:rPr lang="en-US" sz="1400" i="1" baseline="0" dirty="0">
                          <a:solidFill>
                            <a:schemeClr val="bg1"/>
                          </a:solidFill>
                          <a:latin typeface="+mj-lt"/>
                        </a:rPr>
                        <a:t>Part Name</a:t>
                      </a:r>
                    </a:p>
                  </a:txBody>
                  <a:tcP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baseline="0" dirty="0">
                          <a:solidFill>
                            <a:srgbClr val="00FF00"/>
                          </a:solidFill>
                        </a:rPr>
                        <a:t>Exponent</a:t>
                      </a:r>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6812982"/>
                  </a:ext>
                </a:extLst>
              </a:tr>
              <a:tr h="370840">
                <a:tc>
                  <a:txBody>
                    <a:bodyPr/>
                    <a:lstStyle/>
                    <a:p>
                      <a:pPr algn="r"/>
                      <a:r>
                        <a:rPr lang="en-US" sz="1400" i="1" baseline="0" dirty="0">
                          <a:solidFill>
                            <a:schemeClr val="bg1"/>
                          </a:solidFill>
                          <a:latin typeface="+mj-lt"/>
                        </a:rPr>
                        <a:t>Part Property</a:t>
                      </a:r>
                    </a:p>
                  </a:txBody>
                  <a:tcP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baseline="0" dirty="0">
                          <a:solidFill>
                            <a:schemeClr val="bg1"/>
                          </a:solidFill>
                        </a:rPr>
                        <a:t>Exponent of 10 where </a:t>
                      </a:r>
                      <a:r>
                        <a:rPr lang="en-US" b="1" i="1" baseline="0" dirty="0">
                          <a:solidFill>
                            <a:schemeClr val="bg1"/>
                          </a:solidFill>
                        </a:rPr>
                        <a:t>n</a:t>
                      </a:r>
                      <a:r>
                        <a:rPr lang="en-US" baseline="0" dirty="0">
                          <a:solidFill>
                            <a:schemeClr val="bg1"/>
                          </a:solidFill>
                        </a:rPr>
                        <a:t> is integer, negative, positive (note 10</a:t>
                      </a:r>
                      <a:r>
                        <a:rPr lang="en-US" baseline="30000" dirty="0">
                          <a:solidFill>
                            <a:schemeClr val="bg1"/>
                          </a:solidFill>
                        </a:rPr>
                        <a:t>0 </a:t>
                      </a:r>
                      <a:r>
                        <a:rPr lang="en-US" baseline="0" dirty="0">
                          <a:solidFill>
                            <a:schemeClr val="bg1"/>
                          </a:solidFill>
                        </a:rPr>
                        <a:t>= 1)</a:t>
                      </a:r>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089654392"/>
                  </a:ext>
                </a:extLst>
              </a:tr>
            </a:tbl>
          </a:graphicData>
        </a:graphic>
      </p:graphicFrame>
      <p:sp>
        <p:nvSpPr>
          <p:cNvPr id="2" name="Slide Number Placeholder 1">
            <a:extLst>
              <a:ext uri="{FF2B5EF4-FFF2-40B4-BE49-F238E27FC236}">
                <a16:creationId xmlns:a16="http://schemas.microsoft.com/office/drawing/2014/main" id="{A5617045-B8ED-73B5-DB75-92EB2690CAB8}"/>
              </a:ext>
            </a:extLst>
          </p:cNvPr>
          <p:cNvSpPr>
            <a:spLocks noGrp="1"/>
          </p:cNvSpPr>
          <p:nvPr>
            <p:ph type="sldNum" sz="quarter" idx="10"/>
          </p:nvPr>
        </p:nvSpPr>
        <p:spPr/>
        <p:txBody>
          <a:bodyPr/>
          <a:lstStyle/>
          <a:p>
            <a:fld id="{12356DF5-CFED-4016-A2DB-A70AC2735480}" type="slidenum">
              <a:rPr lang="en-US" smtClean="0"/>
              <a:pPr/>
              <a:t>5</a:t>
            </a:fld>
            <a:endParaRPr lang="en-US" dirty="0">
              <a:solidFill>
                <a:schemeClr val="bg1"/>
              </a:solidFill>
            </a:endParaRPr>
          </a:p>
        </p:txBody>
      </p:sp>
    </p:spTree>
    <p:extLst>
      <p:ext uri="{BB962C8B-B14F-4D97-AF65-F5344CB8AC3E}">
        <p14:creationId xmlns:p14="http://schemas.microsoft.com/office/powerpoint/2010/main" val="2250512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1959E-745A-4A0C-E428-61A4125DAF8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00F4236-4C5B-E69D-23A9-011EA11E724A}"/>
              </a:ext>
            </a:extLst>
          </p:cNvPr>
          <p:cNvSpPr>
            <a:spLocks noGrp="1"/>
          </p:cNvSpPr>
          <p:nvPr>
            <p:ph type="title"/>
          </p:nvPr>
        </p:nvSpPr>
        <p:spPr>
          <a:xfrm>
            <a:off x="364067" y="306073"/>
            <a:ext cx="8421512" cy="707886"/>
          </a:xfrm>
        </p:spPr>
        <p:txBody>
          <a:bodyPr/>
          <a:lstStyle/>
          <a:p>
            <a:r>
              <a:rPr lang="en-US" sz="4000" dirty="0"/>
              <a:t>Scientific Notation</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5714C4C0-0FC0-AD06-D333-60BD008C05EC}"/>
                  </a:ext>
                </a:extLst>
              </p:cNvPr>
              <p:cNvSpPr>
                <a:spLocks noGrp="1"/>
              </p:cNvSpPr>
              <p:nvPr>
                <p:ph idx="1"/>
              </p:nvPr>
            </p:nvSpPr>
            <p:spPr/>
            <p:txBody>
              <a:bodyPr/>
              <a:lstStyle/>
              <a:p>
                <a:pPr marL="0" indent="0">
                  <a:buNone/>
                </a:pPr>
                <a:r>
                  <a:rPr lang="en-US" i="1" dirty="0"/>
                  <a:t>decimal point moves to right</a:t>
                </a:r>
              </a:p>
              <a:p>
                <a:pPr marL="0" indent="0">
                  <a:buNone/>
                </a:pPr>
                <a:r>
                  <a:rPr lang="en-US" dirty="0"/>
                  <a:t>1. = 10</a:t>
                </a:r>
                <a:r>
                  <a:rPr lang="en-US" baseline="30000" dirty="0"/>
                  <a:t>0</a:t>
                </a:r>
              </a:p>
              <a:p>
                <a:pPr marL="0" indent="0">
                  <a:buNone/>
                </a:pPr>
                <a:r>
                  <a:rPr lang="en-US" dirty="0"/>
                  <a:t>10. = 10</a:t>
                </a:r>
                <a:r>
                  <a:rPr lang="en-US" baseline="30000" dirty="0"/>
                  <a:t>1</a:t>
                </a:r>
              </a:p>
              <a:p>
                <a:pPr marL="0" indent="0">
                  <a:buNone/>
                </a:pPr>
                <a:r>
                  <a:rPr lang="en-US" dirty="0"/>
                  <a:t>100. = 10</a:t>
                </a:r>
                <a:r>
                  <a:rPr lang="en-US" baseline="30000" dirty="0"/>
                  <a:t>2</a:t>
                </a:r>
              </a:p>
              <a:p>
                <a:pPr marL="0" indent="0">
                  <a:buNone/>
                </a:pPr>
                <a:endParaRPr lang="en-US" baseline="30000" dirty="0"/>
              </a:p>
              <a:p>
                <a:pPr marL="0" indent="0">
                  <a:buNone/>
                </a:pPr>
                <a:r>
                  <a:rPr lang="en-US" i="1" dirty="0"/>
                  <a:t>decimal point moves to left</a:t>
                </a:r>
              </a:p>
              <a:p>
                <a:pPr marL="0" indent="0">
                  <a:buNone/>
                </a:pPr>
                <a:r>
                  <a:rPr lang="en-US" dirty="0"/>
                  <a:t>0.1 = 10</a:t>
                </a:r>
                <a:r>
                  <a:rPr lang="en-US" baseline="30000" dirty="0"/>
                  <a:t>-1 </a:t>
                </a:r>
                <a:r>
                  <a:rPr lang="en-US" dirty="0"/>
                  <a:t>= 1/10 =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10</m:t>
                        </m:r>
                      </m:den>
                    </m:f>
                  </m:oMath>
                </a14:m>
                <a:r>
                  <a:rPr lang="en-US" baseline="30000" dirty="0"/>
                  <a:t> </a:t>
                </a:r>
                <a:r>
                  <a:rPr lang="en-US" sz="1600" dirty="0"/>
                  <a:t> (expressed in various ways)</a:t>
                </a:r>
                <a:endParaRPr lang="en-US" baseline="30000" dirty="0"/>
              </a:p>
              <a:p>
                <a:pPr marL="0" indent="0">
                  <a:buNone/>
                </a:pPr>
                <a:r>
                  <a:rPr lang="en-US" dirty="0"/>
                  <a:t>0.01 = 10</a:t>
                </a:r>
                <a:r>
                  <a:rPr lang="en-US" baseline="30000" dirty="0"/>
                  <a:t>-2</a:t>
                </a:r>
                <a:r>
                  <a:rPr lang="en-US" dirty="0"/>
                  <a:t> = 1/100 =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10</m:t>
                        </m:r>
                        <m:r>
                          <a:rPr lang="en-US" b="0" i="1" smtClean="0">
                            <a:latin typeface="Cambria Math" panose="02040503050406030204" pitchFamily="18" charset="0"/>
                          </a:rPr>
                          <m:t>0</m:t>
                        </m:r>
                      </m:den>
                    </m:f>
                  </m:oMath>
                </a14:m>
                <a:endParaRPr lang="en-US" baseline="30000" dirty="0"/>
              </a:p>
              <a:p>
                <a:pPr marL="0" indent="0">
                  <a:buNone/>
                </a:pPr>
                <a:r>
                  <a:rPr lang="en-US" dirty="0"/>
                  <a:t>0.001 = 10</a:t>
                </a:r>
                <a:r>
                  <a:rPr lang="en-US" baseline="30000" dirty="0"/>
                  <a:t>-3</a:t>
                </a:r>
                <a:r>
                  <a:rPr lang="en-US" dirty="0"/>
                  <a:t> = 1/1000 =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100</m:t>
                        </m:r>
                        <m:r>
                          <a:rPr lang="en-US" b="0" i="1" smtClean="0">
                            <a:latin typeface="Cambria Math" panose="02040503050406030204" pitchFamily="18" charset="0"/>
                          </a:rPr>
                          <m:t>0</m:t>
                        </m:r>
                      </m:den>
                    </m:f>
                  </m:oMath>
                </a14:m>
                <a:endParaRPr lang="en-US" baseline="30000" dirty="0"/>
              </a:p>
              <a:p>
                <a:pPr marL="0" indent="0">
                  <a:buNone/>
                </a:pPr>
                <a:endParaRPr lang="en-US" baseline="30000" dirty="0"/>
              </a:p>
              <a:p>
                <a:pPr marL="0" indent="0">
                  <a:buNone/>
                </a:pPr>
                <a:endParaRPr lang="en-US" dirty="0"/>
              </a:p>
              <a:p>
                <a:pPr marL="0" indent="0">
                  <a:buNone/>
                </a:pPr>
                <a:endParaRPr lang="en-US" dirty="0"/>
              </a:p>
              <a:p>
                <a:pPr marL="0" indent="0">
                  <a:buNone/>
                </a:pPr>
                <a:endParaRPr lang="en-US" dirty="0"/>
              </a:p>
              <a:p>
                <a:pPr marL="0" indent="0">
                  <a:buNone/>
                </a:pPr>
                <a:r>
                  <a:rPr lang="en-US" dirty="0"/>
                  <a:t>1 atmosphere (atm) = 101,325 Pascals (Pa)</a:t>
                </a:r>
              </a:p>
              <a:p>
                <a:pPr marL="0" indent="0">
                  <a:buNone/>
                </a:pPr>
                <a:endParaRPr lang="en-US" dirty="0"/>
              </a:p>
              <a:p>
                <a:pPr marL="0" indent="0">
                  <a:buNone/>
                </a:pPr>
                <a:endParaRPr lang="en-US" dirty="0"/>
              </a:p>
            </p:txBody>
          </p:sp>
        </mc:Choice>
        <mc:Fallback xmlns="">
          <p:sp>
            <p:nvSpPr>
              <p:cNvPr id="6" name="Content Placeholder 5">
                <a:extLst>
                  <a:ext uri="{FF2B5EF4-FFF2-40B4-BE49-F238E27FC236}">
                    <a16:creationId xmlns:a16="http://schemas.microsoft.com/office/drawing/2014/main" id="{5714C4C0-0FC0-AD06-D333-60BD008C05EC}"/>
                  </a:ext>
                </a:extLst>
              </p:cNvPr>
              <p:cNvSpPr>
                <a:spLocks noGrp="1" noRot="1" noChangeAspect="1" noMove="1" noResize="1" noEditPoints="1" noAdjustHandles="1" noChangeArrowheads="1" noChangeShapeType="1" noTextEdit="1"/>
              </p:cNvSpPr>
              <p:nvPr>
                <p:ph idx="1"/>
              </p:nvPr>
            </p:nvSpPr>
            <p:spPr>
              <a:blipFill>
                <a:blip r:embed="rId2"/>
                <a:stretch>
                  <a:fillRect l="-1090" t="-936" b="-25848"/>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1215939E-483E-1464-A6EA-89B5C0CDEC26}"/>
              </a:ext>
            </a:extLst>
          </p:cNvPr>
          <p:cNvSpPr>
            <a:spLocks noGrp="1"/>
          </p:cNvSpPr>
          <p:nvPr>
            <p:ph type="sldNum" sz="quarter" idx="10"/>
          </p:nvPr>
        </p:nvSpPr>
        <p:spPr/>
        <p:txBody>
          <a:bodyPr/>
          <a:lstStyle/>
          <a:p>
            <a:fld id="{12356DF5-CFED-4016-A2DB-A70AC2735480}" type="slidenum">
              <a:rPr lang="en-US" smtClean="0"/>
              <a:pPr/>
              <a:t>6</a:t>
            </a:fld>
            <a:endParaRPr lang="en-US" dirty="0">
              <a:solidFill>
                <a:schemeClr val="bg1"/>
              </a:solidFill>
            </a:endParaRPr>
          </a:p>
        </p:txBody>
      </p:sp>
    </p:spTree>
    <p:extLst>
      <p:ext uri="{BB962C8B-B14F-4D97-AF65-F5344CB8AC3E}">
        <p14:creationId xmlns:p14="http://schemas.microsoft.com/office/powerpoint/2010/main" val="2418379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E585-F6CF-2289-94C3-09C95BC3872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4E6858C-2677-DC0D-2C5A-CB3A87F499DD}"/>
              </a:ext>
            </a:extLst>
          </p:cNvPr>
          <p:cNvSpPr>
            <a:spLocks noGrp="1"/>
          </p:cNvSpPr>
          <p:nvPr>
            <p:ph type="title"/>
          </p:nvPr>
        </p:nvSpPr>
        <p:spPr>
          <a:xfrm>
            <a:off x="364067" y="306073"/>
            <a:ext cx="8421512" cy="707886"/>
          </a:xfrm>
        </p:spPr>
        <p:txBody>
          <a:bodyPr/>
          <a:lstStyle/>
          <a:p>
            <a:r>
              <a:rPr lang="en-US" sz="4000" dirty="0"/>
              <a:t>Scientific Notation</a:t>
            </a:r>
          </a:p>
        </p:txBody>
      </p:sp>
      <p:sp>
        <p:nvSpPr>
          <p:cNvPr id="6" name="Content Placeholder 5">
            <a:extLst>
              <a:ext uri="{FF2B5EF4-FFF2-40B4-BE49-F238E27FC236}">
                <a16:creationId xmlns:a16="http://schemas.microsoft.com/office/drawing/2014/main" id="{90581C6D-B61A-DEEE-7785-FAED8AA4FD5D}"/>
              </a:ext>
            </a:extLst>
          </p:cNvPr>
          <p:cNvSpPr>
            <a:spLocks noGrp="1"/>
          </p:cNvSpPr>
          <p:nvPr>
            <p:ph idx="1"/>
          </p:nvPr>
        </p:nvSpPr>
        <p:spPr/>
        <p:txBody>
          <a:bodyPr/>
          <a:lstStyle/>
          <a:p>
            <a:pPr marL="457200" indent="-457200">
              <a:buFont typeface="+mj-lt"/>
              <a:buAutoNum type="arabicPeriod"/>
            </a:pPr>
            <a:r>
              <a:rPr lang="en-US" dirty="0"/>
              <a:t>Is the number less than 10 and greater than 1?</a:t>
            </a:r>
          </a:p>
          <a:p>
            <a:pPr marL="236538" lvl="1" indent="0">
              <a:buNone/>
            </a:pPr>
            <a:r>
              <a:rPr lang="en-US" sz="1600" dirty="0">
                <a:sym typeface="Wingdings" panose="05000000000000000000" pitchFamily="2" charset="2"/>
              </a:rPr>
              <a:t>You don’t really need scientific notation, because it will be</a:t>
            </a:r>
            <a:br>
              <a:rPr lang="en-US" sz="1600" dirty="0">
                <a:sym typeface="Wingdings" panose="05000000000000000000" pitchFamily="2" charset="2"/>
              </a:rPr>
            </a:br>
            <a:r>
              <a:rPr lang="en-US" sz="1600" dirty="0">
                <a:sym typeface="Wingdings" panose="05000000000000000000" pitchFamily="2" charset="2"/>
              </a:rPr>
              <a:t>[ </a:t>
            </a:r>
            <a:r>
              <a:rPr lang="en-US" sz="1600" i="1" dirty="0" err="1">
                <a:solidFill>
                  <a:schemeClr val="accent1">
                    <a:lumMod val="40000"/>
                    <a:lumOff val="60000"/>
                  </a:schemeClr>
                </a:solidFill>
                <a:sym typeface="Wingdings" panose="05000000000000000000" pitchFamily="2" charset="2"/>
              </a:rPr>
              <a:t>d.mmm</a:t>
            </a:r>
            <a:r>
              <a:rPr lang="en-US" sz="1600" dirty="0">
                <a:sym typeface="Wingdings" panose="05000000000000000000" pitchFamily="2" charset="2"/>
              </a:rPr>
              <a:t> × </a:t>
            </a:r>
            <a:r>
              <a:rPr lang="en-US" sz="1600" dirty="0">
                <a:solidFill>
                  <a:srgbClr val="FFFF00"/>
                </a:solidFill>
                <a:sym typeface="Wingdings" panose="05000000000000000000" pitchFamily="2" charset="2"/>
              </a:rPr>
              <a:t>10</a:t>
            </a:r>
            <a:r>
              <a:rPr lang="en-US" sz="1600" baseline="30000" dirty="0">
                <a:solidFill>
                  <a:srgbClr val="FFFF00"/>
                </a:solidFill>
                <a:sym typeface="Wingdings" panose="05000000000000000000" pitchFamily="2" charset="2"/>
              </a:rPr>
              <a:t>0 </a:t>
            </a:r>
            <a:r>
              <a:rPr lang="en-US" sz="1600" dirty="0">
                <a:sym typeface="Wingdings" panose="05000000000000000000" pitchFamily="2" charset="2"/>
              </a:rPr>
              <a:t>] and 10</a:t>
            </a:r>
            <a:r>
              <a:rPr lang="en-US" sz="1600" baseline="30000" dirty="0">
                <a:sym typeface="Wingdings" panose="05000000000000000000" pitchFamily="2" charset="2"/>
              </a:rPr>
              <a:t>0</a:t>
            </a:r>
            <a:r>
              <a:rPr lang="en-US" sz="1600" dirty="0">
                <a:sym typeface="Wingdings" panose="05000000000000000000" pitchFamily="2" charset="2"/>
              </a:rPr>
              <a:t> = 1, so  </a:t>
            </a:r>
            <a:r>
              <a:rPr lang="en-US" sz="1600" i="1" dirty="0" err="1">
                <a:solidFill>
                  <a:schemeClr val="accent1">
                    <a:lumMod val="60000"/>
                    <a:lumOff val="40000"/>
                  </a:schemeClr>
                </a:solidFill>
                <a:sym typeface="Wingdings" panose="05000000000000000000" pitchFamily="2" charset="2"/>
              </a:rPr>
              <a:t>d.mmm</a:t>
            </a:r>
            <a:endParaRPr lang="en-US" dirty="0"/>
          </a:p>
          <a:p>
            <a:pPr marL="457200" indent="-457200">
              <a:buFont typeface="+mj-lt"/>
              <a:buAutoNum type="arabicPeriod"/>
            </a:pPr>
            <a:r>
              <a:rPr lang="en-US" dirty="0"/>
              <a:t>Otherwise take the number and express as </a:t>
            </a:r>
            <a:r>
              <a:rPr lang="en-US" i="1" dirty="0" err="1">
                <a:solidFill>
                  <a:schemeClr val="accent1">
                    <a:lumMod val="60000"/>
                    <a:lumOff val="40000"/>
                  </a:schemeClr>
                </a:solidFill>
              </a:rPr>
              <a:t>d.mmm</a:t>
            </a:r>
            <a:endParaRPr lang="en-US" dirty="0"/>
          </a:p>
          <a:p>
            <a:pPr marL="457200" indent="-457200">
              <a:buFont typeface="+mj-lt"/>
              <a:buAutoNum type="arabicPeriod"/>
            </a:pPr>
            <a:r>
              <a:rPr lang="en-US" dirty="0"/>
              <a:t>If original number is greater than </a:t>
            </a:r>
            <a:r>
              <a:rPr lang="en-US" i="1" dirty="0" err="1">
                <a:solidFill>
                  <a:schemeClr val="accent1">
                    <a:lumMod val="60000"/>
                    <a:lumOff val="40000"/>
                  </a:schemeClr>
                </a:solidFill>
              </a:rPr>
              <a:t>d.mmm</a:t>
            </a:r>
            <a:br>
              <a:rPr lang="en-US" i="1" dirty="0">
                <a:solidFill>
                  <a:schemeClr val="accent1">
                    <a:lumMod val="60000"/>
                    <a:lumOff val="40000"/>
                  </a:schemeClr>
                </a:solidFill>
              </a:rPr>
            </a:br>
            <a:r>
              <a:rPr lang="en-US" dirty="0"/>
              <a:t>you have to multiply by 10</a:t>
            </a:r>
            <a:r>
              <a:rPr lang="en-US" baseline="30000" dirty="0">
                <a:solidFill>
                  <a:srgbClr val="FF0000"/>
                </a:solidFill>
              </a:rPr>
              <a:t>1</a:t>
            </a:r>
            <a:r>
              <a:rPr lang="en-US" dirty="0"/>
              <a:t> </a:t>
            </a:r>
            <a:r>
              <a:rPr lang="en-US" b="1" i="1" dirty="0">
                <a:solidFill>
                  <a:srgbClr val="FFC000"/>
                </a:solidFill>
              </a:rPr>
              <a:t>n</a:t>
            </a:r>
            <a:r>
              <a:rPr lang="en-US" dirty="0"/>
              <a:t> times to get to original number, so </a:t>
            </a:r>
            <a:r>
              <a:rPr lang="en-US" b="1" i="1" dirty="0">
                <a:solidFill>
                  <a:srgbClr val="FFC000"/>
                </a:solidFill>
              </a:rPr>
              <a:t>n</a:t>
            </a:r>
            <a:r>
              <a:rPr lang="en-US" dirty="0"/>
              <a:t> will be positive (greater than zero):  </a:t>
            </a:r>
            <a:r>
              <a:rPr lang="en-US" b="1" i="1" dirty="0">
                <a:solidFill>
                  <a:srgbClr val="FFC000"/>
                </a:solidFill>
              </a:rPr>
              <a:t>n</a:t>
            </a:r>
            <a:r>
              <a:rPr lang="en-US" dirty="0"/>
              <a:t> × </a:t>
            </a:r>
            <a:r>
              <a:rPr lang="en-US" dirty="0">
                <a:solidFill>
                  <a:srgbClr val="FF0000"/>
                </a:solidFill>
              </a:rPr>
              <a:t>1</a:t>
            </a:r>
            <a:r>
              <a:rPr lang="en-US" dirty="0"/>
              <a:t> = </a:t>
            </a:r>
            <a:r>
              <a:rPr lang="en-US" b="1" i="1" dirty="0">
                <a:solidFill>
                  <a:srgbClr val="FFC000"/>
                </a:solidFill>
              </a:rPr>
              <a:t>n</a:t>
            </a:r>
            <a:r>
              <a:rPr lang="en-US" dirty="0"/>
              <a:t> (greater than zero)</a:t>
            </a:r>
          </a:p>
          <a:p>
            <a:pPr marL="457200" indent="-457200">
              <a:buFont typeface="+mj-lt"/>
              <a:buAutoNum type="arabicPeriod"/>
            </a:pPr>
            <a:r>
              <a:rPr lang="en-US" dirty="0"/>
              <a:t>If original number less than </a:t>
            </a:r>
            <a:r>
              <a:rPr lang="en-US" i="1" dirty="0" err="1">
                <a:solidFill>
                  <a:schemeClr val="accent1">
                    <a:lumMod val="60000"/>
                    <a:lumOff val="40000"/>
                  </a:schemeClr>
                </a:solidFill>
              </a:rPr>
              <a:t>d.mmm</a:t>
            </a:r>
            <a:br>
              <a:rPr lang="en-US" i="1" dirty="0">
                <a:solidFill>
                  <a:schemeClr val="accent1">
                    <a:lumMod val="60000"/>
                    <a:lumOff val="40000"/>
                  </a:schemeClr>
                </a:solidFill>
              </a:rPr>
            </a:br>
            <a:r>
              <a:rPr lang="en-US" dirty="0"/>
              <a:t>you have to multiply by 10</a:t>
            </a:r>
            <a:r>
              <a:rPr lang="en-US" baseline="30000" dirty="0">
                <a:solidFill>
                  <a:srgbClr val="FF0000"/>
                </a:solidFill>
              </a:rPr>
              <a:t>-1</a:t>
            </a:r>
            <a:r>
              <a:rPr lang="en-US" dirty="0"/>
              <a:t> </a:t>
            </a:r>
            <a:r>
              <a:rPr lang="en-US" b="1" i="1" dirty="0">
                <a:solidFill>
                  <a:srgbClr val="FFC000"/>
                </a:solidFill>
              </a:rPr>
              <a:t>n</a:t>
            </a:r>
            <a:r>
              <a:rPr lang="en-US" dirty="0"/>
              <a:t> times to get to original number, so </a:t>
            </a:r>
            <a:r>
              <a:rPr lang="en-US" b="1" i="1" dirty="0">
                <a:solidFill>
                  <a:srgbClr val="FFC000"/>
                </a:solidFill>
              </a:rPr>
              <a:t>n</a:t>
            </a:r>
            <a:r>
              <a:rPr lang="en-US" dirty="0"/>
              <a:t> will be positive (greater than zero): </a:t>
            </a:r>
            <a:r>
              <a:rPr lang="en-US" b="1" i="1" dirty="0">
                <a:solidFill>
                  <a:srgbClr val="FFC000"/>
                </a:solidFill>
              </a:rPr>
              <a:t>n</a:t>
            </a:r>
            <a:r>
              <a:rPr lang="en-US" dirty="0"/>
              <a:t> × -1 = -</a:t>
            </a:r>
            <a:r>
              <a:rPr lang="en-US" b="1" i="1" dirty="0">
                <a:solidFill>
                  <a:srgbClr val="FFC000"/>
                </a:solidFill>
              </a:rPr>
              <a:t>n</a:t>
            </a:r>
            <a:r>
              <a:rPr lang="en-US" dirty="0"/>
              <a:t> (less than zero)</a:t>
            </a:r>
          </a:p>
        </p:txBody>
      </p:sp>
      <p:sp>
        <p:nvSpPr>
          <p:cNvPr id="2" name="Slide Number Placeholder 1">
            <a:extLst>
              <a:ext uri="{FF2B5EF4-FFF2-40B4-BE49-F238E27FC236}">
                <a16:creationId xmlns:a16="http://schemas.microsoft.com/office/drawing/2014/main" id="{3CEC7A6C-02B1-E518-5DE0-4809AF66E382}"/>
              </a:ext>
            </a:extLst>
          </p:cNvPr>
          <p:cNvSpPr>
            <a:spLocks noGrp="1"/>
          </p:cNvSpPr>
          <p:nvPr>
            <p:ph type="sldNum" sz="quarter" idx="10"/>
          </p:nvPr>
        </p:nvSpPr>
        <p:spPr/>
        <p:txBody>
          <a:bodyPr/>
          <a:lstStyle/>
          <a:p>
            <a:fld id="{12356DF5-CFED-4016-A2DB-A70AC2735480}" type="slidenum">
              <a:rPr lang="en-US" smtClean="0"/>
              <a:pPr/>
              <a:t>7</a:t>
            </a:fld>
            <a:endParaRPr lang="en-US" dirty="0">
              <a:solidFill>
                <a:schemeClr val="bg1"/>
              </a:solidFill>
            </a:endParaRPr>
          </a:p>
        </p:txBody>
      </p:sp>
    </p:spTree>
    <p:extLst>
      <p:ext uri="{BB962C8B-B14F-4D97-AF65-F5344CB8AC3E}">
        <p14:creationId xmlns:p14="http://schemas.microsoft.com/office/powerpoint/2010/main" val="2668841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68779-4EDB-73EF-F2DD-8DF4B9DEFA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9881640-7A93-C008-8C67-C8343169ECDA}"/>
              </a:ext>
            </a:extLst>
          </p:cNvPr>
          <p:cNvSpPr>
            <a:spLocks noGrp="1"/>
          </p:cNvSpPr>
          <p:nvPr>
            <p:ph type="title"/>
          </p:nvPr>
        </p:nvSpPr>
        <p:spPr>
          <a:xfrm>
            <a:off x="364067" y="306073"/>
            <a:ext cx="8421512" cy="707886"/>
          </a:xfrm>
        </p:spPr>
        <p:txBody>
          <a:bodyPr/>
          <a:lstStyle/>
          <a:p>
            <a:r>
              <a:rPr lang="en-US" sz="4000" dirty="0"/>
              <a:t>Scientific Notation</a:t>
            </a:r>
          </a:p>
        </p:txBody>
      </p:sp>
      <p:sp>
        <p:nvSpPr>
          <p:cNvPr id="6" name="Content Placeholder 5">
            <a:extLst>
              <a:ext uri="{FF2B5EF4-FFF2-40B4-BE49-F238E27FC236}">
                <a16:creationId xmlns:a16="http://schemas.microsoft.com/office/drawing/2014/main" id="{148A2FE8-92B0-0B37-8B3F-369042D94910}"/>
              </a:ext>
            </a:extLst>
          </p:cNvPr>
          <p:cNvSpPr>
            <a:spLocks noGrp="1"/>
          </p:cNvSpPr>
          <p:nvPr>
            <p:ph idx="1"/>
          </p:nvPr>
        </p:nvSpPr>
        <p:spPr/>
        <p:txBody>
          <a:bodyPr/>
          <a:lstStyle/>
          <a:p>
            <a:pPr marL="0" indent="0">
              <a:buNone/>
            </a:pPr>
            <a:r>
              <a:rPr lang="en-US" sz="1800" i="1" dirty="0">
                <a:solidFill>
                  <a:srgbClr val="CC99FF"/>
                </a:solidFill>
              </a:rPr>
              <a:t>Reiterating #3</a:t>
            </a:r>
          </a:p>
          <a:p>
            <a:pPr marL="457200" indent="-457200">
              <a:buFont typeface="+mj-lt"/>
              <a:buAutoNum type="arabicPeriod" startAt="3"/>
            </a:pPr>
            <a:r>
              <a:rPr lang="en-US" dirty="0"/>
              <a:t>If original number is </a:t>
            </a:r>
            <a:r>
              <a:rPr lang="en-US" i="1" u="sng" dirty="0"/>
              <a:t>greater than</a:t>
            </a:r>
            <a:r>
              <a:rPr lang="en-US" dirty="0"/>
              <a:t> </a:t>
            </a:r>
            <a:r>
              <a:rPr lang="en-US" i="1" dirty="0" err="1">
                <a:solidFill>
                  <a:schemeClr val="accent1">
                    <a:lumMod val="60000"/>
                    <a:lumOff val="40000"/>
                  </a:schemeClr>
                </a:solidFill>
              </a:rPr>
              <a:t>d.mmm</a:t>
            </a:r>
            <a:br>
              <a:rPr lang="en-US" i="1" dirty="0">
                <a:solidFill>
                  <a:schemeClr val="accent1">
                    <a:lumMod val="60000"/>
                    <a:lumOff val="40000"/>
                  </a:schemeClr>
                </a:solidFill>
              </a:rPr>
            </a:br>
            <a:r>
              <a:rPr lang="en-US" dirty="0"/>
              <a:t>you have to multiply by 10</a:t>
            </a:r>
            <a:r>
              <a:rPr lang="en-US" baseline="30000" dirty="0">
                <a:solidFill>
                  <a:srgbClr val="FF0000"/>
                </a:solidFill>
              </a:rPr>
              <a:t>1</a:t>
            </a:r>
            <a:r>
              <a:rPr lang="en-US" dirty="0"/>
              <a:t> </a:t>
            </a:r>
            <a:r>
              <a:rPr lang="en-US" b="1" i="1" dirty="0">
                <a:solidFill>
                  <a:srgbClr val="FFC000"/>
                </a:solidFill>
              </a:rPr>
              <a:t>n</a:t>
            </a:r>
            <a:r>
              <a:rPr lang="en-US" dirty="0"/>
              <a:t> times to get to original number, so </a:t>
            </a:r>
            <a:r>
              <a:rPr lang="en-US" b="1" i="1" dirty="0">
                <a:solidFill>
                  <a:srgbClr val="FFC000"/>
                </a:solidFill>
              </a:rPr>
              <a:t>n</a:t>
            </a:r>
            <a:r>
              <a:rPr lang="en-US" dirty="0"/>
              <a:t> will be positive (greater than zero):  </a:t>
            </a:r>
            <a:r>
              <a:rPr lang="en-US" b="1" i="1" dirty="0">
                <a:solidFill>
                  <a:srgbClr val="FFC000"/>
                </a:solidFill>
              </a:rPr>
              <a:t>n</a:t>
            </a:r>
            <a:r>
              <a:rPr lang="en-US" dirty="0"/>
              <a:t> × </a:t>
            </a:r>
            <a:r>
              <a:rPr lang="en-US" dirty="0">
                <a:solidFill>
                  <a:srgbClr val="FF0000"/>
                </a:solidFill>
              </a:rPr>
              <a:t>1</a:t>
            </a:r>
            <a:r>
              <a:rPr lang="en-US" dirty="0"/>
              <a:t> = +</a:t>
            </a:r>
            <a:r>
              <a:rPr lang="en-US" b="1" i="1" dirty="0">
                <a:solidFill>
                  <a:srgbClr val="FFC000"/>
                </a:solidFill>
              </a:rPr>
              <a:t>n</a:t>
            </a:r>
            <a:endParaRPr lang="en-US" dirty="0"/>
          </a:p>
          <a:p>
            <a:pPr marL="0" indent="0">
              <a:buNone/>
            </a:pPr>
            <a:r>
              <a:rPr lang="en-US" dirty="0"/>
              <a:t>Your book: “if you moved decimal point to the left </a:t>
            </a:r>
            <a:r>
              <a:rPr lang="en-US" b="1" i="1" dirty="0">
                <a:solidFill>
                  <a:srgbClr val="FFC000"/>
                </a:solidFill>
              </a:rPr>
              <a:t>n</a:t>
            </a:r>
            <a:r>
              <a:rPr lang="en-US" dirty="0"/>
              <a:t> places, then </a:t>
            </a:r>
            <a:r>
              <a:rPr lang="en-US" b="1" i="1" dirty="0">
                <a:solidFill>
                  <a:srgbClr val="FFC000"/>
                </a:solidFill>
              </a:rPr>
              <a:t>n</a:t>
            </a:r>
            <a:r>
              <a:rPr lang="en-US" dirty="0"/>
              <a:t> is positive”</a:t>
            </a:r>
          </a:p>
          <a:p>
            <a:pPr marL="0" indent="0" defTabSz="512763">
              <a:buNone/>
            </a:pPr>
            <a:r>
              <a:rPr lang="en-US" dirty="0"/>
              <a:t>	35 </a:t>
            </a:r>
            <a:r>
              <a:rPr lang="en-US" dirty="0">
                <a:sym typeface="Wingdings" panose="05000000000000000000" pitchFamily="2" charset="2"/>
              </a:rPr>
              <a:t> 35.  3.5   </a:t>
            </a:r>
            <a:r>
              <a:rPr lang="en-US" i="1" dirty="0">
                <a:latin typeface="+mj-lt"/>
                <a:sym typeface="Wingdings" panose="05000000000000000000" pitchFamily="2" charset="2"/>
              </a:rPr>
              <a:t>moved to left 1 place</a:t>
            </a:r>
          </a:p>
          <a:p>
            <a:pPr marL="0" indent="0" defTabSz="512763">
              <a:buNone/>
            </a:pPr>
            <a:r>
              <a:rPr lang="en-US" dirty="0">
                <a:sym typeface="Wingdings" panose="05000000000000000000" pitchFamily="2" charset="2"/>
              </a:rPr>
              <a:t>	3.5 × 10</a:t>
            </a:r>
            <a:r>
              <a:rPr lang="en-US" baseline="30000" dirty="0">
                <a:sym typeface="Wingdings" panose="05000000000000000000" pitchFamily="2" charset="2"/>
              </a:rPr>
              <a:t>1</a:t>
            </a:r>
          </a:p>
          <a:p>
            <a:pPr marL="0" indent="0" defTabSz="512763">
              <a:buNone/>
            </a:pPr>
            <a:endParaRPr lang="en-US" baseline="30000" dirty="0">
              <a:sym typeface="Wingdings" panose="05000000000000000000" pitchFamily="2" charset="2"/>
            </a:endParaRPr>
          </a:p>
          <a:p>
            <a:pPr marL="0" indent="0" defTabSz="512763">
              <a:buNone/>
            </a:pPr>
            <a:r>
              <a:rPr lang="en-US" dirty="0"/>
              <a:t>	23849 </a:t>
            </a:r>
            <a:r>
              <a:rPr lang="en-US" dirty="0">
                <a:sym typeface="Wingdings" panose="05000000000000000000" pitchFamily="2" charset="2"/>
              </a:rPr>
              <a:t> 23849.  2.3849 </a:t>
            </a:r>
            <a:r>
              <a:rPr lang="en-US" i="1" dirty="0">
                <a:latin typeface="+mj-lt"/>
                <a:sym typeface="Wingdings" panose="05000000000000000000" pitchFamily="2" charset="2"/>
              </a:rPr>
              <a:t>moved to left 4 places</a:t>
            </a:r>
          </a:p>
          <a:p>
            <a:pPr marL="0" indent="0" defTabSz="512763">
              <a:buNone/>
            </a:pPr>
            <a:r>
              <a:rPr lang="en-US" dirty="0">
                <a:sym typeface="Wingdings" panose="05000000000000000000" pitchFamily="2" charset="2"/>
              </a:rPr>
              <a:t>	2.3849 × 10</a:t>
            </a:r>
            <a:r>
              <a:rPr lang="en-US" baseline="30000" dirty="0">
                <a:sym typeface="Wingdings" panose="05000000000000000000" pitchFamily="2" charset="2"/>
              </a:rPr>
              <a:t>4</a:t>
            </a:r>
          </a:p>
          <a:p>
            <a:pPr marL="0" indent="0">
              <a:buNone/>
            </a:pPr>
            <a:endParaRPr lang="en-US" baseline="30000" dirty="0">
              <a:sym typeface="Wingdings" panose="05000000000000000000" pitchFamily="2" charset="2"/>
            </a:endParaRPr>
          </a:p>
          <a:p>
            <a:pPr marL="0" indent="0">
              <a:buNone/>
            </a:pPr>
            <a:r>
              <a:rPr lang="en-US" baseline="30000" dirty="0">
                <a:sym typeface="Wingdings" panose="05000000000000000000" pitchFamily="2" charset="2"/>
              </a:rPr>
              <a:t>	</a:t>
            </a:r>
          </a:p>
        </p:txBody>
      </p:sp>
      <p:sp>
        <p:nvSpPr>
          <p:cNvPr id="2" name="Slide Number Placeholder 1">
            <a:extLst>
              <a:ext uri="{FF2B5EF4-FFF2-40B4-BE49-F238E27FC236}">
                <a16:creationId xmlns:a16="http://schemas.microsoft.com/office/drawing/2014/main" id="{91D3A955-018B-7242-A6FF-2E4CA848D73B}"/>
              </a:ext>
            </a:extLst>
          </p:cNvPr>
          <p:cNvSpPr>
            <a:spLocks noGrp="1"/>
          </p:cNvSpPr>
          <p:nvPr>
            <p:ph type="sldNum" sz="quarter" idx="10"/>
          </p:nvPr>
        </p:nvSpPr>
        <p:spPr/>
        <p:txBody>
          <a:bodyPr/>
          <a:lstStyle/>
          <a:p>
            <a:fld id="{12356DF5-CFED-4016-A2DB-A70AC2735480}" type="slidenum">
              <a:rPr lang="en-US" smtClean="0"/>
              <a:pPr/>
              <a:t>8</a:t>
            </a:fld>
            <a:endParaRPr lang="en-US" dirty="0">
              <a:solidFill>
                <a:schemeClr val="bg1"/>
              </a:solidFill>
            </a:endParaRPr>
          </a:p>
        </p:txBody>
      </p:sp>
    </p:spTree>
    <p:extLst>
      <p:ext uri="{BB962C8B-B14F-4D97-AF65-F5344CB8AC3E}">
        <p14:creationId xmlns:p14="http://schemas.microsoft.com/office/powerpoint/2010/main" val="1506240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81F26-1CA4-564B-9A8F-C1666C4FDB0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B9BB08C-D16D-812E-D962-CF92062364ED}"/>
              </a:ext>
            </a:extLst>
          </p:cNvPr>
          <p:cNvSpPr>
            <a:spLocks noGrp="1"/>
          </p:cNvSpPr>
          <p:nvPr>
            <p:ph type="title"/>
          </p:nvPr>
        </p:nvSpPr>
        <p:spPr>
          <a:xfrm>
            <a:off x="364067" y="306073"/>
            <a:ext cx="8421512" cy="707886"/>
          </a:xfrm>
        </p:spPr>
        <p:txBody>
          <a:bodyPr/>
          <a:lstStyle/>
          <a:p>
            <a:r>
              <a:rPr lang="en-US" sz="4000" dirty="0"/>
              <a:t>Scientific Notation</a:t>
            </a:r>
          </a:p>
        </p:txBody>
      </p:sp>
      <p:sp>
        <p:nvSpPr>
          <p:cNvPr id="6" name="Content Placeholder 5">
            <a:extLst>
              <a:ext uri="{FF2B5EF4-FFF2-40B4-BE49-F238E27FC236}">
                <a16:creationId xmlns:a16="http://schemas.microsoft.com/office/drawing/2014/main" id="{9A3CAF07-4A08-BDA2-7DAB-38B9A6A7BB06}"/>
              </a:ext>
            </a:extLst>
          </p:cNvPr>
          <p:cNvSpPr>
            <a:spLocks noGrp="1"/>
          </p:cNvSpPr>
          <p:nvPr>
            <p:ph idx="1"/>
          </p:nvPr>
        </p:nvSpPr>
        <p:spPr/>
        <p:txBody>
          <a:bodyPr/>
          <a:lstStyle/>
          <a:p>
            <a:pPr marL="0" indent="0">
              <a:buNone/>
              <a:defRPr/>
            </a:pPr>
            <a:r>
              <a:rPr lang="en-US" i="1" dirty="0">
                <a:solidFill>
                  <a:srgbClr val="CC99FF"/>
                </a:solidFill>
              </a:rPr>
              <a:t>Reiterating #4</a:t>
            </a:r>
          </a:p>
          <a:p>
            <a:pPr marL="457200" lvl="0" indent="-457200">
              <a:buFont typeface="+mj-lt"/>
              <a:buAutoNum type="arabicPeriod" startAt="4"/>
              <a:defRPr/>
            </a:pPr>
            <a:r>
              <a:rPr kumimoji="0" lang="en-US" sz="2400" b="0" i="0" u="none" strike="noStrike" kern="0" cap="none" spc="0" normalizeH="0" baseline="0" noProof="0" dirty="0">
                <a:ln>
                  <a:noFill/>
                </a:ln>
                <a:solidFill>
                  <a:srgbClr val="FFFFFF"/>
                </a:solidFill>
                <a:effectLst/>
                <a:uLnTx/>
                <a:uFillTx/>
                <a:latin typeface="Verdana"/>
                <a:ea typeface="+mn-ea"/>
                <a:cs typeface="+mn-cs"/>
              </a:rPr>
              <a:t>If original number </a:t>
            </a:r>
            <a:r>
              <a:rPr kumimoji="0" lang="en-US" sz="2400" b="0" i="1" u="sng" strike="noStrike" kern="0" cap="none" spc="0" normalizeH="0" baseline="0" noProof="0" dirty="0">
                <a:ln>
                  <a:noFill/>
                </a:ln>
                <a:solidFill>
                  <a:srgbClr val="FFFFFF"/>
                </a:solidFill>
                <a:effectLst/>
                <a:uLnTx/>
                <a:uFillTx/>
                <a:latin typeface="Verdana"/>
                <a:ea typeface="+mn-ea"/>
                <a:cs typeface="+mn-cs"/>
              </a:rPr>
              <a:t>less than</a:t>
            </a:r>
            <a:r>
              <a:rPr kumimoji="0" lang="en-US" sz="2400" b="0" strike="noStrike" kern="0" cap="none" spc="0" normalizeH="0" baseline="0" noProof="0" dirty="0">
                <a:ln>
                  <a:noFill/>
                </a:ln>
                <a:solidFill>
                  <a:srgbClr val="FFFFFF"/>
                </a:solidFill>
                <a:effectLst/>
                <a:uLnTx/>
                <a:uFillTx/>
                <a:latin typeface="Verdana"/>
                <a:ea typeface="+mn-ea"/>
                <a:cs typeface="+mn-cs"/>
              </a:rPr>
              <a:t> </a:t>
            </a:r>
            <a:r>
              <a:rPr kumimoji="0" lang="en-US" sz="2400" b="0" i="1" u="none" strike="noStrike" kern="0" cap="none" spc="0" normalizeH="0" baseline="0" noProof="0" dirty="0" err="1">
                <a:ln>
                  <a:noFill/>
                </a:ln>
                <a:solidFill>
                  <a:srgbClr val="00CC99">
                    <a:lumMod val="60000"/>
                    <a:lumOff val="40000"/>
                  </a:srgbClr>
                </a:solidFill>
                <a:effectLst/>
                <a:uLnTx/>
                <a:uFillTx/>
                <a:latin typeface="Verdana"/>
                <a:ea typeface="+mn-ea"/>
                <a:cs typeface="+mn-cs"/>
              </a:rPr>
              <a:t>d.mmm</a:t>
            </a:r>
            <a:br>
              <a:rPr kumimoji="0" lang="en-US" sz="2400" b="0" i="1" u="none" strike="noStrike" kern="0" cap="none" spc="0" normalizeH="0" baseline="0" noProof="0" dirty="0">
                <a:ln>
                  <a:noFill/>
                </a:ln>
                <a:solidFill>
                  <a:srgbClr val="00CC99">
                    <a:lumMod val="60000"/>
                    <a:lumOff val="40000"/>
                  </a:srgbClr>
                </a:solidFill>
                <a:effectLst/>
                <a:uLnTx/>
                <a:uFillTx/>
                <a:latin typeface="Verdana"/>
                <a:ea typeface="+mn-ea"/>
                <a:cs typeface="+mn-cs"/>
              </a:rPr>
            </a:br>
            <a:r>
              <a:rPr kumimoji="0" lang="en-US" sz="2400" b="0" i="0" u="none" strike="noStrike" kern="0" cap="none" spc="0" normalizeH="0" baseline="0" noProof="0" dirty="0">
                <a:ln>
                  <a:noFill/>
                </a:ln>
                <a:solidFill>
                  <a:srgbClr val="FFFFFF"/>
                </a:solidFill>
                <a:effectLst/>
                <a:uLnTx/>
                <a:uFillTx/>
                <a:latin typeface="Verdana"/>
                <a:ea typeface="+mn-ea"/>
                <a:cs typeface="+mn-cs"/>
              </a:rPr>
              <a:t>you have to multiply by 10</a:t>
            </a:r>
            <a:r>
              <a:rPr kumimoji="0" lang="en-US" sz="2400" b="0" i="0" u="none" strike="noStrike" kern="0" cap="none" spc="0" normalizeH="0" baseline="30000" noProof="0" dirty="0">
                <a:ln>
                  <a:noFill/>
                </a:ln>
                <a:solidFill>
                  <a:srgbClr val="FF0000"/>
                </a:solidFill>
                <a:effectLst/>
                <a:uLnTx/>
                <a:uFillTx/>
                <a:latin typeface="Verdana"/>
                <a:ea typeface="+mn-ea"/>
                <a:cs typeface="+mn-cs"/>
              </a:rPr>
              <a:t>-1</a:t>
            </a:r>
            <a:r>
              <a:rPr kumimoji="0" lang="en-US" sz="2400" b="0" i="0" u="none" strike="noStrike" kern="0" cap="none" spc="0" normalizeH="0" baseline="0" noProof="0" dirty="0">
                <a:ln>
                  <a:noFill/>
                </a:ln>
                <a:solidFill>
                  <a:srgbClr val="FFFFFF"/>
                </a:solidFill>
                <a:effectLst/>
                <a:uLnTx/>
                <a:uFillTx/>
                <a:latin typeface="Verdana"/>
                <a:ea typeface="+mn-ea"/>
                <a:cs typeface="+mn-cs"/>
              </a:rPr>
              <a:t> (or divide by 10) </a:t>
            </a:r>
            <a:r>
              <a:rPr kumimoji="0" lang="en-US" sz="2400" b="1" i="1" u="none" strike="noStrike" kern="0" cap="none" spc="0" normalizeH="0" baseline="0" noProof="0" dirty="0">
                <a:ln>
                  <a:noFill/>
                </a:ln>
                <a:solidFill>
                  <a:srgbClr val="FFC000"/>
                </a:solidFill>
                <a:effectLst/>
                <a:uLnTx/>
                <a:uFillTx/>
                <a:latin typeface="Verdana"/>
                <a:ea typeface="+mn-ea"/>
                <a:cs typeface="+mn-cs"/>
              </a:rPr>
              <a:t>n</a:t>
            </a:r>
            <a:r>
              <a:rPr kumimoji="0" lang="en-US" sz="2400" b="0" i="0" u="none" strike="noStrike" kern="0" cap="none" spc="0" normalizeH="0" baseline="0" noProof="0" dirty="0">
                <a:ln>
                  <a:noFill/>
                </a:ln>
                <a:solidFill>
                  <a:srgbClr val="FFFFFF"/>
                </a:solidFill>
                <a:effectLst/>
                <a:uLnTx/>
                <a:uFillTx/>
                <a:latin typeface="Verdana"/>
                <a:ea typeface="+mn-ea"/>
                <a:cs typeface="+mn-cs"/>
              </a:rPr>
              <a:t> times to get to original number, so </a:t>
            </a:r>
            <a:r>
              <a:rPr kumimoji="0" lang="en-US" sz="2400" b="1" i="1" u="none" strike="noStrike" kern="0" cap="none" spc="0" normalizeH="0" baseline="0" noProof="0" dirty="0">
                <a:ln>
                  <a:noFill/>
                </a:ln>
                <a:solidFill>
                  <a:srgbClr val="FFC000"/>
                </a:solidFill>
                <a:effectLst/>
                <a:uLnTx/>
                <a:uFillTx/>
                <a:latin typeface="Verdana"/>
                <a:ea typeface="+mn-ea"/>
                <a:cs typeface="+mn-cs"/>
              </a:rPr>
              <a:t>n</a:t>
            </a:r>
            <a:r>
              <a:rPr kumimoji="0" lang="en-US" sz="2400" b="0" i="0" u="none" strike="noStrike" kern="0" cap="none" spc="0" normalizeH="0" baseline="0" noProof="0" dirty="0">
                <a:ln>
                  <a:noFill/>
                </a:ln>
                <a:solidFill>
                  <a:srgbClr val="FFFFFF"/>
                </a:solidFill>
                <a:effectLst/>
                <a:uLnTx/>
                <a:uFillTx/>
                <a:latin typeface="Verdana"/>
                <a:ea typeface="+mn-ea"/>
                <a:cs typeface="+mn-cs"/>
              </a:rPr>
              <a:t> will be negative (less than zero): </a:t>
            </a:r>
            <a:r>
              <a:rPr kumimoji="0" lang="en-US" sz="2400" b="1" i="1" u="none" strike="noStrike" kern="0" cap="none" spc="0" normalizeH="0" baseline="0" noProof="0" dirty="0">
                <a:ln>
                  <a:noFill/>
                </a:ln>
                <a:solidFill>
                  <a:srgbClr val="FFC000"/>
                </a:solidFill>
                <a:effectLst/>
                <a:uLnTx/>
                <a:uFillTx/>
                <a:latin typeface="Verdana"/>
                <a:ea typeface="+mn-ea"/>
                <a:cs typeface="+mn-cs"/>
              </a:rPr>
              <a:t>n</a:t>
            </a:r>
            <a:r>
              <a:rPr kumimoji="0" lang="en-US" sz="2400" b="0" i="0" u="none" strike="noStrike" kern="0" cap="none" spc="0" normalizeH="0" baseline="0" noProof="0" dirty="0">
                <a:ln>
                  <a:noFill/>
                </a:ln>
                <a:solidFill>
                  <a:srgbClr val="FFFFFF"/>
                </a:solidFill>
                <a:effectLst/>
                <a:uLnTx/>
                <a:uFillTx/>
                <a:latin typeface="Verdana"/>
                <a:ea typeface="+mn-ea"/>
                <a:cs typeface="+mn-cs"/>
              </a:rPr>
              <a:t> </a:t>
            </a:r>
            <a:r>
              <a:rPr lang="en-US" dirty="0">
                <a:sym typeface="Wingdings" panose="05000000000000000000" pitchFamily="2" charset="2"/>
              </a:rPr>
              <a:t>×</a:t>
            </a:r>
            <a:r>
              <a:rPr kumimoji="0" lang="en-US" sz="2400" b="0" i="0" u="none" strike="noStrike" kern="0" cap="none" spc="0" normalizeH="0" baseline="0" noProof="0" dirty="0">
                <a:ln>
                  <a:noFill/>
                </a:ln>
                <a:solidFill>
                  <a:srgbClr val="FFFFFF"/>
                </a:solidFill>
                <a:effectLst/>
                <a:uLnTx/>
                <a:uFillTx/>
                <a:latin typeface="Verdana"/>
                <a:ea typeface="+mn-ea"/>
                <a:cs typeface="+mn-cs"/>
              </a:rPr>
              <a:t> -1 = -</a:t>
            </a:r>
            <a:r>
              <a:rPr kumimoji="0" lang="en-US" sz="2400" b="1" i="1" u="none" strike="noStrike" kern="0" cap="none" spc="0" normalizeH="0" baseline="0" noProof="0" dirty="0">
                <a:ln>
                  <a:noFill/>
                </a:ln>
                <a:solidFill>
                  <a:srgbClr val="FFC000"/>
                </a:solidFill>
                <a:effectLst/>
                <a:uLnTx/>
                <a:uFillTx/>
                <a:latin typeface="Verdana"/>
                <a:ea typeface="+mn-ea"/>
                <a:cs typeface="+mn-cs"/>
              </a:rPr>
              <a:t>n</a:t>
            </a:r>
          </a:p>
          <a:p>
            <a:pPr marL="0" indent="0">
              <a:buNone/>
            </a:pPr>
            <a:r>
              <a:rPr lang="en-US" dirty="0"/>
              <a:t>Your book: “if you moved decimal point to the right </a:t>
            </a:r>
            <a:r>
              <a:rPr lang="en-US" b="1" i="1" dirty="0">
                <a:solidFill>
                  <a:srgbClr val="FFC000"/>
                </a:solidFill>
              </a:rPr>
              <a:t>n</a:t>
            </a:r>
            <a:r>
              <a:rPr lang="en-US" dirty="0"/>
              <a:t> places, then </a:t>
            </a:r>
            <a:r>
              <a:rPr lang="en-US" b="1" i="1" dirty="0">
                <a:solidFill>
                  <a:srgbClr val="FFC000"/>
                </a:solidFill>
              </a:rPr>
              <a:t>n</a:t>
            </a:r>
            <a:r>
              <a:rPr lang="en-US" dirty="0"/>
              <a:t> is negative”</a:t>
            </a:r>
          </a:p>
          <a:p>
            <a:pPr marL="0" indent="0" defTabSz="512763">
              <a:buNone/>
            </a:pPr>
            <a:r>
              <a:rPr lang="en-US" dirty="0"/>
              <a:t>	0.0000035 </a:t>
            </a:r>
            <a:r>
              <a:rPr lang="en-US" dirty="0">
                <a:sym typeface="Wingdings" panose="05000000000000000000" pitchFamily="2" charset="2"/>
              </a:rPr>
              <a:t> 3.5   </a:t>
            </a:r>
            <a:r>
              <a:rPr lang="en-US" i="1" dirty="0">
                <a:sym typeface="Wingdings" panose="05000000000000000000" pitchFamily="2" charset="2"/>
              </a:rPr>
              <a:t>moved to right 6 places</a:t>
            </a:r>
          </a:p>
          <a:p>
            <a:pPr marL="0" indent="0" defTabSz="512763">
              <a:buNone/>
            </a:pPr>
            <a:r>
              <a:rPr lang="en-US" dirty="0">
                <a:sym typeface="Wingdings" panose="05000000000000000000" pitchFamily="2" charset="2"/>
              </a:rPr>
              <a:t>	3.5 × 10</a:t>
            </a:r>
            <a:r>
              <a:rPr lang="en-US" baseline="30000" dirty="0">
                <a:sym typeface="Wingdings" panose="05000000000000000000" pitchFamily="2" charset="2"/>
              </a:rPr>
              <a:t>-6</a:t>
            </a:r>
          </a:p>
          <a:p>
            <a:pPr marL="0" indent="0" defTabSz="512763">
              <a:buNone/>
            </a:pPr>
            <a:endParaRPr lang="en-US" baseline="30000" dirty="0">
              <a:sym typeface="Wingdings" panose="05000000000000000000" pitchFamily="2" charset="2"/>
            </a:endParaRPr>
          </a:p>
          <a:p>
            <a:pPr marL="0" indent="0" defTabSz="512763">
              <a:buNone/>
            </a:pPr>
            <a:r>
              <a:rPr lang="en-US" dirty="0"/>
              <a:t>	0.023849 </a:t>
            </a:r>
            <a:r>
              <a:rPr lang="en-US" dirty="0">
                <a:sym typeface="Wingdings" panose="05000000000000000000" pitchFamily="2" charset="2"/>
              </a:rPr>
              <a:t> 2.3849  </a:t>
            </a:r>
            <a:r>
              <a:rPr lang="en-US" i="1" dirty="0">
                <a:sym typeface="Wingdings" panose="05000000000000000000" pitchFamily="2" charset="2"/>
              </a:rPr>
              <a:t>moved to right 2 places</a:t>
            </a:r>
          </a:p>
          <a:p>
            <a:pPr marL="0" indent="0" defTabSz="512763">
              <a:buNone/>
            </a:pPr>
            <a:r>
              <a:rPr lang="en-US" dirty="0">
                <a:sym typeface="Wingdings" panose="05000000000000000000" pitchFamily="2" charset="2"/>
              </a:rPr>
              <a:t>	2.3849 × 10</a:t>
            </a:r>
            <a:r>
              <a:rPr lang="en-US" baseline="30000" dirty="0">
                <a:sym typeface="Wingdings" panose="05000000000000000000" pitchFamily="2" charset="2"/>
              </a:rPr>
              <a:t>-2</a:t>
            </a:r>
          </a:p>
          <a:p>
            <a:pPr marL="457200" marR="0" lvl="0" indent="-457200" algn="l" defTabSz="914400" rtl="0" eaLnBrk="1" fontAlgn="base" latinLnBrk="0" hangingPunct="1">
              <a:lnSpc>
                <a:spcPct val="100000"/>
              </a:lnSpc>
              <a:spcBef>
                <a:spcPct val="20000"/>
              </a:spcBef>
              <a:spcAft>
                <a:spcPct val="0"/>
              </a:spcAft>
              <a:buClrTx/>
              <a:buSzTx/>
              <a:buFont typeface="+mj-lt"/>
              <a:buAutoNum type="arabicPeriod"/>
              <a:tabLst/>
              <a:defRPr/>
            </a:pPr>
            <a:endParaRPr kumimoji="0" lang="en-US" sz="2400" b="0" i="0" u="none" strike="noStrike" kern="0" cap="none" spc="0" normalizeH="0" baseline="0" noProof="0" dirty="0">
              <a:ln>
                <a:noFill/>
              </a:ln>
              <a:solidFill>
                <a:srgbClr val="FFFFFF"/>
              </a:solidFill>
              <a:effectLst/>
              <a:uLnTx/>
              <a:uFillTx/>
              <a:latin typeface="Verdana"/>
              <a:ea typeface="+mn-ea"/>
              <a:cs typeface="+mn-cs"/>
            </a:endParaRPr>
          </a:p>
        </p:txBody>
      </p:sp>
      <p:sp>
        <p:nvSpPr>
          <p:cNvPr id="2" name="Slide Number Placeholder 1">
            <a:extLst>
              <a:ext uri="{FF2B5EF4-FFF2-40B4-BE49-F238E27FC236}">
                <a16:creationId xmlns:a16="http://schemas.microsoft.com/office/drawing/2014/main" id="{D40368BB-3B8E-F1D9-9110-1315983416EE}"/>
              </a:ext>
            </a:extLst>
          </p:cNvPr>
          <p:cNvSpPr>
            <a:spLocks noGrp="1"/>
          </p:cNvSpPr>
          <p:nvPr>
            <p:ph type="sldNum" sz="quarter" idx="10"/>
          </p:nvPr>
        </p:nvSpPr>
        <p:spPr/>
        <p:txBody>
          <a:bodyPr/>
          <a:lstStyle/>
          <a:p>
            <a:fld id="{12356DF5-CFED-4016-A2DB-A70AC2735480}" type="slidenum">
              <a:rPr lang="en-US" smtClean="0"/>
              <a:pPr/>
              <a:t>9</a:t>
            </a:fld>
            <a:endParaRPr lang="en-US" dirty="0">
              <a:solidFill>
                <a:schemeClr val="bg1"/>
              </a:solidFill>
            </a:endParaRPr>
          </a:p>
        </p:txBody>
      </p:sp>
    </p:spTree>
    <p:extLst>
      <p:ext uri="{BB962C8B-B14F-4D97-AF65-F5344CB8AC3E}">
        <p14:creationId xmlns:p14="http://schemas.microsoft.com/office/powerpoint/2010/main" val="2251659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3187D-089B-DC0C-A396-D65F7F1FB41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A47449-0AF1-2E2F-3C03-0E01B05BFD1D}"/>
              </a:ext>
            </a:extLst>
          </p:cNvPr>
          <p:cNvSpPr>
            <a:spLocks noGrp="1"/>
          </p:cNvSpPr>
          <p:nvPr>
            <p:ph type="title"/>
          </p:nvPr>
        </p:nvSpPr>
        <p:spPr>
          <a:xfrm>
            <a:off x="364067" y="306073"/>
            <a:ext cx="8421512" cy="707886"/>
          </a:xfrm>
        </p:spPr>
        <p:txBody>
          <a:bodyPr/>
          <a:lstStyle/>
          <a:p>
            <a:r>
              <a:rPr lang="en-US" sz="4000" dirty="0"/>
              <a:t>Scientific Notation</a:t>
            </a:r>
          </a:p>
        </p:txBody>
      </p:sp>
      <p:sp>
        <p:nvSpPr>
          <p:cNvPr id="6" name="Content Placeholder 5">
            <a:extLst>
              <a:ext uri="{FF2B5EF4-FFF2-40B4-BE49-F238E27FC236}">
                <a16:creationId xmlns:a16="http://schemas.microsoft.com/office/drawing/2014/main" id="{57A007F2-53FA-44E2-B48C-1070F4245A7A}"/>
              </a:ext>
            </a:extLst>
          </p:cNvPr>
          <p:cNvSpPr>
            <a:spLocks noGrp="1"/>
          </p:cNvSpPr>
          <p:nvPr>
            <p:ph idx="1"/>
          </p:nvPr>
        </p:nvSpPr>
        <p:spPr/>
        <p:txBody>
          <a:bodyPr/>
          <a:lstStyle/>
          <a:p>
            <a:pPr marL="0" indent="0">
              <a:buNone/>
              <a:defRPr/>
            </a:pPr>
            <a:r>
              <a:rPr kumimoji="0" lang="en-US" sz="2800" b="0" i="0" u="none" strike="noStrike" kern="0" cap="none" spc="0" normalizeH="0" baseline="0" noProof="0" dirty="0">
                <a:ln>
                  <a:noFill/>
                </a:ln>
                <a:solidFill>
                  <a:srgbClr val="FFFFFF"/>
                </a:solidFill>
                <a:effectLst/>
                <a:uLnTx/>
                <a:uFillTx/>
                <a:latin typeface="Verdana"/>
                <a:ea typeface="+mn-ea"/>
                <a:cs typeface="+mn-cs"/>
              </a:rPr>
              <a:t>Patterns for memorizing</a:t>
            </a:r>
          </a:p>
          <a:p>
            <a:pPr>
              <a:defRPr/>
            </a:pPr>
            <a:r>
              <a:rPr lang="en-US" sz="1800" i="1" dirty="0">
                <a:solidFill>
                  <a:schemeClr val="accent1">
                    <a:lumMod val="40000"/>
                    <a:lumOff val="60000"/>
                  </a:schemeClr>
                </a:solidFill>
                <a:latin typeface="+mj-lt"/>
                <a:sym typeface="Wingdings" panose="05000000000000000000" pitchFamily="2" charset="2"/>
              </a:rPr>
              <a:t>decimal point movement – number being changed – final exponent value</a:t>
            </a:r>
            <a:endParaRPr kumimoji="0" lang="en-US" sz="1800" b="0" i="1" u="none" strike="noStrike" kern="0" cap="none" spc="0" normalizeH="0" baseline="0" noProof="0" dirty="0">
              <a:ln>
                <a:noFill/>
              </a:ln>
              <a:solidFill>
                <a:schemeClr val="accent1">
                  <a:lumMod val="40000"/>
                  <a:lumOff val="60000"/>
                </a:schemeClr>
              </a:solidFill>
              <a:effectLst/>
              <a:uLnTx/>
              <a:uFillTx/>
              <a:latin typeface="+mj-lt"/>
              <a:ea typeface="+mn-ea"/>
              <a:cs typeface="+mn-cs"/>
            </a:endParaRPr>
          </a:p>
          <a:p>
            <a:pPr>
              <a:defRPr/>
            </a:pPr>
            <a:r>
              <a:rPr kumimoji="0" lang="en-US" sz="2800" b="0" i="0" u="none" strike="noStrike" kern="0" cap="none" spc="0" normalizeH="0" baseline="0" noProof="0" dirty="0">
                <a:ln>
                  <a:noFill/>
                </a:ln>
                <a:solidFill>
                  <a:srgbClr val="FFFFFF"/>
                </a:solidFill>
                <a:effectLst/>
                <a:uLnTx/>
                <a:uFillTx/>
                <a:latin typeface="Verdana"/>
                <a:ea typeface="+mn-ea"/>
                <a:cs typeface="+mn-cs"/>
              </a:rPr>
              <a:t>Left – Large – Positive</a:t>
            </a:r>
          </a:p>
          <a:p>
            <a:pPr>
              <a:defRPr/>
            </a:pPr>
            <a:r>
              <a:rPr lang="en-US" sz="2800" dirty="0">
                <a:solidFill>
                  <a:srgbClr val="FFFFFF"/>
                </a:solidFill>
                <a:latin typeface="Verdana"/>
                <a:sym typeface="Wingdings" panose="05000000000000000000" pitchFamily="2" charset="2"/>
              </a:rPr>
              <a:t>Right – Small – Negative</a:t>
            </a:r>
          </a:p>
          <a:p>
            <a:pPr marL="0" indent="0">
              <a:buNone/>
              <a:defRPr/>
            </a:pPr>
            <a:endParaRPr lang="en-US" dirty="0">
              <a:sym typeface="Wingdings" panose="05000000000000000000" pitchFamily="2" charset="2"/>
            </a:endParaRPr>
          </a:p>
          <a:p>
            <a:pPr marL="0" indent="0">
              <a:buNone/>
              <a:defRPr/>
            </a:pPr>
            <a:r>
              <a:rPr lang="en-US" dirty="0">
                <a:sym typeface="Wingdings" panose="05000000000000000000" pitchFamily="2" charset="2"/>
              </a:rPr>
              <a:t>Positive and negative for </a:t>
            </a:r>
            <a:r>
              <a:rPr lang="en-US" dirty="0">
                <a:solidFill>
                  <a:schemeClr val="accent1">
                    <a:lumMod val="60000"/>
                    <a:lumOff val="40000"/>
                  </a:schemeClr>
                </a:solidFill>
                <a:sym typeface="Wingdings" panose="05000000000000000000" pitchFamily="2" charset="2"/>
              </a:rPr>
              <a:t>exponent</a:t>
            </a:r>
            <a:r>
              <a:rPr lang="en-US" dirty="0">
                <a:sym typeface="Wingdings" panose="05000000000000000000" pitchFamily="2" charset="2"/>
              </a:rPr>
              <a:t>, not </a:t>
            </a:r>
            <a:r>
              <a:rPr lang="en-US" dirty="0">
                <a:solidFill>
                  <a:srgbClr val="FFC000"/>
                </a:solidFill>
                <a:sym typeface="Wingdings" panose="05000000000000000000" pitchFamily="2" charset="2"/>
              </a:rPr>
              <a:t>significand</a:t>
            </a:r>
            <a:r>
              <a:rPr lang="en-US" dirty="0">
                <a:sym typeface="Wingdings" panose="05000000000000000000" pitchFamily="2" charset="2"/>
              </a:rPr>
              <a:t>!</a:t>
            </a:r>
          </a:p>
          <a:p>
            <a:pPr marL="0" indent="0">
              <a:buNone/>
              <a:defRPr/>
            </a:pPr>
            <a:r>
              <a:rPr lang="en-US" dirty="0">
                <a:sym typeface="Wingdings" panose="05000000000000000000" pitchFamily="2" charset="2"/>
              </a:rPr>
              <a:t>34249  3.4249 × 10</a:t>
            </a:r>
            <a:r>
              <a:rPr lang="en-US" baseline="30000" dirty="0">
                <a:sym typeface="Wingdings" panose="05000000000000000000" pitchFamily="2" charset="2"/>
              </a:rPr>
              <a:t>4</a:t>
            </a:r>
          </a:p>
          <a:p>
            <a:pPr marL="0" indent="0">
              <a:buNone/>
              <a:defRPr/>
            </a:pPr>
            <a:r>
              <a:rPr lang="en-US" dirty="0">
                <a:sym typeface="Wingdings" panose="05000000000000000000" pitchFamily="2" charset="2"/>
              </a:rPr>
              <a:t>-34249  -3.4249 × 10</a:t>
            </a:r>
            <a:r>
              <a:rPr lang="en-US" baseline="30000" dirty="0">
                <a:sym typeface="Wingdings" panose="05000000000000000000" pitchFamily="2" charset="2"/>
              </a:rPr>
              <a:t>4</a:t>
            </a:r>
          </a:p>
          <a:p>
            <a:pPr marL="0" indent="0">
              <a:buNone/>
              <a:defRPr/>
            </a:pPr>
            <a:endParaRPr lang="en-US" baseline="30000" dirty="0">
              <a:sym typeface="Wingdings" panose="05000000000000000000" pitchFamily="2" charset="2"/>
            </a:endParaRPr>
          </a:p>
          <a:p>
            <a:pPr marL="0" indent="0">
              <a:buNone/>
              <a:defRPr/>
            </a:pPr>
            <a:r>
              <a:rPr lang="en-US" dirty="0">
                <a:sym typeface="Wingdings" panose="05000000000000000000" pitchFamily="2" charset="2"/>
              </a:rPr>
              <a:t>0.0034249  3.4249 × 10</a:t>
            </a:r>
            <a:r>
              <a:rPr lang="en-US" baseline="30000" dirty="0">
                <a:sym typeface="Wingdings" panose="05000000000000000000" pitchFamily="2" charset="2"/>
              </a:rPr>
              <a:t>-3</a:t>
            </a:r>
          </a:p>
          <a:p>
            <a:pPr marL="0" indent="0">
              <a:buNone/>
              <a:defRPr/>
            </a:pPr>
            <a:r>
              <a:rPr lang="en-US" dirty="0">
                <a:sym typeface="Wingdings" panose="05000000000000000000" pitchFamily="2" charset="2"/>
              </a:rPr>
              <a:t>-0.0034249  -3.4249 × 10</a:t>
            </a:r>
            <a:r>
              <a:rPr lang="en-US" baseline="30000" dirty="0">
                <a:sym typeface="Wingdings" panose="05000000000000000000" pitchFamily="2" charset="2"/>
              </a:rPr>
              <a:t>-3</a:t>
            </a:r>
          </a:p>
          <a:p>
            <a:pPr marL="0" marR="0" lvl="0" indent="0" algn="l" defTabSz="914400" rtl="0" eaLnBrk="1" fontAlgn="base" latinLnBrk="0" hangingPunct="1">
              <a:lnSpc>
                <a:spcPct val="100000"/>
              </a:lnSpc>
              <a:spcBef>
                <a:spcPct val="20000"/>
              </a:spcBef>
              <a:spcAft>
                <a:spcPct val="0"/>
              </a:spcAft>
              <a:buClrTx/>
              <a:buSzTx/>
              <a:buNone/>
              <a:tabLst/>
              <a:defRPr/>
            </a:pPr>
            <a:endParaRPr kumimoji="0" lang="en-US" sz="2400" b="0" i="0" u="none" strike="noStrike" kern="0" cap="none" spc="0" normalizeH="0" baseline="0" noProof="0" dirty="0">
              <a:ln>
                <a:noFill/>
              </a:ln>
              <a:solidFill>
                <a:srgbClr val="FFFFFF"/>
              </a:solidFill>
              <a:effectLst/>
              <a:uLnTx/>
              <a:uFillTx/>
              <a:latin typeface="Verdana"/>
              <a:ea typeface="+mn-ea"/>
              <a:cs typeface="+mn-cs"/>
            </a:endParaRPr>
          </a:p>
        </p:txBody>
      </p:sp>
      <p:sp>
        <p:nvSpPr>
          <p:cNvPr id="2" name="Slide Number Placeholder 1">
            <a:extLst>
              <a:ext uri="{FF2B5EF4-FFF2-40B4-BE49-F238E27FC236}">
                <a16:creationId xmlns:a16="http://schemas.microsoft.com/office/drawing/2014/main" id="{263E0DE4-31DD-FC7C-EB7D-EB3F30165A4E}"/>
              </a:ext>
            </a:extLst>
          </p:cNvPr>
          <p:cNvSpPr>
            <a:spLocks noGrp="1"/>
          </p:cNvSpPr>
          <p:nvPr>
            <p:ph type="sldNum" sz="quarter" idx="10"/>
          </p:nvPr>
        </p:nvSpPr>
        <p:spPr/>
        <p:txBody>
          <a:bodyPr/>
          <a:lstStyle/>
          <a:p>
            <a:fld id="{12356DF5-CFED-4016-A2DB-A70AC2735480}" type="slidenum">
              <a:rPr lang="en-US" smtClean="0"/>
              <a:pPr/>
              <a:t>10</a:t>
            </a:fld>
            <a:endParaRPr lang="en-US" dirty="0">
              <a:solidFill>
                <a:schemeClr val="bg1"/>
              </a:solidFill>
            </a:endParaRPr>
          </a:p>
        </p:txBody>
      </p:sp>
    </p:spTree>
    <p:extLst>
      <p:ext uri="{BB962C8B-B14F-4D97-AF65-F5344CB8AC3E}">
        <p14:creationId xmlns:p14="http://schemas.microsoft.com/office/powerpoint/2010/main" val="3566480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9BF15-5C59-210F-8078-530E27E81F0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06DFFE-A4C9-1EA2-AF16-4ECB63A9DDDC}"/>
              </a:ext>
            </a:extLst>
          </p:cNvPr>
          <p:cNvSpPr>
            <a:spLocks noGrp="1"/>
          </p:cNvSpPr>
          <p:nvPr>
            <p:ph type="title"/>
          </p:nvPr>
        </p:nvSpPr>
        <p:spPr>
          <a:xfrm>
            <a:off x="364067" y="306073"/>
            <a:ext cx="8421512" cy="707886"/>
          </a:xfrm>
        </p:spPr>
        <p:txBody>
          <a:bodyPr/>
          <a:lstStyle/>
          <a:p>
            <a:r>
              <a:rPr lang="en-US" sz="4000" dirty="0"/>
              <a:t>Scientific Notation</a:t>
            </a:r>
          </a:p>
        </p:txBody>
      </p:sp>
      <p:sp>
        <p:nvSpPr>
          <p:cNvPr id="6" name="Content Placeholder 5">
            <a:extLst>
              <a:ext uri="{FF2B5EF4-FFF2-40B4-BE49-F238E27FC236}">
                <a16:creationId xmlns:a16="http://schemas.microsoft.com/office/drawing/2014/main" id="{9FF933F2-CB8F-DA19-7A1A-8221AACB7CB1}"/>
              </a:ext>
            </a:extLst>
          </p:cNvPr>
          <p:cNvSpPr>
            <a:spLocks noGrp="1"/>
          </p:cNvSpPr>
          <p:nvPr>
            <p:ph idx="1"/>
          </p:nvPr>
        </p:nvSpPr>
        <p:spPr/>
        <p:txBody>
          <a:bodyPr/>
          <a:lstStyle/>
          <a:p>
            <a:pPr marL="0" indent="0">
              <a:buNone/>
              <a:defRPr/>
            </a:pPr>
            <a:r>
              <a:rPr kumimoji="0" lang="en-US" sz="2800" b="0" i="0" u="none" strike="noStrike" kern="0" cap="none" spc="0" normalizeH="0" baseline="0" noProof="0" dirty="0">
                <a:ln>
                  <a:noFill/>
                </a:ln>
                <a:solidFill>
                  <a:srgbClr val="FFFFFF"/>
                </a:solidFill>
                <a:effectLst/>
                <a:uLnTx/>
                <a:uFillTx/>
                <a:latin typeface="Verdana"/>
                <a:ea typeface="+mn-ea"/>
                <a:cs typeface="+mn-cs"/>
              </a:rPr>
              <a:t>Scientific notation is </a:t>
            </a:r>
            <a:r>
              <a:rPr kumimoji="0" lang="en-US" sz="2800" b="0" i="1" u="none" strike="noStrike" kern="0" cap="none" spc="0" normalizeH="0" baseline="0" noProof="0" dirty="0">
                <a:ln>
                  <a:noFill/>
                </a:ln>
                <a:solidFill>
                  <a:srgbClr val="FFFFFF"/>
                </a:solidFill>
                <a:effectLst/>
                <a:uLnTx/>
                <a:uFillTx/>
                <a:latin typeface="Verdana"/>
                <a:ea typeface="+mn-ea"/>
                <a:cs typeface="+mn-cs"/>
              </a:rPr>
              <a:t>actually</a:t>
            </a:r>
            <a:r>
              <a:rPr kumimoji="0" lang="en-US" sz="2800" b="0" i="0" u="none" strike="noStrike" kern="0" cap="none" spc="0" normalizeH="0" baseline="0" noProof="0" dirty="0">
                <a:ln>
                  <a:noFill/>
                </a:ln>
                <a:solidFill>
                  <a:srgbClr val="FFFFFF"/>
                </a:solidFill>
                <a:effectLst/>
                <a:uLnTx/>
                <a:uFillTx/>
                <a:latin typeface="Verdana"/>
                <a:ea typeface="+mn-ea"/>
                <a:cs typeface="+mn-cs"/>
              </a:rPr>
              <a:t> a </a:t>
            </a:r>
            <a:r>
              <a:rPr kumimoji="0" lang="en-US" sz="2800" b="0" i="1" u="none" strike="noStrike" kern="0" cap="none" spc="0" normalizeH="0" baseline="0" noProof="0" dirty="0">
                <a:ln>
                  <a:noFill/>
                </a:ln>
                <a:solidFill>
                  <a:schemeClr val="accent1">
                    <a:lumMod val="60000"/>
                    <a:lumOff val="40000"/>
                  </a:schemeClr>
                </a:solidFill>
                <a:effectLst/>
                <a:uLnTx/>
                <a:uFillTx/>
                <a:latin typeface="Verdana"/>
                <a:ea typeface="+mn-ea"/>
                <a:cs typeface="+mn-cs"/>
              </a:rPr>
              <a:t>product</a:t>
            </a:r>
            <a:r>
              <a:rPr kumimoji="0" lang="en-US" sz="2800" b="0" i="0" u="none" strike="noStrike" kern="0" cap="none" spc="0" normalizeH="0" baseline="0" noProof="0" dirty="0">
                <a:ln>
                  <a:noFill/>
                </a:ln>
                <a:solidFill>
                  <a:srgbClr val="FFFFFF"/>
                </a:solidFill>
                <a:effectLst/>
                <a:uLnTx/>
                <a:uFillTx/>
                <a:latin typeface="Verdana"/>
                <a:ea typeface="+mn-ea"/>
                <a:cs typeface="+mn-cs"/>
              </a:rPr>
              <a:t> of </a:t>
            </a:r>
            <a:r>
              <a:rPr kumimoji="0" lang="en-US" sz="2800" b="0" i="0" u="none" strike="noStrike" kern="0" cap="none" spc="0" normalizeH="0" baseline="0" noProof="0" dirty="0">
                <a:ln>
                  <a:noFill/>
                </a:ln>
                <a:solidFill>
                  <a:schemeClr val="accent1">
                    <a:lumMod val="60000"/>
                    <a:lumOff val="40000"/>
                  </a:schemeClr>
                </a:solidFill>
                <a:effectLst/>
                <a:uLnTx/>
                <a:uFillTx/>
                <a:latin typeface="Verdana"/>
                <a:ea typeface="+mn-ea"/>
                <a:cs typeface="+mn-cs"/>
              </a:rPr>
              <a:t>two numbers</a:t>
            </a:r>
            <a:r>
              <a:rPr kumimoji="0" lang="en-US" sz="2800" b="0" i="0" u="none" strike="noStrike" kern="0" cap="none" spc="0" normalizeH="0" baseline="0" noProof="0" dirty="0">
                <a:ln>
                  <a:noFill/>
                </a:ln>
                <a:solidFill>
                  <a:srgbClr val="FFFFFF"/>
                </a:solidFill>
                <a:effectLst/>
                <a:uLnTx/>
                <a:uFillTx/>
                <a:latin typeface="Verdana"/>
                <a:ea typeface="+mn-ea"/>
                <a:cs typeface="+mn-cs"/>
              </a:rPr>
              <a:t>: the </a:t>
            </a:r>
            <a:r>
              <a:rPr kumimoji="0" lang="en-US" sz="2800" b="0" i="0" u="none" strike="noStrike" kern="0" cap="none" spc="0" normalizeH="0" baseline="0" noProof="0" dirty="0">
                <a:ln>
                  <a:noFill/>
                </a:ln>
                <a:solidFill>
                  <a:srgbClr val="FFC000"/>
                </a:solidFill>
                <a:effectLst/>
                <a:uLnTx/>
                <a:uFillTx/>
                <a:latin typeface="Verdana"/>
                <a:ea typeface="+mn-ea"/>
                <a:cs typeface="+mn-cs"/>
              </a:rPr>
              <a:t>significand</a:t>
            </a:r>
            <a:r>
              <a:rPr kumimoji="0" lang="en-US" sz="2800" b="0" i="0" u="none" strike="noStrike" kern="0" cap="none" spc="0" normalizeH="0" baseline="0" noProof="0" dirty="0">
                <a:ln>
                  <a:noFill/>
                </a:ln>
                <a:solidFill>
                  <a:srgbClr val="FFFFFF"/>
                </a:solidFill>
                <a:effectLst/>
                <a:uLnTx/>
                <a:uFillTx/>
                <a:latin typeface="Verdana"/>
                <a:ea typeface="+mn-ea"/>
                <a:cs typeface="+mn-cs"/>
              </a:rPr>
              <a:t> and a </a:t>
            </a:r>
            <a:r>
              <a:rPr lang="en-US" sz="2800" dirty="0">
                <a:solidFill>
                  <a:srgbClr val="FFC000"/>
                </a:solidFill>
                <a:latin typeface="Verdana"/>
              </a:rPr>
              <a:t>power of 10</a:t>
            </a:r>
            <a:r>
              <a:rPr lang="en-US" sz="2800" dirty="0">
                <a:solidFill>
                  <a:srgbClr val="FFFFFF"/>
                </a:solidFill>
                <a:latin typeface="Verdana"/>
              </a:rPr>
              <a:t>!</a:t>
            </a:r>
          </a:p>
          <a:p>
            <a:pPr marL="0" indent="0">
              <a:buNone/>
              <a:defRPr/>
            </a:pPr>
            <a:endParaRPr lang="en-US" dirty="0">
              <a:sym typeface="Wingdings" panose="05000000000000000000" pitchFamily="2" charset="2"/>
            </a:endParaRPr>
          </a:p>
          <a:p>
            <a:pPr marL="0" indent="0">
              <a:buNone/>
              <a:defRPr/>
            </a:pPr>
            <a:r>
              <a:rPr lang="en-US" sz="2000" dirty="0">
                <a:sym typeface="Wingdings" panose="05000000000000000000" pitchFamily="2" charset="2"/>
              </a:rPr>
              <a:t>34249 = 3.4249 × 10</a:t>
            </a:r>
            <a:r>
              <a:rPr lang="en-US" sz="2000" baseline="30000" dirty="0">
                <a:sym typeface="Wingdings" panose="05000000000000000000" pitchFamily="2" charset="2"/>
              </a:rPr>
              <a:t>4 </a:t>
            </a:r>
            <a:r>
              <a:rPr lang="en-US" sz="2000" dirty="0">
                <a:sym typeface="Wingdings" panose="05000000000000000000" pitchFamily="2" charset="2"/>
              </a:rPr>
              <a:t>= 3.4249 × 10,000 = 34249</a:t>
            </a:r>
            <a:endParaRPr lang="en-US" sz="2000" baseline="30000" dirty="0">
              <a:sym typeface="Wingdings" panose="05000000000000000000" pitchFamily="2" charset="2"/>
            </a:endParaRPr>
          </a:p>
          <a:p>
            <a:pPr marL="0" indent="0">
              <a:buNone/>
              <a:defRPr/>
            </a:pPr>
            <a:r>
              <a:rPr lang="en-US" sz="2000" dirty="0">
                <a:sym typeface="Wingdings" panose="05000000000000000000" pitchFamily="2" charset="2"/>
              </a:rPr>
              <a:t>-34249 = -3.4249 × 10</a:t>
            </a:r>
            <a:r>
              <a:rPr lang="en-US" sz="2000" baseline="30000" dirty="0">
                <a:sym typeface="Wingdings" panose="05000000000000000000" pitchFamily="2" charset="2"/>
              </a:rPr>
              <a:t>4 </a:t>
            </a:r>
            <a:r>
              <a:rPr lang="en-US" sz="2000" dirty="0">
                <a:sym typeface="Wingdings" panose="05000000000000000000" pitchFamily="2" charset="2"/>
              </a:rPr>
              <a:t>= -3.4249 × 10,000 = -34249</a:t>
            </a:r>
          </a:p>
          <a:p>
            <a:pPr marL="0" indent="0">
              <a:buNone/>
              <a:defRPr/>
            </a:pPr>
            <a:endParaRPr lang="en-US" sz="2000" baseline="30000" dirty="0">
              <a:sym typeface="Wingdings" panose="05000000000000000000" pitchFamily="2" charset="2"/>
            </a:endParaRPr>
          </a:p>
          <a:p>
            <a:pPr marL="0" indent="0">
              <a:buNone/>
              <a:defRPr/>
            </a:pPr>
            <a:r>
              <a:rPr lang="en-US" sz="2000" dirty="0">
                <a:sym typeface="Wingdings" panose="05000000000000000000" pitchFamily="2" charset="2"/>
              </a:rPr>
              <a:t>0.0034249 = 3.4249 × 10</a:t>
            </a:r>
            <a:r>
              <a:rPr lang="en-US" sz="2000" baseline="30000" dirty="0">
                <a:sym typeface="Wingdings" panose="05000000000000000000" pitchFamily="2" charset="2"/>
              </a:rPr>
              <a:t>-3 </a:t>
            </a:r>
            <a:r>
              <a:rPr lang="en-US" sz="2000" dirty="0">
                <a:sym typeface="Wingdings" panose="05000000000000000000" pitchFamily="2" charset="2"/>
              </a:rPr>
              <a:t>= 3.4249 × 0.001 = 0.0034249</a:t>
            </a:r>
            <a:endParaRPr lang="en-US" sz="2000" baseline="30000" dirty="0">
              <a:sym typeface="Wingdings" panose="05000000000000000000" pitchFamily="2" charset="2"/>
            </a:endParaRPr>
          </a:p>
          <a:p>
            <a:pPr marL="0" indent="0">
              <a:buNone/>
              <a:defRPr/>
            </a:pPr>
            <a:r>
              <a:rPr lang="en-US" sz="2000" dirty="0">
                <a:sym typeface="Wingdings" panose="05000000000000000000" pitchFamily="2" charset="2"/>
              </a:rPr>
              <a:t>-0.0034249 = -3.4249 × 10</a:t>
            </a:r>
            <a:r>
              <a:rPr lang="en-US" sz="2000" baseline="30000" dirty="0">
                <a:sym typeface="Wingdings" panose="05000000000000000000" pitchFamily="2" charset="2"/>
              </a:rPr>
              <a:t>-3 </a:t>
            </a:r>
            <a:r>
              <a:rPr lang="en-US" sz="2000" dirty="0">
                <a:sym typeface="Wingdings" panose="05000000000000000000" pitchFamily="2" charset="2"/>
              </a:rPr>
              <a:t>= -3.4249 × 0.001 = -0.0034249</a:t>
            </a:r>
            <a:endParaRPr lang="en-US" sz="2000" baseline="30000" dirty="0">
              <a:sym typeface="Wingdings" panose="05000000000000000000" pitchFamily="2" charset="2"/>
            </a:endParaRPr>
          </a:p>
          <a:p>
            <a:pPr marL="0" marR="0" lvl="0" indent="0" algn="l" defTabSz="914400" rtl="0" eaLnBrk="1" fontAlgn="base" latinLnBrk="0" hangingPunct="1">
              <a:lnSpc>
                <a:spcPct val="100000"/>
              </a:lnSpc>
              <a:spcBef>
                <a:spcPct val="20000"/>
              </a:spcBef>
              <a:spcAft>
                <a:spcPct val="0"/>
              </a:spcAft>
              <a:buClrTx/>
              <a:buSzTx/>
              <a:buNone/>
              <a:tabLst/>
              <a:defRPr/>
            </a:pPr>
            <a:endParaRPr kumimoji="0" lang="en-US" sz="2400" b="0" i="0" u="none" strike="noStrike" kern="0" cap="none" spc="0" normalizeH="0" baseline="0" noProof="0" dirty="0">
              <a:ln>
                <a:noFill/>
              </a:ln>
              <a:solidFill>
                <a:srgbClr val="FFFFFF"/>
              </a:solidFill>
              <a:effectLst/>
              <a:uLnTx/>
              <a:uFillTx/>
              <a:latin typeface="Verdana"/>
              <a:ea typeface="+mn-ea"/>
              <a:cs typeface="+mn-cs"/>
            </a:endParaRPr>
          </a:p>
          <a:p>
            <a:pPr marL="0" marR="0" lvl="0" indent="0" algn="l" defTabSz="914400" rtl="0" eaLnBrk="1" fontAlgn="base" latinLnBrk="0" hangingPunct="1">
              <a:lnSpc>
                <a:spcPct val="100000"/>
              </a:lnSpc>
              <a:spcBef>
                <a:spcPct val="20000"/>
              </a:spcBef>
              <a:spcAft>
                <a:spcPct val="0"/>
              </a:spcAft>
              <a:buClrTx/>
              <a:buSzTx/>
              <a:buNone/>
              <a:tabLst/>
              <a:defRPr/>
            </a:pPr>
            <a:r>
              <a:rPr lang="en-US" dirty="0">
                <a:solidFill>
                  <a:srgbClr val="FFFFFF"/>
                </a:solidFill>
                <a:latin typeface="Verdana"/>
              </a:rPr>
              <a:t>Use this feature to confirm whether you converted a number to scientific notation properly!</a:t>
            </a:r>
            <a:endParaRPr kumimoji="0" lang="en-US" sz="2400" b="0" i="0" u="none" strike="noStrike" kern="0" cap="none" spc="0" normalizeH="0" baseline="0" noProof="0" dirty="0">
              <a:ln>
                <a:noFill/>
              </a:ln>
              <a:solidFill>
                <a:srgbClr val="FFFFFF"/>
              </a:solidFill>
              <a:effectLst/>
              <a:uLnTx/>
              <a:uFillTx/>
              <a:latin typeface="Verdana"/>
              <a:ea typeface="+mn-ea"/>
              <a:cs typeface="+mn-cs"/>
            </a:endParaRPr>
          </a:p>
        </p:txBody>
      </p:sp>
      <p:sp>
        <p:nvSpPr>
          <p:cNvPr id="2" name="Slide Number Placeholder 1">
            <a:extLst>
              <a:ext uri="{FF2B5EF4-FFF2-40B4-BE49-F238E27FC236}">
                <a16:creationId xmlns:a16="http://schemas.microsoft.com/office/drawing/2014/main" id="{E8210AF5-E7DA-9371-BDEB-3A881D11B8E3}"/>
              </a:ext>
            </a:extLst>
          </p:cNvPr>
          <p:cNvSpPr>
            <a:spLocks noGrp="1"/>
          </p:cNvSpPr>
          <p:nvPr>
            <p:ph type="sldNum" sz="quarter" idx="10"/>
          </p:nvPr>
        </p:nvSpPr>
        <p:spPr/>
        <p:txBody>
          <a:bodyPr/>
          <a:lstStyle/>
          <a:p>
            <a:fld id="{12356DF5-CFED-4016-A2DB-A70AC2735480}" type="slidenum">
              <a:rPr lang="en-US" smtClean="0"/>
              <a:pPr/>
              <a:t>11</a:t>
            </a:fld>
            <a:endParaRPr lang="en-US" dirty="0">
              <a:solidFill>
                <a:schemeClr val="bg1"/>
              </a:solidFill>
            </a:endParaRPr>
          </a:p>
        </p:txBody>
      </p:sp>
    </p:spTree>
    <p:extLst>
      <p:ext uri="{BB962C8B-B14F-4D97-AF65-F5344CB8AC3E}">
        <p14:creationId xmlns:p14="http://schemas.microsoft.com/office/powerpoint/2010/main" val="3139403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8DF68-64E7-2190-E63F-6834481E49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E8A829-BF49-AD94-8623-2C2DD6F817B3}"/>
              </a:ext>
            </a:extLst>
          </p:cNvPr>
          <p:cNvSpPr>
            <a:spLocks noGrp="1"/>
          </p:cNvSpPr>
          <p:nvPr>
            <p:ph type="title"/>
          </p:nvPr>
        </p:nvSpPr>
        <p:spPr>
          <a:xfrm>
            <a:off x="361243" y="279440"/>
            <a:ext cx="8421512" cy="707886"/>
          </a:xfrm>
        </p:spPr>
        <p:txBody>
          <a:bodyPr/>
          <a:lstStyle/>
          <a:p>
            <a:r>
              <a:rPr lang="en-US" sz="4000" dirty="0"/>
              <a:t>Practicing Scientific Notation</a:t>
            </a:r>
          </a:p>
        </p:txBody>
      </p:sp>
      <p:sp>
        <p:nvSpPr>
          <p:cNvPr id="6" name="Content Placeholder 5">
            <a:extLst>
              <a:ext uri="{FF2B5EF4-FFF2-40B4-BE49-F238E27FC236}">
                <a16:creationId xmlns:a16="http://schemas.microsoft.com/office/drawing/2014/main" id="{2EEF9E6B-4FC1-DB3F-4BA8-0D16C49C530B}"/>
              </a:ext>
            </a:extLst>
          </p:cNvPr>
          <p:cNvSpPr>
            <a:spLocks noGrp="1"/>
          </p:cNvSpPr>
          <p:nvPr>
            <p:ph idx="1"/>
          </p:nvPr>
        </p:nvSpPr>
        <p:spPr>
          <a:xfrm>
            <a:off x="378176" y="1207802"/>
            <a:ext cx="8387645" cy="5215465"/>
          </a:xfrm>
        </p:spPr>
        <p:txBody>
          <a:bodyPr/>
          <a:lstStyle/>
          <a:p>
            <a:pPr marL="0" indent="0">
              <a:buNone/>
              <a:defRPr/>
            </a:pPr>
            <a:r>
              <a:rPr kumimoji="0" lang="en-US" sz="2800" b="0" i="0" u="none" strike="noStrike" kern="0" cap="none" spc="0" normalizeH="0" baseline="0" noProof="0" dirty="0">
                <a:ln>
                  <a:noFill/>
                </a:ln>
                <a:solidFill>
                  <a:srgbClr val="FFFFFF"/>
                </a:solidFill>
                <a:effectLst/>
                <a:uLnTx/>
                <a:uFillTx/>
                <a:latin typeface="Verdana"/>
                <a:ea typeface="+mn-ea"/>
                <a:cs typeface="+mn-cs"/>
              </a:rPr>
              <a:t>Let’s start with an “</a:t>
            </a:r>
            <a:r>
              <a:rPr lang="en-US" sz="2800" dirty="0">
                <a:solidFill>
                  <a:srgbClr val="FFFFFF"/>
                </a:solidFill>
                <a:latin typeface="Verdana"/>
              </a:rPr>
              <a:t>original” number</a:t>
            </a:r>
          </a:p>
          <a:p>
            <a:pPr marL="236538" lvl="1" indent="0">
              <a:buNone/>
              <a:defRPr/>
            </a:pPr>
            <a:r>
              <a:rPr lang="en-US" sz="2400" dirty="0">
                <a:solidFill>
                  <a:srgbClr val="FFFFFF"/>
                </a:solidFill>
                <a:latin typeface="Verdana"/>
                <a:ea typeface="+mn-ea"/>
                <a:cs typeface="+mn-cs"/>
              </a:rPr>
              <a:t>o</a:t>
            </a:r>
            <a:r>
              <a:rPr kumimoji="0" lang="en-US" sz="2400" b="0" i="0" u="none" strike="noStrike" kern="0" cap="none" spc="0" normalizeH="0" baseline="0" noProof="0" dirty="0">
                <a:ln>
                  <a:noFill/>
                </a:ln>
                <a:solidFill>
                  <a:srgbClr val="FFFFFF"/>
                </a:solidFill>
                <a:effectLst/>
                <a:uLnTx/>
                <a:uFillTx/>
                <a:latin typeface="Verdana"/>
                <a:ea typeface="+mn-ea"/>
                <a:cs typeface="+mn-cs"/>
              </a:rPr>
              <a:t>ne not in scientific notation</a:t>
            </a:r>
          </a:p>
          <a:p>
            <a:pPr marL="236538" lvl="1" indent="0">
              <a:buNone/>
              <a:defRPr/>
            </a:pPr>
            <a:r>
              <a:rPr kumimoji="0" lang="en-US" sz="2400" b="0" i="0" u="none" strike="noStrike" kern="0" cap="none" spc="0" normalizeH="0" baseline="0" noProof="0" dirty="0">
                <a:ln>
                  <a:noFill/>
                </a:ln>
                <a:solidFill>
                  <a:srgbClr val="FFFFFF"/>
                </a:solidFill>
                <a:effectLst/>
                <a:uLnTx/>
                <a:uFillTx/>
                <a:latin typeface="Verdana"/>
                <a:ea typeface="+mn-ea"/>
                <a:cs typeface="+mn-cs"/>
              </a:rPr>
              <a:t>This number will be (much) greater than 10</a:t>
            </a:r>
            <a:endParaRPr lang="en-US" sz="2400" dirty="0">
              <a:solidFill>
                <a:srgbClr val="FFFFFF"/>
              </a:solidFill>
              <a:latin typeface="Verdana"/>
              <a:ea typeface="+mn-ea"/>
              <a:cs typeface="+mn-cs"/>
            </a:endParaRPr>
          </a:p>
          <a:p>
            <a:pPr marL="0" indent="0">
              <a:buNone/>
              <a:defRPr/>
            </a:pPr>
            <a:r>
              <a:rPr lang="en-US" sz="2800" dirty="0">
                <a:solidFill>
                  <a:srgbClr val="00B0F0"/>
                </a:solidFill>
              </a:rPr>
              <a:t>238,700</a:t>
            </a:r>
          </a:p>
          <a:p>
            <a:pPr marL="0" indent="0">
              <a:buNone/>
              <a:defRPr/>
            </a:pPr>
            <a:r>
              <a:rPr lang="en-US" sz="2000" dirty="0">
                <a:latin typeface="+mj-lt"/>
                <a:ea typeface="+mn-ea"/>
                <a:cs typeface="+mn-cs"/>
              </a:rPr>
              <a:t>Two hundred thirty-eight thousand seven hundred</a:t>
            </a:r>
            <a:endParaRPr kumimoji="0" lang="en-US" sz="2000" b="0" i="0" u="none" strike="noStrike" kern="0" cap="none" spc="0" normalizeH="0" baseline="0" noProof="0" dirty="0">
              <a:ln>
                <a:noFill/>
              </a:ln>
              <a:effectLst/>
              <a:uLnTx/>
              <a:uFillTx/>
              <a:latin typeface="+mj-lt"/>
              <a:ea typeface="+mn-ea"/>
              <a:cs typeface="+mn-cs"/>
            </a:endParaRPr>
          </a:p>
        </p:txBody>
      </p:sp>
      <p:sp>
        <p:nvSpPr>
          <p:cNvPr id="2" name="Slide Number Placeholder 1">
            <a:extLst>
              <a:ext uri="{FF2B5EF4-FFF2-40B4-BE49-F238E27FC236}">
                <a16:creationId xmlns:a16="http://schemas.microsoft.com/office/drawing/2014/main" id="{1AD11B58-0583-0BD9-B2E0-63D6E3A4A3BF}"/>
              </a:ext>
            </a:extLst>
          </p:cNvPr>
          <p:cNvSpPr>
            <a:spLocks noGrp="1"/>
          </p:cNvSpPr>
          <p:nvPr>
            <p:ph type="sldNum" sz="quarter" idx="10"/>
          </p:nvPr>
        </p:nvSpPr>
        <p:spPr/>
        <p:txBody>
          <a:bodyPr/>
          <a:lstStyle/>
          <a:p>
            <a:fld id="{12356DF5-CFED-4016-A2DB-A70AC2735480}" type="slidenum">
              <a:rPr lang="en-US" smtClean="0"/>
              <a:pPr/>
              <a:t>12</a:t>
            </a:fld>
            <a:endParaRPr lang="en-US" dirty="0">
              <a:solidFill>
                <a:schemeClr val="bg1"/>
              </a:solidFill>
            </a:endParaRPr>
          </a:p>
        </p:txBody>
      </p:sp>
    </p:spTree>
    <p:extLst>
      <p:ext uri="{BB962C8B-B14F-4D97-AF65-F5344CB8AC3E}">
        <p14:creationId xmlns:p14="http://schemas.microsoft.com/office/powerpoint/2010/main" val="2215190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C70AD-45CE-C3C4-C424-0D6A0AA417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26A81AF-C4C6-C05C-9C47-AC9936EC44A6}"/>
              </a:ext>
            </a:extLst>
          </p:cNvPr>
          <p:cNvSpPr>
            <a:spLocks noGrp="1"/>
          </p:cNvSpPr>
          <p:nvPr>
            <p:ph type="title"/>
          </p:nvPr>
        </p:nvSpPr>
        <p:spPr>
          <a:xfrm>
            <a:off x="361243" y="279440"/>
            <a:ext cx="8421512" cy="707886"/>
          </a:xfrm>
        </p:spPr>
        <p:txBody>
          <a:bodyPr/>
          <a:lstStyle/>
          <a:p>
            <a:r>
              <a:rPr lang="en-US" sz="4000" dirty="0"/>
              <a:t>Practicing Scientific Notation</a:t>
            </a:r>
          </a:p>
        </p:txBody>
      </p:sp>
      <p:sp>
        <p:nvSpPr>
          <p:cNvPr id="6" name="Content Placeholder 5">
            <a:extLst>
              <a:ext uri="{FF2B5EF4-FFF2-40B4-BE49-F238E27FC236}">
                <a16:creationId xmlns:a16="http://schemas.microsoft.com/office/drawing/2014/main" id="{DB89B55A-8CAE-539E-9F33-23BE84F6321E}"/>
              </a:ext>
            </a:extLst>
          </p:cNvPr>
          <p:cNvSpPr>
            <a:spLocks noGrp="1"/>
          </p:cNvSpPr>
          <p:nvPr>
            <p:ph idx="1"/>
          </p:nvPr>
        </p:nvSpPr>
        <p:spPr>
          <a:xfrm>
            <a:off x="378176" y="1207802"/>
            <a:ext cx="8387645" cy="5215465"/>
          </a:xfrm>
        </p:spPr>
        <p:txBody>
          <a:bodyPr/>
          <a:lstStyle/>
          <a:p>
            <a:pPr marL="0" indent="0">
              <a:buNone/>
              <a:defRPr/>
            </a:pPr>
            <a:r>
              <a:rPr lang="en-US" sz="2800" dirty="0">
                <a:solidFill>
                  <a:srgbClr val="00B0F0"/>
                </a:solidFill>
                <a:latin typeface="Verdana"/>
                <a:ea typeface="+mn-ea"/>
                <a:cs typeface="+mn-cs"/>
              </a:rPr>
              <a:t>238,700</a:t>
            </a:r>
          </a:p>
          <a:p>
            <a:pPr marL="0" indent="0">
              <a:buNone/>
              <a:defRPr/>
            </a:pPr>
            <a:r>
              <a:rPr lang="en-US" dirty="0">
                <a:solidFill>
                  <a:srgbClr val="FFFFFF"/>
                </a:solidFill>
              </a:rPr>
              <a:t>Our goal will be to get to a number between 1 and 10 since scientific notation requires it, and it should include the leftmost non-zero digit to the rightmost non-zero digit</a:t>
            </a:r>
          </a:p>
          <a:p>
            <a:pPr marL="0" indent="0">
              <a:buNone/>
              <a:defRPr/>
            </a:pPr>
            <a:endParaRPr lang="en-US" dirty="0">
              <a:solidFill>
                <a:srgbClr val="FFFFFF"/>
              </a:solidFill>
            </a:endParaRPr>
          </a:p>
          <a:p>
            <a:pPr marL="0" indent="0">
              <a:buNone/>
              <a:defRPr/>
            </a:pPr>
            <a:r>
              <a:rPr lang="en-US" dirty="0">
                <a:solidFill>
                  <a:srgbClr val="FFFFFF"/>
                </a:solidFill>
              </a:rPr>
              <a:t>This span of digits will be the </a:t>
            </a:r>
            <a:r>
              <a:rPr lang="en-US" dirty="0">
                <a:solidFill>
                  <a:srgbClr val="00FF00"/>
                </a:solidFill>
              </a:rPr>
              <a:t>significand</a:t>
            </a:r>
          </a:p>
          <a:p>
            <a:pPr marL="0" indent="0">
              <a:buNone/>
              <a:defRPr/>
            </a:pPr>
            <a:endParaRPr lang="en-US" dirty="0">
              <a:solidFill>
                <a:srgbClr val="FFFFFF"/>
              </a:solidFill>
            </a:endParaRPr>
          </a:p>
          <a:p>
            <a:pPr marL="0" indent="0">
              <a:buNone/>
              <a:defRPr/>
            </a:pPr>
            <a:r>
              <a:rPr lang="en-US" dirty="0">
                <a:solidFill>
                  <a:srgbClr val="FFFFFF"/>
                </a:solidFill>
              </a:rPr>
              <a:t>The significand should in the end be of</a:t>
            </a:r>
            <a:br>
              <a:rPr lang="en-US" dirty="0">
                <a:solidFill>
                  <a:srgbClr val="FFFFFF"/>
                </a:solidFill>
              </a:rPr>
            </a:br>
            <a:r>
              <a:rPr lang="en-US" i="1" dirty="0" err="1">
                <a:solidFill>
                  <a:srgbClr val="FFFF00"/>
                </a:solidFill>
              </a:rPr>
              <a:t>d.mmm</a:t>
            </a:r>
            <a:r>
              <a:rPr lang="en-US" i="1" dirty="0">
                <a:solidFill>
                  <a:srgbClr val="FFFF00"/>
                </a:solidFill>
              </a:rPr>
              <a:t>… </a:t>
            </a:r>
            <a:r>
              <a:rPr lang="en-US" dirty="0">
                <a:solidFill>
                  <a:srgbClr val="FFFFFF"/>
                </a:solidFill>
              </a:rPr>
              <a:t>form</a:t>
            </a:r>
            <a:r>
              <a:rPr lang="en-US" sz="2800" dirty="0">
                <a:solidFill>
                  <a:schemeClr val="accent2">
                    <a:lumMod val="75000"/>
                  </a:schemeClr>
                </a:solidFill>
              </a:rPr>
              <a:t>2.387</a:t>
            </a:r>
            <a:endParaRPr lang="en-US" dirty="0">
              <a:solidFill>
                <a:schemeClr val="accent2">
                  <a:lumMod val="75000"/>
                </a:schemeClr>
              </a:solidFill>
            </a:endParaRPr>
          </a:p>
          <a:p>
            <a:pPr marL="0" indent="0">
              <a:buNone/>
              <a:defRPr/>
            </a:pPr>
            <a:endParaRPr lang="en-US" sz="2000" dirty="0">
              <a:latin typeface="+mj-lt"/>
            </a:endParaRPr>
          </a:p>
          <a:p>
            <a:pPr marL="0" indent="0">
              <a:buNone/>
              <a:defRPr/>
            </a:pPr>
            <a:r>
              <a:rPr lang="en-US" dirty="0">
                <a:solidFill>
                  <a:srgbClr val="FFFFFF"/>
                </a:solidFill>
              </a:rPr>
              <a:t>So we need to determine the </a:t>
            </a:r>
            <a:r>
              <a:rPr lang="en-US" dirty="0">
                <a:solidFill>
                  <a:srgbClr val="00FF00"/>
                </a:solidFill>
              </a:rPr>
              <a:t>exponent </a:t>
            </a:r>
            <a:r>
              <a:rPr lang="en-US" sz="2000" dirty="0"/>
              <a:t>(power of 10)</a:t>
            </a:r>
          </a:p>
        </p:txBody>
      </p:sp>
      <p:sp>
        <p:nvSpPr>
          <p:cNvPr id="2" name="Slide Number Placeholder 1">
            <a:extLst>
              <a:ext uri="{FF2B5EF4-FFF2-40B4-BE49-F238E27FC236}">
                <a16:creationId xmlns:a16="http://schemas.microsoft.com/office/drawing/2014/main" id="{7B5422D5-FC13-78BD-6F3B-D81D89CF081D}"/>
              </a:ext>
            </a:extLst>
          </p:cNvPr>
          <p:cNvSpPr>
            <a:spLocks noGrp="1"/>
          </p:cNvSpPr>
          <p:nvPr>
            <p:ph type="sldNum" sz="quarter" idx="10"/>
          </p:nvPr>
        </p:nvSpPr>
        <p:spPr/>
        <p:txBody>
          <a:bodyPr/>
          <a:lstStyle/>
          <a:p>
            <a:fld id="{12356DF5-CFED-4016-A2DB-A70AC2735480}" type="slidenum">
              <a:rPr lang="en-US" smtClean="0"/>
              <a:pPr/>
              <a:t>13</a:t>
            </a:fld>
            <a:endParaRPr lang="en-US" dirty="0">
              <a:solidFill>
                <a:schemeClr val="bg1"/>
              </a:solidFill>
            </a:endParaRPr>
          </a:p>
        </p:txBody>
      </p:sp>
    </p:spTree>
    <p:extLst>
      <p:ext uri="{BB962C8B-B14F-4D97-AF65-F5344CB8AC3E}">
        <p14:creationId xmlns:p14="http://schemas.microsoft.com/office/powerpoint/2010/main" val="1214692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B29C2-EDCD-5EDC-4D36-4733D17B8EE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B370038-2193-23DE-3AB7-97B18EAE6EF2}"/>
              </a:ext>
            </a:extLst>
          </p:cNvPr>
          <p:cNvSpPr>
            <a:spLocks noGrp="1"/>
          </p:cNvSpPr>
          <p:nvPr>
            <p:ph type="title"/>
          </p:nvPr>
        </p:nvSpPr>
        <p:spPr>
          <a:xfrm>
            <a:off x="361243" y="279440"/>
            <a:ext cx="8421512" cy="707886"/>
          </a:xfrm>
        </p:spPr>
        <p:txBody>
          <a:bodyPr/>
          <a:lstStyle/>
          <a:p>
            <a:r>
              <a:rPr lang="en-US" sz="4000" dirty="0"/>
              <a:t>Practicing Scientific Notation</a:t>
            </a:r>
          </a:p>
        </p:txBody>
      </p:sp>
      <p:sp>
        <p:nvSpPr>
          <p:cNvPr id="6" name="Content Placeholder 5">
            <a:extLst>
              <a:ext uri="{FF2B5EF4-FFF2-40B4-BE49-F238E27FC236}">
                <a16:creationId xmlns:a16="http://schemas.microsoft.com/office/drawing/2014/main" id="{6146593A-8C3E-EE92-D5A8-025432ECA670}"/>
              </a:ext>
            </a:extLst>
          </p:cNvPr>
          <p:cNvSpPr>
            <a:spLocks noGrp="1"/>
          </p:cNvSpPr>
          <p:nvPr>
            <p:ph idx="1"/>
          </p:nvPr>
        </p:nvSpPr>
        <p:spPr>
          <a:xfrm>
            <a:off x="378176" y="1207802"/>
            <a:ext cx="8387645" cy="5215465"/>
          </a:xfrm>
        </p:spPr>
        <p:txBody>
          <a:bodyPr/>
          <a:lstStyle/>
          <a:p>
            <a:pPr marL="0" indent="0">
              <a:buNone/>
              <a:defRPr/>
            </a:pPr>
            <a:r>
              <a:rPr lang="en-US" dirty="0"/>
              <a:t>1. Place the “implied” decimal point where it should be</a:t>
            </a:r>
          </a:p>
          <a:p>
            <a:pPr marL="0" indent="0">
              <a:buNone/>
              <a:defRPr/>
            </a:pPr>
            <a:r>
              <a:rPr lang="en-US" sz="2800" dirty="0">
                <a:solidFill>
                  <a:srgbClr val="00B0F0"/>
                </a:solidFill>
                <a:latin typeface="Verdana"/>
                <a:ea typeface="+mn-ea"/>
                <a:cs typeface="+mn-cs"/>
              </a:rPr>
              <a:t>238,700</a:t>
            </a:r>
            <a:r>
              <a:rPr lang="en-US" sz="2800" dirty="0">
                <a:solidFill>
                  <a:srgbClr val="FF9933"/>
                </a:solidFill>
                <a:latin typeface="Verdana"/>
                <a:ea typeface="+mn-ea"/>
                <a:cs typeface="+mn-cs"/>
              </a:rPr>
              <a:t>.</a:t>
            </a:r>
          </a:p>
          <a:p>
            <a:pPr marL="0" indent="0">
              <a:buNone/>
              <a:defRPr/>
            </a:pPr>
            <a:r>
              <a:rPr lang="en-US" dirty="0">
                <a:solidFill>
                  <a:srgbClr val="FFFFFF"/>
                </a:solidFill>
              </a:rPr>
              <a:t>2. Move it in the direction of where it should end up</a:t>
            </a:r>
          </a:p>
          <a:p>
            <a:pPr marL="236538" lvl="1" indent="0">
              <a:buNone/>
              <a:defRPr/>
            </a:pPr>
            <a:r>
              <a:rPr lang="en-US" dirty="0">
                <a:solidFill>
                  <a:srgbClr val="FFFFFF"/>
                </a:solidFill>
              </a:rPr>
              <a:t>This is to the left to produce a </a:t>
            </a:r>
            <a:r>
              <a:rPr lang="en-US" dirty="0">
                <a:solidFill>
                  <a:schemeClr val="accent1">
                    <a:lumMod val="75000"/>
                  </a:schemeClr>
                </a:solidFill>
              </a:rPr>
              <a:t>2.387</a:t>
            </a:r>
            <a:r>
              <a:rPr lang="en-US" dirty="0">
                <a:solidFill>
                  <a:srgbClr val="FFFFFF"/>
                </a:solidFill>
              </a:rPr>
              <a:t> significand</a:t>
            </a:r>
          </a:p>
          <a:p>
            <a:pPr marL="0" indent="0">
              <a:buNone/>
              <a:defRPr/>
            </a:pPr>
            <a:r>
              <a:rPr lang="en-US" sz="2800" dirty="0">
                <a:solidFill>
                  <a:srgbClr val="00B0F0"/>
                </a:solidFill>
              </a:rPr>
              <a:t>23,870</a:t>
            </a:r>
            <a:r>
              <a:rPr lang="en-US" sz="2800" dirty="0">
                <a:solidFill>
                  <a:srgbClr val="FF9933"/>
                </a:solidFill>
              </a:rPr>
              <a:t>.</a:t>
            </a:r>
            <a:endParaRPr lang="en-US" sz="2800" dirty="0">
              <a:solidFill>
                <a:srgbClr val="FFFFFF"/>
              </a:solidFill>
            </a:endParaRPr>
          </a:p>
          <a:p>
            <a:pPr marL="0" indent="0">
              <a:buNone/>
              <a:defRPr/>
            </a:pPr>
            <a:r>
              <a:rPr lang="en-US" dirty="0">
                <a:solidFill>
                  <a:srgbClr val="FFFFFF"/>
                </a:solidFill>
              </a:rPr>
              <a:t>3. What is the relationship between </a:t>
            </a:r>
            <a:r>
              <a:rPr lang="en-US" dirty="0">
                <a:solidFill>
                  <a:srgbClr val="00B0F0"/>
                </a:solidFill>
              </a:rPr>
              <a:t>238,700 </a:t>
            </a:r>
            <a:r>
              <a:rPr lang="en-US" dirty="0"/>
              <a:t>and</a:t>
            </a:r>
            <a:r>
              <a:rPr lang="en-US" dirty="0">
                <a:solidFill>
                  <a:srgbClr val="00B0F0"/>
                </a:solidFill>
              </a:rPr>
              <a:t> 23,870</a:t>
            </a:r>
            <a:r>
              <a:rPr lang="en-US" dirty="0"/>
              <a:t>? You have to multiply by 10!</a:t>
            </a:r>
          </a:p>
          <a:p>
            <a:pPr marL="0" indent="0">
              <a:buNone/>
              <a:defRPr/>
            </a:pPr>
            <a:r>
              <a:rPr lang="en-US" dirty="0">
                <a:solidFill>
                  <a:srgbClr val="FFFFFF"/>
                </a:solidFill>
              </a:rPr>
              <a:t>That is </a:t>
            </a:r>
            <a:r>
              <a:rPr lang="en-US" dirty="0">
                <a:solidFill>
                  <a:srgbClr val="00B0F0"/>
                </a:solidFill>
              </a:rPr>
              <a:t>238,700 </a:t>
            </a:r>
            <a:r>
              <a:rPr lang="en-US" dirty="0"/>
              <a:t>=</a:t>
            </a:r>
            <a:r>
              <a:rPr lang="en-US" dirty="0">
                <a:solidFill>
                  <a:srgbClr val="00B0F0"/>
                </a:solidFill>
              </a:rPr>
              <a:t> 23,870 </a:t>
            </a:r>
            <a:r>
              <a:rPr lang="en-US" dirty="0"/>
              <a:t>x</a:t>
            </a:r>
            <a:r>
              <a:rPr lang="en-US" dirty="0">
                <a:solidFill>
                  <a:srgbClr val="00B0F0"/>
                </a:solidFill>
              </a:rPr>
              <a:t> 10</a:t>
            </a:r>
          </a:p>
          <a:p>
            <a:pPr marL="0" indent="0">
              <a:buNone/>
              <a:defRPr/>
            </a:pPr>
            <a:r>
              <a:rPr lang="en-US" dirty="0"/>
              <a:t>We also note that </a:t>
            </a:r>
            <a:r>
              <a:rPr lang="en-US" dirty="0">
                <a:solidFill>
                  <a:srgbClr val="00B0F0"/>
                </a:solidFill>
              </a:rPr>
              <a:t>10 = 10</a:t>
            </a:r>
            <a:r>
              <a:rPr lang="en-US" baseline="30000" dirty="0">
                <a:solidFill>
                  <a:srgbClr val="00B0F0"/>
                </a:solidFill>
              </a:rPr>
              <a:t>1</a:t>
            </a:r>
            <a:endParaRPr lang="en-US" baseline="30000" dirty="0"/>
          </a:p>
          <a:p>
            <a:pPr marL="0" indent="0">
              <a:buNone/>
              <a:defRPr/>
            </a:pPr>
            <a:r>
              <a:rPr lang="en-US" dirty="0"/>
              <a:t>So </a:t>
            </a:r>
            <a:r>
              <a:rPr lang="en-US" dirty="0">
                <a:solidFill>
                  <a:srgbClr val="00B0F0"/>
                </a:solidFill>
              </a:rPr>
              <a:t>238,700 = 23,870 </a:t>
            </a:r>
            <a:r>
              <a:rPr lang="en-US" dirty="0"/>
              <a:t>x</a:t>
            </a:r>
            <a:r>
              <a:rPr lang="en-US" dirty="0">
                <a:solidFill>
                  <a:srgbClr val="00B0F0"/>
                </a:solidFill>
              </a:rPr>
              <a:t> 10</a:t>
            </a:r>
            <a:r>
              <a:rPr lang="en-US" baseline="30000" dirty="0">
                <a:solidFill>
                  <a:srgbClr val="00B0F0"/>
                </a:solidFill>
              </a:rPr>
              <a:t>1</a:t>
            </a:r>
          </a:p>
          <a:p>
            <a:pPr marL="0" indent="0">
              <a:buNone/>
              <a:defRPr/>
            </a:pPr>
            <a:r>
              <a:rPr lang="en-US" sz="2000" dirty="0"/>
              <a:t>Let’s repeat the movement until we get to proper form</a:t>
            </a:r>
          </a:p>
        </p:txBody>
      </p:sp>
      <p:sp>
        <p:nvSpPr>
          <p:cNvPr id="2" name="Slide Number Placeholder 1">
            <a:extLst>
              <a:ext uri="{FF2B5EF4-FFF2-40B4-BE49-F238E27FC236}">
                <a16:creationId xmlns:a16="http://schemas.microsoft.com/office/drawing/2014/main" id="{CDB95FCA-3AFB-868A-9290-0F96587D431A}"/>
              </a:ext>
            </a:extLst>
          </p:cNvPr>
          <p:cNvSpPr>
            <a:spLocks noGrp="1"/>
          </p:cNvSpPr>
          <p:nvPr>
            <p:ph type="sldNum" sz="quarter" idx="10"/>
          </p:nvPr>
        </p:nvSpPr>
        <p:spPr/>
        <p:txBody>
          <a:bodyPr/>
          <a:lstStyle/>
          <a:p>
            <a:fld id="{12356DF5-CFED-4016-A2DB-A70AC2735480}" type="slidenum">
              <a:rPr lang="en-US" smtClean="0"/>
              <a:pPr/>
              <a:t>14</a:t>
            </a:fld>
            <a:endParaRPr lang="en-US" dirty="0">
              <a:solidFill>
                <a:schemeClr val="bg1"/>
              </a:solidFill>
            </a:endParaRPr>
          </a:p>
        </p:txBody>
      </p:sp>
    </p:spTree>
    <p:extLst>
      <p:ext uri="{BB962C8B-B14F-4D97-AF65-F5344CB8AC3E}">
        <p14:creationId xmlns:p14="http://schemas.microsoft.com/office/powerpoint/2010/main" val="2509138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14CA4-2962-197B-6582-A93013C6B1E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A3F7636-B7EC-259B-B6D5-C7641D837FFA}"/>
              </a:ext>
            </a:extLst>
          </p:cNvPr>
          <p:cNvSpPr>
            <a:spLocks noGrp="1"/>
          </p:cNvSpPr>
          <p:nvPr>
            <p:ph type="title"/>
          </p:nvPr>
        </p:nvSpPr>
        <p:spPr>
          <a:xfrm>
            <a:off x="344308" y="187947"/>
            <a:ext cx="8421512" cy="707886"/>
          </a:xfrm>
        </p:spPr>
        <p:txBody>
          <a:bodyPr/>
          <a:lstStyle/>
          <a:p>
            <a:r>
              <a:rPr lang="en-US" sz="4000" dirty="0"/>
              <a:t>Practicing Scientific Notation</a:t>
            </a:r>
          </a:p>
        </p:txBody>
      </p:sp>
      <p:sp>
        <p:nvSpPr>
          <p:cNvPr id="6" name="Content Placeholder 5">
            <a:extLst>
              <a:ext uri="{FF2B5EF4-FFF2-40B4-BE49-F238E27FC236}">
                <a16:creationId xmlns:a16="http://schemas.microsoft.com/office/drawing/2014/main" id="{AC8E84C3-A513-E2C1-2DDE-17E69480A7DC}"/>
              </a:ext>
            </a:extLst>
          </p:cNvPr>
          <p:cNvSpPr>
            <a:spLocks noGrp="1"/>
          </p:cNvSpPr>
          <p:nvPr>
            <p:ph idx="1"/>
          </p:nvPr>
        </p:nvSpPr>
        <p:spPr>
          <a:xfrm>
            <a:off x="361242" y="1012493"/>
            <a:ext cx="8387645" cy="5530350"/>
          </a:xfrm>
        </p:spPr>
        <p:txBody>
          <a:bodyPr/>
          <a:lstStyle/>
          <a:p>
            <a:pPr marL="0" indent="0">
              <a:buNone/>
              <a:defRPr/>
            </a:pPr>
            <a:r>
              <a:rPr lang="en-US" sz="2800" dirty="0">
                <a:solidFill>
                  <a:srgbClr val="00B0F0"/>
                </a:solidFill>
                <a:latin typeface="Verdana"/>
                <a:ea typeface="+mn-ea"/>
                <a:cs typeface="+mn-cs"/>
              </a:rPr>
              <a:t>238,700</a:t>
            </a:r>
            <a:r>
              <a:rPr lang="en-US" sz="2800" dirty="0">
                <a:solidFill>
                  <a:srgbClr val="FF9933"/>
                </a:solidFill>
                <a:latin typeface="Verdana"/>
                <a:ea typeface="+mn-ea"/>
                <a:cs typeface="+mn-cs"/>
              </a:rPr>
              <a:t>.  </a:t>
            </a:r>
            <a:r>
              <a:rPr lang="en-US" dirty="0"/>
              <a:t>(the original number)</a:t>
            </a:r>
            <a:endParaRPr lang="en-US" sz="2800" dirty="0">
              <a:solidFill>
                <a:srgbClr val="FF9933"/>
              </a:solidFill>
              <a:latin typeface="Verdana"/>
              <a:ea typeface="+mn-ea"/>
              <a:cs typeface="+mn-cs"/>
            </a:endParaRPr>
          </a:p>
          <a:p>
            <a:pPr marL="0" indent="0">
              <a:buNone/>
              <a:defRPr/>
            </a:pPr>
            <a:r>
              <a:rPr lang="en-US" sz="2800" dirty="0">
                <a:solidFill>
                  <a:srgbClr val="00B0F0"/>
                </a:solidFill>
              </a:rPr>
              <a:t>23,870</a:t>
            </a:r>
            <a:r>
              <a:rPr lang="en-US" sz="2800" dirty="0">
                <a:solidFill>
                  <a:srgbClr val="FF9933"/>
                </a:solidFill>
              </a:rPr>
              <a:t>. </a:t>
            </a:r>
            <a:r>
              <a:rPr lang="en-US" dirty="0">
                <a:sym typeface="Wingdings" panose="05000000000000000000" pitchFamily="2" charset="2"/>
              </a:rPr>
              <a:t></a:t>
            </a:r>
            <a:r>
              <a:rPr lang="en-US" sz="2800" dirty="0">
                <a:solidFill>
                  <a:srgbClr val="FF9933"/>
                </a:solidFill>
              </a:rPr>
              <a:t> </a:t>
            </a:r>
            <a:r>
              <a:rPr lang="en-US" sz="2800" dirty="0">
                <a:solidFill>
                  <a:srgbClr val="00B0F0"/>
                </a:solidFill>
              </a:rPr>
              <a:t>23,870 </a:t>
            </a:r>
            <a:r>
              <a:rPr lang="en-US" sz="2800" dirty="0"/>
              <a:t>x</a:t>
            </a:r>
            <a:r>
              <a:rPr lang="en-US" sz="2800" dirty="0">
                <a:solidFill>
                  <a:srgbClr val="00B0F0"/>
                </a:solidFill>
              </a:rPr>
              <a:t> 10</a:t>
            </a:r>
            <a:r>
              <a:rPr lang="en-US" sz="2800" baseline="30000" dirty="0">
                <a:solidFill>
                  <a:srgbClr val="00B0F0"/>
                </a:solidFill>
              </a:rPr>
              <a:t>1 </a:t>
            </a:r>
            <a:r>
              <a:rPr lang="en-US" dirty="0"/>
              <a:t>=</a:t>
            </a:r>
            <a:r>
              <a:rPr lang="en-US" sz="2800" baseline="30000" dirty="0">
                <a:solidFill>
                  <a:srgbClr val="00B0F0"/>
                </a:solidFill>
              </a:rPr>
              <a:t> </a:t>
            </a:r>
            <a:r>
              <a:rPr lang="en-US" sz="2800" dirty="0">
                <a:solidFill>
                  <a:srgbClr val="00B0F0"/>
                </a:solidFill>
              </a:rPr>
              <a:t>238,700</a:t>
            </a:r>
          </a:p>
          <a:p>
            <a:pPr marL="0" indent="0">
              <a:buNone/>
              <a:defRPr/>
            </a:pPr>
            <a:r>
              <a:rPr lang="en-US" sz="2800" dirty="0">
                <a:solidFill>
                  <a:srgbClr val="00B0F0"/>
                </a:solidFill>
              </a:rPr>
              <a:t>2,387</a:t>
            </a:r>
            <a:r>
              <a:rPr lang="en-US" sz="2800" dirty="0">
                <a:solidFill>
                  <a:srgbClr val="FF9933"/>
                </a:solidFill>
              </a:rPr>
              <a:t>. </a:t>
            </a:r>
            <a:r>
              <a:rPr lang="en-US" sz="2800" dirty="0">
                <a:sym typeface="Wingdings" panose="05000000000000000000" pitchFamily="2" charset="2"/>
              </a:rPr>
              <a:t></a:t>
            </a:r>
            <a:r>
              <a:rPr lang="en-US" sz="2800" dirty="0">
                <a:solidFill>
                  <a:srgbClr val="FF9933"/>
                </a:solidFill>
              </a:rPr>
              <a:t> </a:t>
            </a:r>
            <a:r>
              <a:rPr lang="en-US" sz="2800" dirty="0">
                <a:solidFill>
                  <a:srgbClr val="00B0F0"/>
                </a:solidFill>
              </a:rPr>
              <a:t>2,387 </a:t>
            </a:r>
            <a:r>
              <a:rPr lang="en-US" sz="2800" dirty="0"/>
              <a:t>x</a:t>
            </a:r>
            <a:r>
              <a:rPr lang="en-US" sz="2800" dirty="0">
                <a:solidFill>
                  <a:srgbClr val="00B0F0"/>
                </a:solidFill>
              </a:rPr>
              <a:t> 10</a:t>
            </a:r>
            <a:r>
              <a:rPr lang="en-US" sz="2800" baseline="30000" dirty="0">
                <a:solidFill>
                  <a:srgbClr val="00B0F0"/>
                </a:solidFill>
              </a:rPr>
              <a:t>2 </a:t>
            </a:r>
            <a:r>
              <a:rPr lang="en-US" sz="2800" dirty="0"/>
              <a:t>=</a:t>
            </a:r>
            <a:r>
              <a:rPr lang="en-US" sz="2800" baseline="30000" dirty="0">
                <a:solidFill>
                  <a:srgbClr val="00B0F0"/>
                </a:solidFill>
              </a:rPr>
              <a:t> </a:t>
            </a:r>
            <a:r>
              <a:rPr lang="en-US" sz="2800" dirty="0">
                <a:solidFill>
                  <a:srgbClr val="00B0F0"/>
                </a:solidFill>
              </a:rPr>
              <a:t>238,700</a:t>
            </a:r>
            <a:endParaRPr lang="en-US" sz="2800" dirty="0">
              <a:solidFill>
                <a:srgbClr val="FFFFFF"/>
              </a:solidFill>
            </a:endParaRPr>
          </a:p>
          <a:p>
            <a:pPr marL="0" indent="0">
              <a:buNone/>
              <a:defRPr/>
            </a:pPr>
            <a:r>
              <a:rPr lang="en-US" sz="2800" dirty="0">
                <a:solidFill>
                  <a:srgbClr val="00B0F0"/>
                </a:solidFill>
              </a:rPr>
              <a:t>238</a:t>
            </a:r>
            <a:r>
              <a:rPr lang="en-US" sz="2800" dirty="0">
                <a:solidFill>
                  <a:srgbClr val="FF9933"/>
                </a:solidFill>
              </a:rPr>
              <a:t>.</a:t>
            </a:r>
            <a:r>
              <a:rPr lang="en-US" sz="2800" dirty="0">
                <a:solidFill>
                  <a:srgbClr val="00B0F0"/>
                </a:solidFill>
              </a:rPr>
              <a:t>7</a:t>
            </a:r>
            <a:r>
              <a:rPr lang="en-US" sz="2800" dirty="0">
                <a:solidFill>
                  <a:srgbClr val="FF9933"/>
                </a:solidFill>
              </a:rPr>
              <a:t> </a:t>
            </a:r>
            <a:r>
              <a:rPr lang="en-US" sz="2800" dirty="0">
                <a:sym typeface="Wingdings" panose="05000000000000000000" pitchFamily="2" charset="2"/>
              </a:rPr>
              <a:t></a:t>
            </a:r>
            <a:r>
              <a:rPr lang="en-US" sz="2800" dirty="0">
                <a:solidFill>
                  <a:srgbClr val="FF9933"/>
                </a:solidFill>
              </a:rPr>
              <a:t> </a:t>
            </a:r>
            <a:r>
              <a:rPr lang="en-US" sz="2800" dirty="0">
                <a:solidFill>
                  <a:srgbClr val="00B0F0"/>
                </a:solidFill>
              </a:rPr>
              <a:t>238</a:t>
            </a:r>
            <a:r>
              <a:rPr lang="en-US" sz="2800" dirty="0">
                <a:solidFill>
                  <a:srgbClr val="FF9933"/>
                </a:solidFill>
              </a:rPr>
              <a:t>.</a:t>
            </a:r>
            <a:r>
              <a:rPr lang="en-US" sz="2800" dirty="0">
                <a:solidFill>
                  <a:srgbClr val="00B0F0"/>
                </a:solidFill>
              </a:rPr>
              <a:t>7 </a:t>
            </a:r>
            <a:r>
              <a:rPr lang="en-US" sz="2800" dirty="0"/>
              <a:t>x</a:t>
            </a:r>
            <a:r>
              <a:rPr lang="en-US" sz="2800" dirty="0">
                <a:solidFill>
                  <a:srgbClr val="00B0F0"/>
                </a:solidFill>
              </a:rPr>
              <a:t> 10</a:t>
            </a:r>
            <a:r>
              <a:rPr lang="en-US" sz="2800" baseline="30000" dirty="0">
                <a:solidFill>
                  <a:srgbClr val="00B0F0"/>
                </a:solidFill>
              </a:rPr>
              <a:t>3 </a:t>
            </a:r>
            <a:r>
              <a:rPr lang="en-US" sz="2800" dirty="0"/>
              <a:t>=</a:t>
            </a:r>
            <a:r>
              <a:rPr lang="en-US" sz="2800" baseline="30000" dirty="0">
                <a:solidFill>
                  <a:srgbClr val="00B0F0"/>
                </a:solidFill>
              </a:rPr>
              <a:t> </a:t>
            </a:r>
            <a:r>
              <a:rPr lang="en-US" sz="2800" dirty="0">
                <a:solidFill>
                  <a:srgbClr val="00B0F0"/>
                </a:solidFill>
              </a:rPr>
              <a:t>238,700</a:t>
            </a:r>
          </a:p>
          <a:p>
            <a:pPr marL="236538" lvl="1" indent="0">
              <a:buNone/>
              <a:defRPr/>
            </a:pPr>
            <a:r>
              <a:rPr lang="en-US" sz="2200" dirty="0"/>
              <a:t>Note that we were dropping zeroes until we hit the non-zero number “7”, but the decimal point still moves</a:t>
            </a:r>
          </a:p>
          <a:p>
            <a:pPr marL="0" indent="0">
              <a:buNone/>
              <a:defRPr/>
            </a:pPr>
            <a:r>
              <a:rPr lang="en-US" sz="2800" dirty="0">
                <a:solidFill>
                  <a:srgbClr val="00B0F0"/>
                </a:solidFill>
              </a:rPr>
              <a:t>23</a:t>
            </a:r>
            <a:r>
              <a:rPr lang="en-US" sz="2800" dirty="0">
                <a:solidFill>
                  <a:srgbClr val="FF9933"/>
                </a:solidFill>
              </a:rPr>
              <a:t>.</a:t>
            </a:r>
            <a:r>
              <a:rPr lang="en-US" sz="2800" dirty="0">
                <a:solidFill>
                  <a:srgbClr val="00B0F0"/>
                </a:solidFill>
              </a:rPr>
              <a:t>87</a:t>
            </a:r>
            <a:r>
              <a:rPr lang="en-US" sz="2800" dirty="0">
                <a:solidFill>
                  <a:srgbClr val="FF9933"/>
                </a:solidFill>
              </a:rPr>
              <a:t> </a:t>
            </a:r>
            <a:r>
              <a:rPr lang="en-US" sz="2800" dirty="0">
                <a:sym typeface="Wingdings" panose="05000000000000000000" pitchFamily="2" charset="2"/>
              </a:rPr>
              <a:t></a:t>
            </a:r>
            <a:r>
              <a:rPr lang="en-US" sz="2800" dirty="0">
                <a:solidFill>
                  <a:srgbClr val="FF9933"/>
                </a:solidFill>
              </a:rPr>
              <a:t> </a:t>
            </a:r>
            <a:r>
              <a:rPr lang="en-US" sz="2800" dirty="0">
                <a:solidFill>
                  <a:srgbClr val="00B0F0"/>
                </a:solidFill>
              </a:rPr>
              <a:t>23</a:t>
            </a:r>
            <a:r>
              <a:rPr lang="en-US" sz="2800" dirty="0">
                <a:solidFill>
                  <a:srgbClr val="FF9933"/>
                </a:solidFill>
              </a:rPr>
              <a:t>.</a:t>
            </a:r>
            <a:r>
              <a:rPr lang="en-US" sz="2800" dirty="0">
                <a:solidFill>
                  <a:srgbClr val="00B0F0"/>
                </a:solidFill>
              </a:rPr>
              <a:t>87 </a:t>
            </a:r>
            <a:r>
              <a:rPr lang="en-US" sz="2800" dirty="0"/>
              <a:t>x</a:t>
            </a:r>
            <a:r>
              <a:rPr lang="en-US" sz="2800" dirty="0">
                <a:solidFill>
                  <a:srgbClr val="00B0F0"/>
                </a:solidFill>
              </a:rPr>
              <a:t> 10</a:t>
            </a:r>
            <a:r>
              <a:rPr lang="en-US" sz="2800" baseline="30000" dirty="0">
                <a:solidFill>
                  <a:srgbClr val="00B0F0"/>
                </a:solidFill>
              </a:rPr>
              <a:t>4 </a:t>
            </a:r>
            <a:r>
              <a:rPr lang="en-US" sz="2800" dirty="0"/>
              <a:t>=</a:t>
            </a:r>
            <a:r>
              <a:rPr lang="en-US" sz="2800" baseline="30000" dirty="0">
                <a:solidFill>
                  <a:srgbClr val="00B0F0"/>
                </a:solidFill>
              </a:rPr>
              <a:t> </a:t>
            </a:r>
            <a:r>
              <a:rPr lang="en-US" sz="2800" dirty="0">
                <a:solidFill>
                  <a:srgbClr val="00B0F0"/>
                </a:solidFill>
              </a:rPr>
              <a:t>238,700</a:t>
            </a:r>
          </a:p>
          <a:p>
            <a:pPr marL="0" indent="0">
              <a:buNone/>
              <a:defRPr/>
            </a:pPr>
            <a:r>
              <a:rPr lang="en-US" sz="2800" dirty="0">
                <a:solidFill>
                  <a:srgbClr val="00B0F0"/>
                </a:solidFill>
              </a:rPr>
              <a:t>2</a:t>
            </a:r>
            <a:r>
              <a:rPr lang="en-US" sz="2800" dirty="0">
                <a:solidFill>
                  <a:srgbClr val="FF9933"/>
                </a:solidFill>
              </a:rPr>
              <a:t>.</a:t>
            </a:r>
            <a:r>
              <a:rPr lang="en-US" sz="2800" dirty="0">
                <a:solidFill>
                  <a:srgbClr val="00B0F0"/>
                </a:solidFill>
              </a:rPr>
              <a:t>387</a:t>
            </a:r>
            <a:r>
              <a:rPr lang="en-US" sz="2800" dirty="0">
                <a:solidFill>
                  <a:srgbClr val="FF9933"/>
                </a:solidFill>
              </a:rPr>
              <a:t> </a:t>
            </a:r>
            <a:r>
              <a:rPr lang="en-US" sz="2800" dirty="0">
                <a:sym typeface="Wingdings" panose="05000000000000000000" pitchFamily="2" charset="2"/>
              </a:rPr>
              <a:t></a:t>
            </a:r>
            <a:r>
              <a:rPr lang="en-US" sz="2800" dirty="0">
                <a:solidFill>
                  <a:srgbClr val="FF9933"/>
                </a:solidFill>
              </a:rPr>
              <a:t> </a:t>
            </a:r>
            <a:r>
              <a:rPr lang="en-US" sz="2800" dirty="0">
                <a:solidFill>
                  <a:srgbClr val="00B0F0"/>
                </a:solidFill>
              </a:rPr>
              <a:t>2</a:t>
            </a:r>
            <a:r>
              <a:rPr lang="en-US" sz="2800" dirty="0">
                <a:solidFill>
                  <a:srgbClr val="FF9933"/>
                </a:solidFill>
              </a:rPr>
              <a:t>.</a:t>
            </a:r>
            <a:r>
              <a:rPr lang="en-US" sz="2800" dirty="0">
                <a:solidFill>
                  <a:srgbClr val="00B0F0"/>
                </a:solidFill>
              </a:rPr>
              <a:t>387 </a:t>
            </a:r>
            <a:r>
              <a:rPr lang="en-US" sz="2800" dirty="0"/>
              <a:t>x</a:t>
            </a:r>
            <a:r>
              <a:rPr lang="en-US" sz="2800" dirty="0">
                <a:solidFill>
                  <a:srgbClr val="00B0F0"/>
                </a:solidFill>
              </a:rPr>
              <a:t> 10</a:t>
            </a:r>
            <a:r>
              <a:rPr lang="en-US" sz="2800" baseline="30000" dirty="0">
                <a:solidFill>
                  <a:srgbClr val="00B0F0"/>
                </a:solidFill>
              </a:rPr>
              <a:t>5 </a:t>
            </a:r>
            <a:r>
              <a:rPr lang="en-US" sz="2800" dirty="0"/>
              <a:t>=</a:t>
            </a:r>
            <a:r>
              <a:rPr lang="en-US" sz="2800" baseline="30000" dirty="0">
                <a:solidFill>
                  <a:srgbClr val="00B0F0"/>
                </a:solidFill>
              </a:rPr>
              <a:t> </a:t>
            </a:r>
            <a:r>
              <a:rPr lang="en-US" sz="2800" dirty="0">
                <a:solidFill>
                  <a:srgbClr val="00B0F0"/>
                </a:solidFill>
              </a:rPr>
              <a:t>238,700</a:t>
            </a:r>
            <a:endParaRPr lang="en-US" sz="2800" dirty="0">
              <a:solidFill>
                <a:srgbClr val="FFFFFF"/>
              </a:solidFill>
            </a:endParaRPr>
          </a:p>
          <a:p>
            <a:pPr marL="236538" lvl="1" indent="0">
              <a:buNone/>
              <a:defRPr/>
            </a:pPr>
            <a:r>
              <a:rPr lang="en-US" sz="2200" dirty="0"/>
              <a:t>The decimal point was not moved to create the significand: we have a number less than 10, greater than 1. With each movement of decimal point, we created the power of 10. At every step, equal to original number</a:t>
            </a:r>
          </a:p>
          <a:p>
            <a:pPr marL="0" indent="0">
              <a:buNone/>
              <a:defRPr/>
            </a:pPr>
            <a:endParaRPr lang="en-US" sz="2800" dirty="0">
              <a:solidFill>
                <a:srgbClr val="FFFFFF"/>
              </a:solidFill>
            </a:endParaRPr>
          </a:p>
          <a:p>
            <a:pPr marL="0" indent="0">
              <a:buNone/>
              <a:defRPr/>
            </a:pPr>
            <a:endParaRPr lang="en-US" sz="2800" dirty="0">
              <a:solidFill>
                <a:srgbClr val="FFFFFF"/>
              </a:solidFill>
            </a:endParaRPr>
          </a:p>
          <a:p>
            <a:pPr marL="0" indent="0">
              <a:buNone/>
              <a:defRPr/>
            </a:pPr>
            <a:endParaRPr lang="en-US" sz="2800" dirty="0">
              <a:solidFill>
                <a:srgbClr val="FFFFFF"/>
              </a:solidFill>
            </a:endParaRPr>
          </a:p>
        </p:txBody>
      </p:sp>
      <p:sp>
        <p:nvSpPr>
          <p:cNvPr id="2" name="Slide Number Placeholder 1">
            <a:extLst>
              <a:ext uri="{FF2B5EF4-FFF2-40B4-BE49-F238E27FC236}">
                <a16:creationId xmlns:a16="http://schemas.microsoft.com/office/drawing/2014/main" id="{6594CD90-1FB2-9308-67B4-CD97F163F122}"/>
              </a:ext>
            </a:extLst>
          </p:cNvPr>
          <p:cNvSpPr>
            <a:spLocks noGrp="1"/>
          </p:cNvSpPr>
          <p:nvPr>
            <p:ph type="sldNum" sz="quarter" idx="10"/>
          </p:nvPr>
        </p:nvSpPr>
        <p:spPr/>
        <p:txBody>
          <a:bodyPr/>
          <a:lstStyle/>
          <a:p>
            <a:fld id="{12356DF5-CFED-4016-A2DB-A70AC2735480}" type="slidenum">
              <a:rPr lang="en-US" smtClean="0"/>
              <a:pPr/>
              <a:t>15</a:t>
            </a:fld>
            <a:endParaRPr lang="en-US" dirty="0">
              <a:solidFill>
                <a:schemeClr val="bg1"/>
              </a:solidFill>
            </a:endParaRPr>
          </a:p>
        </p:txBody>
      </p:sp>
    </p:spTree>
    <p:extLst>
      <p:ext uri="{BB962C8B-B14F-4D97-AF65-F5344CB8AC3E}">
        <p14:creationId xmlns:p14="http://schemas.microsoft.com/office/powerpoint/2010/main" val="3599581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FD12B-F2CC-758F-BFC0-532E49EBAB5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98B286A-F992-63A0-E335-C150FBAFA34F}"/>
              </a:ext>
            </a:extLst>
          </p:cNvPr>
          <p:cNvSpPr>
            <a:spLocks noGrp="1"/>
          </p:cNvSpPr>
          <p:nvPr>
            <p:ph type="title"/>
          </p:nvPr>
        </p:nvSpPr>
        <p:spPr>
          <a:xfrm>
            <a:off x="361242" y="187948"/>
            <a:ext cx="8421512" cy="707886"/>
          </a:xfrm>
        </p:spPr>
        <p:txBody>
          <a:bodyPr/>
          <a:lstStyle/>
          <a:p>
            <a:r>
              <a:rPr lang="en-US" sz="4000" dirty="0"/>
              <a:t>Practicing Scientific Notation</a:t>
            </a:r>
          </a:p>
        </p:txBody>
      </p:sp>
      <p:sp>
        <p:nvSpPr>
          <p:cNvPr id="6" name="Content Placeholder 5">
            <a:extLst>
              <a:ext uri="{FF2B5EF4-FFF2-40B4-BE49-F238E27FC236}">
                <a16:creationId xmlns:a16="http://schemas.microsoft.com/office/drawing/2014/main" id="{2ECE1F49-96C8-5CE6-AFB0-11C7729920D0}"/>
              </a:ext>
            </a:extLst>
          </p:cNvPr>
          <p:cNvSpPr>
            <a:spLocks noGrp="1"/>
          </p:cNvSpPr>
          <p:nvPr>
            <p:ph idx="1"/>
          </p:nvPr>
        </p:nvSpPr>
        <p:spPr>
          <a:xfrm>
            <a:off x="361242" y="1012493"/>
            <a:ext cx="8387645" cy="5530350"/>
          </a:xfrm>
        </p:spPr>
        <p:txBody>
          <a:bodyPr/>
          <a:lstStyle/>
          <a:p>
            <a:pPr marL="0" indent="0">
              <a:buNone/>
              <a:defRPr/>
            </a:pPr>
            <a:r>
              <a:rPr lang="en-US" i="1" dirty="0"/>
              <a:t>Let’s try a number much less than 1</a:t>
            </a:r>
            <a:endParaRPr lang="en-US" sz="2800" i="1" dirty="0">
              <a:solidFill>
                <a:srgbClr val="00B0F0"/>
              </a:solidFill>
              <a:latin typeface="Verdana"/>
              <a:ea typeface="+mn-ea"/>
              <a:cs typeface="+mn-cs"/>
            </a:endParaRPr>
          </a:p>
          <a:p>
            <a:pPr marL="0" indent="0">
              <a:buNone/>
              <a:defRPr/>
            </a:pPr>
            <a:r>
              <a:rPr lang="en-US" sz="2800" dirty="0">
                <a:solidFill>
                  <a:srgbClr val="00B0F0"/>
                </a:solidFill>
                <a:latin typeface="Verdana"/>
                <a:ea typeface="+mn-ea"/>
                <a:cs typeface="+mn-cs"/>
              </a:rPr>
              <a:t>0.00003049</a:t>
            </a:r>
            <a:r>
              <a:rPr lang="en-US" sz="2800" dirty="0">
                <a:solidFill>
                  <a:srgbClr val="FF9933"/>
                </a:solidFill>
                <a:latin typeface="Verdana"/>
                <a:ea typeface="+mn-ea"/>
                <a:cs typeface="+mn-cs"/>
              </a:rPr>
              <a:t>  </a:t>
            </a:r>
            <a:r>
              <a:rPr lang="en-US" dirty="0"/>
              <a:t>(the original number)</a:t>
            </a:r>
          </a:p>
          <a:p>
            <a:pPr marL="0" indent="0">
              <a:buNone/>
              <a:defRPr/>
            </a:pPr>
            <a:r>
              <a:rPr lang="en-US" sz="2000" dirty="0"/>
              <a:t>Following the rules/format, the </a:t>
            </a:r>
            <a:r>
              <a:rPr lang="en-US" sz="2000" dirty="0">
                <a:solidFill>
                  <a:srgbClr val="00FF00"/>
                </a:solidFill>
              </a:rPr>
              <a:t>significand</a:t>
            </a:r>
            <a:r>
              <a:rPr lang="en-US" sz="2000" dirty="0"/>
              <a:t> should look like </a:t>
            </a:r>
            <a:r>
              <a:rPr lang="en-US" sz="2000" dirty="0">
                <a:solidFill>
                  <a:schemeClr val="accent1">
                    <a:lumMod val="60000"/>
                    <a:lumOff val="40000"/>
                  </a:schemeClr>
                </a:solidFill>
              </a:rPr>
              <a:t>3.049</a:t>
            </a:r>
            <a:r>
              <a:rPr lang="en-US" sz="2000" dirty="0"/>
              <a:t> in the end</a:t>
            </a:r>
          </a:p>
          <a:p>
            <a:pPr marL="0" indent="0">
              <a:buNone/>
              <a:defRPr/>
            </a:pPr>
            <a:r>
              <a:rPr lang="en-US" dirty="0">
                <a:solidFill>
                  <a:srgbClr val="00B0F0"/>
                </a:solidFill>
              </a:rPr>
              <a:t>0.0003049 / 10</a:t>
            </a:r>
            <a:r>
              <a:rPr lang="en-US" dirty="0">
                <a:solidFill>
                  <a:srgbClr val="FF9933"/>
                </a:solidFill>
              </a:rPr>
              <a:t> </a:t>
            </a:r>
            <a:r>
              <a:rPr lang="en-US" sz="2000" dirty="0"/>
              <a:t>=</a:t>
            </a:r>
            <a:r>
              <a:rPr lang="en-US" baseline="30000" dirty="0">
                <a:solidFill>
                  <a:srgbClr val="00B0F0"/>
                </a:solidFill>
              </a:rPr>
              <a:t> </a:t>
            </a:r>
            <a:r>
              <a:rPr lang="en-US" dirty="0">
                <a:solidFill>
                  <a:srgbClr val="00B0F0"/>
                </a:solidFill>
              </a:rPr>
              <a:t>0.00003049</a:t>
            </a:r>
          </a:p>
          <a:p>
            <a:pPr marL="236538" lvl="1" indent="0">
              <a:buNone/>
              <a:defRPr/>
            </a:pPr>
            <a:r>
              <a:rPr lang="en-US" dirty="0">
                <a:solidFill>
                  <a:srgbClr val="00B0F0"/>
                </a:solidFill>
              </a:rPr>
              <a:t>0.0003049 x 10</a:t>
            </a:r>
            <a:r>
              <a:rPr lang="en-US" baseline="30000" dirty="0">
                <a:solidFill>
                  <a:srgbClr val="00B0F0"/>
                </a:solidFill>
              </a:rPr>
              <a:t>-1</a:t>
            </a:r>
            <a:r>
              <a:rPr lang="en-US" dirty="0">
                <a:solidFill>
                  <a:srgbClr val="FF9933"/>
                </a:solidFill>
              </a:rPr>
              <a:t> </a:t>
            </a:r>
            <a:r>
              <a:rPr lang="en-US" dirty="0"/>
              <a:t>=</a:t>
            </a:r>
            <a:r>
              <a:rPr lang="en-US" baseline="30000" dirty="0">
                <a:solidFill>
                  <a:srgbClr val="00B0F0"/>
                </a:solidFill>
              </a:rPr>
              <a:t> </a:t>
            </a:r>
            <a:r>
              <a:rPr lang="en-US" dirty="0">
                <a:solidFill>
                  <a:srgbClr val="00B0F0"/>
                </a:solidFill>
              </a:rPr>
              <a:t>0.00003049</a:t>
            </a:r>
          </a:p>
          <a:p>
            <a:pPr marL="0" indent="0">
              <a:buNone/>
              <a:defRPr/>
            </a:pPr>
            <a:r>
              <a:rPr lang="en-US" dirty="0">
                <a:solidFill>
                  <a:srgbClr val="00B0F0"/>
                </a:solidFill>
              </a:rPr>
              <a:t>0.003049 / 100</a:t>
            </a:r>
            <a:r>
              <a:rPr lang="en-US" dirty="0">
                <a:solidFill>
                  <a:srgbClr val="FF9933"/>
                </a:solidFill>
              </a:rPr>
              <a:t> </a:t>
            </a:r>
            <a:r>
              <a:rPr lang="en-US" sz="2000" dirty="0"/>
              <a:t>=</a:t>
            </a:r>
            <a:r>
              <a:rPr lang="en-US" baseline="30000" dirty="0">
                <a:solidFill>
                  <a:srgbClr val="00B0F0"/>
                </a:solidFill>
              </a:rPr>
              <a:t> </a:t>
            </a:r>
            <a:r>
              <a:rPr lang="en-US" dirty="0">
                <a:solidFill>
                  <a:srgbClr val="00B0F0"/>
                </a:solidFill>
              </a:rPr>
              <a:t>0.00003049</a:t>
            </a:r>
          </a:p>
          <a:p>
            <a:pPr marL="236538" lvl="1" indent="0">
              <a:buNone/>
              <a:defRPr/>
            </a:pPr>
            <a:r>
              <a:rPr lang="en-US" dirty="0">
                <a:solidFill>
                  <a:srgbClr val="00B0F0"/>
                </a:solidFill>
              </a:rPr>
              <a:t>0.003049 x 10</a:t>
            </a:r>
            <a:r>
              <a:rPr lang="en-US" baseline="30000" dirty="0">
                <a:solidFill>
                  <a:srgbClr val="00B0F0"/>
                </a:solidFill>
              </a:rPr>
              <a:t>-2</a:t>
            </a:r>
            <a:r>
              <a:rPr lang="en-US" dirty="0">
                <a:solidFill>
                  <a:srgbClr val="FF9933"/>
                </a:solidFill>
              </a:rPr>
              <a:t> </a:t>
            </a:r>
            <a:r>
              <a:rPr lang="en-US" dirty="0"/>
              <a:t>=</a:t>
            </a:r>
            <a:r>
              <a:rPr lang="en-US" baseline="30000" dirty="0">
                <a:solidFill>
                  <a:srgbClr val="00B0F0"/>
                </a:solidFill>
              </a:rPr>
              <a:t> </a:t>
            </a:r>
            <a:r>
              <a:rPr lang="en-US" dirty="0">
                <a:solidFill>
                  <a:srgbClr val="00B0F0"/>
                </a:solidFill>
              </a:rPr>
              <a:t>0.00003049</a:t>
            </a:r>
          </a:p>
          <a:p>
            <a:pPr marL="0" indent="0">
              <a:buNone/>
              <a:defRPr/>
            </a:pPr>
            <a:r>
              <a:rPr lang="en-US" dirty="0">
                <a:solidFill>
                  <a:srgbClr val="00B0F0"/>
                </a:solidFill>
              </a:rPr>
              <a:t>0.03049 / 1000</a:t>
            </a:r>
            <a:r>
              <a:rPr lang="en-US" dirty="0">
                <a:solidFill>
                  <a:srgbClr val="FF9933"/>
                </a:solidFill>
              </a:rPr>
              <a:t> </a:t>
            </a:r>
            <a:r>
              <a:rPr lang="en-US" sz="2000" dirty="0"/>
              <a:t>=</a:t>
            </a:r>
            <a:r>
              <a:rPr lang="en-US" baseline="30000" dirty="0">
                <a:solidFill>
                  <a:srgbClr val="00B0F0"/>
                </a:solidFill>
              </a:rPr>
              <a:t> </a:t>
            </a:r>
            <a:r>
              <a:rPr lang="en-US" dirty="0">
                <a:solidFill>
                  <a:srgbClr val="00B0F0"/>
                </a:solidFill>
              </a:rPr>
              <a:t>0.00003049</a:t>
            </a:r>
          </a:p>
          <a:p>
            <a:pPr marL="236538" lvl="1" indent="0">
              <a:buNone/>
              <a:defRPr/>
            </a:pPr>
            <a:r>
              <a:rPr lang="en-US" dirty="0">
                <a:solidFill>
                  <a:srgbClr val="00B0F0"/>
                </a:solidFill>
              </a:rPr>
              <a:t>0.03049 x 10</a:t>
            </a:r>
            <a:r>
              <a:rPr lang="en-US" baseline="30000" dirty="0">
                <a:solidFill>
                  <a:srgbClr val="00B0F0"/>
                </a:solidFill>
              </a:rPr>
              <a:t>-3</a:t>
            </a:r>
            <a:r>
              <a:rPr lang="en-US" dirty="0">
                <a:solidFill>
                  <a:srgbClr val="FF9933"/>
                </a:solidFill>
              </a:rPr>
              <a:t> </a:t>
            </a:r>
            <a:r>
              <a:rPr lang="en-US" dirty="0"/>
              <a:t>=</a:t>
            </a:r>
            <a:r>
              <a:rPr lang="en-US" baseline="30000" dirty="0">
                <a:solidFill>
                  <a:srgbClr val="00B0F0"/>
                </a:solidFill>
              </a:rPr>
              <a:t> </a:t>
            </a:r>
            <a:r>
              <a:rPr lang="en-US" dirty="0">
                <a:solidFill>
                  <a:srgbClr val="00B0F0"/>
                </a:solidFill>
              </a:rPr>
              <a:t>0.00003049</a:t>
            </a:r>
          </a:p>
          <a:p>
            <a:pPr marL="0" indent="0">
              <a:buNone/>
              <a:defRPr/>
            </a:pPr>
            <a:r>
              <a:rPr lang="en-US" dirty="0">
                <a:solidFill>
                  <a:srgbClr val="00B0F0"/>
                </a:solidFill>
              </a:rPr>
              <a:t>0.3049 / 10000</a:t>
            </a:r>
            <a:r>
              <a:rPr lang="en-US" dirty="0">
                <a:solidFill>
                  <a:srgbClr val="FF9933"/>
                </a:solidFill>
              </a:rPr>
              <a:t> </a:t>
            </a:r>
            <a:r>
              <a:rPr lang="en-US" sz="2000" dirty="0"/>
              <a:t>=</a:t>
            </a:r>
            <a:r>
              <a:rPr lang="en-US" baseline="30000" dirty="0">
                <a:solidFill>
                  <a:srgbClr val="00B0F0"/>
                </a:solidFill>
              </a:rPr>
              <a:t> </a:t>
            </a:r>
            <a:r>
              <a:rPr lang="en-US" dirty="0">
                <a:solidFill>
                  <a:srgbClr val="00B0F0"/>
                </a:solidFill>
              </a:rPr>
              <a:t>0.00003049</a:t>
            </a:r>
          </a:p>
          <a:p>
            <a:pPr marL="236538" lvl="1" indent="0">
              <a:buNone/>
              <a:defRPr/>
            </a:pPr>
            <a:r>
              <a:rPr lang="en-US" dirty="0">
                <a:solidFill>
                  <a:srgbClr val="00B0F0"/>
                </a:solidFill>
              </a:rPr>
              <a:t>0.3049 x 10</a:t>
            </a:r>
            <a:r>
              <a:rPr lang="en-US" baseline="30000" dirty="0">
                <a:solidFill>
                  <a:srgbClr val="00B0F0"/>
                </a:solidFill>
              </a:rPr>
              <a:t>-4</a:t>
            </a:r>
            <a:r>
              <a:rPr lang="en-US" dirty="0">
                <a:solidFill>
                  <a:srgbClr val="FF9933"/>
                </a:solidFill>
              </a:rPr>
              <a:t> </a:t>
            </a:r>
            <a:r>
              <a:rPr lang="en-US" dirty="0"/>
              <a:t>=</a:t>
            </a:r>
            <a:r>
              <a:rPr lang="en-US" baseline="30000" dirty="0">
                <a:solidFill>
                  <a:srgbClr val="00B0F0"/>
                </a:solidFill>
              </a:rPr>
              <a:t> </a:t>
            </a:r>
            <a:r>
              <a:rPr lang="en-US" dirty="0">
                <a:solidFill>
                  <a:srgbClr val="00B0F0"/>
                </a:solidFill>
              </a:rPr>
              <a:t>0.00003049</a:t>
            </a:r>
          </a:p>
          <a:p>
            <a:pPr marL="0" indent="0">
              <a:buNone/>
              <a:defRPr/>
            </a:pPr>
            <a:r>
              <a:rPr lang="en-US" dirty="0">
                <a:solidFill>
                  <a:srgbClr val="00B0F0"/>
                </a:solidFill>
              </a:rPr>
              <a:t>3.049 / 100000</a:t>
            </a:r>
            <a:r>
              <a:rPr lang="en-US" dirty="0">
                <a:solidFill>
                  <a:srgbClr val="FF9933"/>
                </a:solidFill>
              </a:rPr>
              <a:t> </a:t>
            </a:r>
            <a:r>
              <a:rPr lang="en-US" sz="2000" dirty="0"/>
              <a:t>=</a:t>
            </a:r>
            <a:r>
              <a:rPr lang="en-US" baseline="30000" dirty="0">
                <a:solidFill>
                  <a:srgbClr val="00B0F0"/>
                </a:solidFill>
              </a:rPr>
              <a:t> </a:t>
            </a:r>
            <a:r>
              <a:rPr lang="en-US" dirty="0">
                <a:solidFill>
                  <a:srgbClr val="00B0F0"/>
                </a:solidFill>
              </a:rPr>
              <a:t>0.00003049</a:t>
            </a:r>
          </a:p>
          <a:p>
            <a:pPr marL="236538" lvl="1" indent="0">
              <a:buNone/>
              <a:defRPr/>
            </a:pPr>
            <a:r>
              <a:rPr lang="en-US" dirty="0">
                <a:solidFill>
                  <a:srgbClr val="00B0F0"/>
                </a:solidFill>
              </a:rPr>
              <a:t>3.049 x 10</a:t>
            </a:r>
            <a:r>
              <a:rPr lang="en-US" baseline="30000" dirty="0">
                <a:solidFill>
                  <a:srgbClr val="00B0F0"/>
                </a:solidFill>
              </a:rPr>
              <a:t>-5</a:t>
            </a:r>
            <a:r>
              <a:rPr lang="en-US" dirty="0">
                <a:solidFill>
                  <a:srgbClr val="FF9933"/>
                </a:solidFill>
              </a:rPr>
              <a:t> </a:t>
            </a:r>
            <a:r>
              <a:rPr lang="en-US" dirty="0"/>
              <a:t>=</a:t>
            </a:r>
            <a:r>
              <a:rPr lang="en-US" baseline="30000" dirty="0">
                <a:solidFill>
                  <a:srgbClr val="00B0F0"/>
                </a:solidFill>
              </a:rPr>
              <a:t> </a:t>
            </a:r>
            <a:r>
              <a:rPr lang="en-US" dirty="0">
                <a:solidFill>
                  <a:srgbClr val="00B0F0"/>
                </a:solidFill>
              </a:rPr>
              <a:t>0.00003049</a:t>
            </a:r>
          </a:p>
          <a:p>
            <a:pPr marL="0" indent="0">
              <a:buNone/>
              <a:defRPr/>
            </a:pPr>
            <a:endParaRPr lang="en-US" sz="2800" dirty="0">
              <a:solidFill>
                <a:srgbClr val="00B0F0"/>
              </a:solidFill>
            </a:endParaRPr>
          </a:p>
          <a:p>
            <a:pPr marL="0" indent="0">
              <a:buNone/>
              <a:defRPr/>
            </a:pPr>
            <a:endParaRPr lang="en-US" sz="2800" dirty="0">
              <a:solidFill>
                <a:srgbClr val="00B0F0"/>
              </a:solidFill>
            </a:endParaRPr>
          </a:p>
          <a:p>
            <a:pPr marL="0" indent="0">
              <a:buNone/>
              <a:defRPr/>
            </a:pPr>
            <a:r>
              <a:rPr lang="en-US" sz="2800" dirty="0">
                <a:solidFill>
                  <a:srgbClr val="00B0F0"/>
                </a:solidFill>
              </a:rPr>
              <a:t>2,387</a:t>
            </a:r>
            <a:r>
              <a:rPr lang="en-US" sz="2800" dirty="0">
                <a:solidFill>
                  <a:srgbClr val="FF9933"/>
                </a:solidFill>
              </a:rPr>
              <a:t>. </a:t>
            </a:r>
            <a:r>
              <a:rPr lang="en-US" sz="2800" dirty="0">
                <a:sym typeface="Wingdings" panose="05000000000000000000" pitchFamily="2" charset="2"/>
              </a:rPr>
              <a:t></a:t>
            </a:r>
            <a:r>
              <a:rPr lang="en-US" sz="2800" dirty="0">
                <a:solidFill>
                  <a:srgbClr val="FF9933"/>
                </a:solidFill>
              </a:rPr>
              <a:t> </a:t>
            </a:r>
            <a:r>
              <a:rPr lang="en-US" sz="2800" dirty="0">
                <a:solidFill>
                  <a:srgbClr val="00B0F0"/>
                </a:solidFill>
              </a:rPr>
              <a:t>2,387 </a:t>
            </a:r>
            <a:r>
              <a:rPr lang="en-US" sz="2800" dirty="0"/>
              <a:t>x</a:t>
            </a:r>
            <a:r>
              <a:rPr lang="en-US" sz="2800" dirty="0">
                <a:solidFill>
                  <a:srgbClr val="00B0F0"/>
                </a:solidFill>
              </a:rPr>
              <a:t> 10</a:t>
            </a:r>
            <a:r>
              <a:rPr lang="en-US" sz="2800" baseline="30000" dirty="0">
                <a:solidFill>
                  <a:srgbClr val="00B0F0"/>
                </a:solidFill>
              </a:rPr>
              <a:t>2 </a:t>
            </a:r>
            <a:r>
              <a:rPr lang="en-US" sz="2800" dirty="0"/>
              <a:t>=</a:t>
            </a:r>
            <a:r>
              <a:rPr lang="en-US" sz="2800" baseline="30000" dirty="0">
                <a:solidFill>
                  <a:srgbClr val="00B0F0"/>
                </a:solidFill>
              </a:rPr>
              <a:t> </a:t>
            </a:r>
            <a:r>
              <a:rPr lang="en-US" sz="2800" dirty="0">
                <a:solidFill>
                  <a:srgbClr val="00B0F0"/>
                </a:solidFill>
              </a:rPr>
              <a:t>238,700</a:t>
            </a:r>
            <a:endParaRPr lang="en-US" sz="2800" dirty="0">
              <a:solidFill>
                <a:srgbClr val="FFFFFF"/>
              </a:solidFill>
            </a:endParaRPr>
          </a:p>
          <a:p>
            <a:pPr marL="0" indent="0">
              <a:buNone/>
              <a:defRPr/>
            </a:pPr>
            <a:r>
              <a:rPr lang="en-US" sz="2800" dirty="0">
                <a:solidFill>
                  <a:srgbClr val="00B0F0"/>
                </a:solidFill>
              </a:rPr>
              <a:t>238</a:t>
            </a:r>
            <a:r>
              <a:rPr lang="en-US" sz="2800" dirty="0">
                <a:solidFill>
                  <a:srgbClr val="FF9933"/>
                </a:solidFill>
              </a:rPr>
              <a:t>.</a:t>
            </a:r>
            <a:r>
              <a:rPr lang="en-US" sz="2800" dirty="0">
                <a:solidFill>
                  <a:srgbClr val="00B0F0"/>
                </a:solidFill>
              </a:rPr>
              <a:t>7</a:t>
            </a:r>
            <a:r>
              <a:rPr lang="en-US" sz="2800" dirty="0">
                <a:solidFill>
                  <a:srgbClr val="FF9933"/>
                </a:solidFill>
              </a:rPr>
              <a:t> </a:t>
            </a:r>
            <a:r>
              <a:rPr lang="en-US" sz="2800" dirty="0">
                <a:sym typeface="Wingdings" panose="05000000000000000000" pitchFamily="2" charset="2"/>
              </a:rPr>
              <a:t></a:t>
            </a:r>
            <a:r>
              <a:rPr lang="en-US" sz="2800" dirty="0">
                <a:solidFill>
                  <a:srgbClr val="FF9933"/>
                </a:solidFill>
              </a:rPr>
              <a:t> </a:t>
            </a:r>
            <a:r>
              <a:rPr lang="en-US" sz="2800" dirty="0">
                <a:solidFill>
                  <a:srgbClr val="00B0F0"/>
                </a:solidFill>
              </a:rPr>
              <a:t>238</a:t>
            </a:r>
            <a:r>
              <a:rPr lang="en-US" sz="2800" dirty="0">
                <a:solidFill>
                  <a:srgbClr val="FF9933"/>
                </a:solidFill>
              </a:rPr>
              <a:t>.</a:t>
            </a:r>
            <a:r>
              <a:rPr lang="en-US" sz="2800" dirty="0">
                <a:solidFill>
                  <a:srgbClr val="00B0F0"/>
                </a:solidFill>
              </a:rPr>
              <a:t>7 </a:t>
            </a:r>
            <a:r>
              <a:rPr lang="en-US" sz="2800" dirty="0"/>
              <a:t>x</a:t>
            </a:r>
            <a:r>
              <a:rPr lang="en-US" sz="2800" dirty="0">
                <a:solidFill>
                  <a:srgbClr val="00B0F0"/>
                </a:solidFill>
              </a:rPr>
              <a:t> 10</a:t>
            </a:r>
            <a:r>
              <a:rPr lang="en-US" sz="2800" baseline="30000" dirty="0">
                <a:solidFill>
                  <a:srgbClr val="00B0F0"/>
                </a:solidFill>
              </a:rPr>
              <a:t>3 </a:t>
            </a:r>
            <a:r>
              <a:rPr lang="en-US" sz="2800" dirty="0"/>
              <a:t>=</a:t>
            </a:r>
            <a:r>
              <a:rPr lang="en-US" sz="2800" baseline="30000" dirty="0">
                <a:solidFill>
                  <a:srgbClr val="00B0F0"/>
                </a:solidFill>
              </a:rPr>
              <a:t> </a:t>
            </a:r>
            <a:r>
              <a:rPr lang="en-US" sz="2800" dirty="0">
                <a:solidFill>
                  <a:srgbClr val="00B0F0"/>
                </a:solidFill>
              </a:rPr>
              <a:t>238,700</a:t>
            </a:r>
          </a:p>
          <a:p>
            <a:pPr marL="236538" lvl="1" indent="0">
              <a:buNone/>
              <a:defRPr/>
            </a:pPr>
            <a:r>
              <a:rPr lang="en-US" sz="2200" dirty="0"/>
              <a:t>Note that we were dropping zeroes until we hit the non-zero number “7”, but the decimal point still moves</a:t>
            </a:r>
          </a:p>
          <a:p>
            <a:pPr marL="0" indent="0">
              <a:buNone/>
              <a:defRPr/>
            </a:pPr>
            <a:r>
              <a:rPr lang="en-US" sz="2800" dirty="0">
                <a:solidFill>
                  <a:srgbClr val="00B0F0"/>
                </a:solidFill>
              </a:rPr>
              <a:t>23</a:t>
            </a:r>
            <a:r>
              <a:rPr lang="en-US" sz="2800" dirty="0">
                <a:solidFill>
                  <a:srgbClr val="FF9933"/>
                </a:solidFill>
              </a:rPr>
              <a:t>.</a:t>
            </a:r>
            <a:r>
              <a:rPr lang="en-US" sz="2800" dirty="0">
                <a:solidFill>
                  <a:srgbClr val="00B0F0"/>
                </a:solidFill>
              </a:rPr>
              <a:t>87</a:t>
            </a:r>
            <a:r>
              <a:rPr lang="en-US" sz="2800" dirty="0">
                <a:solidFill>
                  <a:srgbClr val="FF9933"/>
                </a:solidFill>
              </a:rPr>
              <a:t> </a:t>
            </a:r>
            <a:r>
              <a:rPr lang="en-US" sz="2800" dirty="0">
                <a:sym typeface="Wingdings" panose="05000000000000000000" pitchFamily="2" charset="2"/>
              </a:rPr>
              <a:t></a:t>
            </a:r>
            <a:r>
              <a:rPr lang="en-US" sz="2800" dirty="0">
                <a:solidFill>
                  <a:srgbClr val="FF9933"/>
                </a:solidFill>
              </a:rPr>
              <a:t> </a:t>
            </a:r>
            <a:r>
              <a:rPr lang="en-US" sz="2800" dirty="0">
                <a:solidFill>
                  <a:srgbClr val="00B0F0"/>
                </a:solidFill>
              </a:rPr>
              <a:t>23</a:t>
            </a:r>
            <a:r>
              <a:rPr lang="en-US" sz="2800" dirty="0">
                <a:solidFill>
                  <a:srgbClr val="FF9933"/>
                </a:solidFill>
              </a:rPr>
              <a:t>.</a:t>
            </a:r>
            <a:r>
              <a:rPr lang="en-US" sz="2800" dirty="0">
                <a:solidFill>
                  <a:srgbClr val="00B0F0"/>
                </a:solidFill>
              </a:rPr>
              <a:t>87 </a:t>
            </a:r>
            <a:r>
              <a:rPr lang="en-US" sz="2800" dirty="0"/>
              <a:t>x</a:t>
            </a:r>
            <a:r>
              <a:rPr lang="en-US" sz="2800" dirty="0">
                <a:solidFill>
                  <a:srgbClr val="00B0F0"/>
                </a:solidFill>
              </a:rPr>
              <a:t> 10</a:t>
            </a:r>
            <a:r>
              <a:rPr lang="en-US" sz="2800" baseline="30000" dirty="0">
                <a:solidFill>
                  <a:srgbClr val="00B0F0"/>
                </a:solidFill>
              </a:rPr>
              <a:t>4 </a:t>
            </a:r>
            <a:r>
              <a:rPr lang="en-US" sz="2800" dirty="0"/>
              <a:t>=</a:t>
            </a:r>
            <a:r>
              <a:rPr lang="en-US" sz="2800" baseline="30000" dirty="0">
                <a:solidFill>
                  <a:srgbClr val="00B0F0"/>
                </a:solidFill>
              </a:rPr>
              <a:t> </a:t>
            </a:r>
            <a:r>
              <a:rPr lang="en-US" sz="2800" dirty="0">
                <a:solidFill>
                  <a:srgbClr val="00B0F0"/>
                </a:solidFill>
              </a:rPr>
              <a:t>238,700</a:t>
            </a:r>
          </a:p>
          <a:p>
            <a:pPr marL="0" indent="0">
              <a:buNone/>
              <a:defRPr/>
            </a:pPr>
            <a:r>
              <a:rPr lang="en-US" sz="2800" dirty="0">
                <a:solidFill>
                  <a:srgbClr val="00B0F0"/>
                </a:solidFill>
              </a:rPr>
              <a:t>2</a:t>
            </a:r>
            <a:r>
              <a:rPr lang="en-US" sz="2800" dirty="0">
                <a:solidFill>
                  <a:srgbClr val="FF9933"/>
                </a:solidFill>
              </a:rPr>
              <a:t>.</a:t>
            </a:r>
            <a:r>
              <a:rPr lang="en-US" sz="2800" dirty="0">
                <a:solidFill>
                  <a:srgbClr val="00B0F0"/>
                </a:solidFill>
              </a:rPr>
              <a:t>387</a:t>
            </a:r>
            <a:r>
              <a:rPr lang="en-US" sz="2800" dirty="0">
                <a:solidFill>
                  <a:srgbClr val="FF9933"/>
                </a:solidFill>
              </a:rPr>
              <a:t> </a:t>
            </a:r>
            <a:r>
              <a:rPr lang="en-US" sz="2800" dirty="0">
                <a:sym typeface="Wingdings" panose="05000000000000000000" pitchFamily="2" charset="2"/>
              </a:rPr>
              <a:t></a:t>
            </a:r>
            <a:r>
              <a:rPr lang="en-US" sz="2800" dirty="0">
                <a:solidFill>
                  <a:srgbClr val="FF9933"/>
                </a:solidFill>
              </a:rPr>
              <a:t> </a:t>
            </a:r>
            <a:r>
              <a:rPr lang="en-US" sz="2800" dirty="0">
                <a:solidFill>
                  <a:srgbClr val="00B0F0"/>
                </a:solidFill>
              </a:rPr>
              <a:t>2</a:t>
            </a:r>
            <a:r>
              <a:rPr lang="en-US" sz="2800" dirty="0">
                <a:solidFill>
                  <a:srgbClr val="FF9933"/>
                </a:solidFill>
              </a:rPr>
              <a:t>.</a:t>
            </a:r>
            <a:r>
              <a:rPr lang="en-US" sz="2800" dirty="0">
                <a:solidFill>
                  <a:srgbClr val="00B0F0"/>
                </a:solidFill>
              </a:rPr>
              <a:t>387 </a:t>
            </a:r>
            <a:r>
              <a:rPr lang="en-US" sz="2800" dirty="0"/>
              <a:t>x</a:t>
            </a:r>
            <a:r>
              <a:rPr lang="en-US" sz="2800" dirty="0">
                <a:solidFill>
                  <a:srgbClr val="00B0F0"/>
                </a:solidFill>
              </a:rPr>
              <a:t> 10</a:t>
            </a:r>
            <a:r>
              <a:rPr lang="en-US" sz="2800" baseline="30000" dirty="0">
                <a:solidFill>
                  <a:srgbClr val="00B0F0"/>
                </a:solidFill>
              </a:rPr>
              <a:t>5 </a:t>
            </a:r>
            <a:r>
              <a:rPr lang="en-US" sz="2800" dirty="0"/>
              <a:t>=</a:t>
            </a:r>
            <a:r>
              <a:rPr lang="en-US" sz="2800" baseline="30000" dirty="0">
                <a:solidFill>
                  <a:srgbClr val="00B0F0"/>
                </a:solidFill>
              </a:rPr>
              <a:t> </a:t>
            </a:r>
            <a:r>
              <a:rPr lang="en-US" sz="2800" dirty="0">
                <a:solidFill>
                  <a:srgbClr val="00B0F0"/>
                </a:solidFill>
              </a:rPr>
              <a:t>238,700</a:t>
            </a:r>
            <a:endParaRPr lang="en-US" sz="2800" dirty="0">
              <a:solidFill>
                <a:srgbClr val="FFFFFF"/>
              </a:solidFill>
            </a:endParaRPr>
          </a:p>
          <a:p>
            <a:pPr marL="236538" lvl="1" indent="0">
              <a:buNone/>
              <a:defRPr/>
            </a:pPr>
            <a:r>
              <a:rPr lang="en-US" sz="2200" dirty="0"/>
              <a:t>The decimal point was not moved to create the significand: we have a number less than 10, greater than 1. With each movement of decimal point, we created the power of 10. At every step, equal to original number</a:t>
            </a:r>
          </a:p>
          <a:p>
            <a:pPr marL="0" indent="0">
              <a:buNone/>
              <a:defRPr/>
            </a:pPr>
            <a:endParaRPr lang="en-US" dirty="0"/>
          </a:p>
          <a:p>
            <a:pPr marL="0" indent="0">
              <a:buNone/>
              <a:defRPr/>
            </a:pPr>
            <a:endParaRPr lang="en-US" sz="2800" dirty="0">
              <a:solidFill>
                <a:srgbClr val="FFFFFF"/>
              </a:solidFill>
            </a:endParaRPr>
          </a:p>
        </p:txBody>
      </p:sp>
      <p:sp>
        <p:nvSpPr>
          <p:cNvPr id="2" name="Slide Number Placeholder 1">
            <a:extLst>
              <a:ext uri="{FF2B5EF4-FFF2-40B4-BE49-F238E27FC236}">
                <a16:creationId xmlns:a16="http://schemas.microsoft.com/office/drawing/2014/main" id="{1194D489-66BC-9A18-24E8-DA54033F6618}"/>
              </a:ext>
            </a:extLst>
          </p:cNvPr>
          <p:cNvSpPr>
            <a:spLocks noGrp="1"/>
          </p:cNvSpPr>
          <p:nvPr>
            <p:ph type="sldNum" sz="quarter" idx="10"/>
          </p:nvPr>
        </p:nvSpPr>
        <p:spPr/>
        <p:txBody>
          <a:bodyPr/>
          <a:lstStyle/>
          <a:p>
            <a:fld id="{12356DF5-CFED-4016-A2DB-A70AC2735480}" type="slidenum">
              <a:rPr lang="en-US" smtClean="0"/>
              <a:pPr/>
              <a:t>16</a:t>
            </a:fld>
            <a:endParaRPr lang="en-US" dirty="0">
              <a:solidFill>
                <a:schemeClr val="bg1"/>
              </a:solidFill>
            </a:endParaRPr>
          </a:p>
        </p:txBody>
      </p:sp>
    </p:spTree>
    <p:extLst>
      <p:ext uri="{BB962C8B-B14F-4D97-AF65-F5344CB8AC3E}">
        <p14:creationId xmlns:p14="http://schemas.microsoft.com/office/powerpoint/2010/main" val="1242647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1F239-D3B6-2781-5964-0B391C5948D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BCEFB15-9014-9BEE-9BE5-FADE144E475A}"/>
              </a:ext>
            </a:extLst>
          </p:cNvPr>
          <p:cNvSpPr>
            <a:spLocks noGrp="1"/>
          </p:cNvSpPr>
          <p:nvPr>
            <p:ph type="title"/>
          </p:nvPr>
        </p:nvSpPr>
        <p:spPr>
          <a:xfrm>
            <a:off x="364067" y="306073"/>
            <a:ext cx="8421512" cy="707886"/>
          </a:xfrm>
        </p:spPr>
        <p:txBody>
          <a:bodyPr/>
          <a:lstStyle/>
          <a:p>
            <a:r>
              <a:rPr lang="en-US" sz="4000" dirty="0"/>
              <a:t>Significant Digits</a:t>
            </a:r>
          </a:p>
        </p:txBody>
      </p:sp>
      <p:sp>
        <p:nvSpPr>
          <p:cNvPr id="2" name="Content Placeholder 5">
            <a:extLst>
              <a:ext uri="{FF2B5EF4-FFF2-40B4-BE49-F238E27FC236}">
                <a16:creationId xmlns:a16="http://schemas.microsoft.com/office/drawing/2014/main" id="{45001D29-F8BF-E02F-05BB-9B0698158C3E}"/>
              </a:ext>
            </a:extLst>
          </p:cNvPr>
          <p:cNvSpPr txBox="1">
            <a:spLocks/>
          </p:cNvSpPr>
          <p:nvPr/>
        </p:nvSpPr>
        <p:spPr bwMode="auto">
          <a:xfrm>
            <a:off x="364067" y="1203677"/>
            <a:ext cx="8477888" cy="10968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282575" indent="-282575" algn="l" rtl="0" eaLnBrk="1" fontAlgn="base" hangingPunct="1">
              <a:spcBef>
                <a:spcPct val="20000"/>
              </a:spcBef>
              <a:spcAft>
                <a:spcPct val="0"/>
              </a:spcAft>
              <a:buChar char="•"/>
              <a:defRPr sz="2400">
                <a:solidFill>
                  <a:schemeClr val="bg1"/>
                </a:solidFill>
                <a:latin typeface="+mn-lt"/>
                <a:ea typeface="+mn-ea"/>
                <a:cs typeface="+mn-cs"/>
              </a:defRPr>
            </a:lvl1pPr>
            <a:lvl2pPr marL="519113" indent="-287338" algn="l" rtl="0" eaLnBrk="1" fontAlgn="base" hangingPunct="1">
              <a:spcBef>
                <a:spcPct val="20000"/>
              </a:spcBef>
              <a:spcAft>
                <a:spcPct val="0"/>
              </a:spcAft>
              <a:buFont typeface="Wingdings" pitchFamily="2" charset="2"/>
              <a:buChar char="§"/>
              <a:defRPr sz="2000">
                <a:solidFill>
                  <a:schemeClr val="bg1"/>
                </a:solidFill>
                <a:latin typeface="+mn-lt"/>
              </a:defRPr>
            </a:lvl2pPr>
            <a:lvl3pPr marL="801688" indent="-225425" algn="l" rtl="0" eaLnBrk="1" fontAlgn="base" hangingPunct="1">
              <a:spcBef>
                <a:spcPct val="20000"/>
              </a:spcBef>
              <a:spcAft>
                <a:spcPct val="0"/>
              </a:spcAft>
              <a:buFont typeface="Wingdings" pitchFamily="2" charset="2"/>
              <a:buChar char="Ø"/>
              <a:defRPr sz="1800">
                <a:solidFill>
                  <a:schemeClr val="bg1"/>
                </a:solidFill>
                <a:latin typeface="+mn-lt"/>
              </a:defRPr>
            </a:lvl3pPr>
            <a:lvl4pPr marL="1084263" indent="-288925" algn="l" rtl="0" eaLnBrk="1" fontAlgn="base" hangingPunct="1">
              <a:spcBef>
                <a:spcPct val="20000"/>
              </a:spcBef>
              <a:spcAft>
                <a:spcPct val="0"/>
              </a:spcAft>
              <a:buFont typeface="Courier New" pitchFamily="49" charset="0"/>
              <a:buChar char="o"/>
              <a:defRPr sz="1600">
                <a:solidFill>
                  <a:schemeClr val="bg1"/>
                </a:solidFill>
                <a:latin typeface="+mn-lt"/>
              </a:defRPr>
            </a:lvl4pPr>
            <a:lvl5pPr marL="1377950" indent="-293688" algn="l" rtl="0" eaLnBrk="1" fontAlgn="base" hangingPunct="1">
              <a:spcBef>
                <a:spcPct val="20000"/>
              </a:spcBef>
              <a:spcAft>
                <a:spcPct val="0"/>
              </a:spcAft>
              <a:buChar char="»"/>
              <a:defRPr sz="1400">
                <a:solidFill>
                  <a:schemeClr val="bg1"/>
                </a:solidFill>
                <a:latin typeface="+mn-lt"/>
              </a:defRPr>
            </a:lvl5pPr>
            <a:lvl6pPr marL="2514600" indent="-228600" algn="l" rtl="0" eaLnBrk="1" fontAlgn="base" hangingPunct="1">
              <a:spcBef>
                <a:spcPct val="20000"/>
              </a:spcBef>
              <a:spcAft>
                <a:spcPct val="0"/>
              </a:spcAft>
              <a:buChar char="»"/>
              <a:defRPr sz="2000">
                <a:solidFill>
                  <a:schemeClr val="bg1"/>
                </a:solidFill>
                <a:latin typeface="+mn-lt"/>
              </a:defRPr>
            </a:lvl6pPr>
            <a:lvl7pPr marL="2971800" indent="-228600" algn="l" rtl="0" eaLnBrk="1" fontAlgn="base" hangingPunct="1">
              <a:spcBef>
                <a:spcPct val="20000"/>
              </a:spcBef>
              <a:spcAft>
                <a:spcPct val="0"/>
              </a:spcAft>
              <a:buChar char="»"/>
              <a:defRPr sz="2000">
                <a:solidFill>
                  <a:schemeClr val="bg1"/>
                </a:solidFill>
                <a:latin typeface="+mn-lt"/>
              </a:defRPr>
            </a:lvl7pPr>
            <a:lvl8pPr marL="3429000" indent="-228600" algn="l" rtl="0" eaLnBrk="1" fontAlgn="base" hangingPunct="1">
              <a:spcBef>
                <a:spcPct val="20000"/>
              </a:spcBef>
              <a:spcAft>
                <a:spcPct val="0"/>
              </a:spcAft>
              <a:buChar char="»"/>
              <a:defRPr sz="2000">
                <a:solidFill>
                  <a:schemeClr val="bg1"/>
                </a:solidFill>
                <a:latin typeface="+mn-lt"/>
              </a:defRPr>
            </a:lvl8pPr>
            <a:lvl9pPr marL="3886200" indent="-228600" algn="l" rtl="0" eaLnBrk="1" fontAlgn="base" hangingPunct="1">
              <a:spcBef>
                <a:spcPct val="20000"/>
              </a:spcBef>
              <a:spcAft>
                <a:spcPct val="0"/>
              </a:spcAft>
              <a:buChar char="»"/>
              <a:defRPr sz="2000">
                <a:solidFill>
                  <a:schemeClr val="bg1"/>
                </a:solidFill>
                <a:latin typeface="+mn-lt"/>
              </a:defRPr>
            </a:lvl9pPr>
          </a:lstStyle>
          <a:p>
            <a:pPr marL="0" indent="0">
              <a:buFontTx/>
              <a:buNone/>
              <a:defRPr/>
            </a:pPr>
            <a:endParaRPr lang="en-US" kern="0" dirty="0">
              <a:solidFill>
                <a:srgbClr val="FFFFFF"/>
              </a:solidFill>
              <a:latin typeface="Verdana"/>
            </a:endParaRPr>
          </a:p>
        </p:txBody>
      </p:sp>
      <p:sp>
        <p:nvSpPr>
          <p:cNvPr id="5" name="Content Placeholder 4">
            <a:extLst>
              <a:ext uri="{FF2B5EF4-FFF2-40B4-BE49-F238E27FC236}">
                <a16:creationId xmlns:a16="http://schemas.microsoft.com/office/drawing/2014/main" id="{F6F9FC72-27CE-05C9-5918-C1459594815F}"/>
              </a:ext>
            </a:extLst>
          </p:cNvPr>
          <p:cNvSpPr>
            <a:spLocks noGrp="1"/>
          </p:cNvSpPr>
          <p:nvPr>
            <p:ph idx="1"/>
          </p:nvPr>
        </p:nvSpPr>
        <p:spPr>
          <a:xfrm>
            <a:off x="392288" y="1336462"/>
            <a:ext cx="8387645" cy="5215465"/>
          </a:xfrm>
        </p:spPr>
        <p:txBody>
          <a:bodyPr/>
          <a:lstStyle/>
          <a:p>
            <a:pPr marL="0" indent="0">
              <a:buNone/>
              <a:defRPr/>
            </a:pPr>
            <a:r>
              <a:rPr lang="en-US" dirty="0">
                <a:solidFill>
                  <a:schemeClr val="accent1">
                    <a:lumMod val="60000"/>
                    <a:lumOff val="40000"/>
                  </a:schemeClr>
                </a:solidFill>
              </a:rPr>
              <a:t>Significant digits </a:t>
            </a:r>
            <a:r>
              <a:rPr lang="en-US" dirty="0">
                <a:solidFill>
                  <a:srgbClr val="FFFFFF"/>
                </a:solidFill>
              </a:rPr>
              <a:t>indicate the precision, the confidence of a single measurement</a:t>
            </a:r>
          </a:p>
          <a:p>
            <a:pPr marL="0" indent="0">
              <a:buNone/>
              <a:defRPr/>
            </a:pPr>
            <a:endParaRPr lang="en-US" dirty="0">
              <a:solidFill>
                <a:srgbClr val="FFFFFF"/>
              </a:solidFill>
            </a:endParaRPr>
          </a:p>
          <a:p>
            <a:pPr marL="0" indent="0">
              <a:buNone/>
              <a:defRPr/>
            </a:pPr>
            <a:r>
              <a:rPr lang="en-US" dirty="0">
                <a:solidFill>
                  <a:srgbClr val="FFFFFF"/>
                </a:solidFill>
              </a:rPr>
              <a:t>Also called </a:t>
            </a:r>
            <a:r>
              <a:rPr lang="en-US" dirty="0">
                <a:solidFill>
                  <a:schemeClr val="accent1">
                    <a:lumMod val="60000"/>
                    <a:lumOff val="40000"/>
                  </a:schemeClr>
                </a:solidFill>
              </a:rPr>
              <a:t>significant figures</a:t>
            </a:r>
          </a:p>
          <a:p>
            <a:pPr marL="0" indent="0">
              <a:buNone/>
              <a:defRPr/>
            </a:pPr>
            <a:endParaRPr lang="en-US" dirty="0">
              <a:solidFill>
                <a:srgbClr val="FFFFFF"/>
              </a:solidFill>
            </a:endParaRPr>
          </a:p>
          <a:p>
            <a:pPr marL="0" indent="0">
              <a:buNone/>
              <a:defRPr/>
            </a:pPr>
            <a:endParaRPr lang="en-US" dirty="0">
              <a:solidFill>
                <a:srgbClr val="FFFFFF"/>
              </a:solidFill>
            </a:endParaRPr>
          </a:p>
        </p:txBody>
      </p:sp>
      <p:graphicFrame>
        <p:nvGraphicFramePr>
          <p:cNvPr id="7" name="Table 6">
            <a:extLst>
              <a:ext uri="{FF2B5EF4-FFF2-40B4-BE49-F238E27FC236}">
                <a16:creationId xmlns:a16="http://schemas.microsoft.com/office/drawing/2014/main" id="{2A455427-CA3A-7C29-70A5-99455554C614}"/>
              </a:ext>
            </a:extLst>
          </p:cNvPr>
          <p:cNvGraphicFramePr>
            <a:graphicFrameLocks noGrp="1"/>
          </p:cNvGraphicFramePr>
          <p:nvPr>
            <p:extLst>
              <p:ext uri="{D42A27DB-BD31-4B8C-83A1-F6EECF244321}">
                <p14:modId xmlns:p14="http://schemas.microsoft.com/office/powerpoint/2010/main" val="330067931"/>
              </p:ext>
            </p:extLst>
          </p:nvPr>
        </p:nvGraphicFramePr>
        <p:xfrm>
          <a:off x="392288" y="3206294"/>
          <a:ext cx="8215086" cy="1960880"/>
        </p:xfrm>
        <a:graphic>
          <a:graphicData uri="http://schemas.openxmlformats.org/drawingml/2006/table">
            <a:tbl>
              <a:tblPr firstRow="1" bandRow="1">
                <a:tableStyleId>{073A0DAA-6AF3-43AB-8588-CEC1D06C72B9}</a:tableStyleId>
              </a:tblPr>
              <a:tblGrid>
                <a:gridCol w="1770341">
                  <a:extLst>
                    <a:ext uri="{9D8B030D-6E8A-4147-A177-3AD203B41FA5}">
                      <a16:colId xmlns:a16="http://schemas.microsoft.com/office/drawing/2014/main" val="2997406436"/>
                    </a:ext>
                  </a:extLst>
                </a:gridCol>
                <a:gridCol w="2017485">
                  <a:extLst>
                    <a:ext uri="{9D8B030D-6E8A-4147-A177-3AD203B41FA5}">
                      <a16:colId xmlns:a16="http://schemas.microsoft.com/office/drawing/2014/main" val="3205729253"/>
                    </a:ext>
                  </a:extLst>
                </a:gridCol>
                <a:gridCol w="4427260">
                  <a:extLst>
                    <a:ext uri="{9D8B030D-6E8A-4147-A177-3AD203B41FA5}">
                      <a16:colId xmlns:a16="http://schemas.microsoft.com/office/drawing/2014/main" val="1039054553"/>
                    </a:ext>
                  </a:extLst>
                </a:gridCol>
              </a:tblGrid>
              <a:tr h="370840">
                <a:tc>
                  <a:txBody>
                    <a:bodyPr/>
                    <a:lstStyle/>
                    <a:p>
                      <a:pPr algn="ctr"/>
                      <a:r>
                        <a:rPr lang="en-US" sz="1600" dirty="0"/>
                        <a:t>Measurement/Value</a:t>
                      </a:r>
                    </a:p>
                  </a:txBody>
                  <a:tcPr/>
                </a:tc>
                <a:tc>
                  <a:txBody>
                    <a:bodyPr/>
                    <a:lstStyle/>
                    <a:p>
                      <a:pPr algn="ctr"/>
                      <a:r>
                        <a:rPr lang="en-US" sz="1600" dirty="0"/>
                        <a:t>Significant Digits</a:t>
                      </a:r>
                    </a:p>
                  </a:txBody>
                  <a:tcPr/>
                </a:tc>
                <a:tc>
                  <a:txBody>
                    <a:bodyPr/>
                    <a:lstStyle/>
                    <a:p>
                      <a:pPr algn="ctr"/>
                      <a:endParaRPr lang="en-US" sz="1600" dirty="0"/>
                    </a:p>
                    <a:p>
                      <a:pPr algn="ctr"/>
                      <a:r>
                        <a:rPr lang="en-US" sz="1600" dirty="0"/>
                        <a:t>Explanation</a:t>
                      </a:r>
                    </a:p>
                  </a:txBody>
                  <a:tcPr/>
                </a:tc>
                <a:extLst>
                  <a:ext uri="{0D108BD9-81ED-4DB2-BD59-A6C34878D82A}">
                    <a16:rowId xmlns:a16="http://schemas.microsoft.com/office/drawing/2014/main" val="369811630"/>
                  </a:ext>
                </a:extLst>
              </a:tr>
              <a:tr h="370840">
                <a:tc>
                  <a:txBody>
                    <a:bodyPr/>
                    <a:lstStyle/>
                    <a:p>
                      <a:r>
                        <a:rPr lang="en-US" dirty="0"/>
                        <a:t>1.7</a:t>
                      </a:r>
                    </a:p>
                  </a:txBody>
                  <a:tcPr/>
                </a:tc>
                <a:tc>
                  <a:txBody>
                    <a:bodyPr/>
                    <a:lstStyle/>
                    <a:p>
                      <a:pPr algn="ctr"/>
                      <a:r>
                        <a:rPr lang="en-US" dirty="0"/>
                        <a:t>2</a:t>
                      </a:r>
                    </a:p>
                  </a:txBody>
                  <a:tcPr/>
                </a:tc>
                <a:tc>
                  <a:txBody>
                    <a:bodyPr/>
                    <a:lstStyle/>
                    <a:p>
                      <a:r>
                        <a:rPr lang="en-US" dirty="0"/>
                        <a:t>All non-zero digits significant</a:t>
                      </a:r>
                    </a:p>
                  </a:txBody>
                  <a:tcPr/>
                </a:tc>
                <a:extLst>
                  <a:ext uri="{0D108BD9-81ED-4DB2-BD59-A6C34878D82A}">
                    <a16:rowId xmlns:a16="http://schemas.microsoft.com/office/drawing/2014/main" val="4054594233"/>
                  </a:ext>
                </a:extLst>
              </a:tr>
              <a:tr h="370840">
                <a:tc>
                  <a:txBody>
                    <a:bodyPr/>
                    <a:lstStyle/>
                    <a:p>
                      <a:r>
                        <a:rPr lang="en-US" dirty="0"/>
                        <a:t>1.732</a:t>
                      </a:r>
                    </a:p>
                  </a:txBody>
                  <a:tcPr/>
                </a:tc>
                <a:tc>
                  <a:txBody>
                    <a:bodyPr/>
                    <a:lstStyle/>
                    <a:p>
                      <a:pPr algn="ctr"/>
                      <a:r>
                        <a:rPr lang="en-US" dirty="0"/>
                        <a:t>4</a:t>
                      </a:r>
                    </a:p>
                  </a:txBody>
                  <a:tcPr/>
                </a:tc>
                <a:tc>
                  <a:txBody>
                    <a:bodyPr/>
                    <a:lstStyle/>
                    <a:p>
                      <a:endParaRPr lang="en-US" dirty="0"/>
                    </a:p>
                  </a:txBody>
                  <a:tcPr/>
                </a:tc>
                <a:extLst>
                  <a:ext uri="{0D108BD9-81ED-4DB2-BD59-A6C34878D82A}">
                    <a16:rowId xmlns:a16="http://schemas.microsoft.com/office/drawing/2014/main" val="1761702033"/>
                  </a:ext>
                </a:extLst>
              </a:tr>
              <a:tr h="370840">
                <a:tc>
                  <a:txBody>
                    <a:bodyPr/>
                    <a:lstStyle/>
                    <a:p>
                      <a:r>
                        <a:rPr lang="en-US" dirty="0"/>
                        <a:t>17.32704</a:t>
                      </a:r>
                    </a:p>
                  </a:txBody>
                  <a:tcPr/>
                </a:tc>
                <a:tc>
                  <a:txBody>
                    <a:bodyPr/>
                    <a:lstStyle/>
                    <a:p>
                      <a:pPr algn="ctr"/>
                      <a:r>
                        <a:rPr lang="en-US" dirty="0"/>
                        <a:t>7</a:t>
                      </a:r>
                    </a:p>
                  </a:txBody>
                  <a:tcPr/>
                </a:tc>
                <a:tc>
                  <a:txBody>
                    <a:bodyPr/>
                    <a:lstStyle/>
                    <a:p>
                      <a:r>
                        <a:rPr lang="en-US" dirty="0"/>
                        <a:t>Zeroes between non-zero digits are significant</a:t>
                      </a:r>
                    </a:p>
                  </a:txBody>
                  <a:tcPr/>
                </a:tc>
                <a:extLst>
                  <a:ext uri="{0D108BD9-81ED-4DB2-BD59-A6C34878D82A}">
                    <a16:rowId xmlns:a16="http://schemas.microsoft.com/office/drawing/2014/main" val="1124620680"/>
                  </a:ext>
                </a:extLst>
              </a:tr>
            </a:tbl>
          </a:graphicData>
        </a:graphic>
      </p:graphicFrame>
      <p:sp>
        <p:nvSpPr>
          <p:cNvPr id="3" name="Slide Number Placeholder 2">
            <a:extLst>
              <a:ext uri="{FF2B5EF4-FFF2-40B4-BE49-F238E27FC236}">
                <a16:creationId xmlns:a16="http://schemas.microsoft.com/office/drawing/2014/main" id="{1080A82C-4535-6C4D-94FF-40167DCCF8B6}"/>
              </a:ext>
            </a:extLst>
          </p:cNvPr>
          <p:cNvSpPr>
            <a:spLocks noGrp="1"/>
          </p:cNvSpPr>
          <p:nvPr>
            <p:ph type="sldNum" sz="quarter" idx="10"/>
          </p:nvPr>
        </p:nvSpPr>
        <p:spPr/>
        <p:txBody>
          <a:bodyPr/>
          <a:lstStyle/>
          <a:p>
            <a:fld id="{12356DF5-CFED-4016-A2DB-A70AC2735480}" type="slidenum">
              <a:rPr lang="en-US" smtClean="0"/>
              <a:pPr/>
              <a:t>17</a:t>
            </a:fld>
            <a:endParaRPr lang="en-US" dirty="0">
              <a:solidFill>
                <a:schemeClr val="bg1"/>
              </a:solidFill>
            </a:endParaRPr>
          </a:p>
        </p:txBody>
      </p:sp>
    </p:spTree>
    <p:extLst>
      <p:ext uri="{BB962C8B-B14F-4D97-AF65-F5344CB8AC3E}">
        <p14:creationId xmlns:p14="http://schemas.microsoft.com/office/powerpoint/2010/main" val="833810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7580F-6ACE-CD9B-976F-13BB0F1E408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284AAE-2AC1-F582-0ED3-1FB8C779F5B9}"/>
              </a:ext>
            </a:extLst>
          </p:cNvPr>
          <p:cNvSpPr>
            <a:spLocks noGrp="1"/>
          </p:cNvSpPr>
          <p:nvPr>
            <p:ph type="title"/>
          </p:nvPr>
        </p:nvSpPr>
        <p:spPr>
          <a:xfrm>
            <a:off x="364067" y="306073"/>
            <a:ext cx="8421512" cy="707886"/>
          </a:xfrm>
        </p:spPr>
        <p:txBody>
          <a:bodyPr/>
          <a:lstStyle/>
          <a:p>
            <a:r>
              <a:rPr lang="en-US" sz="4000" dirty="0"/>
              <a:t>Significant Digits</a:t>
            </a:r>
          </a:p>
        </p:txBody>
      </p:sp>
      <p:sp>
        <p:nvSpPr>
          <p:cNvPr id="5" name="Content Placeholder 4">
            <a:extLst>
              <a:ext uri="{FF2B5EF4-FFF2-40B4-BE49-F238E27FC236}">
                <a16:creationId xmlns:a16="http://schemas.microsoft.com/office/drawing/2014/main" id="{CE387393-4475-7DD2-08CA-733BE96C05C8}"/>
              </a:ext>
            </a:extLst>
          </p:cNvPr>
          <p:cNvSpPr>
            <a:spLocks noGrp="1"/>
          </p:cNvSpPr>
          <p:nvPr>
            <p:ph idx="1"/>
          </p:nvPr>
        </p:nvSpPr>
        <p:spPr>
          <a:xfrm>
            <a:off x="392288" y="1336462"/>
            <a:ext cx="8387645" cy="5215465"/>
          </a:xfrm>
        </p:spPr>
        <p:txBody>
          <a:bodyPr/>
          <a:lstStyle/>
          <a:p>
            <a:pPr marL="0" indent="0">
              <a:buNone/>
              <a:defRPr/>
            </a:pPr>
            <a:endParaRPr lang="en-US" dirty="0">
              <a:solidFill>
                <a:srgbClr val="FFFFFF"/>
              </a:solidFill>
            </a:endParaRPr>
          </a:p>
          <a:p>
            <a:pPr marL="0" indent="0">
              <a:buNone/>
              <a:defRPr/>
            </a:pPr>
            <a:endParaRPr lang="en-US" dirty="0">
              <a:solidFill>
                <a:srgbClr val="FFFFFF"/>
              </a:solidFill>
            </a:endParaRPr>
          </a:p>
        </p:txBody>
      </p:sp>
      <p:graphicFrame>
        <p:nvGraphicFramePr>
          <p:cNvPr id="7" name="Table 6">
            <a:extLst>
              <a:ext uri="{FF2B5EF4-FFF2-40B4-BE49-F238E27FC236}">
                <a16:creationId xmlns:a16="http://schemas.microsoft.com/office/drawing/2014/main" id="{ABD85B84-F5D4-10FB-FA11-7079AFC5D42F}"/>
              </a:ext>
            </a:extLst>
          </p:cNvPr>
          <p:cNvGraphicFramePr>
            <a:graphicFrameLocks noGrp="1"/>
          </p:cNvGraphicFramePr>
          <p:nvPr>
            <p:extLst>
              <p:ext uri="{D42A27DB-BD31-4B8C-83A1-F6EECF244321}">
                <p14:modId xmlns:p14="http://schemas.microsoft.com/office/powerpoint/2010/main" val="1359146497"/>
              </p:ext>
            </p:extLst>
          </p:nvPr>
        </p:nvGraphicFramePr>
        <p:xfrm>
          <a:off x="219677" y="2036654"/>
          <a:ext cx="8622278" cy="3815080"/>
        </p:xfrm>
        <a:graphic>
          <a:graphicData uri="http://schemas.openxmlformats.org/drawingml/2006/table">
            <a:tbl>
              <a:tblPr firstRow="1" bandRow="1">
                <a:tableStyleId>{073A0DAA-6AF3-43AB-8588-CEC1D06C72B9}</a:tableStyleId>
              </a:tblPr>
              <a:tblGrid>
                <a:gridCol w="1858090">
                  <a:extLst>
                    <a:ext uri="{9D8B030D-6E8A-4147-A177-3AD203B41FA5}">
                      <a16:colId xmlns:a16="http://schemas.microsoft.com/office/drawing/2014/main" val="2997406436"/>
                    </a:ext>
                  </a:extLst>
                </a:gridCol>
                <a:gridCol w="1554566">
                  <a:extLst>
                    <a:ext uri="{9D8B030D-6E8A-4147-A177-3AD203B41FA5}">
                      <a16:colId xmlns:a16="http://schemas.microsoft.com/office/drawing/2014/main" val="3205729253"/>
                    </a:ext>
                  </a:extLst>
                </a:gridCol>
                <a:gridCol w="5209622">
                  <a:extLst>
                    <a:ext uri="{9D8B030D-6E8A-4147-A177-3AD203B41FA5}">
                      <a16:colId xmlns:a16="http://schemas.microsoft.com/office/drawing/2014/main" val="1039054553"/>
                    </a:ext>
                  </a:extLst>
                </a:gridCol>
              </a:tblGrid>
              <a:tr h="370840">
                <a:tc>
                  <a:txBody>
                    <a:bodyPr/>
                    <a:lstStyle/>
                    <a:p>
                      <a:pPr algn="ctr"/>
                      <a:r>
                        <a:rPr lang="en-US" sz="1600" dirty="0"/>
                        <a:t>Measurement/Value</a:t>
                      </a:r>
                    </a:p>
                  </a:txBody>
                  <a:tcPr/>
                </a:tc>
                <a:tc>
                  <a:txBody>
                    <a:bodyPr/>
                    <a:lstStyle/>
                    <a:p>
                      <a:pPr algn="ctr"/>
                      <a:r>
                        <a:rPr lang="en-US" sz="1600" dirty="0"/>
                        <a:t>Significant Digits</a:t>
                      </a:r>
                    </a:p>
                  </a:txBody>
                  <a:tcPr/>
                </a:tc>
                <a:tc>
                  <a:txBody>
                    <a:bodyPr/>
                    <a:lstStyle/>
                    <a:p>
                      <a:pPr algn="ctr"/>
                      <a:endParaRPr lang="en-US" sz="1600" dirty="0"/>
                    </a:p>
                    <a:p>
                      <a:pPr algn="ctr"/>
                      <a:r>
                        <a:rPr lang="en-US" sz="1600" dirty="0"/>
                        <a:t>Explanation</a:t>
                      </a:r>
                    </a:p>
                  </a:txBody>
                  <a:tcPr/>
                </a:tc>
                <a:extLst>
                  <a:ext uri="{0D108BD9-81ED-4DB2-BD59-A6C34878D82A}">
                    <a16:rowId xmlns:a16="http://schemas.microsoft.com/office/drawing/2014/main" val="369811630"/>
                  </a:ext>
                </a:extLst>
              </a:tr>
              <a:tr h="370840">
                <a:tc>
                  <a:txBody>
                    <a:bodyPr/>
                    <a:lstStyle/>
                    <a:p>
                      <a:r>
                        <a:rPr lang="en-US" dirty="0"/>
                        <a:t>0.0045</a:t>
                      </a:r>
                    </a:p>
                  </a:txBody>
                  <a:tcPr/>
                </a:tc>
                <a:tc>
                  <a:txBody>
                    <a:bodyPr/>
                    <a:lstStyle/>
                    <a:p>
                      <a:pPr algn="ctr"/>
                      <a:r>
                        <a:rPr lang="en-US" dirty="0"/>
                        <a:t>2</a:t>
                      </a:r>
                    </a:p>
                  </a:txBody>
                  <a:tcPr/>
                </a:tc>
                <a:tc>
                  <a:txBody>
                    <a:bodyPr/>
                    <a:lstStyle/>
                    <a:p>
                      <a:r>
                        <a:rPr lang="en-US" dirty="0">
                          <a:latin typeface="+mj-lt"/>
                        </a:rPr>
                        <a:t>leading zeroes after decimal point not significant</a:t>
                      </a:r>
                    </a:p>
                  </a:txBody>
                  <a:tcPr/>
                </a:tc>
                <a:extLst>
                  <a:ext uri="{0D108BD9-81ED-4DB2-BD59-A6C34878D82A}">
                    <a16:rowId xmlns:a16="http://schemas.microsoft.com/office/drawing/2014/main" val="4054594233"/>
                  </a:ext>
                </a:extLst>
              </a:tr>
              <a:tr h="370840">
                <a:tc>
                  <a:txBody>
                    <a:bodyPr/>
                    <a:lstStyle/>
                    <a:p>
                      <a:r>
                        <a:rPr lang="en-US" dirty="0"/>
                        <a:t>0.00450</a:t>
                      </a:r>
                    </a:p>
                  </a:txBody>
                  <a:tcPr/>
                </a:tc>
                <a:tc>
                  <a:txBody>
                    <a:bodyPr/>
                    <a:lstStyle/>
                    <a:p>
                      <a:pPr algn="ctr"/>
                      <a:r>
                        <a:rPr lang="en-US" dirty="0"/>
                        <a:t>3</a:t>
                      </a:r>
                    </a:p>
                  </a:txBody>
                  <a:tcPr/>
                </a:tc>
                <a:tc>
                  <a:txBody>
                    <a:bodyPr/>
                    <a:lstStyle/>
                    <a:p>
                      <a:r>
                        <a:rPr lang="en-US" dirty="0">
                          <a:latin typeface="+mj-lt"/>
                        </a:rPr>
                        <a:t>trailing zeroes after decimal are significant</a:t>
                      </a:r>
                    </a:p>
                  </a:txBody>
                  <a:tcPr/>
                </a:tc>
                <a:extLst>
                  <a:ext uri="{0D108BD9-81ED-4DB2-BD59-A6C34878D82A}">
                    <a16:rowId xmlns:a16="http://schemas.microsoft.com/office/drawing/2014/main" val="1761702033"/>
                  </a:ext>
                </a:extLst>
              </a:tr>
              <a:tr h="370840">
                <a:tc>
                  <a:txBody>
                    <a:bodyPr/>
                    <a:lstStyle/>
                    <a:p>
                      <a:r>
                        <a:rPr lang="en-US" dirty="0"/>
                        <a:t>1200</a:t>
                      </a:r>
                    </a:p>
                  </a:txBody>
                  <a:tcPr/>
                </a:tc>
                <a:tc>
                  <a:txBody>
                    <a:bodyPr/>
                    <a:lstStyle/>
                    <a:p>
                      <a:pPr algn="ctr"/>
                      <a:r>
                        <a:rPr lang="en-US" dirty="0"/>
                        <a:t>2</a:t>
                      </a:r>
                    </a:p>
                  </a:txBody>
                  <a:tcPr/>
                </a:tc>
                <a:tc>
                  <a:txBody>
                    <a:bodyPr/>
                    <a:lstStyle/>
                    <a:p>
                      <a:endParaRPr lang="en-US" dirty="0">
                        <a:latin typeface="+mj-lt"/>
                      </a:endParaRPr>
                    </a:p>
                  </a:txBody>
                  <a:tcPr/>
                </a:tc>
                <a:extLst>
                  <a:ext uri="{0D108BD9-81ED-4DB2-BD59-A6C34878D82A}">
                    <a16:rowId xmlns:a16="http://schemas.microsoft.com/office/drawing/2014/main" val="1124620680"/>
                  </a:ext>
                </a:extLst>
              </a:tr>
              <a:tr h="370840">
                <a:tc>
                  <a:txBody>
                    <a:bodyPr/>
                    <a:lstStyle/>
                    <a:p>
                      <a:r>
                        <a:rPr lang="en-US" dirty="0"/>
                        <a:t>1200.</a:t>
                      </a:r>
                    </a:p>
                  </a:txBody>
                  <a:tcPr/>
                </a:tc>
                <a:tc>
                  <a:txBody>
                    <a:bodyPr/>
                    <a:lstStyle/>
                    <a:p>
                      <a:pPr algn="ctr"/>
                      <a:r>
                        <a:rPr lang="en-US" dirty="0"/>
                        <a:t>4</a:t>
                      </a:r>
                    </a:p>
                  </a:txBody>
                  <a:tcPr/>
                </a:tc>
                <a:tc>
                  <a:txBody>
                    <a:bodyPr/>
                    <a:lstStyle/>
                    <a:p>
                      <a:r>
                        <a:rPr lang="en-US" dirty="0">
                          <a:latin typeface="+mj-lt"/>
                        </a:rPr>
                        <a:t>assertion of decimal point makes significant</a:t>
                      </a:r>
                    </a:p>
                  </a:txBody>
                  <a:tcPr/>
                </a:tc>
                <a:extLst>
                  <a:ext uri="{0D108BD9-81ED-4DB2-BD59-A6C34878D82A}">
                    <a16:rowId xmlns:a16="http://schemas.microsoft.com/office/drawing/2014/main" val="1807739249"/>
                  </a:ext>
                </a:extLst>
              </a:tr>
              <a:tr h="370840">
                <a:tc>
                  <a:txBody>
                    <a:bodyPr/>
                    <a:lstStyle/>
                    <a:p>
                      <a:r>
                        <a:rPr lang="en-US" dirty="0"/>
                        <a:t>0.000</a:t>
                      </a:r>
                    </a:p>
                  </a:txBody>
                  <a:tcPr/>
                </a:tc>
                <a:tc>
                  <a:txBody>
                    <a:bodyPr/>
                    <a:lstStyle/>
                    <a:p>
                      <a:pPr algn="ctr"/>
                      <a:r>
                        <a:rPr lang="en-US" dirty="0"/>
                        <a:t>0</a:t>
                      </a:r>
                    </a:p>
                  </a:txBody>
                  <a:tcPr/>
                </a:tc>
                <a:tc>
                  <a:txBody>
                    <a:bodyPr/>
                    <a:lstStyle/>
                    <a:p>
                      <a:r>
                        <a:rPr lang="en-US" dirty="0">
                          <a:latin typeface="+mj-lt"/>
                        </a:rPr>
                        <a:t>no non-zero digits at all</a:t>
                      </a:r>
                    </a:p>
                  </a:txBody>
                  <a:tcPr/>
                </a:tc>
                <a:extLst>
                  <a:ext uri="{0D108BD9-81ED-4DB2-BD59-A6C34878D82A}">
                    <a16:rowId xmlns:a16="http://schemas.microsoft.com/office/drawing/2014/main" val="929696405"/>
                  </a:ext>
                </a:extLst>
              </a:tr>
              <a:tr h="370840">
                <a:tc>
                  <a:txBody>
                    <a:bodyPr/>
                    <a:lstStyle/>
                    <a:p>
                      <a:r>
                        <a:rPr lang="en-US" dirty="0"/>
                        <a:t>1000.0</a:t>
                      </a:r>
                    </a:p>
                  </a:txBody>
                  <a:tcPr/>
                </a:tc>
                <a:tc>
                  <a:txBody>
                    <a:bodyPr/>
                    <a:lstStyle/>
                    <a:p>
                      <a:pPr algn="ctr"/>
                      <a:r>
                        <a:rPr lang="en-US" dirty="0"/>
                        <a:t>5</a:t>
                      </a:r>
                    </a:p>
                  </a:txBody>
                  <a:tcPr/>
                </a:tc>
                <a:tc>
                  <a:txBody>
                    <a:bodyPr/>
                    <a:lstStyle/>
                    <a:p>
                      <a:r>
                        <a:rPr lang="en-US" dirty="0">
                          <a:latin typeface="+mj-lt"/>
                        </a:rPr>
                        <a:t>adding decimal point and any zeroes after it makes all digits significant</a:t>
                      </a:r>
                    </a:p>
                  </a:txBody>
                  <a:tcPr/>
                </a:tc>
                <a:extLst>
                  <a:ext uri="{0D108BD9-81ED-4DB2-BD59-A6C34878D82A}">
                    <a16:rowId xmlns:a16="http://schemas.microsoft.com/office/drawing/2014/main" val="3185610161"/>
                  </a:ext>
                </a:extLst>
              </a:tr>
              <a:tr h="370840">
                <a:tc>
                  <a:txBody>
                    <a:bodyPr/>
                    <a:lstStyle/>
                    <a:p>
                      <a:r>
                        <a:rPr lang="en-US" dirty="0"/>
                        <a:t>100</a:t>
                      </a:r>
                    </a:p>
                  </a:txBody>
                  <a:tcPr/>
                </a:tc>
                <a:tc>
                  <a:txBody>
                    <a:bodyPr/>
                    <a:lstStyle/>
                    <a:p>
                      <a:pPr algn="ctr"/>
                      <a:r>
                        <a:rPr lang="en-US" dirty="0"/>
                        <a:t>1</a:t>
                      </a:r>
                    </a:p>
                  </a:txBody>
                  <a:tcPr/>
                </a:tc>
                <a:tc>
                  <a:txBody>
                    <a:bodyPr/>
                    <a:lstStyle/>
                    <a:p>
                      <a:r>
                        <a:rPr lang="en-US" dirty="0">
                          <a:latin typeface="+mj-lt"/>
                        </a:rPr>
                        <a:t>evaluated like the “1200” example above</a:t>
                      </a:r>
                    </a:p>
                  </a:txBody>
                  <a:tcPr/>
                </a:tc>
                <a:extLst>
                  <a:ext uri="{0D108BD9-81ED-4DB2-BD59-A6C34878D82A}">
                    <a16:rowId xmlns:a16="http://schemas.microsoft.com/office/drawing/2014/main" val="1907223545"/>
                  </a:ext>
                </a:extLst>
              </a:tr>
              <a:tr h="370840">
                <a:tc>
                  <a:txBody>
                    <a:bodyPr/>
                    <a:lstStyle/>
                    <a:p>
                      <a:r>
                        <a:rPr lang="en-US" dirty="0"/>
                        <a:t>1.200 × 10</a:t>
                      </a:r>
                      <a:r>
                        <a:rPr lang="en-US" baseline="30000" dirty="0"/>
                        <a:t>-3</a:t>
                      </a:r>
                    </a:p>
                  </a:txBody>
                  <a:tcPr/>
                </a:tc>
                <a:tc>
                  <a:txBody>
                    <a:bodyPr/>
                    <a:lstStyle/>
                    <a:p>
                      <a:pPr algn="ctr"/>
                      <a:r>
                        <a:rPr lang="en-US" dirty="0"/>
                        <a:t>4</a:t>
                      </a:r>
                    </a:p>
                  </a:txBody>
                  <a:tcPr/>
                </a:tc>
                <a:tc>
                  <a:txBody>
                    <a:bodyPr/>
                    <a:lstStyle/>
                    <a:p>
                      <a:r>
                        <a:rPr lang="en-US" dirty="0">
                          <a:latin typeface="+mj-lt"/>
                        </a:rPr>
                        <a:t>all digits in scientific notation should be significant</a:t>
                      </a:r>
                    </a:p>
                  </a:txBody>
                  <a:tcPr/>
                </a:tc>
                <a:extLst>
                  <a:ext uri="{0D108BD9-81ED-4DB2-BD59-A6C34878D82A}">
                    <a16:rowId xmlns:a16="http://schemas.microsoft.com/office/drawing/2014/main" val="2832591541"/>
                  </a:ext>
                </a:extLst>
              </a:tr>
            </a:tbl>
          </a:graphicData>
        </a:graphic>
      </p:graphicFrame>
      <p:sp>
        <p:nvSpPr>
          <p:cNvPr id="2" name="Slide Number Placeholder 1">
            <a:extLst>
              <a:ext uri="{FF2B5EF4-FFF2-40B4-BE49-F238E27FC236}">
                <a16:creationId xmlns:a16="http://schemas.microsoft.com/office/drawing/2014/main" id="{43CEF5B1-E17C-ED94-9FE9-56D562CF1AA0}"/>
              </a:ext>
            </a:extLst>
          </p:cNvPr>
          <p:cNvSpPr>
            <a:spLocks noGrp="1"/>
          </p:cNvSpPr>
          <p:nvPr>
            <p:ph type="sldNum" sz="quarter" idx="10"/>
          </p:nvPr>
        </p:nvSpPr>
        <p:spPr/>
        <p:txBody>
          <a:bodyPr/>
          <a:lstStyle/>
          <a:p>
            <a:fld id="{12356DF5-CFED-4016-A2DB-A70AC2735480}" type="slidenum">
              <a:rPr lang="en-US" smtClean="0"/>
              <a:pPr/>
              <a:t>18</a:t>
            </a:fld>
            <a:endParaRPr lang="en-US" dirty="0">
              <a:solidFill>
                <a:schemeClr val="bg1"/>
              </a:solidFill>
            </a:endParaRPr>
          </a:p>
        </p:txBody>
      </p:sp>
    </p:spTree>
    <p:extLst>
      <p:ext uri="{BB962C8B-B14F-4D97-AF65-F5344CB8AC3E}">
        <p14:creationId xmlns:p14="http://schemas.microsoft.com/office/powerpoint/2010/main" val="4195560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410FE-A4BB-57AE-96D5-BCF47357AAF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5859FCE-ABDA-91D1-B3DF-5C1014810963}"/>
              </a:ext>
            </a:extLst>
          </p:cNvPr>
          <p:cNvSpPr>
            <a:spLocks noGrp="1"/>
          </p:cNvSpPr>
          <p:nvPr>
            <p:ph type="title"/>
          </p:nvPr>
        </p:nvSpPr>
        <p:spPr>
          <a:xfrm>
            <a:off x="364067" y="306073"/>
            <a:ext cx="8421512" cy="707886"/>
          </a:xfrm>
        </p:spPr>
        <p:txBody>
          <a:bodyPr/>
          <a:lstStyle/>
          <a:p>
            <a:r>
              <a:rPr lang="en-US" sz="4000" dirty="0"/>
              <a:t>Significant Digits</a:t>
            </a:r>
          </a:p>
        </p:txBody>
      </p:sp>
      <p:sp>
        <p:nvSpPr>
          <p:cNvPr id="6" name="Content Placeholder 5">
            <a:extLst>
              <a:ext uri="{FF2B5EF4-FFF2-40B4-BE49-F238E27FC236}">
                <a16:creationId xmlns:a16="http://schemas.microsoft.com/office/drawing/2014/main" id="{1588B4BF-533D-AA6A-A45A-60C58DD5E798}"/>
              </a:ext>
            </a:extLst>
          </p:cNvPr>
          <p:cNvSpPr>
            <a:spLocks noGrp="1"/>
          </p:cNvSpPr>
          <p:nvPr>
            <p:ph idx="1"/>
          </p:nvPr>
        </p:nvSpPr>
        <p:spPr>
          <a:xfrm>
            <a:off x="364067" y="2490232"/>
            <a:ext cx="6362096" cy="3876926"/>
          </a:xfrm>
        </p:spPr>
        <p:txBody>
          <a:bodyPr/>
          <a:lstStyle/>
          <a:p>
            <a:pPr marL="0" indent="0">
              <a:buNone/>
              <a:defRPr/>
            </a:pPr>
            <a:r>
              <a:rPr kumimoji="0" lang="en-US" sz="2400" b="0" i="1" u="none" strike="noStrike" kern="0" cap="none" spc="0" normalizeH="0" baseline="0" noProof="0" dirty="0">
                <a:ln>
                  <a:noFill/>
                </a:ln>
                <a:solidFill>
                  <a:schemeClr val="accent1">
                    <a:lumMod val="60000"/>
                    <a:lumOff val="40000"/>
                  </a:schemeClr>
                </a:solidFill>
                <a:effectLst/>
                <a:uLnTx/>
                <a:uFillTx/>
                <a:latin typeface="Verdana"/>
                <a:ea typeface="+mn-ea"/>
                <a:cs typeface="+mn-cs"/>
              </a:rPr>
              <a:t>Preparative balance</a:t>
            </a:r>
          </a:p>
          <a:p>
            <a:pPr>
              <a:defRPr/>
            </a:pPr>
            <a:r>
              <a:rPr lang="en-US" sz="1600" dirty="0">
                <a:solidFill>
                  <a:srgbClr val="FFFFFF"/>
                </a:solidFill>
                <a:latin typeface="Verdana"/>
              </a:rPr>
              <a:t>Measuring quantities usually 0.1 g (100 mg) or greater</a:t>
            </a:r>
          </a:p>
          <a:p>
            <a:pPr>
              <a:defRPr/>
            </a:pPr>
            <a:r>
              <a:rPr lang="en-US" sz="1600" dirty="0">
                <a:solidFill>
                  <a:srgbClr val="FFFFFF"/>
                </a:solidFill>
                <a:latin typeface="Verdana"/>
              </a:rPr>
              <a:t>used to weigh masses for starting a chemistry experiment</a:t>
            </a:r>
          </a:p>
          <a:p>
            <a:pPr>
              <a:defRPr/>
            </a:pPr>
            <a:r>
              <a:rPr lang="en-US" sz="1600" dirty="0">
                <a:solidFill>
                  <a:srgbClr val="FFFFFF"/>
                </a:solidFill>
                <a:latin typeface="+mj-lt"/>
              </a:rPr>
              <a:t>Precision example:  3.4 g sodium chloride (NaCl)</a:t>
            </a:r>
          </a:p>
          <a:p>
            <a:pPr marL="0" indent="0">
              <a:buNone/>
              <a:defRPr/>
            </a:pPr>
            <a:r>
              <a:rPr kumimoji="0" lang="en-US" sz="2400" b="0" i="1" u="none" strike="noStrike" kern="0" cap="none" spc="0" normalizeH="0" baseline="0" noProof="0" dirty="0">
                <a:ln>
                  <a:noFill/>
                </a:ln>
                <a:solidFill>
                  <a:schemeClr val="accent1">
                    <a:lumMod val="60000"/>
                    <a:lumOff val="40000"/>
                  </a:schemeClr>
                </a:solidFill>
                <a:effectLst/>
                <a:uLnTx/>
                <a:uFillTx/>
                <a:latin typeface="Verdana"/>
                <a:ea typeface="+mn-ea"/>
                <a:cs typeface="+mn-cs"/>
              </a:rPr>
              <a:t>Analytical balance</a:t>
            </a:r>
          </a:p>
          <a:p>
            <a:pPr>
              <a:defRPr/>
            </a:pPr>
            <a:r>
              <a:rPr lang="en-US" sz="1600" dirty="0">
                <a:solidFill>
                  <a:srgbClr val="FFFFFF"/>
                </a:solidFill>
              </a:rPr>
              <a:t>Measuring quantities usually down to 0.0001 g (0.1 mg or 100 µg) or greater</a:t>
            </a:r>
          </a:p>
          <a:p>
            <a:pPr>
              <a:defRPr/>
            </a:pPr>
            <a:r>
              <a:rPr lang="en-US" sz="1600" dirty="0">
                <a:solidFill>
                  <a:srgbClr val="FFFFFF"/>
                </a:solidFill>
              </a:rPr>
              <a:t>used to weigh masses for determining yield of product at end of a chemistry experiment</a:t>
            </a:r>
          </a:p>
          <a:p>
            <a:pPr>
              <a:tabLst>
                <a:tab pos="515938" algn="l"/>
              </a:tabLst>
              <a:defRPr/>
            </a:pPr>
            <a:r>
              <a:rPr lang="en-US" sz="1600" dirty="0">
                <a:solidFill>
                  <a:srgbClr val="FFFFFF"/>
                </a:solidFill>
                <a:latin typeface="+mj-lt"/>
              </a:rPr>
              <a:t>Precision example:  0.0241 g copper(II) sulfate pentahydrate </a:t>
            </a:r>
            <a:endParaRPr lang="en-US" sz="1800" dirty="0">
              <a:solidFill>
                <a:srgbClr val="FFFFFF"/>
              </a:solidFill>
              <a:latin typeface="+mj-lt"/>
            </a:endParaRPr>
          </a:p>
          <a:p>
            <a:pPr marL="0" indent="0">
              <a:buNone/>
              <a:defRPr/>
            </a:pPr>
            <a:endParaRPr lang="en-US" dirty="0">
              <a:solidFill>
                <a:srgbClr val="FFFFFF"/>
              </a:solidFill>
              <a:latin typeface="Verdana"/>
            </a:endParaRPr>
          </a:p>
        </p:txBody>
      </p:sp>
      <p:pic>
        <p:nvPicPr>
          <p:cNvPr id="2052" name="Picture 4" descr="Analytical Balance (0.01mg) QEC-Series | Qualitest">
            <a:extLst>
              <a:ext uri="{FF2B5EF4-FFF2-40B4-BE49-F238E27FC236}">
                <a16:creationId xmlns:a16="http://schemas.microsoft.com/office/drawing/2014/main" id="{8385F227-F188-B015-B479-C1255BCF782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24623" y="4234691"/>
            <a:ext cx="1517332" cy="231286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Labotec Precision Balances - YP Series">
            <a:extLst>
              <a:ext uri="{FF2B5EF4-FFF2-40B4-BE49-F238E27FC236}">
                <a16:creationId xmlns:a16="http://schemas.microsoft.com/office/drawing/2014/main" id="{DD444E9E-2054-C336-DDE6-73C358D889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2004" y="2200534"/>
            <a:ext cx="2163151" cy="1883213"/>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5">
            <a:extLst>
              <a:ext uri="{FF2B5EF4-FFF2-40B4-BE49-F238E27FC236}">
                <a16:creationId xmlns:a16="http://schemas.microsoft.com/office/drawing/2014/main" id="{CDCE3187-80F9-1353-CD5A-53804655A969}"/>
              </a:ext>
            </a:extLst>
          </p:cNvPr>
          <p:cNvSpPr txBox="1">
            <a:spLocks/>
          </p:cNvSpPr>
          <p:nvPr/>
        </p:nvSpPr>
        <p:spPr bwMode="auto">
          <a:xfrm>
            <a:off x="364067" y="1203677"/>
            <a:ext cx="8477888" cy="10968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282575" indent="-282575" algn="l" rtl="0" eaLnBrk="1" fontAlgn="base" hangingPunct="1">
              <a:spcBef>
                <a:spcPct val="20000"/>
              </a:spcBef>
              <a:spcAft>
                <a:spcPct val="0"/>
              </a:spcAft>
              <a:buChar char="•"/>
              <a:defRPr sz="2400">
                <a:solidFill>
                  <a:schemeClr val="bg1"/>
                </a:solidFill>
                <a:latin typeface="+mn-lt"/>
                <a:ea typeface="+mn-ea"/>
                <a:cs typeface="+mn-cs"/>
              </a:defRPr>
            </a:lvl1pPr>
            <a:lvl2pPr marL="519113" indent="-287338" algn="l" rtl="0" eaLnBrk="1" fontAlgn="base" hangingPunct="1">
              <a:spcBef>
                <a:spcPct val="20000"/>
              </a:spcBef>
              <a:spcAft>
                <a:spcPct val="0"/>
              </a:spcAft>
              <a:buFont typeface="Wingdings" pitchFamily="2" charset="2"/>
              <a:buChar char="§"/>
              <a:defRPr sz="2000">
                <a:solidFill>
                  <a:schemeClr val="bg1"/>
                </a:solidFill>
                <a:latin typeface="+mn-lt"/>
              </a:defRPr>
            </a:lvl2pPr>
            <a:lvl3pPr marL="801688" indent="-225425" algn="l" rtl="0" eaLnBrk="1" fontAlgn="base" hangingPunct="1">
              <a:spcBef>
                <a:spcPct val="20000"/>
              </a:spcBef>
              <a:spcAft>
                <a:spcPct val="0"/>
              </a:spcAft>
              <a:buFont typeface="Wingdings" pitchFamily="2" charset="2"/>
              <a:buChar char="Ø"/>
              <a:defRPr sz="1800">
                <a:solidFill>
                  <a:schemeClr val="bg1"/>
                </a:solidFill>
                <a:latin typeface="+mn-lt"/>
              </a:defRPr>
            </a:lvl3pPr>
            <a:lvl4pPr marL="1084263" indent="-288925" algn="l" rtl="0" eaLnBrk="1" fontAlgn="base" hangingPunct="1">
              <a:spcBef>
                <a:spcPct val="20000"/>
              </a:spcBef>
              <a:spcAft>
                <a:spcPct val="0"/>
              </a:spcAft>
              <a:buFont typeface="Courier New" pitchFamily="49" charset="0"/>
              <a:buChar char="o"/>
              <a:defRPr sz="1600">
                <a:solidFill>
                  <a:schemeClr val="bg1"/>
                </a:solidFill>
                <a:latin typeface="+mn-lt"/>
              </a:defRPr>
            </a:lvl4pPr>
            <a:lvl5pPr marL="1377950" indent="-293688" algn="l" rtl="0" eaLnBrk="1" fontAlgn="base" hangingPunct="1">
              <a:spcBef>
                <a:spcPct val="20000"/>
              </a:spcBef>
              <a:spcAft>
                <a:spcPct val="0"/>
              </a:spcAft>
              <a:buChar char="»"/>
              <a:defRPr sz="1400">
                <a:solidFill>
                  <a:schemeClr val="bg1"/>
                </a:solidFill>
                <a:latin typeface="+mn-lt"/>
              </a:defRPr>
            </a:lvl5pPr>
            <a:lvl6pPr marL="2514600" indent="-228600" algn="l" rtl="0" eaLnBrk="1" fontAlgn="base" hangingPunct="1">
              <a:spcBef>
                <a:spcPct val="20000"/>
              </a:spcBef>
              <a:spcAft>
                <a:spcPct val="0"/>
              </a:spcAft>
              <a:buChar char="»"/>
              <a:defRPr sz="2000">
                <a:solidFill>
                  <a:schemeClr val="bg1"/>
                </a:solidFill>
                <a:latin typeface="+mn-lt"/>
              </a:defRPr>
            </a:lvl6pPr>
            <a:lvl7pPr marL="2971800" indent="-228600" algn="l" rtl="0" eaLnBrk="1" fontAlgn="base" hangingPunct="1">
              <a:spcBef>
                <a:spcPct val="20000"/>
              </a:spcBef>
              <a:spcAft>
                <a:spcPct val="0"/>
              </a:spcAft>
              <a:buChar char="»"/>
              <a:defRPr sz="2000">
                <a:solidFill>
                  <a:schemeClr val="bg1"/>
                </a:solidFill>
                <a:latin typeface="+mn-lt"/>
              </a:defRPr>
            </a:lvl7pPr>
            <a:lvl8pPr marL="3429000" indent="-228600" algn="l" rtl="0" eaLnBrk="1" fontAlgn="base" hangingPunct="1">
              <a:spcBef>
                <a:spcPct val="20000"/>
              </a:spcBef>
              <a:spcAft>
                <a:spcPct val="0"/>
              </a:spcAft>
              <a:buChar char="»"/>
              <a:defRPr sz="2000">
                <a:solidFill>
                  <a:schemeClr val="bg1"/>
                </a:solidFill>
                <a:latin typeface="+mn-lt"/>
              </a:defRPr>
            </a:lvl8pPr>
            <a:lvl9pPr marL="3886200" indent="-228600" algn="l" rtl="0" eaLnBrk="1" fontAlgn="base" hangingPunct="1">
              <a:spcBef>
                <a:spcPct val="20000"/>
              </a:spcBef>
              <a:spcAft>
                <a:spcPct val="0"/>
              </a:spcAft>
              <a:buChar char="»"/>
              <a:defRPr sz="2000">
                <a:solidFill>
                  <a:schemeClr val="bg1"/>
                </a:solidFill>
                <a:latin typeface="+mn-lt"/>
              </a:defRPr>
            </a:lvl9pPr>
          </a:lstStyle>
          <a:p>
            <a:pPr marL="0" indent="0">
              <a:buNone/>
              <a:defRPr/>
            </a:pPr>
            <a:r>
              <a:rPr lang="en-US" kern="0" dirty="0">
                <a:solidFill>
                  <a:srgbClr val="FFFFFF"/>
                </a:solidFill>
              </a:rPr>
              <a:t>Significant digits indicate the precision, the confidence of a single measurement</a:t>
            </a:r>
          </a:p>
          <a:p>
            <a:pPr marL="0" indent="0">
              <a:buNone/>
              <a:defRPr/>
            </a:pPr>
            <a:r>
              <a:rPr lang="en-US" kern="0" dirty="0">
                <a:solidFill>
                  <a:srgbClr val="FFFFFF"/>
                </a:solidFill>
              </a:rPr>
              <a:t>	</a:t>
            </a:r>
          </a:p>
          <a:p>
            <a:pPr marL="0" indent="0">
              <a:buFontTx/>
              <a:buNone/>
              <a:defRPr/>
            </a:pPr>
            <a:endParaRPr lang="en-US" kern="0" dirty="0">
              <a:solidFill>
                <a:srgbClr val="FFFFFF"/>
              </a:solidFill>
              <a:latin typeface="Verdana"/>
            </a:endParaRPr>
          </a:p>
        </p:txBody>
      </p:sp>
      <p:sp>
        <p:nvSpPr>
          <p:cNvPr id="3" name="Slide Number Placeholder 2">
            <a:extLst>
              <a:ext uri="{FF2B5EF4-FFF2-40B4-BE49-F238E27FC236}">
                <a16:creationId xmlns:a16="http://schemas.microsoft.com/office/drawing/2014/main" id="{B11017CA-BBB1-97B5-585E-8A527651769D}"/>
              </a:ext>
            </a:extLst>
          </p:cNvPr>
          <p:cNvSpPr>
            <a:spLocks noGrp="1"/>
          </p:cNvSpPr>
          <p:nvPr>
            <p:ph type="sldNum" sz="quarter" idx="10"/>
          </p:nvPr>
        </p:nvSpPr>
        <p:spPr/>
        <p:txBody>
          <a:bodyPr/>
          <a:lstStyle/>
          <a:p>
            <a:fld id="{12356DF5-CFED-4016-A2DB-A70AC2735480}" type="slidenum">
              <a:rPr lang="en-US" smtClean="0"/>
              <a:pPr/>
              <a:t>19</a:t>
            </a:fld>
            <a:endParaRPr lang="en-US" dirty="0">
              <a:solidFill>
                <a:schemeClr val="bg1"/>
              </a:solidFill>
            </a:endParaRPr>
          </a:p>
        </p:txBody>
      </p:sp>
    </p:spTree>
    <p:extLst>
      <p:ext uri="{BB962C8B-B14F-4D97-AF65-F5344CB8AC3E}">
        <p14:creationId xmlns:p14="http://schemas.microsoft.com/office/powerpoint/2010/main" val="3734449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59310-2FD9-39D4-16BA-F71B11DCA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BCE199-DB7C-652B-EBDA-78D90BB29C59}"/>
              </a:ext>
            </a:extLst>
          </p:cNvPr>
          <p:cNvSpPr>
            <a:spLocks noGrp="1"/>
          </p:cNvSpPr>
          <p:nvPr>
            <p:ph type="title"/>
          </p:nvPr>
        </p:nvSpPr>
        <p:spPr/>
        <p:txBody>
          <a:bodyPr/>
          <a:lstStyle/>
          <a:p>
            <a:r>
              <a:rPr lang="en-US" dirty="0"/>
              <a:t>18 ≠ 18. ≠ 18.0 ≠ 18.00</a:t>
            </a:r>
          </a:p>
        </p:txBody>
      </p:sp>
      <p:sp>
        <p:nvSpPr>
          <p:cNvPr id="3" name="Content Placeholder 2">
            <a:extLst>
              <a:ext uri="{FF2B5EF4-FFF2-40B4-BE49-F238E27FC236}">
                <a16:creationId xmlns:a16="http://schemas.microsoft.com/office/drawing/2014/main" id="{244CF533-1196-02F3-D73B-13CF3118E459}"/>
              </a:ext>
            </a:extLst>
          </p:cNvPr>
          <p:cNvSpPr>
            <a:spLocks noGrp="1"/>
          </p:cNvSpPr>
          <p:nvPr>
            <p:ph idx="1"/>
          </p:nvPr>
        </p:nvSpPr>
        <p:spPr>
          <a:xfrm>
            <a:off x="349955" y="1278747"/>
            <a:ext cx="8387645" cy="5215465"/>
          </a:xfrm>
        </p:spPr>
        <p:txBody>
          <a:bodyPr/>
          <a:lstStyle/>
          <a:p>
            <a:r>
              <a:rPr lang="en-US" dirty="0"/>
              <a:t>They are all mathematically equal to 18</a:t>
            </a:r>
          </a:p>
          <a:p>
            <a:r>
              <a:rPr lang="en-US" dirty="0"/>
              <a:t>But they are not the same in terms of the precision or certainty of the value</a:t>
            </a:r>
          </a:p>
          <a:p>
            <a:pPr marL="0" indent="0">
              <a:buNone/>
            </a:pPr>
            <a:endParaRPr lang="en-US" dirty="0"/>
          </a:p>
          <a:p>
            <a:pPr marL="0" indent="0">
              <a:buNone/>
            </a:pPr>
            <a:r>
              <a:rPr lang="en-US" sz="2800" b="1" dirty="0">
                <a:solidFill>
                  <a:srgbClr val="FFFF00"/>
                </a:solidFill>
              </a:rPr>
              <a:t>18</a:t>
            </a:r>
            <a:r>
              <a:rPr lang="en-US" dirty="0"/>
              <a:t> </a:t>
            </a:r>
            <a:r>
              <a:rPr lang="en-US" dirty="0">
                <a:sym typeface="Wingdings" panose="05000000000000000000" pitchFamily="2" charset="2"/>
              </a:rPr>
              <a:t> </a:t>
            </a:r>
            <a:r>
              <a:rPr lang="en-US" dirty="0"/>
              <a:t>2 significant digits: ±1</a:t>
            </a:r>
          </a:p>
          <a:p>
            <a:pPr marL="0" indent="0">
              <a:buNone/>
            </a:pPr>
            <a:r>
              <a:rPr lang="en-US" sz="2800" b="1" dirty="0">
                <a:solidFill>
                  <a:srgbClr val="FFFF00"/>
                </a:solidFill>
              </a:rPr>
              <a:t>18.  </a:t>
            </a:r>
            <a:r>
              <a:rPr lang="en-US" dirty="0">
                <a:sym typeface="Wingdings" panose="05000000000000000000" pitchFamily="2" charset="2"/>
              </a:rPr>
              <a:t> </a:t>
            </a:r>
            <a:r>
              <a:rPr lang="en-US" dirty="0"/>
              <a:t> also 2 significant digits: ±1</a:t>
            </a:r>
          </a:p>
          <a:p>
            <a:pPr marL="231775" lvl="1" indent="0">
              <a:buNone/>
            </a:pPr>
            <a:r>
              <a:rPr lang="en-US" dirty="0">
                <a:solidFill>
                  <a:srgbClr val="FFC000"/>
                </a:solidFill>
              </a:rPr>
              <a:t>But the measuring device will show decimals</a:t>
            </a:r>
          </a:p>
          <a:p>
            <a:pPr marL="0" indent="0">
              <a:buNone/>
            </a:pPr>
            <a:r>
              <a:rPr lang="en-US" sz="2800" b="1" dirty="0">
                <a:solidFill>
                  <a:srgbClr val="FFFF00"/>
                </a:solidFill>
              </a:rPr>
              <a:t>18.0</a:t>
            </a:r>
            <a:r>
              <a:rPr lang="en-US" dirty="0"/>
              <a:t>  </a:t>
            </a:r>
            <a:r>
              <a:rPr lang="en-US" dirty="0">
                <a:sym typeface="Wingdings" panose="05000000000000000000" pitchFamily="2" charset="2"/>
              </a:rPr>
              <a:t>  3 significant digits: ±0.1</a:t>
            </a:r>
          </a:p>
          <a:p>
            <a:pPr marL="0" indent="0">
              <a:buNone/>
            </a:pPr>
            <a:r>
              <a:rPr lang="en-US" sz="2800" b="1" dirty="0">
                <a:solidFill>
                  <a:srgbClr val="FFFF00"/>
                </a:solidFill>
              </a:rPr>
              <a:t>18.00</a:t>
            </a:r>
            <a:r>
              <a:rPr lang="en-US" dirty="0"/>
              <a:t>  </a:t>
            </a:r>
            <a:r>
              <a:rPr lang="en-US" dirty="0">
                <a:sym typeface="Wingdings" panose="05000000000000000000" pitchFamily="2" charset="2"/>
              </a:rPr>
              <a:t>  4 significant digits: ±0.01</a:t>
            </a:r>
            <a:endParaRPr lang="en-US" dirty="0"/>
          </a:p>
          <a:p>
            <a:endParaRPr lang="en-US" dirty="0"/>
          </a:p>
        </p:txBody>
      </p:sp>
      <p:sp>
        <p:nvSpPr>
          <p:cNvPr id="4" name="Slide Number Placeholder 3">
            <a:extLst>
              <a:ext uri="{FF2B5EF4-FFF2-40B4-BE49-F238E27FC236}">
                <a16:creationId xmlns:a16="http://schemas.microsoft.com/office/drawing/2014/main" id="{DB101285-03E8-4CAC-E591-4B925504DB32}"/>
              </a:ext>
            </a:extLst>
          </p:cNvPr>
          <p:cNvSpPr>
            <a:spLocks noGrp="1"/>
          </p:cNvSpPr>
          <p:nvPr>
            <p:ph type="sldNum" sz="quarter" idx="10"/>
          </p:nvPr>
        </p:nvSpPr>
        <p:spPr/>
        <p:txBody>
          <a:bodyPr/>
          <a:lstStyle/>
          <a:p>
            <a:fld id="{12356DF5-CFED-4016-A2DB-A70AC2735480}" type="slidenum">
              <a:rPr lang="en-US" smtClean="0"/>
              <a:pPr/>
              <a:t>20</a:t>
            </a:fld>
            <a:endParaRPr lang="en-US" dirty="0">
              <a:solidFill>
                <a:schemeClr val="bg1"/>
              </a:solidFill>
            </a:endParaRPr>
          </a:p>
        </p:txBody>
      </p:sp>
    </p:spTree>
    <p:extLst>
      <p:ext uri="{BB962C8B-B14F-4D97-AF65-F5344CB8AC3E}">
        <p14:creationId xmlns:p14="http://schemas.microsoft.com/office/powerpoint/2010/main" val="2673009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E024D-ED5A-B662-886C-FDE242615EC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A304EE0-C1B2-02F5-68AB-182273794FCA}"/>
              </a:ext>
            </a:extLst>
          </p:cNvPr>
          <p:cNvSpPr>
            <a:spLocks noGrp="1"/>
          </p:cNvSpPr>
          <p:nvPr>
            <p:ph type="title"/>
          </p:nvPr>
        </p:nvSpPr>
        <p:spPr>
          <a:xfrm>
            <a:off x="364067" y="306072"/>
            <a:ext cx="8421512" cy="707886"/>
          </a:xfrm>
        </p:spPr>
        <p:txBody>
          <a:bodyPr/>
          <a:lstStyle/>
          <a:p>
            <a:r>
              <a:rPr lang="en-US" sz="4000" i="1" dirty="0"/>
              <a:t>A Slight Tangent on “Precision”</a:t>
            </a:r>
            <a:endParaRPr lang="en-US" sz="4000" i="1" dirty="0">
              <a:solidFill>
                <a:schemeClr val="accent1">
                  <a:lumMod val="60000"/>
                  <a:lumOff val="40000"/>
                </a:schemeClr>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73C59E72-3B35-AF2A-4237-CC0FACC5AE0A}"/>
              </a:ext>
            </a:extLst>
          </p:cNvPr>
          <p:cNvSpPr>
            <a:spLocks noGrp="1"/>
          </p:cNvSpPr>
          <p:nvPr>
            <p:ph idx="1"/>
          </p:nvPr>
        </p:nvSpPr>
        <p:spPr>
          <a:xfrm>
            <a:off x="372533" y="1204686"/>
            <a:ext cx="8387645" cy="5342869"/>
          </a:xfrm>
        </p:spPr>
        <p:txBody>
          <a:bodyPr/>
          <a:lstStyle/>
          <a:p>
            <a:pPr marL="0" indent="0">
              <a:buNone/>
              <a:defRPr/>
            </a:pPr>
            <a:r>
              <a:rPr lang="en-US" i="1" dirty="0">
                <a:solidFill>
                  <a:schemeClr val="accent1">
                    <a:lumMod val="60000"/>
                    <a:lumOff val="40000"/>
                  </a:schemeClr>
                </a:solidFill>
                <a:latin typeface="Times New Roman" panose="02020603050405020304" pitchFamily="18" charset="0"/>
                <a:cs typeface="Times New Roman" panose="02020603050405020304" pitchFamily="18" charset="0"/>
              </a:rPr>
              <a:t>Multiple Measurements</a:t>
            </a:r>
          </a:p>
          <a:p>
            <a:pPr marL="0" indent="0">
              <a:buNone/>
              <a:defRPr/>
            </a:pPr>
            <a:r>
              <a:rPr lang="en-US" dirty="0">
                <a:solidFill>
                  <a:srgbClr val="FFFF00"/>
                </a:solidFill>
              </a:rPr>
              <a:t>Precision</a:t>
            </a:r>
            <a:r>
              <a:rPr lang="en-US" dirty="0">
                <a:solidFill>
                  <a:srgbClr val="FFFFFF"/>
                </a:solidFill>
              </a:rPr>
              <a:t> – an indicator of how measurements </a:t>
            </a:r>
            <a:r>
              <a:rPr lang="en-US" dirty="0">
                <a:solidFill>
                  <a:schemeClr val="accent1">
                    <a:lumMod val="60000"/>
                    <a:lumOff val="40000"/>
                  </a:schemeClr>
                </a:solidFill>
              </a:rPr>
              <a:t>repeat</a:t>
            </a:r>
            <a:r>
              <a:rPr lang="en-US" dirty="0">
                <a:solidFill>
                  <a:srgbClr val="FFFFFF"/>
                </a:solidFill>
              </a:rPr>
              <a:t> the value being measured</a:t>
            </a:r>
          </a:p>
          <a:p>
            <a:pPr marL="0" indent="0">
              <a:buNone/>
              <a:defRPr/>
            </a:pPr>
            <a:r>
              <a:rPr lang="en-US" dirty="0">
                <a:solidFill>
                  <a:srgbClr val="FFFF00"/>
                </a:solidFill>
              </a:rPr>
              <a:t>Accuracy</a:t>
            </a:r>
            <a:r>
              <a:rPr lang="en-US" dirty="0">
                <a:solidFill>
                  <a:srgbClr val="FFFFFF"/>
                </a:solidFill>
              </a:rPr>
              <a:t> – an indicator of how measurements get to the </a:t>
            </a:r>
            <a:r>
              <a:rPr lang="en-US" dirty="0">
                <a:solidFill>
                  <a:schemeClr val="accent1">
                    <a:lumMod val="60000"/>
                    <a:lumOff val="40000"/>
                  </a:schemeClr>
                </a:solidFill>
              </a:rPr>
              <a:t>true</a:t>
            </a:r>
            <a:r>
              <a:rPr lang="en-US" dirty="0">
                <a:solidFill>
                  <a:srgbClr val="FFFFFF"/>
                </a:solidFill>
              </a:rPr>
              <a:t> value</a:t>
            </a:r>
          </a:p>
          <a:p>
            <a:pPr marL="0" indent="0">
              <a:buNone/>
              <a:defRPr/>
            </a:pPr>
            <a:endParaRPr kumimoji="0" lang="en-US" sz="2400" b="0" i="0" u="none" strike="noStrike" kern="0" cap="none" spc="0" normalizeH="0" baseline="0" noProof="0" dirty="0">
              <a:ln>
                <a:noFill/>
              </a:ln>
              <a:solidFill>
                <a:srgbClr val="FFFFFF"/>
              </a:solidFill>
              <a:effectLst/>
              <a:uLnTx/>
              <a:uFillTx/>
              <a:latin typeface="Verdana"/>
              <a:ea typeface="+mn-ea"/>
              <a:cs typeface="+mn-cs"/>
            </a:endParaRPr>
          </a:p>
        </p:txBody>
      </p:sp>
      <p:pic>
        <p:nvPicPr>
          <p:cNvPr id="1026" name="Picture 2" descr="Accuracy and Precision">
            <a:extLst>
              <a:ext uri="{FF2B5EF4-FFF2-40B4-BE49-F238E27FC236}">
                <a16:creationId xmlns:a16="http://schemas.microsoft.com/office/drawing/2014/main" id="{7499D1E0-DE5B-78EE-EB4C-2F13192563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6343" y="3015372"/>
            <a:ext cx="5556180" cy="370605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886AC132-960C-E562-A25B-9E544E60D492}"/>
              </a:ext>
            </a:extLst>
          </p:cNvPr>
          <p:cNvSpPr>
            <a:spLocks noGrp="1"/>
          </p:cNvSpPr>
          <p:nvPr>
            <p:ph type="sldNum" sz="quarter" idx="10"/>
          </p:nvPr>
        </p:nvSpPr>
        <p:spPr/>
        <p:txBody>
          <a:bodyPr/>
          <a:lstStyle/>
          <a:p>
            <a:fld id="{12356DF5-CFED-4016-A2DB-A70AC2735480}" type="slidenum">
              <a:rPr lang="en-US" smtClean="0"/>
              <a:pPr/>
              <a:t>21</a:t>
            </a:fld>
            <a:endParaRPr lang="en-US" dirty="0">
              <a:solidFill>
                <a:schemeClr val="bg1"/>
              </a:solidFill>
            </a:endParaRPr>
          </a:p>
        </p:txBody>
      </p:sp>
    </p:spTree>
    <p:extLst>
      <p:ext uri="{BB962C8B-B14F-4D97-AF65-F5344CB8AC3E}">
        <p14:creationId xmlns:p14="http://schemas.microsoft.com/office/powerpoint/2010/main" val="716744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BCD17-8D80-8EA9-CB4B-E26835DDBE1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DB5408-BE91-670A-9CE1-768773B690CF}"/>
              </a:ext>
            </a:extLst>
          </p:cNvPr>
          <p:cNvSpPr>
            <a:spLocks noGrp="1"/>
          </p:cNvSpPr>
          <p:nvPr>
            <p:ph type="title"/>
          </p:nvPr>
        </p:nvSpPr>
        <p:spPr>
          <a:xfrm>
            <a:off x="364067" y="336851"/>
            <a:ext cx="8421512" cy="646331"/>
          </a:xfrm>
        </p:spPr>
        <p:txBody>
          <a:bodyPr/>
          <a:lstStyle/>
          <a:p>
            <a:r>
              <a:rPr lang="en-US" sz="3600" dirty="0"/>
              <a:t>Significant Digits in Scientific Notation</a:t>
            </a:r>
          </a:p>
        </p:txBody>
      </p:sp>
      <p:sp>
        <p:nvSpPr>
          <p:cNvPr id="6" name="Content Placeholder 5">
            <a:extLst>
              <a:ext uri="{FF2B5EF4-FFF2-40B4-BE49-F238E27FC236}">
                <a16:creationId xmlns:a16="http://schemas.microsoft.com/office/drawing/2014/main" id="{4592DC85-8885-F0E9-0C19-50F166B3F2CC}"/>
              </a:ext>
            </a:extLst>
          </p:cNvPr>
          <p:cNvSpPr>
            <a:spLocks noGrp="1"/>
          </p:cNvSpPr>
          <p:nvPr>
            <p:ph idx="1"/>
          </p:nvPr>
        </p:nvSpPr>
        <p:spPr/>
        <p:txBody>
          <a:bodyPr/>
          <a:lstStyle/>
          <a:p>
            <a:pPr marL="0" indent="0">
              <a:buNone/>
              <a:defRPr/>
            </a:pPr>
            <a:r>
              <a:rPr kumimoji="0" lang="en-US" sz="2800" b="0" i="0" u="none" strike="noStrike" kern="0" cap="none" spc="0" normalizeH="0" baseline="0" noProof="0" dirty="0">
                <a:ln>
                  <a:noFill/>
                </a:ln>
                <a:solidFill>
                  <a:srgbClr val="FFFFFF"/>
                </a:solidFill>
                <a:effectLst/>
                <a:uLnTx/>
                <a:uFillTx/>
                <a:latin typeface="Verdana"/>
                <a:ea typeface="+mn-ea"/>
                <a:cs typeface="+mn-cs"/>
              </a:rPr>
              <a:t>The rules on significant digits in numerical values always apply in scientific notation</a:t>
            </a:r>
          </a:p>
          <a:p>
            <a:pPr marL="0" indent="0">
              <a:buNone/>
              <a:defRPr/>
            </a:pPr>
            <a:endParaRPr lang="en-US" sz="2800" dirty="0">
              <a:solidFill>
                <a:srgbClr val="FFFFFF"/>
              </a:solidFill>
              <a:latin typeface="Verdana"/>
            </a:endParaRPr>
          </a:p>
          <a:p>
            <a:pPr marL="0" indent="0">
              <a:buNone/>
              <a:defRPr/>
            </a:pPr>
            <a:r>
              <a:rPr lang="en-US" sz="2200" dirty="0">
                <a:solidFill>
                  <a:srgbClr val="FFFFFF"/>
                </a:solidFill>
              </a:rPr>
              <a:t>2.69 × 10</a:t>
            </a:r>
            <a:r>
              <a:rPr lang="en-US" sz="2200" baseline="30000" dirty="0">
                <a:solidFill>
                  <a:srgbClr val="FFFFFF"/>
                </a:solidFill>
              </a:rPr>
              <a:t>-5 </a:t>
            </a:r>
            <a:r>
              <a:rPr lang="en-US" sz="2200" dirty="0"/>
              <a:t>= 0.0000</a:t>
            </a:r>
            <a:r>
              <a:rPr lang="en-US" sz="2200" dirty="0">
                <a:solidFill>
                  <a:schemeClr val="accent1"/>
                </a:solidFill>
              </a:rPr>
              <a:t>269</a:t>
            </a:r>
            <a:r>
              <a:rPr lang="en-US" sz="2200" dirty="0"/>
              <a:t>  </a:t>
            </a:r>
            <a:r>
              <a:rPr lang="en-US" sz="1800" dirty="0"/>
              <a:t>(3 significant digits)</a:t>
            </a:r>
          </a:p>
          <a:p>
            <a:pPr marL="0" indent="0">
              <a:buNone/>
              <a:defRPr/>
            </a:pPr>
            <a:r>
              <a:rPr lang="en-US" sz="2200" dirty="0">
                <a:solidFill>
                  <a:srgbClr val="FFFFFF"/>
                </a:solidFill>
              </a:rPr>
              <a:t>2.69000 × 10</a:t>
            </a:r>
            <a:r>
              <a:rPr lang="en-US" sz="2200" baseline="30000" dirty="0">
                <a:solidFill>
                  <a:srgbClr val="FFFFFF"/>
                </a:solidFill>
              </a:rPr>
              <a:t>-5 </a:t>
            </a:r>
            <a:r>
              <a:rPr lang="en-US" sz="2200" dirty="0"/>
              <a:t>= 0.0000</a:t>
            </a:r>
            <a:r>
              <a:rPr lang="en-US" sz="2200" dirty="0">
                <a:solidFill>
                  <a:schemeClr val="accent1"/>
                </a:solidFill>
              </a:rPr>
              <a:t>269000</a:t>
            </a:r>
            <a:r>
              <a:rPr lang="en-US" sz="2200" dirty="0"/>
              <a:t>  </a:t>
            </a:r>
            <a:r>
              <a:rPr lang="en-US" sz="1800" dirty="0"/>
              <a:t>(6 significant digits)</a:t>
            </a:r>
          </a:p>
          <a:p>
            <a:pPr marL="0" indent="0">
              <a:buNone/>
              <a:defRPr/>
            </a:pPr>
            <a:r>
              <a:rPr lang="en-US" sz="2200" dirty="0">
                <a:solidFill>
                  <a:srgbClr val="FFFFFF"/>
                </a:solidFill>
              </a:rPr>
              <a:t>2.69 × 10</a:t>
            </a:r>
            <a:r>
              <a:rPr lang="en-US" sz="2200" baseline="30000" dirty="0">
                <a:solidFill>
                  <a:srgbClr val="FFFFFF"/>
                </a:solidFill>
              </a:rPr>
              <a:t>3 </a:t>
            </a:r>
            <a:r>
              <a:rPr lang="en-US" sz="2200" dirty="0"/>
              <a:t>= </a:t>
            </a:r>
            <a:r>
              <a:rPr lang="en-US" sz="2200" dirty="0">
                <a:solidFill>
                  <a:schemeClr val="accent1"/>
                </a:solidFill>
              </a:rPr>
              <a:t>269</a:t>
            </a:r>
            <a:r>
              <a:rPr lang="en-US" sz="2200" dirty="0"/>
              <a:t>0  </a:t>
            </a:r>
            <a:r>
              <a:rPr lang="en-US" sz="1800" dirty="0"/>
              <a:t>(3 significant digits)</a:t>
            </a:r>
          </a:p>
          <a:p>
            <a:pPr marL="0" indent="0" algn="r">
              <a:buNone/>
              <a:defRPr/>
            </a:pPr>
            <a:r>
              <a:rPr lang="en-US" sz="1800" i="1" dirty="0">
                <a:latin typeface="Times New Roman" panose="02020603050405020304" pitchFamily="18" charset="0"/>
                <a:cs typeface="Times New Roman" panose="02020603050405020304" pitchFamily="18" charset="0"/>
              </a:rPr>
              <a:t>You still have add the zero to get standard form of number as integer</a:t>
            </a:r>
          </a:p>
          <a:p>
            <a:pPr marL="0" indent="0">
              <a:buNone/>
              <a:defRPr/>
            </a:pPr>
            <a:r>
              <a:rPr lang="en-US" sz="2200" dirty="0">
                <a:solidFill>
                  <a:srgbClr val="FFFFFF"/>
                </a:solidFill>
              </a:rPr>
              <a:t>2.69000 × 10</a:t>
            </a:r>
            <a:r>
              <a:rPr lang="en-US" sz="2200" baseline="30000" dirty="0">
                <a:solidFill>
                  <a:srgbClr val="FFFFFF"/>
                </a:solidFill>
              </a:rPr>
              <a:t>3 </a:t>
            </a:r>
            <a:r>
              <a:rPr lang="en-US" sz="2200" dirty="0"/>
              <a:t>= </a:t>
            </a:r>
            <a:r>
              <a:rPr lang="en-US" sz="2200" dirty="0">
                <a:solidFill>
                  <a:schemeClr val="accent1"/>
                </a:solidFill>
              </a:rPr>
              <a:t>2690.00</a:t>
            </a:r>
            <a:r>
              <a:rPr lang="en-US" sz="2200" dirty="0"/>
              <a:t>  </a:t>
            </a:r>
            <a:r>
              <a:rPr lang="en-US" sz="1800" dirty="0"/>
              <a:t>(6 significant digits)</a:t>
            </a:r>
          </a:p>
          <a:p>
            <a:pPr marL="0" indent="0">
              <a:buNone/>
              <a:defRPr/>
            </a:pPr>
            <a:endParaRPr kumimoji="0" lang="en-US" sz="2400" b="0" i="0" u="none" strike="noStrike" kern="0" cap="none" spc="0" normalizeH="0" baseline="30000" noProof="0" dirty="0">
              <a:ln>
                <a:noFill/>
              </a:ln>
              <a:solidFill>
                <a:srgbClr val="FFFFFF"/>
              </a:solidFill>
              <a:effectLst/>
              <a:uLnTx/>
              <a:uFillTx/>
              <a:latin typeface="Verdana"/>
              <a:ea typeface="+mn-ea"/>
              <a:cs typeface="+mn-cs"/>
            </a:endParaRPr>
          </a:p>
        </p:txBody>
      </p:sp>
      <p:sp>
        <p:nvSpPr>
          <p:cNvPr id="2" name="Slide Number Placeholder 1">
            <a:extLst>
              <a:ext uri="{FF2B5EF4-FFF2-40B4-BE49-F238E27FC236}">
                <a16:creationId xmlns:a16="http://schemas.microsoft.com/office/drawing/2014/main" id="{6EF5D5C8-219D-2CAF-27D5-654DBFA4BA97}"/>
              </a:ext>
            </a:extLst>
          </p:cNvPr>
          <p:cNvSpPr>
            <a:spLocks noGrp="1"/>
          </p:cNvSpPr>
          <p:nvPr>
            <p:ph type="sldNum" sz="quarter" idx="10"/>
          </p:nvPr>
        </p:nvSpPr>
        <p:spPr/>
        <p:txBody>
          <a:bodyPr/>
          <a:lstStyle/>
          <a:p>
            <a:fld id="{12356DF5-CFED-4016-A2DB-A70AC2735480}" type="slidenum">
              <a:rPr lang="en-US" smtClean="0"/>
              <a:pPr/>
              <a:t>22</a:t>
            </a:fld>
            <a:endParaRPr lang="en-US" dirty="0">
              <a:solidFill>
                <a:schemeClr val="bg1"/>
              </a:solidFill>
            </a:endParaRPr>
          </a:p>
        </p:txBody>
      </p:sp>
    </p:spTree>
    <p:extLst>
      <p:ext uri="{BB962C8B-B14F-4D97-AF65-F5344CB8AC3E}">
        <p14:creationId xmlns:p14="http://schemas.microsoft.com/office/powerpoint/2010/main" val="4268012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4C16D-DFA4-CFFF-CF4A-004ADF19BA69}"/>
              </a:ext>
            </a:extLst>
          </p:cNvPr>
          <p:cNvSpPr>
            <a:spLocks noGrp="1"/>
          </p:cNvSpPr>
          <p:nvPr>
            <p:ph type="title"/>
          </p:nvPr>
        </p:nvSpPr>
        <p:spPr>
          <a:xfrm>
            <a:off x="349955" y="425344"/>
            <a:ext cx="8421512" cy="707886"/>
          </a:xfrm>
        </p:spPr>
        <p:txBody>
          <a:bodyPr/>
          <a:lstStyle/>
          <a:p>
            <a:r>
              <a:rPr lang="en-US" sz="4000" dirty="0"/>
              <a:t>Doing Math with “Decimal Places”</a:t>
            </a:r>
          </a:p>
        </p:txBody>
      </p:sp>
      <p:sp>
        <p:nvSpPr>
          <p:cNvPr id="3" name="Content Placeholder 2">
            <a:extLst>
              <a:ext uri="{FF2B5EF4-FFF2-40B4-BE49-F238E27FC236}">
                <a16:creationId xmlns:a16="http://schemas.microsoft.com/office/drawing/2014/main" id="{3C9F5AC7-527D-33BE-FB23-04FC7D211BA4}"/>
              </a:ext>
            </a:extLst>
          </p:cNvPr>
          <p:cNvSpPr>
            <a:spLocks noGrp="1"/>
          </p:cNvSpPr>
          <p:nvPr>
            <p:ph idx="1"/>
          </p:nvPr>
        </p:nvSpPr>
        <p:spPr>
          <a:xfrm>
            <a:off x="349955" y="1278747"/>
            <a:ext cx="8387645" cy="5215465"/>
          </a:xfrm>
        </p:spPr>
        <p:txBody>
          <a:bodyPr/>
          <a:lstStyle/>
          <a:p>
            <a:pPr marL="0" indent="0">
              <a:buNone/>
            </a:pPr>
            <a:r>
              <a:rPr lang="en-US" sz="2000" i="1" dirty="0">
                <a:solidFill>
                  <a:srgbClr val="CC99FF"/>
                </a:solidFill>
                <a:latin typeface="Times New Roman" panose="02020603050405020304" pitchFamily="18" charset="0"/>
                <a:cs typeface="Times New Roman" panose="02020603050405020304" pitchFamily="18" charset="0"/>
              </a:rPr>
              <a:t>Addition and Subtraction of Numbers with Different Decimal Places</a:t>
            </a:r>
          </a:p>
          <a:p>
            <a:pPr marL="0" indent="0">
              <a:buNone/>
            </a:pPr>
            <a:r>
              <a:rPr lang="en-US" sz="2000" i="1" dirty="0">
                <a:solidFill>
                  <a:srgbClr val="FFFF00"/>
                </a:solidFill>
              </a:rPr>
              <a:t>Decimal places for final answer should be the one number with the fewest number of decimal places</a:t>
            </a:r>
            <a:endParaRPr lang="en-US" i="1" dirty="0"/>
          </a:p>
          <a:p>
            <a:pPr marL="0" indent="0">
              <a:spcBef>
                <a:spcPts val="1200"/>
              </a:spcBef>
              <a:buNone/>
            </a:pPr>
            <a:r>
              <a:rPr lang="en-US" dirty="0"/>
              <a:t>Solve 12.11 + 18.0 + 1.013 = </a:t>
            </a:r>
          </a:p>
          <a:p>
            <a:pPr marL="0" indent="0">
              <a:buNone/>
            </a:pPr>
            <a:endParaRPr lang="en-US" dirty="0"/>
          </a:p>
          <a:p>
            <a:pPr marL="0" indent="0">
              <a:buNone/>
            </a:pPr>
            <a:endParaRPr lang="en-US" dirty="0"/>
          </a:p>
          <a:p>
            <a:pPr marL="0" indent="0">
              <a:buNone/>
            </a:pPr>
            <a:r>
              <a:rPr lang="en-US" dirty="0"/>
              <a:t>Solve 100.29 – 2.343 – 72.9 =</a:t>
            </a:r>
          </a:p>
          <a:p>
            <a:pPr marL="0" indent="0">
              <a:buNone/>
            </a:pPr>
            <a:endParaRPr lang="en-US" dirty="0"/>
          </a:p>
          <a:p>
            <a:pPr marL="0" indent="0">
              <a:buNone/>
            </a:pPr>
            <a:r>
              <a:rPr lang="en-US" dirty="0"/>
              <a:t> </a:t>
            </a:r>
          </a:p>
          <a:p>
            <a:pPr marL="0" indent="0">
              <a:buNone/>
            </a:pPr>
            <a:endParaRPr lang="en-US" sz="2000" dirty="0"/>
          </a:p>
          <a:p>
            <a:pPr marL="0" indent="0">
              <a:buNone/>
            </a:pPr>
            <a:r>
              <a:rPr lang="en-US" sz="2000" dirty="0"/>
              <a:t>Solve 1000.23 – 87.532 + 200.49 – 50.439 =</a:t>
            </a:r>
          </a:p>
        </p:txBody>
      </p:sp>
      <p:graphicFrame>
        <p:nvGraphicFramePr>
          <p:cNvPr id="9" name="Table 8">
            <a:extLst>
              <a:ext uri="{FF2B5EF4-FFF2-40B4-BE49-F238E27FC236}">
                <a16:creationId xmlns:a16="http://schemas.microsoft.com/office/drawing/2014/main" id="{96054F47-860E-6245-7763-82BDAA0AFB12}"/>
              </a:ext>
            </a:extLst>
          </p:cNvPr>
          <p:cNvGraphicFramePr>
            <a:graphicFrameLocks noGrp="1"/>
          </p:cNvGraphicFramePr>
          <p:nvPr>
            <p:extLst>
              <p:ext uri="{D42A27DB-BD31-4B8C-83A1-F6EECF244321}">
                <p14:modId xmlns:p14="http://schemas.microsoft.com/office/powerpoint/2010/main" val="2186675988"/>
              </p:ext>
            </p:extLst>
          </p:nvPr>
        </p:nvGraphicFramePr>
        <p:xfrm>
          <a:off x="333462" y="2378852"/>
          <a:ext cx="8386764" cy="1185337"/>
        </p:xfrm>
        <a:graphic>
          <a:graphicData uri="http://schemas.openxmlformats.org/drawingml/2006/table">
            <a:tbl>
              <a:tblPr/>
              <a:tblGrid>
                <a:gridCol w="2038389">
                  <a:extLst>
                    <a:ext uri="{9D8B030D-6E8A-4147-A177-3AD203B41FA5}">
                      <a16:colId xmlns:a16="http://schemas.microsoft.com/office/drawing/2014/main" val="2315623139"/>
                    </a:ext>
                  </a:extLst>
                </a:gridCol>
                <a:gridCol w="1269675">
                  <a:extLst>
                    <a:ext uri="{9D8B030D-6E8A-4147-A177-3AD203B41FA5}">
                      <a16:colId xmlns:a16="http://schemas.microsoft.com/office/drawing/2014/main" val="1819193172"/>
                    </a:ext>
                  </a:extLst>
                </a:gridCol>
                <a:gridCol w="1269675">
                  <a:extLst>
                    <a:ext uri="{9D8B030D-6E8A-4147-A177-3AD203B41FA5}">
                      <a16:colId xmlns:a16="http://schemas.microsoft.com/office/drawing/2014/main" val="3915016166"/>
                    </a:ext>
                  </a:extLst>
                </a:gridCol>
                <a:gridCol w="1269675">
                  <a:extLst>
                    <a:ext uri="{9D8B030D-6E8A-4147-A177-3AD203B41FA5}">
                      <a16:colId xmlns:a16="http://schemas.microsoft.com/office/drawing/2014/main" val="2941651673"/>
                    </a:ext>
                  </a:extLst>
                </a:gridCol>
                <a:gridCol w="1269675">
                  <a:extLst>
                    <a:ext uri="{9D8B030D-6E8A-4147-A177-3AD203B41FA5}">
                      <a16:colId xmlns:a16="http://schemas.microsoft.com/office/drawing/2014/main" val="1272088150"/>
                    </a:ext>
                  </a:extLst>
                </a:gridCol>
                <a:gridCol w="1269675">
                  <a:extLst>
                    <a:ext uri="{9D8B030D-6E8A-4147-A177-3AD203B41FA5}">
                      <a16:colId xmlns:a16="http://schemas.microsoft.com/office/drawing/2014/main" val="3756735072"/>
                    </a:ext>
                  </a:extLst>
                </a:gridCol>
              </a:tblGrid>
              <a:tr h="276867">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a:noFill/>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a:noFill/>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a:noFill/>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w="12700" cap="flat" cmpd="sng" algn="ctr">
                      <a:solidFill>
                        <a:srgbClr val="FFFFFF"/>
                      </a:solidFill>
                      <a:prstDash val="solid"/>
                      <a:round/>
                      <a:headEnd type="none" w="med" len="med"/>
                      <a:tailEnd type="none" w="med" len="med"/>
                    </a:lnR>
                    <a:lnT>
                      <a:noFill/>
                    </a:lnT>
                    <a:lnB>
                      <a:noFill/>
                    </a:lnB>
                    <a:noFill/>
                  </a:tcPr>
                </a:tc>
                <a:tc gridSpan="2">
                  <a:txBody>
                    <a:bodyPr/>
                    <a:lstStyle/>
                    <a:p>
                      <a:pPr algn="ctr" rtl="0" fontAlgn="ctr">
                        <a:buNone/>
                      </a:pPr>
                      <a:r>
                        <a:rPr lang="en-US" sz="1600" b="1" i="0" u="none" strike="noStrike" dirty="0">
                          <a:solidFill>
                            <a:srgbClr val="FFFFFF"/>
                          </a:solidFill>
                          <a:effectLst/>
                          <a:latin typeface="Arial" panose="020B0604020202020204" pitchFamily="34" charset="0"/>
                        </a:rPr>
                        <a:t>Result</a:t>
                      </a:r>
                    </a:p>
                  </a:txBody>
                  <a:tcPr marL="8652" marR="8652" marT="8652" marB="0" anchor="ctr">
                    <a:lnL w="12700" cap="flat" cmpd="sng" algn="ctr">
                      <a:solidFill>
                        <a:srgbClr val="FFFFFF"/>
                      </a:solidFill>
                      <a:prstDash val="solid"/>
                      <a:round/>
                      <a:headEnd type="none" w="med" len="med"/>
                      <a:tailEnd type="none" w="med" len="med"/>
                    </a:lnL>
                    <a:lnR>
                      <a:noFill/>
                    </a:lnR>
                    <a:lnT>
                      <a:noFill/>
                    </a:lnT>
                    <a:lnB w="12700" cap="flat" cmpd="sng" algn="ctr">
                      <a:solidFill>
                        <a:srgbClr val="FFFFFF"/>
                      </a:solidFill>
                      <a:prstDash val="solid"/>
                      <a:round/>
                      <a:headEnd type="none" w="med" len="med"/>
                      <a:tailEnd type="none" w="med" len="med"/>
                    </a:lnB>
                    <a:solidFill>
                      <a:srgbClr val="0000FF"/>
                    </a:solidFill>
                  </a:tcPr>
                </a:tc>
                <a:tc hMerge="1">
                  <a:txBody>
                    <a:bodyPr/>
                    <a:lstStyle/>
                    <a:p>
                      <a:endParaRPr lang="en-US"/>
                    </a:p>
                  </a:txBody>
                  <a:tcPr/>
                </a:tc>
                <a:extLst>
                  <a:ext uri="{0D108BD9-81ED-4DB2-BD59-A6C34878D82A}">
                    <a16:rowId xmlns:a16="http://schemas.microsoft.com/office/drawing/2014/main" val="160477428"/>
                  </a:ext>
                </a:extLst>
              </a:tr>
              <a:tr h="354736">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8652" marR="8652" marT="8652" marB="0" anchor="b">
                    <a:lnL>
                      <a:noFill/>
                    </a:lnL>
                    <a:lnR>
                      <a:noFill/>
                    </a:lnR>
                    <a:lnT>
                      <a:noFill/>
                    </a:lnT>
                    <a:lnB w="12700" cap="flat" cmpd="sng" algn="ctr">
                      <a:solidFill>
                        <a:srgbClr val="FFFFFF"/>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8652" marR="8652" marT="8652" marB="0" anchor="b">
                    <a:lnL>
                      <a:noFill/>
                    </a:lnL>
                    <a:lnR>
                      <a:noFill/>
                    </a:lnR>
                    <a:lnT>
                      <a:noFill/>
                    </a:lnT>
                    <a:lnB w="19050" cap="flat" cmpd="sng" algn="ctr">
                      <a:solidFill>
                        <a:srgbClr val="FFFFFF"/>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8652" marR="8652" marT="8652" marB="0" anchor="b">
                    <a:lnL>
                      <a:noFill/>
                    </a:lnL>
                    <a:lnR>
                      <a:noFill/>
                    </a:lnR>
                    <a:lnT>
                      <a:noFill/>
                    </a:lnT>
                    <a:lnB w="12700" cap="flat" cmpd="sng" algn="ctr">
                      <a:solidFill>
                        <a:srgbClr val="FFFFFF"/>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8652" marR="8652" marT="8652" marB="0" anchor="b">
                    <a:lnL>
                      <a:noFill/>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noFill/>
                  </a:tcPr>
                </a:tc>
                <a:tc>
                  <a:txBody>
                    <a:bodyPr/>
                    <a:lstStyle/>
                    <a:p>
                      <a:pPr algn="ctr" rtl="0" fontAlgn="ctr">
                        <a:buNone/>
                      </a:pPr>
                      <a:r>
                        <a:rPr lang="en-US" sz="1000" b="1" i="0" u="none" strike="noStrike">
                          <a:solidFill>
                            <a:srgbClr val="FFFFFF"/>
                          </a:solidFill>
                          <a:effectLst/>
                          <a:latin typeface="Arial" panose="020B0604020202020204" pitchFamily="34" charset="0"/>
                        </a:rPr>
                        <a:t>Calculator's Display</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algn="ctr" rtl="0" fontAlgn="ctr">
                        <a:buNone/>
                      </a:pPr>
                      <a:r>
                        <a:rPr lang="en-US" sz="1300" b="1" i="0" u="none" strike="noStrike">
                          <a:solidFill>
                            <a:srgbClr val="FFFFFF"/>
                          </a:solidFill>
                          <a:effectLst/>
                          <a:latin typeface="Arial" panose="020B0604020202020204" pitchFamily="34" charset="0"/>
                        </a:rPr>
                        <a:t>Your Answer</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471695156"/>
                  </a:ext>
                </a:extLst>
              </a:tr>
              <a:tr h="276867">
                <a:tc>
                  <a:txBody>
                    <a:bodyPr/>
                    <a:lstStyle/>
                    <a:p>
                      <a:pPr algn="ctr" rtl="0" fontAlgn="ctr">
                        <a:buNone/>
                      </a:pPr>
                      <a:r>
                        <a:rPr lang="en-US" sz="1500" b="1" i="0" u="none" strike="noStrike">
                          <a:solidFill>
                            <a:srgbClr val="FFFFFF"/>
                          </a:solidFill>
                          <a:effectLst/>
                          <a:latin typeface="Verdana" panose="020B0604030504040204" pitchFamily="34" charset="0"/>
                        </a:rPr>
                        <a:t>Value</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algn="ctr" rtl="0" fontAlgn="ctr">
                        <a:buNone/>
                      </a:pPr>
                      <a:r>
                        <a:rPr lang="en-US" sz="1600" b="0" i="0" u="none" strike="noStrike">
                          <a:solidFill>
                            <a:srgbClr val="000000"/>
                          </a:solidFill>
                          <a:effectLst/>
                          <a:latin typeface="Verdana" panose="020B0604030504040204" pitchFamily="34" charset="0"/>
                        </a:rPr>
                        <a:t>12.11</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18.0</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a:solidFill>
                            <a:srgbClr val="000000"/>
                          </a:solidFill>
                          <a:effectLst/>
                          <a:latin typeface="Verdana" panose="020B0604030504040204" pitchFamily="34" charset="0"/>
                        </a:rPr>
                        <a:t>1.013</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a:solidFill>
                            <a:srgbClr val="000000"/>
                          </a:solidFill>
                          <a:effectLst/>
                          <a:latin typeface="Verdana" panose="020B0604030504040204" pitchFamily="34" charset="0"/>
                        </a:rPr>
                        <a:t>31.123</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a:solidFill>
                            <a:srgbClr val="000000"/>
                          </a:solidFill>
                          <a:effectLst/>
                          <a:latin typeface="Verdana" panose="020B0604030504040204" pitchFamily="34" charset="0"/>
                        </a:rPr>
                        <a:t>31.1</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extLst>
                  <a:ext uri="{0D108BD9-81ED-4DB2-BD59-A6C34878D82A}">
                    <a16:rowId xmlns:a16="http://schemas.microsoft.com/office/drawing/2014/main" val="2892851911"/>
                  </a:ext>
                </a:extLst>
              </a:tr>
              <a:tr h="276867">
                <a:tc>
                  <a:txBody>
                    <a:bodyPr/>
                    <a:lstStyle/>
                    <a:p>
                      <a:pPr algn="ctr" rtl="0" fontAlgn="ctr">
                        <a:buNone/>
                      </a:pPr>
                      <a:r>
                        <a:rPr lang="en-US" sz="1300" b="1" i="0" u="none" strike="noStrike">
                          <a:solidFill>
                            <a:srgbClr val="FFFFFF"/>
                          </a:solidFill>
                          <a:effectLst/>
                          <a:latin typeface="Verdana" panose="020B0604030504040204" pitchFamily="34" charset="0"/>
                        </a:rPr>
                        <a:t>Decimal Places</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2</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a:solidFill>
                            <a:srgbClr val="000000"/>
                          </a:solidFill>
                          <a:effectLst/>
                          <a:latin typeface="Verdana" panose="020B0604030504040204" pitchFamily="34" charset="0"/>
                        </a:rPr>
                        <a:t>1</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3</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3</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1</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extLst>
                  <a:ext uri="{0D108BD9-81ED-4DB2-BD59-A6C34878D82A}">
                    <a16:rowId xmlns:a16="http://schemas.microsoft.com/office/drawing/2014/main" val="540504241"/>
                  </a:ext>
                </a:extLst>
              </a:tr>
            </a:tbl>
          </a:graphicData>
        </a:graphic>
      </p:graphicFrame>
      <p:graphicFrame>
        <p:nvGraphicFramePr>
          <p:cNvPr id="11" name="Table 10">
            <a:extLst>
              <a:ext uri="{FF2B5EF4-FFF2-40B4-BE49-F238E27FC236}">
                <a16:creationId xmlns:a16="http://schemas.microsoft.com/office/drawing/2014/main" id="{A5014941-F180-59F1-1E47-990B62454718}"/>
              </a:ext>
            </a:extLst>
          </p:cNvPr>
          <p:cNvGraphicFramePr>
            <a:graphicFrameLocks noGrp="1"/>
          </p:cNvGraphicFramePr>
          <p:nvPr>
            <p:extLst>
              <p:ext uri="{D42A27DB-BD31-4B8C-83A1-F6EECF244321}">
                <p14:modId xmlns:p14="http://schemas.microsoft.com/office/powerpoint/2010/main" val="4130194691"/>
              </p:ext>
            </p:extLst>
          </p:nvPr>
        </p:nvGraphicFramePr>
        <p:xfrm>
          <a:off x="333462" y="3886479"/>
          <a:ext cx="8386764" cy="1185337"/>
        </p:xfrm>
        <a:graphic>
          <a:graphicData uri="http://schemas.openxmlformats.org/drawingml/2006/table">
            <a:tbl>
              <a:tblPr/>
              <a:tblGrid>
                <a:gridCol w="2038389">
                  <a:extLst>
                    <a:ext uri="{9D8B030D-6E8A-4147-A177-3AD203B41FA5}">
                      <a16:colId xmlns:a16="http://schemas.microsoft.com/office/drawing/2014/main" val="4078394983"/>
                    </a:ext>
                  </a:extLst>
                </a:gridCol>
                <a:gridCol w="1269675">
                  <a:extLst>
                    <a:ext uri="{9D8B030D-6E8A-4147-A177-3AD203B41FA5}">
                      <a16:colId xmlns:a16="http://schemas.microsoft.com/office/drawing/2014/main" val="492968285"/>
                    </a:ext>
                  </a:extLst>
                </a:gridCol>
                <a:gridCol w="1269675">
                  <a:extLst>
                    <a:ext uri="{9D8B030D-6E8A-4147-A177-3AD203B41FA5}">
                      <a16:colId xmlns:a16="http://schemas.microsoft.com/office/drawing/2014/main" val="939477784"/>
                    </a:ext>
                  </a:extLst>
                </a:gridCol>
                <a:gridCol w="1269675">
                  <a:extLst>
                    <a:ext uri="{9D8B030D-6E8A-4147-A177-3AD203B41FA5}">
                      <a16:colId xmlns:a16="http://schemas.microsoft.com/office/drawing/2014/main" val="2000132347"/>
                    </a:ext>
                  </a:extLst>
                </a:gridCol>
                <a:gridCol w="1269675">
                  <a:extLst>
                    <a:ext uri="{9D8B030D-6E8A-4147-A177-3AD203B41FA5}">
                      <a16:colId xmlns:a16="http://schemas.microsoft.com/office/drawing/2014/main" val="3370755383"/>
                    </a:ext>
                  </a:extLst>
                </a:gridCol>
                <a:gridCol w="1269675">
                  <a:extLst>
                    <a:ext uri="{9D8B030D-6E8A-4147-A177-3AD203B41FA5}">
                      <a16:colId xmlns:a16="http://schemas.microsoft.com/office/drawing/2014/main" val="1215429886"/>
                    </a:ext>
                  </a:extLst>
                </a:gridCol>
              </a:tblGrid>
              <a:tr h="276867">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a:noFill/>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8652" marR="8652" marT="8652" marB="0" anchor="b">
                    <a:lnL>
                      <a:noFill/>
                    </a:lnL>
                    <a:lnR>
                      <a:noFill/>
                    </a:lnR>
                    <a:lnT>
                      <a:noFill/>
                    </a:lnT>
                    <a:lnB>
                      <a:noFill/>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w="12700" cap="flat" cmpd="sng" algn="ctr">
                      <a:solidFill>
                        <a:srgbClr val="FFFFFF"/>
                      </a:solidFill>
                      <a:prstDash val="solid"/>
                      <a:round/>
                      <a:headEnd type="none" w="med" len="med"/>
                      <a:tailEnd type="none" w="med" len="med"/>
                    </a:lnR>
                    <a:lnT>
                      <a:noFill/>
                    </a:lnT>
                    <a:lnB>
                      <a:noFill/>
                    </a:lnB>
                    <a:noFill/>
                  </a:tcPr>
                </a:tc>
                <a:tc gridSpan="2">
                  <a:txBody>
                    <a:bodyPr/>
                    <a:lstStyle/>
                    <a:p>
                      <a:pPr algn="ctr" rtl="0" fontAlgn="ctr">
                        <a:buNone/>
                      </a:pPr>
                      <a:r>
                        <a:rPr lang="en-US" sz="1600" b="1" i="0" u="none" strike="noStrike" dirty="0">
                          <a:solidFill>
                            <a:srgbClr val="FFFFFF"/>
                          </a:solidFill>
                          <a:effectLst/>
                          <a:latin typeface="Arial" panose="020B0604020202020204" pitchFamily="34" charset="0"/>
                        </a:rPr>
                        <a:t>Result</a:t>
                      </a:r>
                    </a:p>
                  </a:txBody>
                  <a:tcPr marL="8652" marR="8652" marT="8652" marB="0" anchor="ctr">
                    <a:lnL w="12700" cap="flat" cmpd="sng" algn="ctr">
                      <a:solidFill>
                        <a:srgbClr val="FFFFFF"/>
                      </a:solidFill>
                      <a:prstDash val="solid"/>
                      <a:round/>
                      <a:headEnd type="none" w="med" len="med"/>
                      <a:tailEnd type="none" w="med" len="med"/>
                    </a:lnL>
                    <a:lnR>
                      <a:noFill/>
                    </a:lnR>
                    <a:lnT>
                      <a:noFill/>
                    </a:lnT>
                    <a:lnB w="12700" cap="flat" cmpd="sng" algn="ctr">
                      <a:solidFill>
                        <a:srgbClr val="FFFFFF"/>
                      </a:solidFill>
                      <a:prstDash val="solid"/>
                      <a:round/>
                      <a:headEnd type="none" w="med" len="med"/>
                      <a:tailEnd type="none" w="med" len="med"/>
                    </a:lnB>
                    <a:solidFill>
                      <a:srgbClr val="0000FF"/>
                    </a:solidFill>
                  </a:tcPr>
                </a:tc>
                <a:tc hMerge="1">
                  <a:txBody>
                    <a:bodyPr/>
                    <a:lstStyle/>
                    <a:p>
                      <a:endParaRPr lang="en-US"/>
                    </a:p>
                  </a:txBody>
                  <a:tcPr/>
                </a:tc>
                <a:extLst>
                  <a:ext uri="{0D108BD9-81ED-4DB2-BD59-A6C34878D82A}">
                    <a16:rowId xmlns:a16="http://schemas.microsoft.com/office/drawing/2014/main" val="3525207793"/>
                  </a:ext>
                </a:extLst>
              </a:tr>
              <a:tr h="354736">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8652" marR="8652" marT="8652" marB="0" anchor="b">
                    <a:lnL>
                      <a:noFill/>
                    </a:lnL>
                    <a:lnR>
                      <a:noFill/>
                    </a:lnR>
                    <a:lnT>
                      <a:noFill/>
                    </a:lnT>
                    <a:lnB w="12700" cap="flat" cmpd="sng" algn="ctr">
                      <a:solidFill>
                        <a:srgbClr val="FFFFFF"/>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8652" marR="8652" marT="8652" marB="0" anchor="b">
                    <a:lnL>
                      <a:noFill/>
                    </a:lnL>
                    <a:lnR>
                      <a:noFill/>
                    </a:lnR>
                    <a:lnT>
                      <a:noFill/>
                    </a:lnT>
                    <a:lnB w="19050" cap="flat" cmpd="sng" algn="ctr">
                      <a:solidFill>
                        <a:srgbClr val="FFFFFF"/>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8652" marR="8652" marT="8652" marB="0" anchor="b">
                    <a:lnL>
                      <a:noFill/>
                    </a:lnL>
                    <a:lnR>
                      <a:noFill/>
                    </a:lnR>
                    <a:lnT>
                      <a:noFill/>
                    </a:lnT>
                    <a:lnB w="12700" cap="flat" cmpd="sng" algn="ctr">
                      <a:solidFill>
                        <a:srgbClr val="FFFFFF"/>
                      </a:solidFill>
                      <a:prstDash val="solid"/>
                      <a:round/>
                      <a:headEnd type="none" w="med" len="med"/>
                      <a:tailEnd type="none" w="med" len="med"/>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noFill/>
                  </a:tcPr>
                </a:tc>
                <a:tc>
                  <a:txBody>
                    <a:bodyPr/>
                    <a:lstStyle/>
                    <a:p>
                      <a:pPr algn="ctr" rtl="0" fontAlgn="ctr">
                        <a:buNone/>
                      </a:pPr>
                      <a:r>
                        <a:rPr lang="en-US" sz="1000" b="1" i="0" u="none" strike="noStrike" dirty="0">
                          <a:solidFill>
                            <a:srgbClr val="FFFFFF"/>
                          </a:solidFill>
                          <a:effectLst/>
                          <a:latin typeface="Arial" panose="020B0604020202020204" pitchFamily="34" charset="0"/>
                        </a:rPr>
                        <a:t>Calculator's Display</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algn="ctr" rtl="0" fontAlgn="ctr">
                        <a:buNone/>
                      </a:pPr>
                      <a:r>
                        <a:rPr lang="en-US" sz="1300" b="1" i="0" u="none" strike="noStrike">
                          <a:solidFill>
                            <a:srgbClr val="FFFFFF"/>
                          </a:solidFill>
                          <a:effectLst/>
                          <a:latin typeface="Arial" panose="020B0604020202020204" pitchFamily="34" charset="0"/>
                        </a:rPr>
                        <a:t>Your Answer</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535821918"/>
                  </a:ext>
                </a:extLst>
              </a:tr>
              <a:tr h="276867">
                <a:tc>
                  <a:txBody>
                    <a:bodyPr/>
                    <a:lstStyle/>
                    <a:p>
                      <a:pPr algn="ctr" rtl="0" fontAlgn="ctr">
                        <a:buNone/>
                      </a:pPr>
                      <a:r>
                        <a:rPr lang="en-US" sz="1500" b="1" i="0" u="none" strike="noStrike">
                          <a:solidFill>
                            <a:srgbClr val="FFFFFF"/>
                          </a:solidFill>
                          <a:effectLst/>
                          <a:latin typeface="Verdana" panose="020B0604030504040204" pitchFamily="34" charset="0"/>
                        </a:rPr>
                        <a:t>Value</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algn="ctr" rtl="0" fontAlgn="ctr">
                        <a:buNone/>
                      </a:pPr>
                      <a:r>
                        <a:rPr lang="en-US" sz="1600" b="0" i="0" u="none" strike="noStrike">
                          <a:solidFill>
                            <a:srgbClr val="000000"/>
                          </a:solidFill>
                          <a:effectLst/>
                          <a:latin typeface="Verdana" panose="020B0604030504040204" pitchFamily="34" charset="0"/>
                        </a:rPr>
                        <a:t>100.29</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a:solidFill>
                            <a:srgbClr val="000000"/>
                          </a:solidFill>
                          <a:effectLst/>
                          <a:latin typeface="Verdana" panose="020B0604030504040204" pitchFamily="34" charset="0"/>
                        </a:rPr>
                        <a:t>2.343</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72.9</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a:solidFill>
                            <a:srgbClr val="000000"/>
                          </a:solidFill>
                          <a:effectLst/>
                          <a:latin typeface="Verdana" panose="020B0604030504040204" pitchFamily="34" charset="0"/>
                        </a:rPr>
                        <a:t>25.047</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25.0</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extLst>
                  <a:ext uri="{0D108BD9-81ED-4DB2-BD59-A6C34878D82A}">
                    <a16:rowId xmlns:a16="http://schemas.microsoft.com/office/drawing/2014/main" val="4253021922"/>
                  </a:ext>
                </a:extLst>
              </a:tr>
              <a:tr h="276867">
                <a:tc>
                  <a:txBody>
                    <a:bodyPr/>
                    <a:lstStyle/>
                    <a:p>
                      <a:pPr algn="ctr" rtl="0" fontAlgn="ctr">
                        <a:buNone/>
                      </a:pPr>
                      <a:r>
                        <a:rPr lang="en-US" sz="1300" b="1" i="0" u="none" strike="noStrike">
                          <a:solidFill>
                            <a:srgbClr val="FFFFFF"/>
                          </a:solidFill>
                          <a:effectLst/>
                          <a:latin typeface="Verdana" panose="020B0604030504040204" pitchFamily="34" charset="0"/>
                        </a:rPr>
                        <a:t>Decimal Places</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algn="ctr" rtl="0" fontAlgn="ctr">
                        <a:buNone/>
                      </a:pPr>
                      <a:r>
                        <a:rPr lang="en-US" sz="1600" b="0" i="0" u="none" strike="noStrike">
                          <a:solidFill>
                            <a:srgbClr val="000000"/>
                          </a:solidFill>
                          <a:effectLst/>
                          <a:latin typeface="Verdana" panose="020B0604030504040204" pitchFamily="34" charset="0"/>
                        </a:rPr>
                        <a:t>2</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3</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1</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3</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1</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extLst>
                  <a:ext uri="{0D108BD9-81ED-4DB2-BD59-A6C34878D82A}">
                    <a16:rowId xmlns:a16="http://schemas.microsoft.com/office/drawing/2014/main" val="866994534"/>
                  </a:ext>
                </a:extLst>
              </a:tr>
            </a:tbl>
          </a:graphicData>
        </a:graphic>
      </p:graphicFrame>
      <p:graphicFrame>
        <p:nvGraphicFramePr>
          <p:cNvPr id="4" name="Table 3">
            <a:extLst>
              <a:ext uri="{FF2B5EF4-FFF2-40B4-BE49-F238E27FC236}">
                <a16:creationId xmlns:a16="http://schemas.microsoft.com/office/drawing/2014/main" id="{955D4638-9F84-FD1B-A97A-9F41D49D7F6E}"/>
              </a:ext>
            </a:extLst>
          </p:cNvPr>
          <p:cNvGraphicFramePr>
            <a:graphicFrameLocks noGrp="1"/>
          </p:cNvGraphicFramePr>
          <p:nvPr>
            <p:extLst>
              <p:ext uri="{D42A27DB-BD31-4B8C-83A1-F6EECF244321}">
                <p14:modId xmlns:p14="http://schemas.microsoft.com/office/powerpoint/2010/main" val="809575853"/>
              </p:ext>
            </p:extLst>
          </p:nvPr>
        </p:nvGraphicFramePr>
        <p:xfrm>
          <a:off x="333462" y="5308875"/>
          <a:ext cx="8386764" cy="1185337"/>
        </p:xfrm>
        <a:graphic>
          <a:graphicData uri="http://schemas.openxmlformats.org/drawingml/2006/table">
            <a:tbl>
              <a:tblPr/>
              <a:tblGrid>
                <a:gridCol w="1770372">
                  <a:extLst>
                    <a:ext uri="{9D8B030D-6E8A-4147-A177-3AD203B41FA5}">
                      <a16:colId xmlns:a16="http://schemas.microsoft.com/office/drawing/2014/main" val="4078394983"/>
                    </a:ext>
                  </a:extLst>
                </a:gridCol>
                <a:gridCol w="1102732">
                  <a:extLst>
                    <a:ext uri="{9D8B030D-6E8A-4147-A177-3AD203B41FA5}">
                      <a16:colId xmlns:a16="http://schemas.microsoft.com/office/drawing/2014/main" val="492968285"/>
                    </a:ext>
                  </a:extLst>
                </a:gridCol>
                <a:gridCol w="1102732">
                  <a:extLst>
                    <a:ext uri="{9D8B030D-6E8A-4147-A177-3AD203B41FA5}">
                      <a16:colId xmlns:a16="http://schemas.microsoft.com/office/drawing/2014/main" val="939477784"/>
                    </a:ext>
                  </a:extLst>
                </a:gridCol>
                <a:gridCol w="1102732">
                  <a:extLst>
                    <a:ext uri="{9D8B030D-6E8A-4147-A177-3AD203B41FA5}">
                      <a16:colId xmlns:a16="http://schemas.microsoft.com/office/drawing/2014/main" val="2000132347"/>
                    </a:ext>
                  </a:extLst>
                </a:gridCol>
                <a:gridCol w="1102732">
                  <a:extLst>
                    <a:ext uri="{9D8B030D-6E8A-4147-A177-3AD203B41FA5}">
                      <a16:colId xmlns:a16="http://schemas.microsoft.com/office/drawing/2014/main" val="1034582962"/>
                    </a:ext>
                  </a:extLst>
                </a:gridCol>
                <a:gridCol w="1102732">
                  <a:extLst>
                    <a:ext uri="{9D8B030D-6E8A-4147-A177-3AD203B41FA5}">
                      <a16:colId xmlns:a16="http://schemas.microsoft.com/office/drawing/2014/main" val="3370755383"/>
                    </a:ext>
                  </a:extLst>
                </a:gridCol>
                <a:gridCol w="1102732">
                  <a:extLst>
                    <a:ext uri="{9D8B030D-6E8A-4147-A177-3AD203B41FA5}">
                      <a16:colId xmlns:a16="http://schemas.microsoft.com/office/drawing/2014/main" val="1215429886"/>
                    </a:ext>
                  </a:extLst>
                </a:gridCol>
              </a:tblGrid>
              <a:tr h="276867">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a:noFill/>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a:noFill/>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a:noFill/>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w="12700" cap="flat" cmpd="sng" algn="ctr">
                      <a:noFill/>
                      <a:prstDash val="solid"/>
                      <a:round/>
                      <a:headEnd type="none" w="med" len="med"/>
                      <a:tailEnd type="none" w="med" len="med"/>
                    </a:lnR>
                    <a:lnT>
                      <a:noFill/>
                    </a:lnT>
                    <a:lnB>
                      <a:noFill/>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gridSpan="2">
                  <a:txBody>
                    <a:bodyPr/>
                    <a:lstStyle/>
                    <a:p>
                      <a:pPr algn="ctr" rtl="0" fontAlgn="ctr">
                        <a:buNone/>
                      </a:pPr>
                      <a:r>
                        <a:rPr lang="en-US" sz="1600" b="1" i="0" u="none" strike="noStrike" dirty="0">
                          <a:solidFill>
                            <a:srgbClr val="FFFFFF"/>
                          </a:solidFill>
                          <a:effectLst/>
                          <a:latin typeface="Arial" panose="020B0604020202020204" pitchFamily="34" charset="0"/>
                        </a:rPr>
                        <a:t>Result</a:t>
                      </a:r>
                    </a:p>
                  </a:txBody>
                  <a:tcPr marL="8652" marR="8652" marT="8652" marB="0" anchor="ctr">
                    <a:lnL w="12700" cap="flat" cmpd="sng" algn="ctr">
                      <a:solidFill>
                        <a:srgbClr val="FFFFFF"/>
                      </a:solidFill>
                      <a:prstDash val="solid"/>
                      <a:round/>
                      <a:headEnd type="none" w="med" len="med"/>
                      <a:tailEnd type="none" w="med" len="med"/>
                    </a:lnL>
                    <a:lnR>
                      <a:noFill/>
                    </a:lnR>
                    <a:lnT>
                      <a:noFill/>
                    </a:lnT>
                    <a:lnB w="12700" cap="flat" cmpd="sng" algn="ctr">
                      <a:solidFill>
                        <a:srgbClr val="FFFFFF"/>
                      </a:solidFill>
                      <a:prstDash val="solid"/>
                      <a:round/>
                      <a:headEnd type="none" w="med" len="med"/>
                      <a:tailEnd type="none" w="med" len="med"/>
                    </a:lnB>
                    <a:solidFill>
                      <a:srgbClr val="0000FF"/>
                    </a:solidFill>
                  </a:tcPr>
                </a:tc>
                <a:tc hMerge="1">
                  <a:txBody>
                    <a:bodyPr/>
                    <a:lstStyle/>
                    <a:p>
                      <a:endParaRPr lang="en-US"/>
                    </a:p>
                  </a:txBody>
                  <a:tcPr/>
                </a:tc>
                <a:extLst>
                  <a:ext uri="{0D108BD9-81ED-4DB2-BD59-A6C34878D82A}">
                    <a16:rowId xmlns:a16="http://schemas.microsoft.com/office/drawing/2014/main" val="3525207793"/>
                  </a:ext>
                </a:extLst>
              </a:tr>
              <a:tr h="354736">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8652" marR="8652" marT="8652" marB="0" anchor="b">
                    <a:lnL>
                      <a:noFill/>
                    </a:lnL>
                    <a:lnR>
                      <a:noFill/>
                    </a:lnR>
                    <a:lnT>
                      <a:noFill/>
                    </a:lnT>
                    <a:lnB w="12700" cap="flat" cmpd="sng" algn="ctr">
                      <a:solidFill>
                        <a:srgbClr val="FFFFFF"/>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8652" marR="8652" marT="8652" marB="0" anchor="b">
                    <a:lnL>
                      <a:noFill/>
                    </a:lnL>
                    <a:lnR>
                      <a:noFill/>
                    </a:lnR>
                    <a:lnT>
                      <a:noFill/>
                    </a:lnT>
                    <a:lnB w="19050" cap="flat" cmpd="sng" algn="ctr">
                      <a:solidFill>
                        <a:srgbClr val="FFFFFF"/>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8652" marR="8652" marT="8652" marB="0" anchor="b">
                    <a:lnL>
                      <a:noFill/>
                    </a:lnL>
                    <a:lnR>
                      <a:noFill/>
                    </a:lnR>
                    <a:lnT>
                      <a:noFill/>
                    </a:lnT>
                    <a:lnB w="12700" cap="flat" cmpd="sng" algn="ctr">
                      <a:solidFill>
                        <a:srgbClr val="FFFFFF"/>
                      </a:solidFill>
                      <a:prstDash val="solid"/>
                      <a:round/>
                      <a:headEnd type="none" w="med" len="med"/>
                      <a:tailEnd type="none" w="med" len="med"/>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w="12700" cap="flat" cmpd="sng" algn="ctr">
                      <a:no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noFill/>
                  </a:tcPr>
                </a:tc>
                <a:tc>
                  <a:txBody>
                    <a:bodyPr/>
                    <a:lstStyle/>
                    <a:p>
                      <a:pPr algn="ctr" rtl="0" fontAlgn="ctr">
                        <a:buNone/>
                      </a:pPr>
                      <a:r>
                        <a:rPr lang="en-US" sz="1000" b="1" i="0" u="none" strike="noStrike" dirty="0">
                          <a:solidFill>
                            <a:srgbClr val="FFFFFF"/>
                          </a:solidFill>
                          <a:effectLst/>
                          <a:latin typeface="Arial" panose="020B0604020202020204" pitchFamily="34" charset="0"/>
                        </a:rPr>
                        <a:t>Calculator's Display</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algn="ctr" rtl="0" fontAlgn="ctr">
                        <a:buNone/>
                      </a:pPr>
                      <a:r>
                        <a:rPr lang="en-US" sz="1300" b="1" i="0" u="none" strike="noStrike">
                          <a:solidFill>
                            <a:srgbClr val="FFFFFF"/>
                          </a:solidFill>
                          <a:effectLst/>
                          <a:latin typeface="Arial" panose="020B0604020202020204" pitchFamily="34" charset="0"/>
                        </a:rPr>
                        <a:t>Your Answer</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535821918"/>
                  </a:ext>
                </a:extLst>
              </a:tr>
              <a:tr h="276867">
                <a:tc>
                  <a:txBody>
                    <a:bodyPr/>
                    <a:lstStyle/>
                    <a:p>
                      <a:pPr algn="ctr" rtl="0" fontAlgn="ctr">
                        <a:buNone/>
                      </a:pPr>
                      <a:r>
                        <a:rPr lang="en-US" sz="1500" b="1" i="0" u="none" strike="noStrike">
                          <a:solidFill>
                            <a:srgbClr val="FFFFFF"/>
                          </a:solidFill>
                          <a:effectLst/>
                          <a:latin typeface="Verdana" panose="020B0604030504040204" pitchFamily="34" charset="0"/>
                        </a:rPr>
                        <a:t>Value</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1000.23</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87.532</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200.49</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50.439</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1062.749</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1062.75</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extLst>
                  <a:ext uri="{0D108BD9-81ED-4DB2-BD59-A6C34878D82A}">
                    <a16:rowId xmlns:a16="http://schemas.microsoft.com/office/drawing/2014/main" val="4253021922"/>
                  </a:ext>
                </a:extLst>
              </a:tr>
              <a:tr h="276867">
                <a:tc>
                  <a:txBody>
                    <a:bodyPr/>
                    <a:lstStyle/>
                    <a:p>
                      <a:pPr algn="ctr" rtl="0" fontAlgn="ctr">
                        <a:buNone/>
                      </a:pPr>
                      <a:r>
                        <a:rPr lang="en-US" sz="1300" b="1" i="0" u="none" strike="noStrike">
                          <a:solidFill>
                            <a:srgbClr val="FFFFFF"/>
                          </a:solidFill>
                          <a:effectLst/>
                          <a:latin typeface="Verdana" panose="020B0604030504040204" pitchFamily="34" charset="0"/>
                        </a:rPr>
                        <a:t>Decimal Places</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algn="ctr" rtl="0" fontAlgn="ctr">
                        <a:buNone/>
                      </a:pPr>
                      <a:r>
                        <a:rPr lang="en-US" sz="1600" b="0" i="0" u="none" strike="noStrike">
                          <a:solidFill>
                            <a:srgbClr val="000000"/>
                          </a:solidFill>
                          <a:effectLst/>
                          <a:latin typeface="Verdana" panose="020B0604030504040204" pitchFamily="34" charset="0"/>
                        </a:rPr>
                        <a:t>2</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3</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2</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3</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a:solidFill>
                            <a:srgbClr val="000000"/>
                          </a:solidFill>
                          <a:effectLst/>
                          <a:latin typeface="Verdana" panose="020B0604030504040204" pitchFamily="34" charset="0"/>
                        </a:rPr>
                        <a:t>3</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2</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extLst>
                  <a:ext uri="{0D108BD9-81ED-4DB2-BD59-A6C34878D82A}">
                    <a16:rowId xmlns:a16="http://schemas.microsoft.com/office/drawing/2014/main" val="866994534"/>
                  </a:ext>
                </a:extLst>
              </a:tr>
            </a:tbl>
          </a:graphicData>
        </a:graphic>
      </p:graphicFrame>
      <p:sp>
        <p:nvSpPr>
          <p:cNvPr id="5" name="Slide Number Placeholder 4">
            <a:extLst>
              <a:ext uri="{FF2B5EF4-FFF2-40B4-BE49-F238E27FC236}">
                <a16:creationId xmlns:a16="http://schemas.microsoft.com/office/drawing/2014/main" id="{A831941C-1D8E-D606-2694-620EFF0BC8AD}"/>
              </a:ext>
            </a:extLst>
          </p:cNvPr>
          <p:cNvSpPr>
            <a:spLocks noGrp="1"/>
          </p:cNvSpPr>
          <p:nvPr>
            <p:ph type="sldNum" sz="quarter" idx="10"/>
          </p:nvPr>
        </p:nvSpPr>
        <p:spPr/>
        <p:txBody>
          <a:bodyPr/>
          <a:lstStyle/>
          <a:p>
            <a:fld id="{12356DF5-CFED-4016-A2DB-A70AC2735480}" type="slidenum">
              <a:rPr lang="en-US" smtClean="0"/>
              <a:pPr/>
              <a:t>23</a:t>
            </a:fld>
            <a:endParaRPr lang="en-US" dirty="0">
              <a:solidFill>
                <a:schemeClr val="bg1"/>
              </a:solidFill>
            </a:endParaRPr>
          </a:p>
        </p:txBody>
      </p:sp>
    </p:spTree>
    <p:extLst>
      <p:ext uri="{BB962C8B-B14F-4D97-AF65-F5344CB8AC3E}">
        <p14:creationId xmlns:p14="http://schemas.microsoft.com/office/powerpoint/2010/main" val="2264447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E6750-CD91-16E9-D09C-C331BC88D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309B1-097B-BCFF-9883-9CFC155199D7}"/>
              </a:ext>
            </a:extLst>
          </p:cNvPr>
          <p:cNvSpPr>
            <a:spLocks noGrp="1"/>
          </p:cNvSpPr>
          <p:nvPr>
            <p:ph type="title"/>
          </p:nvPr>
        </p:nvSpPr>
        <p:spPr/>
        <p:txBody>
          <a:bodyPr/>
          <a:lstStyle/>
          <a:p>
            <a:r>
              <a:rPr lang="en-US" dirty="0"/>
              <a:t>Doing Math with Sig Digits</a:t>
            </a:r>
          </a:p>
        </p:txBody>
      </p:sp>
      <p:sp>
        <p:nvSpPr>
          <p:cNvPr id="3" name="Content Placeholder 2">
            <a:extLst>
              <a:ext uri="{FF2B5EF4-FFF2-40B4-BE49-F238E27FC236}">
                <a16:creationId xmlns:a16="http://schemas.microsoft.com/office/drawing/2014/main" id="{4B5EE7DB-AE18-FC4F-9E46-DED39F0CD81D}"/>
              </a:ext>
            </a:extLst>
          </p:cNvPr>
          <p:cNvSpPr>
            <a:spLocks noGrp="1"/>
          </p:cNvSpPr>
          <p:nvPr>
            <p:ph idx="1"/>
          </p:nvPr>
        </p:nvSpPr>
        <p:spPr>
          <a:xfrm>
            <a:off x="349955" y="1278747"/>
            <a:ext cx="8387645" cy="5215465"/>
          </a:xfrm>
        </p:spPr>
        <p:txBody>
          <a:bodyPr/>
          <a:lstStyle/>
          <a:p>
            <a:pPr marL="0" indent="0">
              <a:buNone/>
            </a:pPr>
            <a:r>
              <a:rPr lang="en-US" sz="2000" i="1" dirty="0">
                <a:solidFill>
                  <a:srgbClr val="CC99FF"/>
                </a:solidFill>
                <a:latin typeface="Times New Roman" panose="02020603050405020304" pitchFamily="18" charset="0"/>
                <a:cs typeface="Times New Roman" panose="02020603050405020304" pitchFamily="18" charset="0"/>
              </a:rPr>
              <a:t>Multiplication and Division of Numbers with Different Significant Digits</a:t>
            </a:r>
          </a:p>
          <a:p>
            <a:pPr marL="0" indent="0">
              <a:buNone/>
            </a:pPr>
            <a:r>
              <a:rPr lang="en-US" i="1" dirty="0">
                <a:solidFill>
                  <a:srgbClr val="FFFF00"/>
                </a:solidFill>
              </a:rPr>
              <a:t>Significant digits for final answer should be the one number with the fewest number of significant digits</a:t>
            </a:r>
            <a:endParaRPr lang="en-US" i="1" dirty="0"/>
          </a:p>
          <a:p>
            <a:pPr marL="0" indent="0">
              <a:buNone/>
            </a:pPr>
            <a:r>
              <a:rPr lang="en-US" dirty="0"/>
              <a:t>Solve 4.56 x 1.4 = </a:t>
            </a:r>
          </a:p>
          <a:p>
            <a:pPr marL="0" indent="0">
              <a:buNone/>
            </a:pPr>
            <a:endParaRPr lang="en-US" dirty="0"/>
          </a:p>
          <a:p>
            <a:pPr marL="0" indent="0">
              <a:buNone/>
            </a:pPr>
            <a:endParaRPr lang="en-US" dirty="0"/>
          </a:p>
          <a:p>
            <a:pPr marL="0" indent="0">
              <a:spcBef>
                <a:spcPts val="1200"/>
              </a:spcBef>
              <a:buNone/>
            </a:pPr>
            <a:r>
              <a:rPr lang="en-US" dirty="0"/>
              <a:t>Solve 834.4 ÷ 34.92 x 2.104 =</a:t>
            </a:r>
          </a:p>
          <a:p>
            <a:pPr marL="0" indent="0">
              <a:buNone/>
            </a:pPr>
            <a:endParaRPr lang="en-US" dirty="0"/>
          </a:p>
          <a:p>
            <a:pPr marL="0" indent="0">
              <a:buNone/>
            </a:pPr>
            <a:r>
              <a:rPr lang="en-US" dirty="0"/>
              <a:t> </a:t>
            </a:r>
          </a:p>
          <a:p>
            <a:pPr marL="0" indent="0">
              <a:buNone/>
            </a:pPr>
            <a:r>
              <a:rPr lang="en-US" sz="2000" dirty="0"/>
              <a:t>Solve 2340.09 ÷ 24.190 =</a:t>
            </a:r>
          </a:p>
          <a:p>
            <a:pPr marL="0" indent="0">
              <a:buNone/>
            </a:pPr>
            <a:endParaRPr lang="en-US" dirty="0"/>
          </a:p>
        </p:txBody>
      </p:sp>
      <p:graphicFrame>
        <p:nvGraphicFramePr>
          <p:cNvPr id="9" name="Table 8">
            <a:extLst>
              <a:ext uri="{FF2B5EF4-FFF2-40B4-BE49-F238E27FC236}">
                <a16:creationId xmlns:a16="http://schemas.microsoft.com/office/drawing/2014/main" id="{A66CB58F-E551-949C-75E0-1BF45F243D6F}"/>
              </a:ext>
            </a:extLst>
          </p:cNvPr>
          <p:cNvGraphicFramePr>
            <a:graphicFrameLocks noGrp="1"/>
          </p:cNvGraphicFramePr>
          <p:nvPr>
            <p:extLst>
              <p:ext uri="{D42A27DB-BD31-4B8C-83A1-F6EECF244321}">
                <p14:modId xmlns:p14="http://schemas.microsoft.com/office/powerpoint/2010/main" val="2839235317"/>
              </p:ext>
            </p:extLst>
          </p:nvPr>
        </p:nvGraphicFramePr>
        <p:xfrm>
          <a:off x="1013455" y="2606944"/>
          <a:ext cx="7117089" cy="1185337"/>
        </p:xfrm>
        <a:graphic>
          <a:graphicData uri="http://schemas.openxmlformats.org/drawingml/2006/table">
            <a:tbl>
              <a:tblPr/>
              <a:tblGrid>
                <a:gridCol w="2038389">
                  <a:extLst>
                    <a:ext uri="{9D8B030D-6E8A-4147-A177-3AD203B41FA5}">
                      <a16:colId xmlns:a16="http://schemas.microsoft.com/office/drawing/2014/main" val="2315623139"/>
                    </a:ext>
                  </a:extLst>
                </a:gridCol>
                <a:gridCol w="1269675">
                  <a:extLst>
                    <a:ext uri="{9D8B030D-6E8A-4147-A177-3AD203B41FA5}">
                      <a16:colId xmlns:a16="http://schemas.microsoft.com/office/drawing/2014/main" val="1819193172"/>
                    </a:ext>
                  </a:extLst>
                </a:gridCol>
                <a:gridCol w="1269675">
                  <a:extLst>
                    <a:ext uri="{9D8B030D-6E8A-4147-A177-3AD203B41FA5}">
                      <a16:colId xmlns:a16="http://schemas.microsoft.com/office/drawing/2014/main" val="3915016166"/>
                    </a:ext>
                  </a:extLst>
                </a:gridCol>
                <a:gridCol w="1269675">
                  <a:extLst>
                    <a:ext uri="{9D8B030D-6E8A-4147-A177-3AD203B41FA5}">
                      <a16:colId xmlns:a16="http://schemas.microsoft.com/office/drawing/2014/main" val="1272088150"/>
                    </a:ext>
                  </a:extLst>
                </a:gridCol>
                <a:gridCol w="1269675">
                  <a:extLst>
                    <a:ext uri="{9D8B030D-6E8A-4147-A177-3AD203B41FA5}">
                      <a16:colId xmlns:a16="http://schemas.microsoft.com/office/drawing/2014/main" val="3756735072"/>
                    </a:ext>
                  </a:extLst>
                </a:gridCol>
              </a:tblGrid>
              <a:tr h="276867">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a:noFill/>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8652" marR="8652" marT="8652" marB="0" anchor="b">
                    <a:lnL>
                      <a:noFill/>
                    </a:lnL>
                    <a:lnR>
                      <a:noFill/>
                    </a:lnR>
                    <a:lnT>
                      <a:noFill/>
                    </a:lnT>
                    <a:lnB>
                      <a:noFill/>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a:noFill/>
                    </a:lnB>
                    <a:noFill/>
                  </a:tcPr>
                </a:tc>
                <a:tc gridSpan="2">
                  <a:txBody>
                    <a:bodyPr/>
                    <a:lstStyle/>
                    <a:p>
                      <a:pPr algn="ctr" rtl="0" fontAlgn="ctr">
                        <a:buNone/>
                      </a:pPr>
                      <a:r>
                        <a:rPr lang="en-US" sz="1600" b="1" i="0" u="none" strike="noStrike" dirty="0">
                          <a:solidFill>
                            <a:srgbClr val="FFFFFF"/>
                          </a:solidFill>
                          <a:effectLst/>
                          <a:latin typeface="Arial" panose="020B0604020202020204" pitchFamily="34" charset="0"/>
                        </a:rPr>
                        <a:t>Result</a:t>
                      </a:r>
                    </a:p>
                  </a:txBody>
                  <a:tcPr marL="8652" marR="8652" marT="8652" marB="0" anchor="ctr">
                    <a:lnL w="12700" cap="flat" cmpd="sng" algn="ctr">
                      <a:noFill/>
                      <a:prstDash val="solid"/>
                      <a:round/>
                      <a:headEnd type="none" w="med" len="med"/>
                      <a:tailEnd type="none" w="med" len="med"/>
                    </a:lnL>
                    <a:lnR>
                      <a:noFill/>
                    </a:lnR>
                    <a:lnT>
                      <a:noFill/>
                    </a:lnT>
                    <a:lnB w="12700" cap="flat" cmpd="sng" algn="ctr">
                      <a:solidFill>
                        <a:srgbClr val="FFFFFF"/>
                      </a:solidFill>
                      <a:prstDash val="solid"/>
                      <a:round/>
                      <a:headEnd type="none" w="med" len="med"/>
                      <a:tailEnd type="none" w="med" len="med"/>
                    </a:lnB>
                    <a:solidFill>
                      <a:srgbClr val="0000FF"/>
                    </a:solidFill>
                  </a:tcPr>
                </a:tc>
                <a:tc hMerge="1">
                  <a:txBody>
                    <a:bodyPr/>
                    <a:lstStyle/>
                    <a:p>
                      <a:endParaRPr lang="en-US"/>
                    </a:p>
                  </a:txBody>
                  <a:tcPr/>
                </a:tc>
                <a:extLst>
                  <a:ext uri="{0D108BD9-81ED-4DB2-BD59-A6C34878D82A}">
                    <a16:rowId xmlns:a16="http://schemas.microsoft.com/office/drawing/2014/main" val="160477428"/>
                  </a:ext>
                </a:extLst>
              </a:tr>
              <a:tr h="354736">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8652" marR="8652" marT="8652" marB="0" anchor="b">
                    <a:lnL>
                      <a:noFill/>
                    </a:lnL>
                    <a:lnR>
                      <a:noFill/>
                    </a:lnR>
                    <a:lnT>
                      <a:noFill/>
                    </a:lnT>
                    <a:lnB w="12700" cap="flat" cmpd="sng" algn="ctr">
                      <a:solidFill>
                        <a:srgbClr val="FFFFFF"/>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8652" marR="8652" marT="8652" marB="0" anchor="b">
                    <a:lnL>
                      <a:noFill/>
                    </a:lnL>
                    <a:lnR>
                      <a:noFill/>
                    </a:lnR>
                    <a:lnT>
                      <a:noFill/>
                    </a:lnT>
                    <a:lnB w="19050" cap="flat" cmpd="sng" algn="ctr">
                      <a:solidFill>
                        <a:srgbClr val="FFFFFF"/>
                      </a:solidFill>
                      <a:prstDash val="solid"/>
                      <a:round/>
                      <a:headEnd type="none" w="med" len="med"/>
                      <a:tailEnd type="none" w="med" len="med"/>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w="12700" cap="flat" cmpd="sng" algn="ctr">
                      <a:solidFill>
                        <a:srgbClr val="FFFFFF"/>
                      </a:solidFill>
                      <a:prstDash val="solid"/>
                      <a:round/>
                      <a:headEnd type="none" w="med" len="med"/>
                      <a:tailEnd type="none" w="med" len="med"/>
                    </a:lnB>
                    <a:noFill/>
                  </a:tcPr>
                </a:tc>
                <a:tc>
                  <a:txBody>
                    <a:bodyPr/>
                    <a:lstStyle/>
                    <a:p>
                      <a:pPr algn="ctr" rtl="0" fontAlgn="ctr">
                        <a:buNone/>
                      </a:pPr>
                      <a:r>
                        <a:rPr lang="en-US" sz="1000" b="1" i="0" u="none" strike="noStrike">
                          <a:solidFill>
                            <a:srgbClr val="FFFFFF"/>
                          </a:solidFill>
                          <a:effectLst/>
                          <a:latin typeface="Arial" panose="020B0604020202020204" pitchFamily="34" charset="0"/>
                        </a:rPr>
                        <a:t>Calculator's Display</a:t>
                      </a:r>
                    </a:p>
                  </a:txBody>
                  <a:tcPr marL="8652" marR="8652" marT="8652" marB="0" anchor="ctr">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algn="ctr" rtl="0" fontAlgn="ctr">
                        <a:buNone/>
                      </a:pPr>
                      <a:r>
                        <a:rPr lang="en-US" sz="1300" b="1" i="0" u="none" strike="noStrike">
                          <a:solidFill>
                            <a:srgbClr val="FFFFFF"/>
                          </a:solidFill>
                          <a:effectLst/>
                          <a:latin typeface="Arial" panose="020B0604020202020204" pitchFamily="34" charset="0"/>
                        </a:rPr>
                        <a:t>Your Answer</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471695156"/>
                  </a:ext>
                </a:extLst>
              </a:tr>
              <a:tr h="276867">
                <a:tc>
                  <a:txBody>
                    <a:bodyPr/>
                    <a:lstStyle/>
                    <a:p>
                      <a:pPr algn="ctr" rtl="0" fontAlgn="ctr">
                        <a:buNone/>
                      </a:pPr>
                      <a:r>
                        <a:rPr lang="en-US" sz="1500" b="1" i="0" u="none" strike="noStrike" dirty="0">
                          <a:solidFill>
                            <a:srgbClr val="FFFFFF"/>
                          </a:solidFill>
                          <a:effectLst/>
                          <a:latin typeface="Verdana" panose="020B0604030504040204" pitchFamily="34" charset="0"/>
                        </a:rPr>
                        <a:t>Value</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4.56</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1.4</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6.384</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6.4</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extLst>
                  <a:ext uri="{0D108BD9-81ED-4DB2-BD59-A6C34878D82A}">
                    <a16:rowId xmlns:a16="http://schemas.microsoft.com/office/drawing/2014/main" val="2892851911"/>
                  </a:ext>
                </a:extLst>
              </a:tr>
              <a:tr h="276867">
                <a:tc>
                  <a:txBody>
                    <a:bodyPr/>
                    <a:lstStyle/>
                    <a:p>
                      <a:pPr algn="ctr" rtl="0" fontAlgn="ctr">
                        <a:buNone/>
                      </a:pPr>
                      <a:r>
                        <a:rPr lang="en-US" sz="1300" b="1" i="0" u="none" strike="noStrike" dirty="0">
                          <a:solidFill>
                            <a:srgbClr val="FFFFFF"/>
                          </a:solidFill>
                          <a:effectLst/>
                          <a:latin typeface="Verdana" panose="020B0604030504040204" pitchFamily="34" charset="0"/>
                        </a:rPr>
                        <a:t>Sig Digits</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3</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2</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2</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extLst>
                  <a:ext uri="{0D108BD9-81ED-4DB2-BD59-A6C34878D82A}">
                    <a16:rowId xmlns:a16="http://schemas.microsoft.com/office/drawing/2014/main" val="540504241"/>
                  </a:ext>
                </a:extLst>
              </a:tr>
            </a:tbl>
          </a:graphicData>
        </a:graphic>
      </p:graphicFrame>
      <p:graphicFrame>
        <p:nvGraphicFramePr>
          <p:cNvPr id="11" name="Table 10">
            <a:extLst>
              <a:ext uri="{FF2B5EF4-FFF2-40B4-BE49-F238E27FC236}">
                <a16:creationId xmlns:a16="http://schemas.microsoft.com/office/drawing/2014/main" id="{BB7C1020-1EFE-68D2-A9DA-5C80BE030D7D}"/>
              </a:ext>
            </a:extLst>
          </p:cNvPr>
          <p:cNvGraphicFramePr>
            <a:graphicFrameLocks noGrp="1"/>
          </p:cNvGraphicFramePr>
          <p:nvPr>
            <p:extLst>
              <p:ext uri="{D42A27DB-BD31-4B8C-83A1-F6EECF244321}">
                <p14:modId xmlns:p14="http://schemas.microsoft.com/office/powerpoint/2010/main" val="4278736337"/>
              </p:ext>
            </p:extLst>
          </p:nvPr>
        </p:nvGraphicFramePr>
        <p:xfrm>
          <a:off x="349955" y="3935141"/>
          <a:ext cx="8386764" cy="1185337"/>
        </p:xfrm>
        <a:graphic>
          <a:graphicData uri="http://schemas.openxmlformats.org/drawingml/2006/table">
            <a:tbl>
              <a:tblPr/>
              <a:tblGrid>
                <a:gridCol w="2038389">
                  <a:extLst>
                    <a:ext uri="{9D8B030D-6E8A-4147-A177-3AD203B41FA5}">
                      <a16:colId xmlns:a16="http://schemas.microsoft.com/office/drawing/2014/main" val="4078394983"/>
                    </a:ext>
                  </a:extLst>
                </a:gridCol>
                <a:gridCol w="1105483">
                  <a:extLst>
                    <a:ext uri="{9D8B030D-6E8A-4147-A177-3AD203B41FA5}">
                      <a16:colId xmlns:a16="http://schemas.microsoft.com/office/drawing/2014/main" val="492968285"/>
                    </a:ext>
                  </a:extLst>
                </a:gridCol>
                <a:gridCol w="1125940">
                  <a:extLst>
                    <a:ext uri="{9D8B030D-6E8A-4147-A177-3AD203B41FA5}">
                      <a16:colId xmlns:a16="http://schemas.microsoft.com/office/drawing/2014/main" val="939477784"/>
                    </a:ext>
                  </a:extLst>
                </a:gridCol>
                <a:gridCol w="1262418">
                  <a:extLst>
                    <a:ext uri="{9D8B030D-6E8A-4147-A177-3AD203B41FA5}">
                      <a16:colId xmlns:a16="http://schemas.microsoft.com/office/drawing/2014/main" val="2000132347"/>
                    </a:ext>
                  </a:extLst>
                </a:gridCol>
                <a:gridCol w="1719618">
                  <a:extLst>
                    <a:ext uri="{9D8B030D-6E8A-4147-A177-3AD203B41FA5}">
                      <a16:colId xmlns:a16="http://schemas.microsoft.com/office/drawing/2014/main" val="3370755383"/>
                    </a:ext>
                  </a:extLst>
                </a:gridCol>
                <a:gridCol w="1134916">
                  <a:extLst>
                    <a:ext uri="{9D8B030D-6E8A-4147-A177-3AD203B41FA5}">
                      <a16:colId xmlns:a16="http://schemas.microsoft.com/office/drawing/2014/main" val="1215429886"/>
                    </a:ext>
                  </a:extLst>
                </a:gridCol>
              </a:tblGrid>
              <a:tr h="276867">
                <a:tc>
                  <a:txBody>
                    <a:bodyPr/>
                    <a:lstStyle/>
                    <a:p>
                      <a:pPr algn="l" fontAlgn="b">
                        <a:spcBef>
                          <a:spcPts val="1200"/>
                        </a:spcBef>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a:noFill/>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a:noFill/>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a:noFill/>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w="12700" cap="flat" cmpd="sng" algn="ctr">
                      <a:solidFill>
                        <a:srgbClr val="FFFFFF"/>
                      </a:solidFill>
                      <a:prstDash val="solid"/>
                      <a:round/>
                      <a:headEnd type="none" w="med" len="med"/>
                      <a:tailEnd type="none" w="med" len="med"/>
                    </a:lnR>
                    <a:lnT>
                      <a:noFill/>
                    </a:lnT>
                    <a:lnB>
                      <a:noFill/>
                    </a:lnB>
                    <a:noFill/>
                  </a:tcPr>
                </a:tc>
                <a:tc gridSpan="2">
                  <a:txBody>
                    <a:bodyPr/>
                    <a:lstStyle/>
                    <a:p>
                      <a:pPr algn="ctr" rtl="0" fontAlgn="ctr">
                        <a:buNone/>
                      </a:pPr>
                      <a:r>
                        <a:rPr lang="en-US" sz="1600" b="1" i="0" u="none" strike="noStrike" dirty="0">
                          <a:solidFill>
                            <a:srgbClr val="FFFFFF"/>
                          </a:solidFill>
                          <a:effectLst/>
                          <a:latin typeface="Arial" panose="020B0604020202020204" pitchFamily="34" charset="0"/>
                        </a:rPr>
                        <a:t>Result</a:t>
                      </a:r>
                    </a:p>
                  </a:txBody>
                  <a:tcPr marL="8652" marR="8652" marT="8652" marB="0" anchor="ctr">
                    <a:lnL w="12700" cap="flat" cmpd="sng" algn="ctr">
                      <a:solidFill>
                        <a:srgbClr val="FFFFFF"/>
                      </a:solidFill>
                      <a:prstDash val="solid"/>
                      <a:round/>
                      <a:headEnd type="none" w="med" len="med"/>
                      <a:tailEnd type="none" w="med" len="med"/>
                    </a:lnL>
                    <a:lnR>
                      <a:noFill/>
                    </a:lnR>
                    <a:lnT>
                      <a:noFill/>
                    </a:lnT>
                    <a:lnB w="12700" cap="flat" cmpd="sng" algn="ctr">
                      <a:solidFill>
                        <a:srgbClr val="FFFFFF"/>
                      </a:solidFill>
                      <a:prstDash val="solid"/>
                      <a:round/>
                      <a:headEnd type="none" w="med" len="med"/>
                      <a:tailEnd type="none" w="med" len="med"/>
                    </a:lnB>
                    <a:solidFill>
                      <a:srgbClr val="0000FF"/>
                    </a:solidFill>
                  </a:tcPr>
                </a:tc>
                <a:tc hMerge="1">
                  <a:txBody>
                    <a:bodyPr/>
                    <a:lstStyle/>
                    <a:p>
                      <a:endParaRPr lang="en-US"/>
                    </a:p>
                  </a:txBody>
                  <a:tcPr/>
                </a:tc>
                <a:extLst>
                  <a:ext uri="{0D108BD9-81ED-4DB2-BD59-A6C34878D82A}">
                    <a16:rowId xmlns:a16="http://schemas.microsoft.com/office/drawing/2014/main" val="3525207793"/>
                  </a:ext>
                </a:extLst>
              </a:tr>
              <a:tr h="354736">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8652" marR="8652" marT="8652" marB="0" anchor="b">
                    <a:lnL>
                      <a:noFill/>
                    </a:lnL>
                    <a:lnR>
                      <a:noFill/>
                    </a:lnR>
                    <a:lnT>
                      <a:noFill/>
                    </a:lnT>
                    <a:lnB w="12700" cap="flat" cmpd="sng" algn="ctr">
                      <a:solidFill>
                        <a:srgbClr val="FFFFFF"/>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8652" marR="8652" marT="8652" marB="0" anchor="b">
                    <a:lnL>
                      <a:noFill/>
                    </a:lnL>
                    <a:lnR>
                      <a:noFill/>
                    </a:lnR>
                    <a:lnT>
                      <a:noFill/>
                    </a:lnT>
                    <a:lnB w="19050" cap="flat" cmpd="sng" algn="ctr">
                      <a:solidFill>
                        <a:srgbClr val="FFFFFF"/>
                      </a:solidFill>
                      <a:prstDash val="solid"/>
                      <a:round/>
                      <a:headEnd type="none" w="med" len="med"/>
                      <a:tailEnd type="none" w="med" len="med"/>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w="12700" cap="flat" cmpd="sng" algn="ctr">
                      <a:solidFill>
                        <a:srgbClr val="FFFFFF"/>
                      </a:solidFill>
                      <a:prstDash val="solid"/>
                      <a:round/>
                      <a:headEnd type="none" w="med" len="med"/>
                      <a:tailEnd type="none" w="med" len="med"/>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noFill/>
                  </a:tcPr>
                </a:tc>
                <a:tc>
                  <a:txBody>
                    <a:bodyPr/>
                    <a:lstStyle/>
                    <a:p>
                      <a:pPr algn="ctr" rtl="0" fontAlgn="ctr">
                        <a:buNone/>
                      </a:pPr>
                      <a:r>
                        <a:rPr lang="en-US" sz="1000" b="1" i="0" u="none" strike="noStrike">
                          <a:solidFill>
                            <a:srgbClr val="FFFFFF"/>
                          </a:solidFill>
                          <a:effectLst/>
                          <a:latin typeface="Arial" panose="020B0604020202020204" pitchFamily="34" charset="0"/>
                        </a:rPr>
                        <a:t>Calculator's Display</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algn="ctr" rtl="0" fontAlgn="ctr">
                        <a:buNone/>
                      </a:pPr>
                      <a:r>
                        <a:rPr lang="en-US" sz="1300" b="1" i="0" u="none" strike="noStrike">
                          <a:solidFill>
                            <a:srgbClr val="FFFFFF"/>
                          </a:solidFill>
                          <a:effectLst/>
                          <a:latin typeface="Arial" panose="020B0604020202020204" pitchFamily="34" charset="0"/>
                        </a:rPr>
                        <a:t>Your Answer</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535821918"/>
                  </a:ext>
                </a:extLst>
              </a:tr>
              <a:tr h="276867">
                <a:tc>
                  <a:txBody>
                    <a:bodyPr/>
                    <a:lstStyle/>
                    <a:p>
                      <a:pPr algn="ctr" rtl="0" fontAlgn="ctr">
                        <a:buNone/>
                      </a:pPr>
                      <a:r>
                        <a:rPr lang="en-US" sz="1500" b="1" i="0" u="none" strike="noStrike">
                          <a:solidFill>
                            <a:srgbClr val="FFFFFF"/>
                          </a:solidFill>
                          <a:effectLst/>
                          <a:latin typeface="Verdana" panose="020B0604030504040204" pitchFamily="34" charset="0"/>
                        </a:rPr>
                        <a:t>Value</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834.4</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34.92</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2.104</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kern="1200" dirty="0">
                          <a:solidFill>
                            <a:schemeClr val="tx1"/>
                          </a:solidFill>
                          <a:effectLst/>
                          <a:latin typeface="+mn-lt"/>
                          <a:ea typeface="+mn-ea"/>
                          <a:cs typeface="+mn-cs"/>
                        </a:rPr>
                        <a:t>50.27427262</a:t>
                      </a:r>
                      <a:endParaRPr lang="en-US" sz="1400" b="0" i="0" u="none" strike="noStrike" dirty="0">
                        <a:solidFill>
                          <a:srgbClr val="000000"/>
                        </a:solidFill>
                        <a:effectLst/>
                        <a:latin typeface="Verdana" panose="020B0604030504040204" pitchFamily="34" charset="0"/>
                      </a:endParaRP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50.27</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extLst>
                  <a:ext uri="{0D108BD9-81ED-4DB2-BD59-A6C34878D82A}">
                    <a16:rowId xmlns:a16="http://schemas.microsoft.com/office/drawing/2014/main" val="4253021922"/>
                  </a:ext>
                </a:extLst>
              </a:tr>
              <a:tr h="276867">
                <a:tc>
                  <a:txBody>
                    <a:bodyPr/>
                    <a:lstStyle/>
                    <a:p>
                      <a:pPr algn="ctr" rtl="0" fontAlgn="ctr">
                        <a:buNone/>
                      </a:pPr>
                      <a:r>
                        <a:rPr lang="en-US" sz="1300" b="1" i="0" u="none" strike="noStrike" dirty="0">
                          <a:solidFill>
                            <a:srgbClr val="FFFFFF"/>
                          </a:solidFill>
                          <a:effectLst/>
                          <a:latin typeface="Verdana" panose="020B0604030504040204" pitchFamily="34" charset="0"/>
                        </a:rPr>
                        <a:t>Sig Digits</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4</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4</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4</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4</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extLst>
                  <a:ext uri="{0D108BD9-81ED-4DB2-BD59-A6C34878D82A}">
                    <a16:rowId xmlns:a16="http://schemas.microsoft.com/office/drawing/2014/main" val="866994534"/>
                  </a:ext>
                </a:extLst>
              </a:tr>
            </a:tbl>
          </a:graphicData>
        </a:graphic>
      </p:graphicFrame>
      <p:graphicFrame>
        <p:nvGraphicFramePr>
          <p:cNvPr id="4" name="Table 3">
            <a:extLst>
              <a:ext uri="{FF2B5EF4-FFF2-40B4-BE49-F238E27FC236}">
                <a16:creationId xmlns:a16="http://schemas.microsoft.com/office/drawing/2014/main" id="{C5E7DE7D-315C-363F-D2B5-AB195AB170FE}"/>
              </a:ext>
            </a:extLst>
          </p:cNvPr>
          <p:cNvGraphicFramePr>
            <a:graphicFrameLocks noGrp="1"/>
          </p:cNvGraphicFramePr>
          <p:nvPr>
            <p:extLst>
              <p:ext uri="{D42A27DB-BD31-4B8C-83A1-F6EECF244321}">
                <p14:modId xmlns:p14="http://schemas.microsoft.com/office/powerpoint/2010/main" val="2309561994"/>
              </p:ext>
            </p:extLst>
          </p:nvPr>
        </p:nvGraphicFramePr>
        <p:xfrm>
          <a:off x="406400" y="5308875"/>
          <a:ext cx="7124346" cy="1185337"/>
        </p:xfrm>
        <a:graphic>
          <a:graphicData uri="http://schemas.openxmlformats.org/drawingml/2006/table">
            <a:tbl>
              <a:tblPr/>
              <a:tblGrid>
                <a:gridCol w="2038389">
                  <a:extLst>
                    <a:ext uri="{9D8B030D-6E8A-4147-A177-3AD203B41FA5}">
                      <a16:colId xmlns:a16="http://schemas.microsoft.com/office/drawing/2014/main" val="4078394983"/>
                    </a:ext>
                  </a:extLst>
                </a:gridCol>
                <a:gridCol w="1105483">
                  <a:extLst>
                    <a:ext uri="{9D8B030D-6E8A-4147-A177-3AD203B41FA5}">
                      <a16:colId xmlns:a16="http://schemas.microsoft.com/office/drawing/2014/main" val="492968285"/>
                    </a:ext>
                  </a:extLst>
                </a:gridCol>
                <a:gridCol w="1125940">
                  <a:extLst>
                    <a:ext uri="{9D8B030D-6E8A-4147-A177-3AD203B41FA5}">
                      <a16:colId xmlns:a16="http://schemas.microsoft.com/office/drawing/2014/main" val="939477784"/>
                    </a:ext>
                  </a:extLst>
                </a:gridCol>
                <a:gridCol w="1719618">
                  <a:extLst>
                    <a:ext uri="{9D8B030D-6E8A-4147-A177-3AD203B41FA5}">
                      <a16:colId xmlns:a16="http://schemas.microsoft.com/office/drawing/2014/main" val="3370755383"/>
                    </a:ext>
                  </a:extLst>
                </a:gridCol>
                <a:gridCol w="1134916">
                  <a:extLst>
                    <a:ext uri="{9D8B030D-6E8A-4147-A177-3AD203B41FA5}">
                      <a16:colId xmlns:a16="http://schemas.microsoft.com/office/drawing/2014/main" val="1215429886"/>
                    </a:ext>
                  </a:extLst>
                </a:gridCol>
              </a:tblGrid>
              <a:tr h="276867">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a:noFill/>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a:noFill/>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a:noFill/>
                    </a:lnB>
                    <a:noFill/>
                  </a:tcPr>
                </a:tc>
                <a:tc gridSpan="2">
                  <a:txBody>
                    <a:bodyPr/>
                    <a:lstStyle/>
                    <a:p>
                      <a:pPr algn="ctr" rtl="0" fontAlgn="ctr">
                        <a:buNone/>
                      </a:pPr>
                      <a:r>
                        <a:rPr lang="en-US" sz="1600" b="1" i="0" u="none" strike="noStrike" dirty="0">
                          <a:solidFill>
                            <a:srgbClr val="FFFFFF"/>
                          </a:solidFill>
                          <a:effectLst/>
                          <a:latin typeface="Arial" panose="020B0604020202020204" pitchFamily="34" charset="0"/>
                        </a:rPr>
                        <a:t>Result</a:t>
                      </a:r>
                    </a:p>
                  </a:txBody>
                  <a:tcPr marL="8652" marR="8652" marT="8652" marB="0" anchor="ctr">
                    <a:lnL w="12700" cap="flat" cmpd="sng" algn="ctr">
                      <a:noFill/>
                      <a:prstDash val="solid"/>
                      <a:round/>
                      <a:headEnd type="none" w="med" len="med"/>
                      <a:tailEnd type="none" w="med" len="med"/>
                    </a:lnL>
                    <a:lnR>
                      <a:noFill/>
                    </a:lnR>
                    <a:lnT>
                      <a:noFill/>
                    </a:lnT>
                    <a:lnB w="12700" cap="flat" cmpd="sng" algn="ctr">
                      <a:solidFill>
                        <a:srgbClr val="FFFFFF"/>
                      </a:solidFill>
                      <a:prstDash val="solid"/>
                      <a:round/>
                      <a:headEnd type="none" w="med" len="med"/>
                      <a:tailEnd type="none" w="med" len="med"/>
                    </a:lnB>
                    <a:solidFill>
                      <a:srgbClr val="0000FF"/>
                    </a:solidFill>
                  </a:tcPr>
                </a:tc>
                <a:tc hMerge="1">
                  <a:txBody>
                    <a:bodyPr/>
                    <a:lstStyle/>
                    <a:p>
                      <a:endParaRPr lang="en-US"/>
                    </a:p>
                  </a:txBody>
                  <a:tcPr/>
                </a:tc>
                <a:extLst>
                  <a:ext uri="{0D108BD9-81ED-4DB2-BD59-A6C34878D82A}">
                    <a16:rowId xmlns:a16="http://schemas.microsoft.com/office/drawing/2014/main" val="3525207793"/>
                  </a:ext>
                </a:extLst>
              </a:tr>
              <a:tr h="354736">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8652" marR="8652" marT="8652" marB="0" anchor="b">
                    <a:lnL>
                      <a:noFill/>
                    </a:lnL>
                    <a:lnR>
                      <a:noFill/>
                    </a:lnR>
                    <a:lnT>
                      <a:noFill/>
                    </a:lnT>
                    <a:lnB w="12700" cap="flat" cmpd="sng" algn="ctr">
                      <a:solidFill>
                        <a:srgbClr val="FFFFFF"/>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8652" marR="8652" marT="8652" marB="0" anchor="b">
                    <a:lnL>
                      <a:noFill/>
                    </a:lnL>
                    <a:lnR>
                      <a:noFill/>
                    </a:lnR>
                    <a:lnT>
                      <a:noFill/>
                    </a:lnT>
                    <a:lnB w="19050" cap="flat" cmpd="sng" algn="ctr">
                      <a:solidFill>
                        <a:srgbClr val="FFFFFF"/>
                      </a:solidFill>
                      <a:prstDash val="solid"/>
                      <a:round/>
                      <a:headEnd type="none" w="med" len="med"/>
                      <a:tailEnd type="none" w="med" len="med"/>
                    </a:lnB>
                    <a:noFill/>
                  </a:tcPr>
                </a:tc>
                <a:tc>
                  <a:txBody>
                    <a:bodyPr/>
                    <a:lstStyle/>
                    <a:p>
                      <a:pPr algn="l" fontAlgn="b">
                        <a:buNone/>
                      </a:pPr>
                      <a:endParaRPr lang="en-US" sz="1000" b="0" i="0" u="none" strike="noStrike" dirty="0">
                        <a:solidFill>
                          <a:srgbClr val="000000"/>
                        </a:solidFill>
                        <a:effectLst/>
                        <a:latin typeface="Aptos Narrow" panose="020B0004020202020204" pitchFamily="34" charset="0"/>
                      </a:endParaRPr>
                    </a:p>
                  </a:txBody>
                  <a:tcPr marL="8652" marR="8652" marT="8652" marB="0" anchor="b">
                    <a:lnL>
                      <a:noFill/>
                    </a:lnL>
                    <a:lnR>
                      <a:noFill/>
                    </a:lnR>
                    <a:lnT>
                      <a:noFill/>
                    </a:lnT>
                    <a:lnB w="12700" cap="flat" cmpd="sng" algn="ctr">
                      <a:solidFill>
                        <a:srgbClr val="FFFFFF"/>
                      </a:solidFill>
                      <a:prstDash val="solid"/>
                      <a:round/>
                      <a:headEnd type="none" w="med" len="med"/>
                      <a:tailEnd type="none" w="med" len="med"/>
                    </a:lnB>
                    <a:noFill/>
                  </a:tcPr>
                </a:tc>
                <a:tc>
                  <a:txBody>
                    <a:bodyPr/>
                    <a:lstStyle/>
                    <a:p>
                      <a:pPr algn="ctr" rtl="0" fontAlgn="ctr">
                        <a:buNone/>
                      </a:pPr>
                      <a:r>
                        <a:rPr lang="en-US" sz="1000" b="1" i="0" u="none" strike="noStrike" dirty="0">
                          <a:solidFill>
                            <a:srgbClr val="FFFFFF"/>
                          </a:solidFill>
                          <a:effectLst/>
                          <a:latin typeface="Arial" panose="020B0604020202020204" pitchFamily="34" charset="0"/>
                        </a:rPr>
                        <a:t>Calculator's Display</a:t>
                      </a:r>
                    </a:p>
                  </a:txBody>
                  <a:tcPr marL="8652" marR="8652" marT="8652" marB="0" anchor="ctr">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algn="ctr" rtl="0" fontAlgn="ctr">
                        <a:buNone/>
                      </a:pPr>
                      <a:r>
                        <a:rPr lang="en-US" sz="1300" b="1" i="0" u="none" strike="noStrike">
                          <a:solidFill>
                            <a:srgbClr val="FFFFFF"/>
                          </a:solidFill>
                          <a:effectLst/>
                          <a:latin typeface="Arial" panose="020B0604020202020204" pitchFamily="34" charset="0"/>
                        </a:rPr>
                        <a:t>Your Answer</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535821918"/>
                  </a:ext>
                </a:extLst>
              </a:tr>
              <a:tr h="276867">
                <a:tc>
                  <a:txBody>
                    <a:bodyPr/>
                    <a:lstStyle/>
                    <a:p>
                      <a:pPr algn="ctr" rtl="0" fontAlgn="ctr">
                        <a:buNone/>
                      </a:pPr>
                      <a:r>
                        <a:rPr lang="en-US" sz="1500" b="1" i="0" u="none" strike="noStrike">
                          <a:solidFill>
                            <a:srgbClr val="FFFFFF"/>
                          </a:solidFill>
                          <a:effectLst/>
                          <a:latin typeface="Verdana" panose="020B0604030504040204" pitchFamily="34" charset="0"/>
                        </a:rPr>
                        <a:t>Value</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2340.09</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24.190</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kern="1200" dirty="0">
                          <a:solidFill>
                            <a:schemeClr val="tx1"/>
                          </a:solidFill>
                          <a:effectLst/>
                          <a:latin typeface="+mn-lt"/>
                          <a:ea typeface="+mn-ea"/>
                          <a:cs typeface="+mn-cs"/>
                        </a:rPr>
                        <a:t>50.27427262</a:t>
                      </a:r>
                      <a:endParaRPr lang="en-US" sz="1400" b="0" i="0" u="none" strike="noStrike" dirty="0">
                        <a:solidFill>
                          <a:srgbClr val="000000"/>
                        </a:solidFill>
                        <a:effectLst/>
                        <a:latin typeface="Verdana" panose="020B0604030504040204" pitchFamily="34" charset="0"/>
                      </a:endParaRP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50.27</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extLst>
                  <a:ext uri="{0D108BD9-81ED-4DB2-BD59-A6C34878D82A}">
                    <a16:rowId xmlns:a16="http://schemas.microsoft.com/office/drawing/2014/main" val="4253021922"/>
                  </a:ext>
                </a:extLst>
              </a:tr>
              <a:tr h="276867">
                <a:tc>
                  <a:txBody>
                    <a:bodyPr/>
                    <a:lstStyle/>
                    <a:p>
                      <a:pPr algn="ctr" rtl="0" fontAlgn="ctr">
                        <a:buNone/>
                      </a:pPr>
                      <a:r>
                        <a:rPr lang="en-US" sz="1300" b="1" i="0" u="none" strike="noStrike" dirty="0">
                          <a:solidFill>
                            <a:srgbClr val="FFFFFF"/>
                          </a:solidFill>
                          <a:effectLst/>
                          <a:latin typeface="Verdana" panose="020B0604030504040204" pitchFamily="34" charset="0"/>
                        </a:rPr>
                        <a:t>Sig Digits</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0000"/>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6</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CBCB"/>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5</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tc>
                  <a:txBody>
                    <a:bodyPr/>
                    <a:lstStyle/>
                    <a:p>
                      <a:pPr algn="ctr" rtl="0" fontAlgn="ctr">
                        <a:buNone/>
                      </a:pPr>
                      <a:r>
                        <a:rPr lang="en-US" sz="1600" b="0" i="0" u="none" strike="noStrike" dirty="0">
                          <a:solidFill>
                            <a:srgbClr val="000000"/>
                          </a:solidFill>
                          <a:effectLst/>
                          <a:latin typeface="Verdana" panose="020B0604030504040204" pitchFamily="34" charset="0"/>
                        </a:rPr>
                        <a:t>4</a:t>
                      </a:r>
                    </a:p>
                  </a:txBody>
                  <a:tcPr marL="8652" marR="8652" marT="865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7E7"/>
                    </a:solidFill>
                  </a:tcPr>
                </a:tc>
                <a:extLst>
                  <a:ext uri="{0D108BD9-81ED-4DB2-BD59-A6C34878D82A}">
                    <a16:rowId xmlns:a16="http://schemas.microsoft.com/office/drawing/2014/main" val="866994534"/>
                  </a:ext>
                </a:extLst>
              </a:tr>
            </a:tbl>
          </a:graphicData>
        </a:graphic>
      </p:graphicFrame>
      <p:sp>
        <p:nvSpPr>
          <p:cNvPr id="5" name="Slide Number Placeholder 4">
            <a:extLst>
              <a:ext uri="{FF2B5EF4-FFF2-40B4-BE49-F238E27FC236}">
                <a16:creationId xmlns:a16="http://schemas.microsoft.com/office/drawing/2014/main" id="{777C76EF-5CBF-6308-C943-BB7737309819}"/>
              </a:ext>
            </a:extLst>
          </p:cNvPr>
          <p:cNvSpPr>
            <a:spLocks noGrp="1"/>
          </p:cNvSpPr>
          <p:nvPr>
            <p:ph type="sldNum" sz="quarter" idx="10"/>
          </p:nvPr>
        </p:nvSpPr>
        <p:spPr/>
        <p:txBody>
          <a:bodyPr/>
          <a:lstStyle/>
          <a:p>
            <a:fld id="{12356DF5-CFED-4016-A2DB-A70AC2735480}" type="slidenum">
              <a:rPr lang="en-US" smtClean="0"/>
              <a:pPr/>
              <a:t>24</a:t>
            </a:fld>
            <a:endParaRPr lang="en-US" dirty="0">
              <a:solidFill>
                <a:schemeClr val="bg1"/>
              </a:solidFill>
            </a:endParaRPr>
          </a:p>
        </p:txBody>
      </p:sp>
    </p:spTree>
    <p:extLst>
      <p:ext uri="{BB962C8B-B14F-4D97-AF65-F5344CB8AC3E}">
        <p14:creationId xmlns:p14="http://schemas.microsoft.com/office/powerpoint/2010/main" val="18982732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CDBA5F-FDB3-8037-119D-B608F33CCFF2}"/>
              </a:ext>
            </a:extLst>
          </p:cNvPr>
          <p:cNvPicPr>
            <a:picLocks noChangeAspect="1"/>
          </p:cNvPicPr>
          <p:nvPr/>
        </p:nvPicPr>
        <p:blipFill>
          <a:blip r:embed="rId2"/>
          <a:stretch>
            <a:fillRect/>
          </a:stretch>
        </p:blipFill>
        <p:spPr>
          <a:xfrm>
            <a:off x="1180626" y="499653"/>
            <a:ext cx="6782747" cy="5858693"/>
          </a:xfrm>
          <a:prstGeom prst="rect">
            <a:avLst/>
          </a:prstGeom>
        </p:spPr>
      </p:pic>
      <p:sp>
        <p:nvSpPr>
          <p:cNvPr id="6" name="TextBox 5">
            <a:extLst>
              <a:ext uri="{FF2B5EF4-FFF2-40B4-BE49-F238E27FC236}">
                <a16:creationId xmlns:a16="http://schemas.microsoft.com/office/drawing/2014/main" id="{194687AA-D508-1FE3-D3D3-DAFE959A5A45}"/>
              </a:ext>
            </a:extLst>
          </p:cNvPr>
          <p:cNvSpPr txBox="1"/>
          <p:nvPr/>
        </p:nvSpPr>
        <p:spPr>
          <a:xfrm>
            <a:off x="3704437" y="6410264"/>
            <a:ext cx="4584909" cy="261610"/>
          </a:xfrm>
          <a:prstGeom prst="rect">
            <a:avLst/>
          </a:prstGeom>
          <a:noFill/>
        </p:spPr>
        <p:txBody>
          <a:bodyPr wrap="none" rtlCol="0">
            <a:spAutoFit/>
          </a:bodyPr>
          <a:lstStyle/>
          <a:p>
            <a:r>
              <a:rPr lang="en-US" sz="1100" i="1" dirty="0">
                <a:solidFill>
                  <a:srgbClr val="CC99FF"/>
                </a:solidFill>
                <a:latin typeface="Times New Roman" panose="02020603050405020304" pitchFamily="18" charset="0"/>
                <a:cs typeface="Times New Roman" panose="02020603050405020304" pitchFamily="18" charset="0"/>
              </a:rPr>
              <a:t>This sheet (also as a PDF in Canvas LMS app) was produced by ChatGPT3.5</a:t>
            </a:r>
          </a:p>
        </p:txBody>
      </p:sp>
    </p:spTree>
    <p:extLst>
      <p:ext uri="{BB962C8B-B14F-4D97-AF65-F5344CB8AC3E}">
        <p14:creationId xmlns:p14="http://schemas.microsoft.com/office/powerpoint/2010/main" val="29595725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DAD2D-61D6-4376-2CD7-32716BF15A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0D0777D-3B59-BC57-4DB4-C75B39F0EB9D}"/>
              </a:ext>
            </a:extLst>
          </p:cNvPr>
          <p:cNvSpPr>
            <a:spLocks noGrp="1"/>
          </p:cNvSpPr>
          <p:nvPr>
            <p:ph type="title"/>
          </p:nvPr>
        </p:nvSpPr>
        <p:spPr>
          <a:xfrm>
            <a:off x="364067" y="59852"/>
            <a:ext cx="8421512" cy="1200329"/>
          </a:xfrm>
        </p:spPr>
        <p:txBody>
          <a:bodyPr/>
          <a:lstStyle/>
          <a:p>
            <a:r>
              <a:rPr lang="en-US" sz="3600" dirty="0"/>
              <a:t>Doing Calculations:</a:t>
            </a:r>
            <a:br>
              <a:rPr lang="en-US" sz="3600" dirty="0"/>
            </a:br>
            <a:r>
              <a:rPr lang="en-US" sz="3600" dirty="0"/>
              <a:t>NO INTERMEDIATE ROUNDING!!!</a:t>
            </a:r>
          </a:p>
        </p:txBody>
      </p:sp>
      <p:sp>
        <p:nvSpPr>
          <p:cNvPr id="6" name="Content Placeholder 5">
            <a:extLst>
              <a:ext uri="{FF2B5EF4-FFF2-40B4-BE49-F238E27FC236}">
                <a16:creationId xmlns:a16="http://schemas.microsoft.com/office/drawing/2014/main" id="{DA4445E8-3330-BBE4-2CE4-A273E8146232}"/>
              </a:ext>
            </a:extLst>
          </p:cNvPr>
          <p:cNvSpPr>
            <a:spLocks noGrp="1"/>
          </p:cNvSpPr>
          <p:nvPr>
            <p:ph idx="1"/>
          </p:nvPr>
        </p:nvSpPr>
        <p:spPr/>
        <p:txBody>
          <a:bodyPr/>
          <a:lstStyle/>
          <a:p>
            <a:pPr marL="0" indent="0">
              <a:buNone/>
              <a:defRPr/>
            </a:pPr>
            <a:r>
              <a:rPr lang="en-US" sz="1800" b="1" i="1" dirty="0">
                <a:solidFill>
                  <a:srgbClr val="CC99FF"/>
                </a:solidFill>
                <a:latin typeface="Times New Roman" panose="02020603050405020304" pitchFamily="18" charset="0"/>
                <a:cs typeface="Times New Roman" panose="02020603050405020304" pitchFamily="18" charset="0"/>
              </a:rPr>
              <a:t>Simple example</a:t>
            </a:r>
          </a:p>
          <a:p>
            <a:pPr marL="0" indent="0">
              <a:buNone/>
              <a:defRPr/>
            </a:pPr>
            <a:r>
              <a:rPr lang="en-US" sz="2000" dirty="0"/>
              <a:t>Calculate the cost of carpeting a </a:t>
            </a:r>
            <a:r>
              <a:rPr lang="en-US" sz="2000" dirty="0">
                <a:solidFill>
                  <a:srgbClr val="00FF00"/>
                </a:solidFill>
              </a:rPr>
              <a:t>4.8 m x 3.2 m </a:t>
            </a:r>
            <a:r>
              <a:rPr lang="en-US" sz="2000" dirty="0"/>
              <a:t>floor where the carpeting costs </a:t>
            </a:r>
            <a:r>
              <a:rPr lang="en-US" sz="2000" dirty="0">
                <a:solidFill>
                  <a:srgbClr val="00FF00"/>
                </a:solidFill>
              </a:rPr>
              <a:t>$42 per square meter</a:t>
            </a:r>
          </a:p>
          <a:p>
            <a:pPr marL="0" indent="0">
              <a:buNone/>
              <a:defRPr/>
            </a:pPr>
            <a:r>
              <a:rPr lang="en-US" sz="1800" dirty="0"/>
              <a:t>Suppose you do the calculation in steps (intermediate calculations):</a:t>
            </a:r>
          </a:p>
          <a:p>
            <a:pPr marL="457200" indent="-457200">
              <a:buFont typeface="+mj-lt"/>
              <a:buAutoNum type="arabicPeriod"/>
              <a:defRPr/>
            </a:pPr>
            <a:r>
              <a:rPr lang="en-US" sz="1800" dirty="0"/>
              <a:t>The area: 4.8 m × 3.2 m = 15.36 m</a:t>
            </a:r>
            <a:r>
              <a:rPr lang="en-US" sz="1800" baseline="30000" dirty="0"/>
              <a:t>2  </a:t>
            </a:r>
            <a:r>
              <a:rPr lang="en-US" sz="1600" dirty="0">
                <a:solidFill>
                  <a:srgbClr val="FFFF00"/>
                </a:solidFill>
              </a:rPr>
              <a:t>(value on calculator display)</a:t>
            </a:r>
          </a:p>
          <a:p>
            <a:pPr marL="457200" indent="-457200">
              <a:buFont typeface="+mj-lt"/>
              <a:buAutoNum type="arabicPeriod"/>
              <a:defRPr/>
            </a:pPr>
            <a:r>
              <a:rPr lang="en-US" sz="1800" dirty="0"/>
              <a:t>Finishing off</a:t>
            </a:r>
          </a:p>
          <a:p>
            <a:pPr marL="236538" lvl="1" indent="0">
              <a:buNone/>
              <a:defRPr/>
            </a:pPr>
            <a:r>
              <a:rPr lang="en-US" sz="1600" dirty="0"/>
              <a:t>rounding no decimal: </a:t>
            </a:r>
            <a:r>
              <a:rPr lang="en-US" dirty="0"/>
              <a:t>15 m</a:t>
            </a:r>
            <a:r>
              <a:rPr lang="en-US" baseline="30000" dirty="0"/>
              <a:t>2</a:t>
            </a:r>
            <a:r>
              <a:rPr lang="en-US" dirty="0"/>
              <a:t> × ($42 / m</a:t>
            </a:r>
            <a:r>
              <a:rPr lang="en-US" baseline="30000" dirty="0"/>
              <a:t>2</a:t>
            </a:r>
            <a:r>
              <a:rPr lang="en-US" dirty="0"/>
              <a:t>) = </a:t>
            </a:r>
            <a:r>
              <a:rPr lang="en-US" b="1" dirty="0">
                <a:solidFill>
                  <a:srgbClr val="FFC000"/>
                </a:solidFill>
              </a:rPr>
              <a:t>$630.00</a:t>
            </a:r>
            <a:endParaRPr lang="en-US" b="1" baseline="30000" dirty="0">
              <a:solidFill>
                <a:srgbClr val="FFC000"/>
              </a:solidFill>
            </a:endParaRPr>
          </a:p>
          <a:p>
            <a:pPr marL="236538" lvl="1" indent="0">
              <a:buNone/>
              <a:defRPr/>
            </a:pPr>
            <a:r>
              <a:rPr lang="en-US" sz="1600" dirty="0"/>
              <a:t>rounding to one decimal: </a:t>
            </a:r>
            <a:r>
              <a:rPr lang="en-US" dirty="0"/>
              <a:t>15.4 m</a:t>
            </a:r>
            <a:r>
              <a:rPr lang="en-US" baseline="30000" dirty="0"/>
              <a:t>2</a:t>
            </a:r>
            <a:r>
              <a:rPr lang="en-US" dirty="0"/>
              <a:t> × ($42 / m</a:t>
            </a:r>
            <a:r>
              <a:rPr lang="en-US" baseline="30000" dirty="0"/>
              <a:t>2</a:t>
            </a:r>
            <a:r>
              <a:rPr lang="en-US" dirty="0"/>
              <a:t>) = </a:t>
            </a:r>
            <a:r>
              <a:rPr lang="en-US" b="1" dirty="0">
                <a:solidFill>
                  <a:srgbClr val="FFC000"/>
                </a:solidFill>
              </a:rPr>
              <a:t>$646.80</a:t>
            </a:r>
            <a:endParaRPr lang="en-US" sz="1600" b="1" baseline="30000" dirty="0">
              <a:solidFill>
                <a:srgbClr val="FFC000"/>
              </a:solidFill>
            </a:endParaRPr>
          </a:p>
          <a:p>
            <a:pPr marL="236538" lvl="1" indent="0">
              <a:buNone/>
              <a:defRPr/>
            </a:pPr>
            <a:r>
              <a:rPr lang="en-US" sz="1600" dirty="0"/>
              <a:t>no rounding: </a:t>
            </a:r>
            <a:r>
              <a:rPr lang="en-US" dirty="0"/>
              <a:t>15.36 m</a:t>
            </a:r>
            <a:r>
              <a:rPr lang="en-US" baseline="30000" dirty="0"/>
              <a:t>2</a:t>
            </a:r>
            <a:r>
              <a:rPr lang="en-US" dirty="0"/>
              <a:t> × ($42 / m</a:t>
            </a:r>
            <a:r>
              <a:rPr lang="en-US" baseline="30000" dirty="0"/>
              <a:t>2</a:t>
            </a:r>
            <a:r>
              <a:rPr lang="en-US" dirty="0"/>
              <a:t>) = </a:t>
            </a:r>
            <a:r>
              <a:rPr lang="en-US" b="1" dirty="0">
                <a:solidFill>
                  <a:srgbClr val="FFC000"/>
                </a:solidFill>
              </a:rPr>
              <a:t>$645.12</a:t>
            </a:r>
            <a:br>
              <a:rPr lang="en-US" b="1" dirty="0">
                <a:solidFill>
                  <a:srgbClr val="FFC000"/>
                </a:solidFill>
              </a:rPr>
            </a:br>
            <a:endParaRPr lang="en-US" b="1" dirty="0">
              <a:solidFill>
                <a:srgbClr val="FFC000"/>
              </a:solidFill>
            </a:endParaRPr>
          </a:p>
          <a:p>
            <a:pPr marL="0" indent="0">
              <a:buNone/>
              <a:defRPr/>
            </a:pPr>
            <a:r>
              <a:rPr lang="en-US" sz="1800" dirty="0">
                <a:solidFill>
                  <a:srgbClr val="FFFF00"/>
                </a:solidFill>
              </a:rPr>
              <a:t>No need for intermediate result determination in (nearly) all cases:</a:t>
            </a:r>
          </a:p>
          <a:p>
            <a:pPr marL="0" indent="0">
              <a:buNone/>
              <a:defRPr/>
            </a:pPr>
            <a:r>
              <a:rPr lang="en-US" sz="2000" dirty="0"/>
              <a:t>4.8 m × 3.2 m × ($42 / m</a:t>
            </a:r>
            <a:r>
              <a:rPr lang="en-US" sz="2000" baseline="30000" dirty="0"/>
              <a:t>2</a:t>
            </a:r>
            <a:r>
              <a:rPr lang="en-US" sz="2000" dirty="0"/>
              <a:t>) = </a:t>
            </a:r>
            <a:r>
              <a:rPr lang="en-US" sz="2000" b="1" dirty="0">
                <a:solidFill>
                  <a:srgbClr val="FFC000"/>
                </a:solidFill>
              </a:rPr>
              <a:t>$645.12</a:t>
            </a:r>
          </a:p>
          <a:p>
            <a:pPr marL="0" indent="0">
              <a:buNone/>
              <a:defRPr/>
            </a:pPr>
            <a:r>
              <a:rPr lang="en-US" sz="2000" dirty="0">
                <a:solidFill>
                  <a:srgbClr val="00FF00"/>
                </a:solidFill>
              </a:rPr>
              <a:t>In business accounting &amp; chemistry, do the rounding at the end of the calculation. To significant digits (or decimal places)</a:t>
            </a:r>
          </a:p>
        </p:txBody>
      </p:sp>
      <p:sp>
        <p:nvSpPr>
          <p:cNvPr id="2" name="Slide Number Placeholder 1">
            <a:extLst>
              <a:ext uri="{FF2B5EF4-FFF2-40B4-BE49-F238E27FC236}">
                <a16:creationId xmlns:a16="http://schemas.microsoft.com/office/drawing/2014/main" id="{67B28214-2FCA-171F-2E6B-4100759BC935}"/>
              </a:ext>
            </a:extLst>
          </p:cNvPr>
          <p:cNvSpPr>
            <a:spLocks noGrp="1"/>
          </p:cNvSpPr>
          <p:nvPr>
            <p:ph type="sldNum" sz="quarter" idx="10"/>
          </p:nvPr>
        </p:nvSpPr>
        <p:spPr/>
        <p:txBody>
          <a:bodyPr/>
          <a:lstStyle/>
          <a:p>
            <a:fld id="{12356DF5-CFED-4016-A2DB-A70AC2735480}" type="slidenum">
              <a:rPr lang="en-US" smtClean="0"/>
              <a:pPr/>
              <a:t>26</a:t>
            </a:fld>
            <a:endParaRPr lang="en-US" dirty="0">
              <a:solidFill>
                <a:schemeClr val="bg1"/>
              </a:solidFill>
            </a:endParaRPr>
          </a:p>
        </p:txBody>
      </p:sp>
    </p:spTree>
    <p:extLst>
      <p:ext uri="{BB962C8B-B14F-4D97-AF65-F5344CB8AC3E}">
        <p14:creationId xmlns:p14="http://schemas.microsoft.com/office/powerpoint/2010/main" val="1759701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9ACD2-F1C9-3D1D-4A5C-0B6CE7553C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14E23A-B2E5-D742-BCA0-07469B1BF9E0}"/>
              </a:ext>
            </a:extLst>
          </p:cNvPr>
          <p:cNvSpPr>
            <a:spLocks noGrp="1"/>
          </p:cNvSpPr>
          <p:nvPr>
            <p:ph type="title"/>
          </p:nvPr>
        </p:nvSpPr>
        <p:spPr>
          <a:xfrm>
            <a:off x="355599" y="165896"/>
            <a:ext cx="8421512" cy="830997"/>
          </a:xfrm>
        </p:spPr>
        <p:txBody>
          <a:bodyPr/>
          <a:lstStyle/>
          <a:p>
            <a:r>
              <a:rPr lang="en-US" dirty="0"/>
              <a:t>Doing Chem Math</a:t>
            </a:r>
          </a:p>
        </p:txBody>
      </p:sp>
      <p:sp>
        <p:nvSpPr>
          <p:cNvPr id="3" name="Content Placeholder 2">
            <a:extLst>
              <a:ext uri="{FF2B5EF4-FFF2-40B4-BE49-F238E27FC236}">
                <a16:creationId xmlns:a16="http://schemas.microsoft.com/office/drawing/2014/main" id="{3696F9CD-344A-BC98-E582-48B06A63C4CF}"/>
              </a:ext>
            </a:extLst>
          </p:cNvPr>
          <p:cNvSpPr>
            <a:spLocks noGrp="1"/>
          </p:cNvSpPr>
          <p:nvPr>
            <p:ph idx="1"/>
          </p:nvPr>
        </p:nvSpPr>
        <p:spPr/>
        <p:txBody>
          <a:bodyPr/>
          <a:lstStyle/>
          <a:p>
            <a:r>
              <a:rPr lang="en-US" dirty="0"/>
              <a:t>Addition and Subtraction</a:t>
            </a:r>
          </a:p>
          <a:p>
            <a:pPr lvl="1"/>
            <a:r>
              <a:rPr lang="en-US" sz="2800" dirty="0"/>
              <a:t>look at the DECIMAL PLACES!</a:t>
            </a:r>
          </a:p>
          <a:p>
            <a:r>
              <a:rPr lang="en-US" dirty="0"/>
              <a:t>Multiplication and Division</a:t>
            </a:r>
          </a:p>
          <a:p>
            <a:pPr lvl="1"/>
            <a:r>
              <a:rPr lang="en-US" sz="2800" dirty="0"/>
              <a:t>look at the SIGNIFICANT DIGITS!</a:t>
            </a:r>
          </a:p>
          <a:p>
            <a:endParaRPr lang="en-US" dirty="0"/>
          </a:p>
          <a:p>
            <a:pPr marL="0" indent="0">
              <a:buNone/>
            </a:pPr>
            <a:r>
              <a:rPr lang="en-US" b="1" i="1" dirty="0"/>
              <a:t>The Book</a:t>
            </a:r>
          </a:p>
          <a:p>
            <a:pPr marL="457200" indent="-457200">
              <a:buFont typeface="+mj-lt"/>
              <a:buAutoNum type="arabicPeriod"/>
            </a:pPr>
            <a:r>
              <a:rPr lang="en-US" dirty="0"/>
              <a:t>Do the Multiplication and Division first</a:t>
            </a:r>
          </a:p>
          <a:p>
            <a:pPr marL="457200" indent="-457200">
              <a:buFont typeface="+mj-lt"/>
              <a:buAutoNum type="arabicPeriod"/>
            </a:pPr>
            <a:r>
              <a:rPr lang="en-US" dirty="0"/>
              <a:t>Then do Addition and Subtraction operations</a:t>
            </a:r>
          </a:p>
          <a:p>
            <a:pPr marL="0" indent="0">
              <a:buNone/>
            </a:pPr>
            <a:r>
              <a:rPr lang="en-US" dirty="0"/>
              <a:t>If you do intermediate rounding—I wouldn’t!—then if you follow the book, this is acceptable</a:t>
            </a:r>
          </a:p>
        </p:txBody>
      </p:sp>
      <p:sp>
        <p:nvSpPr>
          <p:cNvPr id="4" name="Slide Number Placeholder 3">
            <a:extLst>
              <a:ext uri="{FF2B5EF4-FFF2-40B4-BE49-F238E27FC236}">
                <a16:creationId xmlns:a16="http://schemas.microsoft.com/office/drawing/2014/main" id="{11EB8F01-4420-A845-564C-5103ADB8154B}"/>
              </a:ext>
            </a:extLst>
          </p:cNvPr>
          <p:cNvSpPr>
            <a:spLocks noGrp="1"/>
          </p:cNvSpPr>
          <p:nvPr>
            <p:ph type="sldNum" sz="quarter" idx="10"/>
          </p:nvPr>
        </p:nvSpPr>
        <p:spPr/>
        <p:txBody>
          <a:bodyPr/>
          <a:lstStyle/>
          <a:p>
            <a:fld id="{12356DF5-CFED-4016-A2DB-A70AC2735480}" type="slidenum">
              <a:rPr lang="en-US" smtClean="0"/>
              <a:pPr/>
              <a:t>27</a:t>
            </a:fld>
            <a:endParaRPr lang="en-US" dirty="0">
              <a:solidFill>
                <a:schemeClr val="bg1"/>
              </a:solidFill>
            </a:endParaRPr>
          </a:p>
        </p:txBody>
      </p:sp>
    </p:spTree>
    <p:extLst>
      <p:ext uri="{BB962C8B-B14F-4D97-AF65-F5344CB8AC3E}">
        <p14:creationId xmlns:p14="http://schemas.microsoft.com/office/powerpoint/2010/main" val="2413965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E9DD0-B048-76E5-7BFF-6A5403ED5B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DE5A4A-ED83-2DEC-381D-A0DC7F6DBC57}"/>
              </a:ext>
            </a:extLst>
          </p:cNvPr>
          <p:cNvSpPr>
            <a:spLocks noGrp="1"/>
          </p:cNvSpPr>
          <p:nvPr>
            <p:ph type="title"/>
          </p:nvPr>
        </p:nvSpPr>
        <p:spPr>
          <a:xfrm>
            <a:off x="355599" y="165896"/>
            <a:ext cx="8421512" cy="830997"/>
          </a:xfrm>
        </p:spPr>
        <p:txBody>
          <a:bodyPr/>
          <a:lstStyle/>
          <a:p>
            <a:r>
              <a:rPr lang="en-US" dirty="0"/>
              <a:t>PEMDAS</a:t>
            </a:r>
          </a:p>
        </p:txBody>
      </p:sp>
      <p:sp>
        <p:nvSpPr>
          <p:cNvPr id="3" name="Content Placeholder 2">
            <a:extLst>
              <a:ext uri="{FF2B5EF4-FFF2-40B4-BE49-F238E27FC236}">
                <a16:creationId xmlns:a16="http://schemas.microsoft.com/office/drawing/2014/main" id="{978E8D30-4B32-1CBD-A08F-10BBB437A72E}"/>
              </a:ext>
            </a:extLst>
          </p:cNvPr>
          <p:cNvSpPr>
            <a:spLocks noGrp="1"/>
          </p:cNvSpPr>
          <p:nvPr>
            <p:ph idx="1"/>
          </p:nvPr>
        </p:nvSpPr>
        <p:spPr/>
        <p:txBody>
          <a:bodyPr/>
          <a:lstStyle/>
          <a:p>
            <a:pPr marL="0" indent="0">
              <a:buNone/>
            </a:pPr>
            <a:r>
              <a:rPr lang="en-US" dirty="0">
                <a:solidFill>
                  <a:schemeClr val="accent1">
                    <a:lumMod val="60000"/>
                    <a:lumOff val="40000"/>
                  </a:schemeClr>
                </a:solidFill>
              </a:rPr>
              <a:t>PEMDAS -- (P)</a:t>
            </a:r>
            <a:r>
              <a:rPr lang="en-US" dirty="0" err="1">
                <a:solidFill>
                  <a:schemeClr val="accent1">
                    <a:lumMod val="60000"/>
                    <a:lumOff val="40000"/>
                  </a:schemeClr>
                </a:solidFill>
              </a:rPr>
              <a:t>arentheses</a:t>
            </a:r>
            <a:r>
              <a:rPr lang="en-US" dirty="0">
                <a:solidFill>
                  <a:schemeClr val="accent1">
                    <a:lumMod val="60000"/>
                    <a:lumOff val="40000"/>
                  </a:schemeClr>
                </a:solidFill>
              </a:rPr>
              <a:t>, (E)</a:t>
            </a:r>
            <a:r>
              <a:rPr lang="en-US" dirty="0" err="1">
                <a:solidFill>
                  <a:schemeClr val="accent1">
                    <a:lumMod val="60000"/>
                    <a:lumOff val="40000"/>
                  </a:schemeClr>
                </a:solidFill>
              </a:rPr>
              <a:t>xponents</a:t>
            </a:r>
            <a:r>
              <a:rPr lang="en-US" dirty="0">
                <a:solidFill>
                  <a:schemeClr val="accent1">
                    <a:lumMod val="60000"/>
                    <a:lumOff val="40000"/>
                  </a:schemeClr>
                </a:solidFill>
              </a:rPr>
              <a:t>, (MD) Multiplication/Division, (AS) Addition/Subtraction</a:t>
            </a:r>
          </a:p>
          <a:p>
            <a:pPr marL="0" indent="0">
              <a:buNone/>
            </a:pPr>
            <a:endParaRPr lang="en-US" dirty="0"/>
          </a:p>
          <a:p>
            <a:pPr marL="0" indent="0">
              <a:buNone/>
            </a:pPr>
            <a:r>
              <a:rPr lang="en-US" dirty="0"/>
              <a:t>5 + 6 x 2 - 8 / 4</a:t>
            </a:r>
          </a:p>
          <a:p>
            <a:pPr lvl="1">
              <a:buFont typeface="Wingdings" panose="05000000000000000000" pitchFamily="2" charset="2"/>
              <a:buChar char="Ø"/>
            </a:pPr>
            <a:r>
              <a:rPr lang="en-US" dirty="0"/>
              <a:t>P and E: none</a:t>
            </a:r>
          </a:p>
          <a:p>
            <a:pPr lvl="1">
              <a:buFont typeface="Wingdings" panose="05000000000000000000" pitchFamily="2" charset="2"/>
              <a:buChar char="Ø"/>
            </a:pPr>
            <a:r>
              <a:rPr lang="en-US" dirty="0"/>
              <a:t>MD:  5 + 12 - 2</a:t>
            </a:r>
          </a:p>
          <a:p>
            <a:pPr lvl="1">
              <a:buFont typeface="Wingdings" panose="05000000000000000000" pitchFamily="2" charset="2"/>
              <a:buChar char="Ø"/>
            </a:pPr>
            <a:r>
              <a:rPr lang="en-US" dirty="0"/>
              <a:t>AS: 15</a:t>
            </a:r>
          </a:p>
          <a:p>
            <a:endParaRPr lang="en-US" dirty="0"/>
          </a:p>
          <a:p>
            <a:pPr marL="0" indent="0">
              <a:buNone/>
            </a:pPr>
            <a:r>
              <a:rPr lang="en-US" dirty="0"/>
              <a:t>14</a:t>
            </a:r>
            <a:r>
              <a:rPr lang="en-US" baseline="30000" dirty="0"/>
              <a:t>2</a:t>
            </a:r>
            <a:r>
              <a:rPr lang="en-US" dirty="0"/>
              <a:t> + 633 / 3 - 14 x 8</a:t>
            </a:r>
          </a:p>
          <a:p>
            <a:pPr lvl="1">
              <a:buFont typeface="Wingdings" panose="05000000000000000000" pitchFamily="2" charset="2"/>
              <a:buChar char="Ø"/>
            </a:pPr>
            <a:r>
              <a:rPr lang="en-US" dirty="0"/>
              <a:t>P: none</a:t>
            </a:r>
          </a:p>
          <a:p>
            <a:pPr lvl="1">
              <a:buFont typeface="Wingdings" panose="05000000000000000000" pitchFamily="2" charset="2"/>
              <a:buChar char="Ø"/>
            </a:pPr>
            <a:r>
              <a:rPr lang="en-US" dirty="0"/>
              <a:t>E: 196 + 633 / 3 - 14 x 8  (did 14</a:t>
            </a:r>
            <a:r>
              <a:rPr lang="en-US" baseline="30000" dirty="0"/>
              <a:t>2</a:t>
            </a:r>
            <a:r>
              <a:rPr lang="en-US" dirty="0"/>
              <a:t>)</a:t>
            </a:r>
          </a:p>
          <a:p>
            <a:pPr lvl="1">
              <a:buFont typeface="Wingdings" panose="05000000000000000000" pitchFamily="2" charset="2"/>
              <a:buChar char="Ø"/>
            </a:pPr>
            <a:r>
              <a:rPr lang="en-US" dirty="0"/>
              <a:t>MD: 196 + 211 - 112</a:t>
            </a:r>
          </a:p>
          <a:p>
            <a:pPr lvl="1">
              <a:buFont typeface="Wingdings" panose="05000000000000000000" pitchFamily="2" charset="2"/>
              <a:buChar char="Ø"/>
            </a:pPr>
            <a:r>
              <a:rPr lang="en-US" dirty="0"/>
              <a:t>AS: 295</a:t>
            </a:r>
          </a:p>
        </p:txBody>
      </p:sp>
      <p:sp>
        <p:nvSpPr>
          <p:cNvPr id="4" name="Slide Number Placeholder 3">
            <a:extLst>
              <a:ext uri="{FF2B5EF4-FFF2-40B4-BE49-F238E27FC236}">
                <a16:creationId xmlns:a16="http://schemas.microsoft.com/office/drawing/2014/main" id="{12E49522-E409-229E-79A6-74497FA4F463}"/>
              </a:ext>
            </a:extLst>
          </p:cNvPr>
          <p:cNvSpPr>
            <a:spLocks noGrp="1"/>
          </p:cNvSpPr>
          <p:nvPr>
            <p:ph type="sldNum" sz="quarter" idx="10"/>
          </p:nvPr>
        </p:nvSpPr>
        <p:spPr/>
        <p:txBody>
          <a:bodyPr/>
          <a:lstStyle/>
          <a:p>
            <a:fld id="{12356DF5-CFED-4016-A2DB-A70AC2735480}" type="slidenum">
              <a:rPr lang="en-US" smtClean="0"/>
              <a:pPr/>
              <a:t>28</a:t>
            </a:fld>
            <a:endParaRPr lang="en-US" dirty="0">
              <a:solidFill>
                <a:schemeClr val="bg1"/>
              </a:solidFill>
            </a:endParaRPr>
          </a:p>
        </p:txBody>
      </p:sp>
    </p:spTree>
    <p:extLst>
      <p:ext uri="{BB962C8B-B14F-4D97-AF65-F5344CB8AC3E}">
        <p14:creationId xmlns:p14="http://schemas.microsoft.com/office/powerpoint/2010/main" val="10063735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AF35A-DF22-2BD3-11F1-1881DD938D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0B2F0-D0AC-A1A6-E071-7BBB4F9FB80E}"/>
              </a:ext>
            </a:extLst>
          </p:cNvPr>
          <p:cNvSpPr>
            <a:spLocks noGrp="1"/>
          </p:cNvSpPr>
          <p:nvPr>
            <p:ph type="title"/>
          </p:nvPr>
        </p:nvSpPr>
        <p:spPr>
          <a:xfrm>
            <a:off x="355599" y="165896"/>
            <a:ext cx="8421512" cy="830997"/>
          </a:xfrm>
        </p:spPr>
        <p:txBody>
          <a:bodyPr/>
          <a:lstStyle/>
          <a:p>
            <a:r>
              <a:rPr lang="en-US" dirty="0"/>
              <a:t>PEMDAS</a:t>
            </a:r>
          </a:p>
        </p:txBody>
      </p:sp>
      <p:sp>
        <p:nvSpPr>
          <p:cNvPr id="3" name="Content Placeholder 2">
            <a:extLst>
              <a:ext uri="{FF2B5EF4-FFF2-40B4-BE49-F238E27FC236}">
                <a16:creationId xmlns:a16="http://schemas.microsoft.com/office/drawing/2014/main" id="{0D2A4DB1-CFA8-B723-C60C-08ADFDF8DB36}"/>
              </a:ext>
            </a:extLst>
          </p:cNvPr>
          <p:cNvSpPr>
            <a:spLocks noGrp="1"/>
          </p:cNvSpPr>
          <p:nvPr>
            <p:ph idx="1"/>
          </p:nvPr>
        </p:nvSpPr>
        <p:spPr/>
        <p:txBody>
          <a:bodyPr/>
          <a:lstStyle/>
          <a:p>
            <a:pPr marL="0" indent="0">
              <a:buNone/>
            </a:pPr>
            <a:r>
              <a:rPr lang="en-US" dirty="0">
                <a:solidFill>
                  <a:schemeClr val="accent1">
                    <a:lumMod val="60000"/>
                    <a:lumOff val="40000"/>
                  </a:schemeClr>
                </a:solidFill>
              </a:rPr>
              <a:t>PEMDAS -- (P)</a:t>
            </a:r>
            <a:r>
              <a:rPr lang="en-US" dirty="0" err="1">
                <a:solidFill>
                  <a:schemeClr val="accent1">
                    <a:lumMod val="60000"/>
                    <a:lumOff val="40000"/>
                  </a:schemeClr>
                </a:solidFill>
              </a:rPr>
              <a:t>arentheses</a:t>
            </a:r>
            <a:r>
              <a:rPr lang="en-US" dirty="0">
                <a:solidFill>
                  <a:schemeClr val="accent1">
                    <a:lumMod val="60000"/>
                    <a:lumOff val="40000"/>
                  </a:schemeClr>
                </a:solidFill>
              </a:rPr>
              <a:t>, (E)</a:t>
            </a:r>
            <a:r>
              <a:rPr lang="en-US" dirty="0" err="1">
                <a:solidFill>
                  <a:schemeClr val="accent1">
                    <a:lumMod val="60000"/>
                    <a:lumOff val="40000"/>
                  </a:schemeClr>
                </a:solidFill>
              </a:rPr>
              <a:t>xponents</a:t>
            </a:r>
            <a:r>
              <a:rPr lang="en-US" dirty="0">
                <a:solidFill>
                  <a:schemeClr val="accent1">
                    <a:lumMod val="60000"/>
                    <a:lumOff val="40000"/>
                  </a:schemeClr>
                </a:solidFill>
              </a:rPr>
              <a:t>, (MD) Multiplication/Division, (AS) Addition/Subtraction</a:t>
            </a:r>
          </a:p>
          <a:p>
            <a:pPr marL="0" indent="0">
              <a:buNone/>
            </a:pPr>
            <a:r>
              <a:rPr lang="en-US" dirty="0"/>
              <a:t>(22.17 + 100.24) x (443.4 + 349.3) / 4</a:t>
            </a:r>
            <a:r>
              <a:rPr lang="en-US" baseline="30000" dirty="0"/>
              <a:t>3</a:t>
            </a:r>
          </a:p>
          <a:p>
            <a:pPr lvl="1">
              <a:buFont typeface="Wingdings" panose="05000000000000000000" pitchFamily="2" charset="2"/>
              <a:buChar char="Ø"/>
            </a:pPr>
            <a:r>
              <a:rPr lang="en-US" dirty="0"/>
              <a:t>P: 122.41 x 792.7 / 4</a:t>
            </a:r>
            <a:r>
              <a:rPr lang="en-US" baseline="30000" dirty="0"/>
              <a:t>3</a:t>
            </a:r>
          </a:p>
          <a:p>
            <a:pPr lvl="1">
              <a:buFont typeface="Wingdings" panose="05000000000000000000" pitchFamily="2" charset="2"/>
              <a:buChar char="Ø"/>
            </a:pPr>
            <a:r>
              <a:rPr lang="en-US" dirty="0"/>
              <a:t>E: 122.41 x 792.7 / 64  (64 is not a MEASUREMENT!)</a:t>
            </a:r>
          </a:p>
          <a:p>
            <a:pPr lvl="1">
              <a:buFont typeface="Wingdings" panose="05000000000000000000" pitchFamily="2" charset="2"/>
              <a:buChar char="Ø"/>
            </a:pPr>
            <a:r>
              <a:rPr lang="en-US" dirty="0"/>
              <a:t>MD: 1516.162609</a:t>
            </a:r>
          </a:p>
          <a:p>
            <a:pPr lvl="1">
              <a:buFont typeface="Wingdings" panose="05000000000000000000" pitchFamily="2" charset="2"/>
              <a:buChar char="Ø"/>
            </a:pPr>
            <a:r>
              <a:rPr lang="en-US" dirty="0"/>
              <a:t>AS: 1516.162609 ==&gt; </a:t>
            </a:r>
            <a:r>
              <a:rPr lang="en-US" sz="2400" b="1" dirty="0">
                <a:solidFill>
                  <a:schemeClr val="accent1">
                    <a:lumMod val="60000"/>
                    <a:lumOff val="40000"/>
                  </a:schemeClr>
                </a:solidFill>
              </a:rPr>
              <a:t>1516</a:t>
            </a:r>
          </a:p>
          <a:p>
            <a:pPr lvl="1">
              <a:buFont typeface="Wingdings" panose="05000000000000000000" pitchFamily="2" charset="2"/>
              <a:buChar char="Ø"/>
            </a:pPr>
            <a:endParaRPr lang="en-US" sz="2400" b="1" dirty="0">
              <a:solidFill>
                <a:schemeClr val="accent1">
                  <a:lumMod val="60000"/>
                  <a:lumOff val="40000"/>
                </a:schemeClr>
              </a:solidFill>
            </a:endParaRPr>
          </a:p>
        </p:txBody>
      </p:sp>
      <p:sp>
        <p:nvSpPr>
          <p:cNvPr id="4" name="Slide Number Placeholder 3">
            <a:extLst>
              <a:ext uri="{FF2B5EF4-FFF2-40B4-BE49-F238E27FC236}">
                <a16:creationId xmlns:a16="http://schemas.microsoft.com/office/drawing/2014/main" id="{509AF145-A6A8-3E13-1A60-8B970647B477}"/>
              </a:ext>
            </a:extLst>
          </p:cNvPr>
          <p:cNvSpPr>
            <a:spLocks noGrp="1"/>
          </p:cNvSpPr>
          <p:nvPr>
            <p:ph type="sldNum" sz="quarter" idx="10"/>
          </p:nvPr>
        </p:nvSpPr>
        <p:spPr/>
        <p:txBody>
          <a:bodyPr/>
          <a:lstStyle/>
          <a:p>
            <a:fld id="{12356DF5-CFED-4016-A2DB-A70AC2735480}" type="slidenum">
              <a:rPr lang="en-US" smtClean="0"/>
              <a:pPr/>
              <a:t>29</a:t>
            </a:fld>
            <a:endParaRPr lang="en-US" dirty="0">
              <a:solidFill>
                <a:schemeClr val="bg1"/>
              </a:solidFill>
            </a:endParaRPr>
          </a:p>
        </p:txBody>
      </p:sp>
    </p:spTree>
    <p:extLst>
      <p:ext uri="{BB962C8B-B14F-4D97-AF65-F5344CB8AC3E}">
        <p14:creationId xmlns:p14="http://schemas.microsoft.com/office/powerpoint/2010/main" val="3170028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BAC21-788C-8F84-C971-98438E0C1B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E9F91-98AC-A1CA-D092-A00A6CB15A97}"/>
              </a:ext>
            </a:extLst>
          </p:cNvPr>
          <p:cNvSpPr>
            <a:spLocks noGrp="1"/>
          </p:cNvSpPr>
          <p:nvPr>
            <p:ph type="title"/>
          </p:nvPr>
        </p:nvSpPr>
        <p:spPr>
          <a:xfrm>
            <a:off x="355599" y="165896"/>
            <a:ext cx="8421512" cy="830997"/>
          </a:xfrm>
        </p:spPr>
        <p:txBody>
          <a:bodyPr/>
          <a:lstStyle/>
          <a:p>
            <a:r>
              <a:rPr lang="en-US" dirty="0"/>
              <a:t>PEMDAS</a:t>
            </a:r>
          </a:p>
        </p:txBody>
      </p:sp>
      <p:sp>
        <p:nvSpPr>
          <p:cNvPr id="3" name="Content Placeholder 2">
            <a:extLst>
              <a:ext uri="{FF2B5EF4-FFF2-40B4-BE49-F238E27FC236}">
                <a16:creationId xmlns:a16="http://schemas.microsoft.com/office/drawing/2014/main" id="{7DE902ED-352C-AA20-B032-680B9E9718DE}"/>
              </a:ext>
            </a:extLst>
          </p:cNvPr>
          <p:cNvSpPr>
            <a:spLocks noGrp="1"/>
          </p:cNvSpPr>
          <p:nvPr>
            <p:ph idx="1"/>
          </p:nvPr>
        </p:nvSpPr>
        <p:spPr/>
        <p:txBody>
          <a:bodyPr/>
          <a:lstStyle/>
          <a:p>
            <a:pPr marL="0" indent="0">
              <a:buNone/>
            </a:pPr>
            <a:r>
              <a:rPr lang="en-US" dirty="0">
                <a:solidFill>
                  <a:schemeClr val="accent1">
                    <a:lumMod val="60000"/>
                    <a:lumOff val="40000"/>
                  </a:schemeClr>
                </a:solidFill>
              </a:rPr>
              <a:t>PEMDAS -- (P)</a:t>
            </a:r>
            <a:r>
              <a:rPr lang="en-US" dirty="0" err="1">
                <a:solidFill>
                  <a:schemeClr val="accent1">
                    <a:lumMod val="60000"/>
                    <a:lumOff val="40000"/>
                  </a:schemeClr>
                </a:solidFill>
              </a:rPr>
              <a:t>arentheses</a:t>
            </a:r>
            <a:r>
              <a:rPr lang="en-US" dirty="0">
                <a:solidFill>
                  <a:schemeClr val="accent1">
                    <a:lumMod val="60000"/>
                    <a:lumOff val="40000"/>
                  </a:schemeClr>
                </a:solidFill>
              </a:rPr>
              <a:t>, (E)</a:t>
            </a:r>
            <a:r>
              <a:rPr lang="en-US" dirty="0" err="1">
                <a:solidFill>
                  <a:schemeClr val="accent1">
                    <a:lumMod val="60000"/>
                    <a:lumOff val="40000"/>
                  </a:schemeClr>
                </a:solidFill>
              </a:rPr>
              <a:t>xponents</a:t>
            </a:r>
            <a:r>
              <a:rPr lang="en-US" dirty="0">
                <a:solidFill>
                  <a:schemeClr val="accent1">
                    <a:lumMod val="60000"/>
                    <a:lumOff val="40000"/>
                  </a:schemeClr>
                </a:solidFill>
              </a:rPr>
              <a:t>, (MD) Multiplication/Division, (AS) Addition/Subtraction</a:t>
            </a:r>
          </a:p>
          <a:p>
            <a:pPr marL="0" indent="0">
              <a:buNone/>
            </a:pPr>
            <a:r>
              <a:rPr lang="en-US" dirty="0"/>
              <a:t>100.13 – 23.433 / ((443.4 + 349.3) / 2</a:t>
            </a:r>
            <a:r>
              <a:rPr lang="en-US" baseline="30000" dirty="0"/>
              <a:t>4</a:t>
            </a:r>
            <a:r>
              <a:rPr lang="en-US" dirty="0"/>
              <a:t>)</a:t>
            </a:r>
            <a:endParaRPr lang="en-US" baseline="30000" dirty="0"/>
          </a:p>
          <a:p>
            <a:pPr lvl="1">
              <a:buFont typeface="Wingdings" panose="05000000000000000000" pitchFamily="2" charset="2"/>
              <a:buChar char="Ø"/>
            </a:pPr>
            <a:r>
              <a:rPr lang="en-US" dirty="0"/>
              <a:t>P: 100.13 – 23.433 / (792.7 / 2</a:t>
            </a:r>
            <a:r>
              <a:rPr lang="en-US" baseline="30000" dirty="0"/>
              <a:t>4</a:t>
            </a:r>
            <a:r>
              <a:rPr lang="en-US" dirty="0"/>
              <a:t>) </a:t>
            </a:r>
            <a:r>
              <a:rPr lang="en-US" dirty="0">
                <a:sym typeface="Wingdings" panose="05000000000000000000" pitchFamily="2" charset="2"/>
              </a:rPr>
              <a:t></a:t>
            </a:r>
            <a:br>
              <a:rPr lang="en-US" dirty="0">
                <a:sym typeface="Wingdings" panose="05000000000000000000" pitchFamily="2" charset="2"/>
              </a:rPr>
            </a:br>
            <a:r>
              <a:rPr lang="en-US" dirty="0">
                <a:sym typeface="Wingdings" panose="05000000000000000000" pitchFamily="2" charset="2"/>
              </a:rPr>
              <a:t>   </a:t>
            </a:r>
            <a:r>
              <a:rPr lang="en-US" dirty="0"/>
              <a:t>100.13 – 23.433 / (792.7 / 16) </a:t>
            </a:r>
            <a:r>
              <a:rPr lang="en-US" dirty="0">
                <a:sym typeface="Wingdings" panose="05000000000000000000" pitchFamily="2" charset="2"/>
              </a:rPr>
              <a:t></a:t>
            </a:r>
            <a:br>
              <a:rPr lang="en-US" dirty="0">
                <a:sym typeface="Wingdings" panose="05000000000000000000" pitchFamily="2" charset="2"/>
              </a:rPr>
            </a:br>
            <a:r>
              <a:rPr lang="en-US" dirty="0">
                <a:sym typeface="Wingdings" panose="05000000000000000000" pitchFamily="2" charset="2"/>
              </a:rPr>
              <a:t>   100.13 – 23.433 / 49.54375</a:t>
            </a:r>
            <a:endParaRPr lang="en-US" baseline="30000" dirty="0"/>
          </a:p>
          <a:p>
            <a:pPr lvl="1">
              <a:buFont typeface="Wingdings" panose="05000000000000000000" pitchFamily="2" charset="2"/>
              <a:buChar char="Ø"/>
            </a:pPr>
            <a:r>
              <a:rPr lang="en-US" dirty="0"/>
              <a:t>E: evaluated within parentheses!</a:t>
            </a:r>
          </a:p>
          <a:p>
            <a:pPr lvl="1">
              <a:buFont typeface="Wingdings" panose="05000000000000000000" pitchFamily="2" charset="2"/>
              <a:buChar char="Ø"/>
            </a:pPr>
            <a:r>
              <a:rPr lang="en-US" dirty="0"/>
              <a:t>MD: 100.13 - 0.47297590513 </a:t>
            </a:r>
          </a:p>
          <a:p>
            <a:pPr lvl="1">
              <a:buFont typeface="Wingdings" panose="05000000000000000000" pitchFamily="2" charset="2"/>
              <a:buChar char="Ø"/>
            </a:pPr>
            <a:r>
              <a:rPr lang="en-US" dirty="0"/>
              <a:t>AS: 99.6570240949 ==&gt; </a:t>
            </a:r>
            <a:r>
              <a:rPr lang="en-US" sz="2400" b="1" dirty="0">
                <a:solidFill>
                  <a:schemeClr val="accent1">
                    <a:lumMod val="60000"/>
                    <a:lumOff val="40000"/>
                  </a:schemeClr>
                </a:solidFill>
              </a:rPr>
              <a:t>99.66</a:t>
            </a:r>
            <a:endParaRPr lang="en-US" b="1" dirty="0">
              <a:solidFill>
                <a:schemeClr val="accent1">
                  <a:lumMod val="60000"/>
                  <a:lumOff val="40000"/>
                </a:schemeClr>
              </a:solidFill>
            </a:endParaRPr>
          </a:p>
          <a:p>
            <a:pPr lvl="1">
              <a:buFont typeface="Wingdings" panose="05000000000000000000" pitchFamily="2" charset="2"/>
              <a:buChar char="Ø"/>
            </a:pPr>
            <a:endParaRPr lang="en-US" sz="2400" b="1" dirty="0">
              <a:solidFill>
                <a:schemeClr val="accent1">
                  <a:lumMod val="60000"/>
                  <a:lumOff val="40000"/>
                </a:schemeClr>
              </a:solidFill>
            </a:endParaRPr>
          </a:p>
        </p:txBody>
      </p:sp>
      <p:sp>
        <p:nvSpPr>
          <p:cNvPr id="4" name="Slide Number Placeholder 3">
            <a:extLst>
              <a:ext uri="{FF2B5EF4-FFF2-40B4-BE49-F238E27FC236}">
                <a16:creationId xmlns:a16="http://schemas.microsoft.com/office/drawing/2014/main" id="{B493069D-DC75-F35B-B7A8-E864274CAAF2}"/>
              </a:ext>
            </a:extLst>
          </p:cNvPr>
          <p:cNvSpPr>
            <a:spLocks noGrp="1"/>
          </p:cNvSpPr>
          <p:nvPr>
            <p:ph type="sldNum" sz="quarter" idx="10"/>
          </p:nvPr>
        </p:nvSpPr>
        <p:spPr/>
        <p:txBody>
          <a:bodyPr/>
          <a:lstStyle/>
          <a:p>
            <a:fld id="{12356DF5-CFED-4016-A2DB-A70AC2735480}" type="slidenum">
              <a:rPr lang="en-US" smtClean="0"/>
              <a:pPr/>
              <a:t>30</a:t>
            </a:fld>
            <a:endParaRPr lang="en-US" dirty="0">
              <a:solidFill>
                <a:schemeClr val="bg1"/>
              </a:solidFill>
            </a:endParaRPr>
          </a:p>
        </p:txBody>
      </p:sp>
    </p:spTree>
    <p:extLst>
      <p:ext uri="{BB962C8B-B14F-4D97-AF65-F5344CB8AC3E}">
        <p14:creationId xmlns:p14="http://schemas.microsoft.com/office/powerpoint/2010/main" val="32159429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9A70-2480-C914-B04E-0C62E9098305}"/>
              </a:ext>
            </a:extLst>
          </p:cNvPr>
          <p:cNvSpPr>
            <a:spLocks noGrp="1"/>
          </p:cNvSpPr>
          <p:nvPr>
            <p:ph type="title"/>
          </p:nvPr>
        </p:nvSpPr>
        <p:spPr>
          <a:xfrm>
            <a:off x="338666" y="310445"/>
            <a:ext cx="8421512" cy="769441"/>
          </a:xfrm>
        </p:spPr>
        <p:txBody>
          <a:bodyPr/>
          <a:lstStyle/>
          <a:p>
            <a:r>
              <a:rPr lang="en-US" sz="4400" dirty="0"/>
              <a:t>Caution In Using Your Calculator</a:t>
            </a:r>
          </a:p>
        </p:txBody>
      </p:sp>
      <p:sp>
        <p:nvSpPr>
          <p:cNvPr id="3" name="Content Placeholder 2">
            <a:extLst>
              <a:ext uri="{FF2B5EF4-FFF2-40B4-BE49-F238E27FC236}">
                <a16:creationId xmlns:a16="http://schemas.microsoft.com/office/drawing/2014/main" id="{7AB1E116-53BF-7FE9-453F-9DC6AAEA58B6}"/>
              </a:ext>
            </a:extLst>
          </p:cNvPr>
          <p:cNvSpPr>
            <a:spLocks noGrp="1"/>
          </p:cNvSpPr>
          <p:nvPr>
            <p:ph idx="1"/>
          </p:nvPr>
        </p:nvSpPr>
        <p:spPr>
          <a:xfrm>
            <a:off x="372533" y="1168231"/>
            <a:ext cx="8387645" cy="5313487"/>
          </a:xfrm>
        </p:spPr>
        <p:txBody>
          <a:bodyPr/>
          <a:lstStyle/>
          <a:p>
            <a:r>
              <a:rPr lang="en-US" sz="2200" dirty="0"/>
              <a:t>In your lab, you had the following masses:</a:t>
            </a:r>
          </a:p>
          <a:p>
            <a:endParaRPr lang="en-US" dirty="0"/>
          </a:p>
          <a:p>
            <a:endParaRPr lang="en-US" dirty="0"/>
          </a:p>
          <a:p>
            <a:endParaRPr lang="en-US" dirty="0"/>
          </a:p>
          <a:p>
            <a:endParaRPr lang="en-US" dirty="0"/>
          </a:p>
          <a:p>
            <a:endParaRPr lang="en-US" dirty="0"/>
          </a:p>
          <a:p>
            <a:r>
              <a:rPr lang="en-US" sz="2000" dirty="0"/>
              <a:t>You had to get two masses on the balance, then make a calculation to determine the difference to get the mass of a chemical</a:t>
            </a:r>
          </a:p>
          <a:p>
            <a:r>
              <a:rPr lang="en-US" sz="2000" dirty="0"/>
              <a:t>Your calculator gave a result “4.374”</a:t>
            </a:r>
          </a:p>
          <a:p>
            <a:r>
              <a:rPr lang="en-US" sz="2200" dirty="0"/>
              <a:t>But rules on precision inform you it is “4.3740”, not “4.374”</a:t>
            </a:r>
          </a:p>
          <a:p>
            <a:r>
              <a:rPr lang="en-US" sz="2200" dirty="0"/>
              <a:t>So, you need to be aware of precision when your calculator is not</a:t>
            </a:r>
          </a:p>
          <a:p>
            <a:endParaRPr lang="en-US" dirty="0"/>
          </a:p>
        </p:txBody>
      </p:sp>
      <p:graphicFrame>
        <p:nvGraphicFramePr>
          <p:cNvPr id="4" name="Table 3">
            <a:extLst>
              <a:ext uri="{FF2B5EF4-FFF2-40B4-BE49-F238E27FC236}">
                <a16:creationId xmlns:a16="http://schemas.microsoft.com/office/drawing/2014/main" id="{7CCBE0D3-90A7-C8CE-D961-1332BA64B112}"/>
              </a:ext>
            </a:extLst>
          </p:cNvPr>
          <p:cNvGraphicFramePr>
            <a:graphicFrameLocks noGrp="1"/>
          </p:cNvGraphicFramePr>
          <p:nvPr>
            <p:extLst>
              <p:ext uri="{D42A27DB-BD31-4B8C-83A1-F6EECF244321}">
                <p14:modId xmlns:p14="http://schemas.microsoft.com/office/powerpoint/2010/main" val="6175359"/>
              </p:ext>
            </p:extLst>
          </p:nvPr>
        </p:nvGraphicFramePr>
        <p:xfrm>
          <a:off x="758284" y="1892141"/>
          <a:ext cx="7233424" cy="1849120"/>
        </p:xfrm>
        <a:graphic>
          <a:graphicData uri="http://schemas.openxmlformats.org/drawingml/2006/table">
            <a:tbl>
              <a:tblPr firstRow="1" bandRow="1">
                <a:tableStyleId>{073A0DAA-6AF3-43AB-8588-CEC1D06C72B9}</a:tableStyleId>
              </a:tblPr>
              <a:tblGrid>
                <a:gridCol w="5619136">
                  <a:extLst>
                    <a:ext uri="{9D8B030D-6E8A-4147-A177-3AD203B41FA5}">
                      <a16:colId xmlns:a16="http://schemas.microsoft.com/office/drawing/2014/main" val="488647456"/>
                    </a:ext>
                  </a:extLst>
                </a:gridCol>
                <a:gridCol w="1614288">
                  <a:extLst>
                    <a:ext uri="{9D8B030D-6E8A-4147-A177-3AD203B41FA5}">
                      <a16:colId xmlns:a16="http://schemas.microsoft.com/office/drawing/2014/main" val="3856228241"/>
                    </a:ext>
                  </a:extLst>
                </a:gridCol>
              </a:tblGrid>
              <a:tr h="370840">
                <a:tc>
                  <a:txBody>
                    <a:bodyPr/>
                    <a:lstStyle/>
                    <a:p>
                      <a:r>
                        <a:rPr lang="en-US" dirty="0"/>
                        <a:t>Item</a:t>
                      </a:r>
                    </a:p>
                  </a:txBody>
                  <a:tcPr/>
                </a:tc>
                <a:tc>
                  <a:txBody>
                    <a:bodyPr/>
                    <a:lstStyle/>
                    <a:p>
                      <a:pPr algn="ctr"/>
                      <a:r>
                        <a:rPr lang="en-US" dirty="0"/>
                        <a:t>Mass</a:t>
                      </a:r>
                    </a:p>
                  </a:txBody>
                  <a:tcPr/>
                </a:tc>
                <a:extLst>
                  <a:ext uri="{0D108BD9-81ED-4DB2-BD59-A6C34878D82A}">
                    <a16:rowId xmlns:a16="http://schemas.microsoft.com/office/drawing/2014/main" val="4225127355"/>
                  </a:ext>
                </a:extLst>
              </a:tr>
              <a:tr h="0">
                <a:tc>
                  <a:txBody>
                    <a:bodyPr/>
                    <a:lstStyle/>
                    <a:p>
                      <a:pPr algn="r"/>
                      <a:r>
                        <a:rPr lang="en-US" dirty="0"/>
                        <a:t>Empty beaker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25.4833 g</a:t>
                      </a:r>
                    </a:p>
                  </a:txBody>
                  <a:tcPr/>
                </a:tc>
                <a:extLst>
                  <a:ext uri="{0D108BD9-81ED-4DB2-BD59-A6C34878D82A}">
                    <a16:rowId xmlns:a16="http://schemas.microsoft.com/office/drawing/2014/main" val="3339848031"/>
                  </a:ext>
                </a:extLst>
              </a:tr>
              <a:tr h="370840">
                <a:tc>
                  <a:txBody>
                    <a:bodyPr/>
                    <a:lstStyle/>
                    <a:p>
                      <a:pPr algn="r"/>
                      <a:r>
                        <a:rPr lang="en-US" dirty="0"/>
                        <a:t>Beaker with sodium chloride (NaCl) reagent</a:t>
                      </a:r>
                    </a:p>
                  </a:txBody>
                  <a:tcPr/>
                </a:tc>
                <a:tc>
                  <a:txBody>
                    <a:bodyPr/>
                    <a:lstStyle/>
                    <a:p>
                      <a:r>
                        <a:rPr lang="en-US" dirty="0"/>
                        <a:t>29.8573 g</a:t>
                      </a:r>
                    </a:p>
                  </a:txBody>
                  <a:tcPr/>
                </a:tc>
                <a:extLst>
                  <a:ext uri="{0D108BD9-81ED-4DB2-BD59-A6C34878D82A}">
                    <a16:rowId xmlns:a16="http://schemas.microsoft.com/office/drawing/2014/main" val="3240202465"/>
                  </a:ext>
                </a:extLst>
              </a:tr>
              <a:tr h="370840">
                <a:tc>
                  <a:txBody>
                    <a:bodyPr/>
                    <a:lstStyle/>
                    <a:p>
                      <a:pPr algn="r"/>
                      <a:r>
                        <a:rPr lang="en-US" dirty="0">
                          <a:solidFill>
                            <a:srgbClr val="FF0000"/>
                          </a:solidFill>
                        </a:rPr>
                        <a:t> (calculation)</a:t>
                      </a:r>
                      <a:r>
                        <a:rPr lang="en-US" dirty="0"/>
                        <a:t> Sodium chloride (NaCl) used*</a:t>
                      </a:r>
                    </a:p>
                  </a:txBody>
                  <a:tcPr/>
                </a:tc>
                <a:tc>
                  <a:txBody>
                    <a:bodyPr/>
                    <a:lstStyle/>
                    <a:p>
                      <a:r>
                        <a:rPr lang="en-US" dirty="0"/>
                        <a:t>4.3740 g</a:t>
                      </a:r>
                    </a:p>
                  </a:txBody>
                  <a:tcPr/>
                </a:tc>
                <a:extLst>
                  <a:ext uri="{0D108BD9-81ED-4DB2-BD59-A6C34878D82A}">
                    <a16:rowId xmlns:a16="http://schemas.microsoft.com/office/drawing/2014/main" val="3922968966"/>
                  </a:ext>
                </a:extLst>
              </a:tr>
              <a:tr h="370840">
                <a:tc gridSpan="2">
                  <a:txBody>
                    <a:bodyPr/>
                    <a:lstStyle/>
                    <a:p>
                      <a:pPr algn="l"/>
                      <a:r>
                        <a:rPr lang="en-US" dirty="0"/>
                        <a:t>* Difference in mass = 29.8573 – 25.4833 = “4.374”</a:t>
                      </a:r>
                    </a:p>
                  </a:txBody>
                  <a:tcPr/>
                </a:tc>
                <a:tc hMerge="1">
                  <a:txBody>
                    <a:bodyPr/>
                    <a:lstStyle/>
                    <a:p>
                      <a:endParaRPr lang="en-US" dirty="0"/>
                    </a:p>
                  </a:txBody>
                  <a:tcPr/>
                </a:tc>
                <a:extLst>
                  <a:ext uri="{0D108BD9-81ED-4DB2-BD59-A6C34878D82A}">
                    <a16:rowId xmlns:a16="http://schemas.microsoft.com/office/drawing/2014/main" val="2038498773"/>
                  </a:ext>
                </a:extLst>
              </a:tr>
            </a:tbl>
          </a:graphicData>
        </a:graphic>
      </p:graphicFrame>
      <p:sp>
        <p:nvSpPr>
          <p:cNvPr id="5" name="Slide Number Placeholder 4">
            <a:extLst>
              <a:ext uri="{FF2B5EF4-FFF2-40B4-BE49-F238E27FC236}">
                <a16:creationId xmlns:a16="http://schemas.microsoft.com/office/drawing/2014/main" id="{06B6DD65-7D86-0814-0763-8FE88A53DB41}"/>
              </a:ext>
            </a:extLst>
          </p:cNvPr>
          <p:cNvSpPr>
            <a:spLocks noGrp="1"/>
          </p:cNvSpPr>
          <p:nvPr>
            <p:ph type="sldNum" sz="quarter" idx="10"/>
          </p:nvPr>
        </p:nvSpPr>
        <p:spPr/>
        <p:txBody>
          <a:bodyPr/>
          <a:lstStyle/>
          <a:p>
            <a:fld id="{12356DF5-CFED-4016-A2DB-A70AC2735480}" type="slidenum">
              <a:rPr lang="en-US" smtClean="0"/>
              <a:pPr/>
              <a:t>31</a:t>
            </a:fld>
            <a:endParaRPr lang="en-US" dirty="0">
              <a:solidFill>
                <a:schemeClr val="bg1"/>
              </a:solidFill>
            </a:endParaRPr>
          </a:p>
        </p:txBody>
      </p:sp>
    </p:spTree>
    <p:extLst>
      <p:ext uri="{BB962C8B-B14F-4D97-AF65-F5344CB8AC3E}">
        <p14:creationId xmlns:p14="http://schemas.microsoft.com/office/powerpoint/2010/main" val="2478634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3272F-1B6F-52A9-BA34-AAE242B9BFC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FBDE3E4-8CEA-964C-19D2-B8E5CB169ACD}"/>
              </a:ext>
            </a:extLst>
          </p:cNvPr>
          <p:cNvSpPr>
            <a:spLocks noGrp="1"/>
          </p:cNvSpPr>
          <p:nvPr>
            <p:ph type="title"/>
          </p:nvPr>
        </p:nvSpPr>
        <p:spPr>
          <a:xfrm>
            <a:off x="364067" y="275297"/>
            <a:ext cx="8421512" cy="769441"/>
          </a:xfrm>
        </p:spPr>
        <p:txBody>
          <a:bodyPr/>
          <a:lstStyle/>
          <a:p>
            <a:r>
              <a:rPr lang="en-US" sz="4400" dirty="0"/>
              <a:t>Conversion Factors</a:t>
            </a:r>
          </a:p>
        </p:txBody>
      </p:sp>
      <p:sp>
        <p:nvSpPr>
          <p:cNvPr id="6" name="Content Placeholder 5">
            <a:extLst>
              <a:ext uri="{FF2B5EF4-FFF2-40B4-BE49-F238E27FC236}">
                <a16:creationId xmlns:a16="http://schemas.microsoft.com/office/drawing/2014/main" id="{5FFADD48-4BAE-7A7F-9783-2253800A3BEA}"/>
              </a:ext>
            </a:extLst>
          </p:cNvPr>
          <p:cNvSpPr>
            <a:spLocks noGrp="1"/>
          </p:cNvSpPr>
          <p:nvPr>
            <p:ph idx="1"/>
          </p:nvPr>
        </p:nvSpPr>
        <p:spPr/>
        <p:txBody>
          <a:bodyPr/>
          <a:lstStyle/>
          <a:p>
            <a:pPr marL="0" indent="0">
              <a:buNone/>
              <a:defRPr/>
            </a:pPr>
            <a:r>
              <a:rPr kumimoji="0" lang="en-US" b="0" i="0" u="none" strike="noStrike" kern="0" cap="none" spc="0" normalizeH="0" baseline="0" noProof="0" dirty="0">
                <a:ln>
                  <a:noFill/>
                </a:ln>
                <a:solidFill>
                  <a:srgbClr val="FFFFFF"/>
                </a:solidFill>
                <a:effectLst/>
                <a:uLnTx/>
                <a:uFillTx/>
                <a:latin typeface="Verdana"/>
                <a:ea typeface="+mn-ea"/>
                <a:cs typeface="+mn-cs"/>
              </a:rPr>
              <a:t>Calculations in chemistry frequently require converting between the </a:t>
            </a:r>
            <a:r>
              <a:rPr kumimoji="0" lang="en-US" b="0" i="0" u="none" strike="noStrike" kern="0" cap="none" spc="0" normalizeH="0" baseline="0" noProof="0" dirty="0">
                <a:ln>
                  <a:noFill/>
                </a:ln>
                <a:solidFill>
                  <a:srgbClr val="00FF00"/>
                </a:solidFill>
                <a:effectLst/>
                <a:uLnTx/>
                <a:uFillTx/>
                <a:latin typeface="Verdana"/>
                <a:ea typeface="+mn-ea"/>
                <a:cs typeface="+mn-cs"/>
              </a:rPr>
              <a:t>units</a:t>
            </a:r>
            <a:r>
              <a:rPr kumimoji="0" lang="en-US" b="0" i="0" u="none" strike="noStrike" kern="0" cap="none" spc="0" normalizeH="0" baseline="0" noProof="0" dirty="0">
                <a:ln>
                  <a:noFill/>
                </a:ln>
                <a:solidFill>
                  <a:srgbClr val="FFFFFF"/>
                </a:solidFill>
                <a:effectLst/>
                <a:uLnTx/>
                <a:uFillTx/>
                <a:latin typeface="Verdana"/>
                <a:ea typeface="+mn-ea"/>
                <a:cs typeface="+mn-cs"/>
              </a:rPr>
              <a:t> of a </a:t>
            </a:r>
            <a:r>
              <a:rPr kumimoji="0" lang="en-US" b="0" i="0" u="none" strike="noStrike" kern="0" cap="none" spc="0" normalizeH="0" baseline="0" noProof="0" dirty="0">
                <a:ln>
                  <a:noFill/>
                </a:ln>
                <a:solidFill>
                  <a:srgbClr val="00FF00"/>
                </a:solidFill>
                <a:effectLst/>
                <a:uLnTx/>
                <a:uFillTx/>
                <a:latin typeface="Verdana"/>
                <a:ea typeface="+mn-ea"/>
                <a:cs typeface="+mn-cs"/>
              </a:rPr>
              <a:t>quantity</a:t>
            </a:r>
          </a:p>
          <a:p>
            <a:pPr>
              <a:defRPr/>
            </a:pPr>
            <a:r>
              <a:rPr lang="en-US" dirty="0"/>
              <a:t>Volume: fluid ounces to milliliter (“</a:t>
            </a:r>
            <a:r>
              <a:rPr lang="en-US" dirty="0" err="1"/>
              <a:t>fl</a:t>
            </a:r>
            <a:r>
              <a:rPr lang="en-US" dirty="0"/>
              <a:t> oz” to “ml”)</a:t>
            </a:r>
          </a:p>
          <a:p>
            <a:pPr>
              <a:defRPr/>
            </a:pPr>
            <a:r>
              <a:rPr lang="en-US" dirty="0"/>
              <a:t>Temperature: Celsius to Kelvin (“°C” to “K”)</a:t>
            </a:r>
          </a:p>
          <a:p>
            <a:pPr>
              <a:defRPr/>
            </a:pPr>
            <a:r>
              <a:rPr lang="en-US" dirty="0"/>
              <a:t>Pressure: torr to atmosphere (“torr” to “atm”</a:t>
            </a:r>
          </a:p>
          <a:p>
            <a:pPr marL="0" indent="0">
              <a:buNone/>
              <a:defRPr/>
            </a:pPr>
            <a:endParaRPr lang="en-US" dirty="0"/>
          </a:p>
          <a:p>
            <a:pPr marL="0" indent="0">
              <a:buNone/>
              <a:defRPr/>
            </a:pPr>
            <a:r>
              <a:rPr lang="en-US" dirty="0"/>
              <a:t>Conversions not just about measurement systems but also include scales which are powers of 10</a:t>
            </a:r>
          </a:p>
          <a:p>
            <a:pPr>
              <a:defRPr/>
            </a:pPr>
            <a:r>
              <a:rPr lang="en-US" dirty="0"/>
              <a:t>1 liter (L) = 1000 milliliters = 1000 mL</a:t>
            </a:r>
          </a:p>
          <a:p>
            <a:pPr marL="236538" lvl="1" indent="0">
              <a:buNone/>
              <a:defRPr/>
            </a:pPr>
            <a:r>
              <a:rPr lang="en-US" dirty="0">
                <a:solidFill>
                  <a:srgbClr val="FFC000"/>
                </a:solidFill>
              </a:rPr>
              <a:t>not 1000 ml! use SI unit lettering case</a:t>
            </a:r>
          </a:p>
          <a:p>
            <a:pPr>
              <a:defRPr/>
            </a:pPr>
            <a:r>
              <a:rPr lang="en-US" dirty="0"/>
              <a:t>1 kilogram (kg) = 1000 grams (g)</a:t>
            </a:r>
          </a:p>
        </p:txBody>
      </p:sp>
      <p:sp>
        <p:nvSpPr>
          <p:cNvPr id="2" name="Slide Number Placeholder 1">
            <a:extLst>
              <a:ext uri="{FF2B5EF4-FFF2-40B4-BE49-F238E27FC236}">
                <a16:creationId xmlns:a16="http://schemas.microsoft.com/office/drawing/2014/main" id="{D10A0044-A820-8190-F2C4-CF06DE53D915}"/>
              </a:ext>
            </a:extLst>
          </p:cNvPr>
          <p:cNvSpPr>
            <a:spLocks noGrp="1"/>
          </p:cNvSpPr>
          <p:nvPr>
            <p:ph type="sldNum" sz="quarter" idx="10"/>
          </p:nvPr>
        </p:nvSpPr>
        <p:spPr/>
        <p:txBody>
          <a:bodyPr/>
          <a:lstStyle/>
          <a:p>
            <a:fld id="{12356DF5-CFED-4016-A2DB-A70AC2735480}" type="slidenum">
              <a:rPr lang="en-US" smtClean="0"/>
              <a:pPr/>
              <a:t>32</a:t>
            </a:fld>
            <a:endParaRPr lang="en-US" dirty="0">
              <a:solidFill>
                <a:schemeClr val="bg1"/>
              </a:solidFill>
            </a:endParaRPr>
          </a:p>
        </p:txBody>
      </p:sp>
    </p:spTree>
    <p:extLst>
      <p:ext uri="{BB962C8B-B14F-4D97-AF65-F5344CB8AC3E}">
        <p14:creationId xmlns:p14="http://schemas.microsoft.com/office/powerpoint/2010/main" val="21138883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ADB8-A77E-A347-18BE-16960D67F55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5B57FF7-E56E-0076-5B95-5498B0E0702B}"/>
              </a:ext>
            </a:extLst>
          </p:cNvPr>
          <p:cNvSpPr>
            <a:spLocks noGrp="1"/>
          </p:cNvSpPr>
          <p:nvPr>
            <p:ph type="title"/>
          </p:nvPr>
        </p:nvSpPr>
        <p:spPr>
          <a:xfrm>
            <a:off x="364067" y="244468"/>
            <a:ext cx="8421512" cy="584775"/>
          </a:xfrm>
        </p:spPr>
        <p:txBody>
          <a:bodyPr/>
          <a:lstStyle/>
          <a:p>
            <a:r>
              <a:rPr lang="en-US" sz="3200" dirty="0"/>
              <a:t>Conversion Nomenclature</a:t>
            </a:r>
          </a:p>
        </p:txBody>
      </p:sp>
      <p:sp>
        <p:nvSpPr>
          <p:cNvPr id="5" name="Content Placeholder 4">
            <a:extLst>
              <a:ext uri="{FF2B5EF4-FFF2-40B4-BE49-F238E27FC236}">
                <a16:creationId xmlns:a16="http://schemas.microsoft.com/office/drawing/2014/main" id="{EB28DCB1-35C8-C3B0-B901-154710D24525}"/>
              </a:ext>
            </a:extLst>
          </p:cNvPr>
          <p:cNvSpPr>
            <a:spLocks noGrp="1"/>
          </p:cNvSpPr>
          <p:nvPr>
            <p:ph idx="1"/>
          </p:nvPr>
        </p:nvSpPr>
        <p:spPr>
          <a:xfrm>
            <a:off x="392288" y="1336462"/>
            <a:ext cx="8387645" cy="5215465"/>
          </a:xfrm>
        </p:spPr>
        <p:txBody>
          <a:bodyPr/>
          <a:lstStyle/>
          <a:p>
            <a:pPr marL="0" indent="0">
              <a:buNone/>
              <a:defRPr/>
            </a:pPr>
            <a:endParaRPr lang="en-US" dirty="0">
              <a:solidFill>
                <a:srgbClr val="FFFFFF"/>
              </a:solidFill>
            </a:endParaRPr>
          </a:p>
          <a:p>
            <a:pPr marL="0" indent="0">
              <a:buNone/>
              <a:defRPr/>
            </a:pPr>
            <a:endParaRPr lang="en-US" dirty="0">
              <a:solidFill>
                <a:srgbClr val="FFFFFF"/>
              </a:solidFill>
            </a:endParaRPr>
          </a:p>
        </p:txBody>
      </p:sp>
      <p:graphicFrame>
        <p:nvGraphicFramePr>
          <p:cNvPr id="7" name="Table 6">
            <a:extLst>
              <a:ext uri="{FF2B5EF4-FFF2-40B4-BE49-F238E27FC236}">
                <a16:creationId xmlns:a16="http://schemas.microsoft.com/office/drawing/2014/main" id="{1F3FF046-005A-0121-8982-957848848187}"/>
              </a:ext>
            </a:extLst>
          </p:cNvPr>
          <p:cNvGraphicFramePr>
            <a:graphicFrameLocks noGrp="1"/>
          </p:cNvGraphicFramePr>
          <p:nvPr>
            <p:extLst>
              <p:ext uri="{D42A27DB-BD31-4B8C-83A1-F6EECF244321}">
                <p14:modId xmlns:p14="http://schemas.microsoft.com/office/powerpoint/2010/main" val="3857770191"/>
              </p:ext>
            </p:extLst>
          </p:nvPr>
        </p:nvGraphicFramePr>
        <p:xfrm>
          <a:off x="364067" y="1336462"/>
          <a:ext cx="8519072" cy="5124949"/>
        </p:xfrm>
        <a:graphic>
          <a:graphicData uri="http://schemas.openxmlformats.org/drawingml/2006/table">
            <a:tbl>
              <a:tblPr firstRow="1" bandRow="1">
                <a:tableStyleId>{073A0DAA-6AF3-43AB-8588-CEC1D06C72B9}</a:tableStyleId>
              </a:tblPr>
              <a:tblGrid>
                <a:gridCol w="1673285">
                  <a:extLst>
                    <a:ext uri="{9D8B030D-6E8A-4147-A177-3AD203B41FA5}">
                      <a16:colId xmlns:a16="http://schemas.microsoft.com/office/drawing/2014/main" val="2997406436"/>
                    </a:ext>
                  </a:extLst>
                </a:gridCol>
                <a:gridCol w="2364051">
                  <a:extLst>
                    <a:ext uri="{9D8B030D-6E8A-4147-A177-3AD203B41FA5}">
                      <a16:colId xmlns:a16="http://schemas.microsoft.com/office/drawing/2014/main" val="3391359477"/>
                    </a:ext>
                  </a:extLst>
                </a:gridCol>
                <a:gridCol w="4481736">
                  <a:extLst>
                    <a:ext uri="{9D8B030D-6E8A-4147-A177-3AD203B41FA5}">
                      <a16:colId xmlns:a16="http://schemas.microsoft.com/office/drawing/2014/main" val="2958674920"/>
                    </a:ext>
                  </a:extLst>
                </a:gridCol>
              </a:tblGrid>
              <a:tr h="301673">
                <a:tc>
                  <a:txBody>
                    <a:bodyPr/>
                    <a:lstStyle/>
                    <a:p>
                      <a:pPr algn="ctr"/>
                      <a:r>
                        <a:rPr lang="en-US" sz="1600" dirty="0"/>
                        <a:t>Prefix</a:t>
                      </a:r>
                    </a:p>
                  </a:txBody>
                  <a:tcPr anchor="b"/>
                </a:tc>
                <a:tc>
                  <a:txBody>
                    <a:bodyPr/>
                    <a:lstStyle/>
                    <a:p>
                      <a:pPr algn="ctr"/>
                      <a:r>
                        <a:rPr lang="en-US" sz="1600" dirty="0"/>
                        <a:t>Meaning</a:t>
                      </a:r>
                    </a:p>
                  </a:txBody>
                  <a:tcPr anchor="b"/>
                </a:tc>
                <a:tc>
                  <a:txBody>
                    <a:bodyPr/>
                    <a:lstStyle/>
                    <a:p>
                      <a:pPr algn="ctr"/>
                      <a:r>
                        <a:rPr lang="en-US" sz="1600" dirty="0"/>
                        <a:t>Example</a:t>
                      </a:r>
                    </a:p>
                  </a:txBody>
                  <a:tcPr/>
                </a:tc>
                <a:extLst>
                  <a:ext uri="{0D108BD9-81ED-4DB2-BD59-A6C34878D82A}">
                    <a16:rowId xmlns:a16="http://schemas.microsoft.com/office/drawing/2014/main" val="369811630"/>
                  </a:ext>
                </a:extLst>
              </a:tr>
              <a:tr h="352112">
                <a:tc gridSpan="3">
                  <a:txBody>
                    <a:bodyPr/>
                    <a:lstStyle/>
                    <a:p>
                      <a:r>
                        <a:rPr lang="en-US" sz="1600" i="1" dirty="0">
                          <a:solidFill>
                            <a:schemeClr val="accent6"/>
                          </a:solidFill>
                        </a:rPr>
                        <a:t>Multiple of 10 (greater than 1)</a:t>
                      </a:r>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84444244"/>
                  </a:ext>
                </a:extLst>
              </a:tr>
              <a:tr h="352112">
                <a:tc>
                  <a:txBody>
                    <a:bodyPr/>
                    <a:lstStyle/>
                    <a:p>
                      <a:r>
                        <a:rPr lang="en-US" dirty="0"/>
                        <a:t>kilo- (k)</a:t>
                      </a:r>
                    </a:p>
                  </a:txBody>
                  <a:tcPr>
                    <a:solidFill>
                      <a:srgbClr val="92D050"/>
                    </a:solidFill>
                  </a:tcPr>
                </a:tc>
                <a:tc>
                  <a:txBody>
                    <a:bodyPr/>
                    <a:lstStyle/>
                    <a:p>
                      <a:r>
                        <a:rPr lang="en-US" sz="1600" dirty="0"/>
                        <a:t>10</a:t>
                      </a:r>
                      <a:r>
                        <a:rPr lang="en-US" sz="1600" baseline="30000" dirty="0"/>
                        <a:t>3</a:t>
                      </a:r>
                      <a:r>
                        <a:rPr lang="en-US" sz="1600" dirty="0"/>
                        <a:t> = 1000</a:t>
                      </a:r>
                    </a:p>
                  </a:txBody>
                  <a:tcPr>
                    <a:solidFill>
                      <a:srgbClr val="92D050"/>
                    </a:solidFill>
                  </a:tcPr>
                </a:tc>
                <a:tc>
                  <a:txBody>
                    <a:bodyPr/>
                    <a:lstStyle/>
                    <a:p>
                      <a:r>
                        <a:rPr lang="en-US" sz="1600" dirty="0">
                          <a:latin typeface="+mj-lt"/>
                        </a:rPr>
                        <a:t>2 kilograms (kg) = 2000 grams</a:t>
                      </a:r>
                      <a:endParaRPr lang="en-US" sz="1600" dirty="0"/>
                    </a:p>
                  </a:txBody>
                  <a:tcPr>
                    <a:solidFill>
                      <a:srgbClr val="92D050"/>
                    </a:solidFill>
                  </a:tcPr>
                </a:tc>
                <a:extLst>
                  <a:ext uri="{0D108BD9-81ED-4DB2-BD59-A6C34878D82A}">
                    <a16:rowId xmlns:a16="http://schemas.microsoft.com/office/drawing/2014/main" val="4054594233"/>
                  </a:ext>
                </a:extLst>
              </a:tr>
              <a:tr h="352112">
                <a:tc>
                  <a:txBody>
                    <a:bodyPr/>
                    <a:lstStyle/>
                    <a:p>
                      <a:r>
                        <a:rPr lang="en-US" dirty="0"/>
                        <a:t>mega- (M)</a:t>
                      </a:r>
                    </a:p>
                  </a:txBody>
                  <a:tcPr/>
                </a:tc>
                <a:tc>
                  <a:txBody>
                    <a:bodyPr/>
                    <a:lstStyle/>
                    <a:p>
                      <a:r>
                        <a:rPr lang="en-US" sz="1600" dirty="0"/>
                        <a:t>10</a:t>
                      </a:r>
                      <a:r>
                        <a:rPr lang="en-US" sz="1600" baseline="30000" dirty="0"/>
                        <a:t>6</a:t>
                      </a:r>
                      <a:r>
                        <a:rPr lang="en-US" sz="1600" dirty="0"/>
                        <a:t> = 1,000,000</a:t>
                      </a:r>
                    </a:p>
                  </a:txBody>
                  <a:tcPr/>
                </a:tc>
                <a:tc>
                  <a:txBody>
                    <a:bodyPr/>
                    <a:lstStyle/>
                    <a:p>
                      <a:r>
                        <a:rPr lang="en-US" sz="1600">
                          <a:latin typeface="+mj-lt"/>
                        </a:rPr>
                        <a:t>3.7 megajoules (MJ) = 3,700,000 J</a:t>
                      </a:r>
                      <a:endParaRPr lang="en-US" sz="1600" dirty="0"/>
                    </a:p>
                  </a:txBody>
                  <a:tcPr/>
                </a:tc>
                <a:extLst>
                  <a:ext uri="{0D108BD9-81ED-4DB2-BD59-A6C34878D82A}">
                    <a16:rowId xmlns:a16="http://schemas.microsoft.com/office/drawing/2014/main" val="1761702033"/>
                  </a:ext>
                </a:extLst>
              </a:tr>
              <a:tr h="352112">
                <a:tc>
                  <a:txBody>
                    <a:bodyPr/>
                    <a:lstStyle/>
                    <a:p>
                      <a:r>
                        <a:rPr lang="en-US" dirty="0"/>
                        <a:t>giga- (G)</a:t>
                      </a:r>
                    </a:p>
                  </a:txBody>
                  <a:tcPr/>
                </a:tc>
                <a:tc>
                  <a:txBody>
                    <a:bodyPr/>
                    <a:lstStyle/>
                    <a:p>
                      <a:r>
                        <a:rPr lang="en-US" sz="1400" dirty="0"/>
                        <a:t>10</a:t>
                      </a:r>
                      <a:r>
                        <a:rPr lang="en-US" sz="1400" baseline="30000" dirty="0"/>
                        <a:t>9</a:t>
                      </a:r>
                      <a:r>
                        <a:rPr lang="en-US" sz="1400" dirty="0"/>
                        <a:t> = </a:t>
                      </a:r>
                      <a:r>
                        <a:rPr lang="en-US" sz="1600" kern="1200" dirty="0">
                          <a:solidFill>
                            <a:schemeClr val="dk1"/>
                          </a:solidFill>
                          <a:latin typeface="+mn-lt"/>
                          <a:ea typeface="+mn-ea"/>
                          <a:cs typeface="+mn-cs"/>
                        </a:rPr>
                        <a:t>1,000,000,000</a:t>
                      </a:r>
                    </a:p>
                  </a:txBody>
                  <a:tcPr/>
                </a:tc>
                <a:tc>
                  <a:txBody>
                    <a:bodyPr/>
                    <a:lstStyle/>
                    <a:p>
                      <a:r>
                        <a:rPr lang="en-US" sz="1600" dirty="0">
                          <a:latin typeface="+mj-lt"/>
                        </a:rPr>
                        <a:t>10 gigahertz (GHz) = 10,000,000,000 Hz</a:t>
                      </a:r>
                      <a:endParaRPr lang="en-US" sz="1600" kern="1200" dirty="0">
                        <a:solidFill>
                          <a:schemeClr val="dk1"/>
                        </a:solidFill>
                        <a:latin typeface="+mn-lt"/>
                        <a:ea typeface="+mn-ea"/>
                        <a:cs typeface="+mn-cs"/>
                      </a:endParaRPr>
                    </a:p>
                  </a:txBody>
                  <a:tcPr/>
                </a:tc>
                <a:extLst>
                  <a:ext uri="{0D108BD9-81ED-4DB2-BD59-A6C34878D82A}">
                    <a16:rowId xmlns:a16="http://schemas.microsoft.com/office/drawing/2014/main" val="1124620680"/>
                  </a:ext>
                </a:extLst>
              </a:tr>
              <a:tr h="352112">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solidFill>
                            <a:schemeClr val="accent6"/>
                          </a:solidFill>
                        </a:rPr>
                        <a:t>Submultiples of 10 (fractions of 1)</a:t>
                      </a:r>
                      <a:endParaRPr lang="en-US" sz="1600" dirty="0"/>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45595552"/>
                  </a:ext>
                </a:extLst>
              </a:tr>
              <a:tr h="352112">
                <a:tc>
                  <a:txBody>
                    <a:bodyPr/>
                    <a:lstStyle/>
                    <a:p>
                      <a:r>
                        <a:rPr lang="en-US" dirty="0" err="1"/>
                        <a:t>deci</a:t>
                      </a:r>
                      <a:r>
                        <a:rPr lang="en-US" dirty="0"/>
                        <a:t>- (d)</a:t>
                      </a:r>
                    </a:p>
                  </a:txBody>
                  <a:tcPr>
                    <a:solidFill>
                      <a:srgbClr val="92D050"/>
                    </a:solidFill>
                  </a:tcPr>
                </a:tc>
                <a:tc>
                  <a:txBody>
                    <a:bodyPr/>
                    <a:lstStyle/>
                    <a:p>
                      <a:r>
                        <a:rPr lang="en-US" sz="1600" dirty="0"/>
                        <a:t>10</a:t>
                      </a:r>
                      <a:r>
                        <a:rPr lang="en-US" sz="1600" baseline="30000" dirty="0"/>
                        <a:t>-1</a:t>
                      </a:r>
                      <a:r>
                        <a:rPr lang="en-US" sz="1600" dirty="0"/>
                        <a:t> = 1/10</a:t>
                      </a:r>
                    </a:p>
                  </a:txBody>
                  <a:tcPr>
                    <a:solidFill>
                      <a:srgbClr val="92D050"/>
                    </a:solidFill>
                  </a:tcPr>
                </a:tc>
                <a:tc>
                  <a:txBody>
                    <a:bodyPr/>
                    <a:lstStyle/>
                    <a:p>
                      <a:r>
                        <a:rPr lang="en-US" sz="1600" dirty="0"/>
                        <a:t>1 deciliter (dL, dl) = 0.1 L</a:t>
                      </a:r>
                    </a:p>
                  </a:txBody>
                  <a:tcPr>
                    <a:solidFill>
                      <a:srgbClr val="92D050"/>
                    </a:solidFill>
                  </a:tcPr>
                </a:tc>
                <a:extLst>
                  <a:ext uri="{0D108BD9-81ED-4DB2-BD59-A6C34878D82A}">
                    <a16:rowId xmlns:a16="http://schemas.microsoft.com/office/drawing/2014/main" val="1228793836"/>
                  </a:ext>
                </a:extLst>
              </a:tr>
              <a:tr h="352112">
                <a:tc>
                  <a:txBody>
                    <a:bodyPr/>
                    <a:lstStyle/>
                    <a:p>
                      <a:r>
                        <a:rPr lang="en-US" dirty="0"/>
                        <a:t>centi- (c)</a:t>
                      </a:r>
                    </a:p>
                  </a:txBody>
                  <a:tcPr>
                    <a:solidFill>
                      <a:srgbClr val="92D050"/>
                    </a:solidFill>
                  </a:tcPr>
                </a:tc>
                <a:tc>
                  <a:txBody>
                    <a:bodyPr/>
                    <a:lstStyle/>
                    <a:p>
                      <a:r>
                        <a:rPr lang="en-US" sz="1600" dirty="0"/>
                        <a:t>10</a:t>
                      </a:r>
                      <a:r>
                        <a:rPr lang="en-US" sz="1600" baseline="30000" dirty="0"/>
                        <a:t>-2</a:t>
                      </a:r>
                      <a:r>
                        <a:rPr lang="en-US" sz="1600" dirty="0"/>
                        <a:t> = 1/100</a:t>
                      </a:r>
                    </a:p>
                  </a:txBody>
                  <a:tcPr>
                    <a:solidFill>
                      <a:srgbClr val="92D050"/>
                    </a:solidFill>
                  </a:tcPr>
                </a:tc>
                <a:tc>
                  <a:txBody>
                    <a:bodyPr/>
                    <a:lstStyle/>
                    <a:p>
                      <a:r>
                        <a:rPr lang="en-US" dirty="0">
                          <a:latin typeface="+mj-lt"/>
                        </a:rPr>
                        <a:t>2.54 centimeter (cm) = 0.0254 m</a:t>
                      </a:r>
                      <a:endParaRPr lang="en-US" sz="1600" dirty="0"/>
                    </a:p>
                  </a:txBody>
                  <a:tcPr>
                    <a:solidFill>
                      <a:srgbClr val="92D050"/>
                    </a:solidFill>
                  </a:tcPr>
                </a:tc>
                <a:extLst>
                  <a:ext uri="{0D108BD9-81ED-4DB2-BD59-A6C34878D82A}">
                    <a16:rowId xmlns:a16="http://schemas.microsoft.com/office/drawing/2014/main" val="929696405"/>
                  </a:ext>
                </a:extLst>
              </a:tr>
              <a:tr h="441493">
                <a:tc>
                  <a:txBody>
                    <a:bodyPr/>
                    <a:lstStyle/>
                    <a:p>
                      <a:r>
                        <a:rPr lang="en-US" dirty="0"/>
                        <a:t>milli- (m)</a:t>
                      </a:r>
                    </a:p>
                  </a:txBody>
                  <a:tcPr>
                    <a:solidFill>
                      <a:srgbClr val="92D050"/>
                    </a:solidFill>
                  </a:tcPr>
                </a:tc>
                <a:tc>
                  <a:txBody>
                    <a:bodyPr/>
                    <a:lstStyle/>
                    <a:p>
                      <a:r>
                        <a:rPr lang="en-US" sz="1600" dirty="0"/>
                        <a:t>10</a:t>
                      </a:r>
                      <a:r>
                        <a:rPr lang="en-US" sz="1600" baseline="30000" dirty="0"/>
                        <a:t>-3</a:t>
                      </a:r>
                      <a:r>
                        <a:rPr lang="en-US" sz="1600" dirty="0"/>
                        <a:t> = 1/1000</a:t>
                      </a:r>
                    </a:p>
                  </a:txBody>
                  <a:tcPr>
                    <a:solidFill>
                      <a:srgbClr val="92D050"/>
                    </a:solidFill>
                  </a:tcPr>
                </a:tc>
                <a:tc>
                  <a:txBody>
                    <a:bodyPr/>
                    <a:lstStyle/>
                    <a:p>
                      <a:r>
                        <a:rPr lang="en-US" dirty="0">
                          <a:latin typeface="+mj-lt"/>
                        </a:rPr>
                        <a:t>14 millibar (mbar) = 0.014 bar</a:t>
                      </a:r>
                      <a:endParaRPr lang="en-US" sz="1600" dirty="0"/>
                    </a:p>
                  </a:txBody>
                  <a:tcPr>
                    <a:solidFill>
                      <a:srgbClr val="92D050"/>
                    </a:solidFill>
                  </a:tcPr>
                </a:tc>
                <a:extLst>
                  <a:ext uri="{0D108BD9-81ED-4DB2-BD59-A6C34878D82A}">
                    <a16:rowId xmlns:a16="http://schemas.microsoft.com/office/drawing/2014/main" val="3185610161"/>
                  </a:ext>
                </a:extLst>
              </a:tr>
              <a:tr h="352112">
                <a:tc>
                  <a:txBody>
                    <a:bodyPr/>
                    <a:lstStyle/>
                    <a:p>
                      <a:r>
                        <a:rPr lang="en-US" dirty="0"/>
                        <a:t>micro- (u/µ)</a:t>
                      </a:r>
                    </a:p>
                  </a:txBody>
                  <a:tcPr>
                    <a:solidFill>
                      <a:srgbClr val="92D050"/>
                    </a:solidFill>
                  </a:tcPr>
                </a:tc>
                <a:tc>
                  <a:txBody>
                    <a:bodyPr/>
                    <a:lstStyle/>
                    <a:p>
                      <a:r>
                        <a:rPr lang="en-US" sz="1600" dirty="0"/>
                        <a:t>10</a:t>
                      </a:r>
                      <a:r>
                        <a:rPr lang="en-US" sz="1600" baseline="30000" dirty="0"/>
                        <a:t>-6</a:t>
                      </a:r>
                      <a:r>
                        <a:rPr lang="en-US" sz="1600" dirty="0"/>
                        <a:t> = 1/1000000</a:t>
                      </a:r>
                    </a:p>
                  </a:txBody>
                  <a:tcPr>
                    <a:solidFill>
                      <a:srgbClr val="92D050"/>
                    </a:solidFill>
                  </a:tcPr>
                </a:tc>
                <a:tc>
                  <a:txBody>
                    <a:bodyPr/>
                    <a:lstStyle/>
                    <a:p>
                      <a:r>
                        <a:rPr lang="en-US" dirty="0">
                          <a:latin typeface="+mj-lt"/>
                        </a:rPr>
                        <a:t>259 microliters (µl, ul, µL, </a:t>
                      </a:r>
                      <a:r>
                        <a:rPr lang="en-US" dirty="0" err="1">
                          <a:latin typeface="+mj-lt"/>
                        </a:rPr>
                        <a:t>uL</a:t>
                      </a:r>
                      <a:r>
                        <a:rPr lang="en-US" dirty="0">
                          <a:latin typeface="+mj-lt"/>
                        </a:rPr>
                        <a:t>) </a:t>
                      </a:r>
                      <a:r>
                        <a:rPr lang="en-US" sz="1600" dirty="0">
                          <a:latin typeface="+mj-lt"/>
                        </a:rPr>
                        <a:t>= 0.000259 L</a:t>
                      </a:r>
                      <a:endParaRPr lang="en-US" sz="1600" dirty="0"/>
                    </a:p>
                  </a:txBody>
                  <a:tcPr>
                    <a:solidFill>
                      <a:srgbClr val="92D050"/>
                    </a:solidFill>
                  </a:tcPr>
                </a:tc>
                <a:extLst>
                  <a:ext uri="{0D108BD9-81ED-4DB2-BD59-A6C34878D82A}">
                    <a16:rowId xmlns:a16="http://schemas.microsoft.com/office/drawing/2014/main" val="1907223545"/>
                  </a:ext>
                </a:extLst>
              </a:tr>
              <a:tr h="352112">
                <a:tc>
                  <a:txBody>
                    <a:bodyPr/>
                    <a:lstStyle/>
                    <a:p>
                      <a:r>
                        <a:rPr lang="en-US" dirty="0"/>
                        <a:t>nano- (n)</a:t>
                      </a:r>
                    </a:p>
                  </a:txBody>
                  <a:tcPr>
                    <a:solidFill>
                      <a:srgbClr val="92D050"/>
                    </a:solidFill>
                  </a:tcPr>
                </a:tc>
                <a:tc>
                  <a:txBody>
                    <a:bodyPr/>
                    <a:lstStyle/>
                    <a:p>
                      <a:r>
                        <a:rPr lang="en-US" sz="1600" dirty="0"/>
                        <a:t>10</a:t>
                      </a:r>
                      <a:r>
                        <a:rPr lang="en-US" sz="1600" baseline="30000" dirty="0"/>
                        <a:t>-9</a:t>
                      </a:r>
                      <a:r>
                        <a:rPr lang="en-US" sz="1600" dirty="0"/>
                        <a:t> = </a:t>
                      </a:r>
                      <a:r>
                        <a:rPr lang="en-US" sz="1400" dirty="0"/>
                        <a:t>1/1000000000</a:t>
                      </a:r>
                      <a:endParaRPr lang="en-US" sz="1600" dirty="0"/>
                    </a:p>
                  </a:txBody>
                  <a:tcPr>
                    <a:solidFill>
                      <a:srgbClr val="92D050"/>
                    </a:solidFill>
                  </a:tcPr>
                </a:tc>
                <a:tc>
                  <a:txBody>
                    <a:bodyPr/>
                    <a:lstStyle/>
                    <a:p>
                      <a:r>
                        <a:rPr lang="en-US" dirty="0">
                          <a:latin typeface="+mj-lt"/>
                        </a:rPr>
                        <a:t>34 nanograms (ng) = 0.000000034 g</a:t>
                      </a:r>
                      <a:endParaRPr lang="en-US" sz="1600" dirty="0"/>
                    </a:p>
                  </a:txBody>
                  <a:tcPr>
                    <a:solidFill>
                      <a:srgbClr val="92D050"/>
                    </a:solidFill>
                  </a:tcPr>
                </a:tc>
                <a:extLst>
                  <a:ext uri="{0D108BD9-81ED-4DB2-BD59-A6C34878D82A}">
                    <a16:rowId xmlns:a16="http://schemas.microsoft.com/office/drawing/2014/main" val="2832591541"/>
                  </a:ext>
                </a:extLst>
              </a:tr>
              <a:tr h="352112">
                <a:tc>
                  <a:txBody>
                    <a:bodyPr/>
                    <a:lstStyle/>
                    <a:p>
                      <a:r>
                        <a:rPr lang="en-US" dirty="0"/>
                        <a:t>pico- (p)</a:t>
                      </a:r>
                    </a:p>
                  </a:txBody>
                  <a:tcPr>
                    <a:solidFill>
                      <a:srgbClr val="92D050"/>
                    </a:solidFill>
                  </a:tcPr>
                </a:tc>
                <a:tc>
                  <a:txBody>
                    <a:bodyPr/>
                    <a:lstStyle/>
                    <a:p>
                      <a:r>
                        <a:rPr lang="en-US" sz="1600" dirty="0"/>
                        <a:t>10</a:t>
                      </a:r>
                      <a:r>
                        <a:rPr lang="en-US" sz="1600" baseline="30000" dirty="0"/>
                        <a:t>-12</a:t>
                      </a:r>
                      <a:r>
                        <a:rPr lang="en-US" sz="1600" dirty="0"/>
                        <a:t> = </a:t>
                      </a:r>
                      <a:r>
                        <a:rPr lang="en-US" sz="1200" dirty="0"/>
                        <a:t>1/100000000000</a:t>
                      </a:r>
                      <a:endParaRPr lang="en-US" sz="1600" dirty="0"/>
                    </a:p>
                  </a:txBody>
                  <a:tcPr>
                    <a:solidFill>
                      <a:srgbClr val="92D050"/>
                    </a:solidFill>
                  </a:tcPr>
                </a:tc>
                <a:tc>
                  <a:txBody>
                    <a:bodyPr/>
                    <a:lstStyle/>
                    <a:p>
                      <a:r>
                        <a:rPr lang="en-US" dirty="0">
                          <a:latin typeface="+mj-lt"/>
                        </a:rPr>
                        <a:t>250 </a:t>
                      </a:r>
                      <a:r>
                        <a:rPr lang="en-US" dirty="0" err="1">
                          <a:latin typeface="+mj-lt"/>
                        </a:rPr>
                        <a:t>picoliters</a:t>
                      </a:r>
                      <a:r>
                        <a:rPr lang="en-US" dirty="0">
                          <a:latin typeface="+mj-lt"/>
                        </a:rPr>
                        <a:t> (</a:t>
                      </a:r>
                      <a:r>
                        <a:rPr lang="en-US" dirty="0" err="1">
                          <a:latin typeface="+mj-lt"/>
                        </a:rPr>
                        <a:t>pL</a:t>
                      </a:r>
                      <a:r>
                        <a:rPr lang="en-US" dirty="0">
                          <a:latin typeface="+mj-lt"/>
                        </a:rPr>
                        <a:t>) = 0.0</a:t>
                      </a:r>
                      <a:r>
                        <a:rPr lang="en-US" sz="1800" dirty="0"/>
                        <a:t>0000000025 L</a:t>
                      </a:r>
                      <a:endParaRPr lang="en-US" sz="1600" dirty="0"/>
                    </a:p>
                  </a:txBody>
                  <a:tcPr>
                    <a:solidFill>
                      <a:srgbClr val="92D050"/>
                    </a:solidFill>
                  </a:tcPr>
                </a:tc>
                <a:extLst>
                  <a:ext uri="{0D108BD9-81ED-4DB2-BD59-A6C34878D82A}">
                    <a16:rowId xmlns:a16="http://schemas.microsoft.com/office/drawing/2014/main" val="1560516115"/>
                  </a:ext>
                </a:extLst>
              </a:tr>
              <a:tr h="352112">
                <a:tc>
                  <a:txBody>
                    <a:bodyPr/>
                    <a:lstStyle/>
                    <a:p>
                      <a:r>
                        <a:rPr lang="en-US" dirty="0"/>
                        <a:t>femto- (f)</a:t>
                      </a:r>
                    </a:p>
                  </a:txBody>
                  <a:tcPr>
                    <a:solidFill>
                      <a:srgbClr val="92D050"/>
                    </a:solidFill>
                  </a:tcPr>
                </a:tc>
                <a:tc>
                  <a:txBody>
                    <a:bodyPr/>
                    <a:lstStyle/>
                    <a:p>
                      <a:r>
                        <a:rPr lang="en-US" sz="1600" dirty="0"/>
                        <a:t>10</a:t>
                      </a:r>
                      <a:r>
                        <a:rPr lang="en-US" sz="1600" baseline="30000" dirty="0"/>
                        <a:t>-15</a:t>
                      </a:r>
                      <a:r>
                        <a:rPr lang="en-US" sz="1600" dirty="0"/>
                        <a:t> =</a:t>
                      </a:r>
                      <a:r>
                        <a:rPr lang="en-US" sz="900" dirty="0"/>
                        <a:t>1/ 1000000000000000</a:t>
                      </a:r>
                      <a:endParaRPr lang="en-US" sz="1600" dirty="0"/>
                    </a:p>
                  </a:txBody>
                  <a:tcPr>
                    <a:solidFill>
                      <a:srgbClr val="92D050"/>
                    </a:solidFill>
                  </a:tcPr>
                </a:tc>
                <a:tc>
                  <a:txBody>
                    <a:bodyPr/>
                    <a:lstStyle/>
                    <a:p>
                      <a:r>
                        <a:rPr lang="en-US" sz="1600" dirty="0">
                          <a:latin typeface="+mj-lt"/>
                        </a:rPr>
                        <a:t>4.3 femtomoles (</a:t>
                      </a:r>
                      <a:r>
                        <a:rPr lang="en-US" sz="1600" dirty="0" err="1">
                          <a:latin typeface="+mj-lt"/>
                        </a:rPr>
                        <a:t>fmol</a:t>
                      </a:r>
                      <a:r>
                        <a:rPr lang="en-US" sz="1600" dirty="0">
                          <a:latin typeface="+mj-lt"/>
                        </a:rPr>
                        <a:t>) </a:t>
                      </a:r>
                      <a:r>
                        <a:rPr lang="en-US" sz="1200" dirty="0">
                          <a:latin typeface="+mj-lt"/>
                        </a:rPr>
                        <a:t>= </a:t>
                      </a:r>
                      <a:r>
                        <a:rPr lang="en-US" sz="1200" dirty="0"/>
                        <a:t>0.0000000000000043 mol</a:t>
                      </a:r>
                      <a:endParaRPr lang="en-US" sz="1600" dirty="0"/>
                    </a:p>
                  </a:txBody>
                  <a:tcPr>
                    <a:solidFill>
                      <a:srgbClr val="92D050"/>
                    </a:solidFill>
                  </a:tcPr>
                </a:tc>
                <a:extLst>
                  <a:ext uri="{0D108BD9-81ED-4DB2-BD59-A6C34878D82A}">
                    <a16:rowId xmlns:a16="http://schemas.microsoft.com/office/drawing/2014/main" val="2959266512"/>
                  </a:ext>
                </a:extLst>
              </a:tr>
              <a:tr h="352112">
                <a:tc gridSpan="3">
                  <a:txBody>
                    <a:bodyPr/>
                    <a:lstStyle/>
                    <a:p>
                      <a:r>
                        <a:rPr lang="en-US" sz="1400" b="1" i="1" u="sng" dirty="0"/>
                        <a:t>units</a:t>
                      </a:r>
                      <a:r>
                        <a:rPr lang="en-US" sz="1400" b="1" i="1" dirty="0"/>
                        <a:t> in green are often used in chemistry</a:t>
                      </a:r>
                    </a:p>
                  </a:txBody>
                  <a:tcPr>
                    <a:solidFill>
                      <a:schemeClr val="bg1"/>
                    </a:solidFill>
                  </a:tcPr>
                </a:tc>
                <a:tc hMerge="1">
                  <a:txBody>
                    <a:bodyPr/>
                    <a:lstStyle/>
                    <a:p>
                      <a:endParaRPr lang="en-US" sz="1600" dirty="0"/>
                    </a:p>
                  </a:txBody>
                  <a:tcPr>
                    <a:solidFill>
                      <a:srgbClr val="92D050"/>
                    </a:solidFill>
                  </a:tcPr>
                </a:tc>
                <a:tc hMerge="1">
                  <a:txBody>
                    <a:bodyPr/>
                    <a:lstStyle/>
                    <a:p>
                      <a:endParaRPr lang="en-US" sz="1600" dirty="0"/>
                    </a:p>
                  </a:txBody>
                  <a:tcPr>
                    <a:solidFill>
                      <a:srgbClr val="92D050"/>
                    </a:solidFill>
                  </a:tcPr>
                </a:tc>
                <a:extLst>
                  <a:ext uri="{0D108BD9-81ED-4DB2-BD59-A6C34878D82A}">
                    <a16:rowId xmlns:a16="http://schemas.microsoft.com/office/drawing/2014/main" val="3356507909"/>
                  </a:ext>
                </a:extLst>
              </a:tr>
            </a:tbl>
          </a:graphicData>
        </a:graphic>
      </p:graphicFrame>
      <p:sp>
        <p:nvSpPr>
          <p:cNvPr id="2" name="Slide Number Placeholder 1">
            <a:extLst>
              <a:ext uri="{FF2B5EF4-FFF2-40B4-BE49-F238E27FC236}">
                <a16:creationId xmlns:a16="http://schemas.microsoft.com/office/drawing/2014/main" id="{315CD258-F448-2D2E-F302-2BAC840512E1}"/>
              </a:ext>
            </a:extLst>
          </p:cNvPr>
          <p:cNvSpPr>
            <a:spLocks noGrp="1"/>
          </p:cNvSpPr>
          <p:nvPr>
            <p:ph type="sldNum" sz="quarter" idx="10"/>
          </p:nvPr>
        </p:nvSpPr>
        <p:spPr/>
        <p:txBody>
          <a:bodyPr/>
          <a:lstStyle/>
          <a:p>
            <a:fld id="{12356DF5-CFED-4016-A2DB-A70AC2735480}" type="slidenum">
              <a:rPr lang="en-US" smtClean="0"/>
              <a:pPr/>
              <a:t>33</a:t>
            </a:fld>
            <a:endParaRPr lang="en-US" dirty="0">
              <a:solidFill>
                <a:schemeClr val="bg1"/>
              </a:solidFill>
            </a:endParaRPr>
          </a:p>
        </p:txBody>
      </p:sp>
    </p:spTree>
    <p:extLst>
      <p:ext uri="{BB962C8B-B14F-4D97-AF65-F5344CB8AC3E}">
        <p14:creationId xmlns:p14="http://schemas.microsoft.com/office/powerpoint/2010/main" val="31652508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DB857-566E-B291-D190-0A1F31A752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DBE650-2FC9-FD56-E194-58FC3BEC6B7F}"/>
              </a:ext>
            </a:extLst>
          </p:cNvPr>
          <p:cNvSpPr>
            <a:spLocks noGrp="1"/>
          </p:cNvSpPr>
          <p:nvPr>
            <p:ph type="title"/>
          </p:nvPr>
        </p:nvSpPr>
        <p:spPr/>
        <p:txBody>
          <a:bodyPr/>
          <a:lstStyle/>
          <a:p>
            <a:r>
              <a:rPr lang="en-US" dirty="0"/>
              <a:t>Conversion Practice</a:t>
            </a:r>
          </a:p>
        </p:txBody>
      </p:sp>
      <p:sp>
        <p:nvSpPr>
          <p:cNvPr id="5" name="Content Placeholder 4">
            <a:extLst>
              <a:ext uri="{FF2B5EF4-FFF2-40B4-BE49-F238E27FC236}">
                <a16:creationId xmlns:a16="http://schemas.microsoft.com/office/drawing/2014/main" id="{95C479C0-D316-E2E0-4ADE-B96A7E5DA5FA}"/>
              </a:ext>
            </a:extLst>
          </p:cNvPr>
          <p:cNvSpPr>
            <a:spLocks noGrp="1"/>
          </p:cNvSpPr>
          <p:nvPr>
            <p:ph idx="1"/>
          </p:nvPr>
        </p:nvSpPr>
        <p:spPr/>
        <p:txBody>
          <a:bodyPr/>
          <a:lstStyle/>
          <a:p>
            <a:pPr marL="0" indent="0">
              <a:buNone/>
              <a:defRPr/>
            </a:pPr>
            <a:r>
              <a:rPr lang="en-US" dirty="0">
                <a:solidFill>
                  <a:srgbClr val="FFFFFF"/>
                </a:solidFill>
              </a:rPr>
              <a:t>A room measures 16 ft x 20 ft in area. What is it in square meters (m</a:t>
            </a:r>
            <a:r>
              <a:rPr lang="en-US" baseline="30000" dirty="0">
                <a:solidFill>
                  <a:srgbClr val="FFFFFF"/>
                </a:solidFill>
              </a:rPr>
              <a:t>2</a:t>
            </a:r>
            <a:r>
              <a:rPr lang="en-US" dirty="0">
                <a:solidFill>
                  <a:srgbClr val="FFFFFF"/>
                </a:solidFill>
              </a:rPr>
              <a:t>)</a:t>
            </a:r>
          </a:p>
          <a:p>
            <a:pPr marL="236538" lvl="1" indent="0">
              <a:buNone/>
              <a:defRPr/>
            </a:pPr>
            <a:endParaRPr lang="en-US" i="1" dirty="0">
              <a:solidFill>
                <a:schemeClr val="accent1">
                  <a:lumMod val="60000"/>
                  <a:lumOff val="40000"/>
                </a:schemeClr>
              </a:solidFill>
            </a:endParaRPr>
          </a:p>
          <a:p>
            <a:pPr marL="0" indent="0">
              <a:buNone/>
              <a:defRPr/>
            </a:pPr>
            <a:r>
              <a:rPr lang="en-US" dirty="0">
                <a:solidFill>
                  <a:srgbClr val="FFFF00"/>
                </a:solidFill>
              </a:rPr>
              <a:t>A conversion problem is going to be an equation usually involving a mathematical product (the multiplication of quantities), and these quantities will include your given quantities and </a:t>
            </a:r>
            <a:r>
              <a:rPr lang="en-US" u="sng" dirty="0">
                <a:solidFill>
                  <a:srgbClr val="FFFF00"/>
                </a:solidFill>
              </a:rPr>
              <a:t>conversion factors</a:t>
            </a:r>
          </a:p>
          <a:p>
            <a:pPr marL="0" indent="0">
              <a:buNone/>
              <a:defRPr/>
            </a:pPr>
            <a:endParaRPr lang="en-US" u="sng" dirty="0">
              <a:solidFill>
                <a:srgbClr val="FFFF00"/>
              </a:solidFill>
            </a:endParaRPr>
          </a:p>
          <a:p>
            <a:pPr marL="0" indent="0" algn="ctr">
              <a:buNone/>
              <a:defRPr/>
            </a:pPr>
            <a:r>
              <a:rPr lang="en-US" sz="3200" dirty="0"/>
              <a:t>16 ft × 12 ft × …..  =  </a:t>
            </a:r>
            <a:r>
              <a:rPr lang="en-US" sz="3200" dirty="0">
                <a:solidFill>
                  <a:schemeClr val="accent1">
                    <a:lumMod val="60000"/>
                    <a:lumOff val="40000"/>
                  </a:schemeClr>
                </a:solidFill>
              </a:rPr>
              <a:t>?</a:t>
            </a:r>
            <a:r>
              <a:rPr lang="en-US" sz="3200" dirty="0"/>
              <a:t> m</a:t>
            </a:r>
            <a:r>
              <a:rPr lang="en-US" sz="3200" baseline="30000" dirty="0"/>
              <a:t>2</a:t>
            </a:r>
            <a:endParaRPr lang="en-US" sz="3200" dirty="0"/>
          </a:p>
        </p:txBody>
      </p:sp>
      <p:sp>
        <p:nvSpPr>
          <p:cNvPr id="3" name="Slide Number Placeholder 2">
            <a:extLst>
              <a:ext uri="{FF2B5EF4-FFF2-40B4-BE49-F238E27FC236}">
                <a16:creationId xmlns:a16="http://schemas.microsoft.com/office/drawing/2014/main" id="{C994D9E3-F987-380E-0A73-B1F5558BC520}"/>
              </a:ext>
            </a:extLst>
          </p:cNvPr>
          <p:cNvSpPr>
            <a:spLocks noGrp="1"/>
          </p:cNvSpPr>
          <p:nvPr>
            <p:ph type="sldNum" sz="quarter" idx="10"/>
          </p:nvPr>
        </p:nvSpPr>
        <p:spPr/>
        <p:txBody>
          <a:bodyPr/>
          <a:lstStyle/>
          <a:p>
            <a:fld id="{12356DF5-CFED-4016-A2DB-A70AC2735480}" type="slidenum">
              <a:rPr lang="en-US" smtClean="0"/>
              <a:pPr/>
              <a:t>34</a:t>
            </a:fld>
            <a:endParaRPr lang="en-US" dirty="0">
              <a:solidFill>
                <a:schemeClr val="bg1"/>
              </a:solidFill>
            </a:endParaRPr>
          </a:p>
        </p:txBody>
      </p:sp>
    </p:spTree>
    <p:extLst>
      <p:ext uri="{BB962C8B-B14F-4D97-AF65-F5344CB8AC3E}">
        <p14:creationId xmlns:p14="http://schemas.microsoft.com/office/powerpoint/2010/main" val="1920443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76677-2B14-8053-B1D1-97FE37D7A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38BCB-A582-8382-C987-ED2EBE872DDF}"/>
              </a:ext>
            </a:extLst>
          </p:cNvPr>
          <p:cNvSpPr>
            <a:spLocks noGrp="1"/>
          </p:cNvSpPr>
          <p:nvPr>
            <p:ph type="title"/>
          </p:nvPr>
        </p:nvSpPr>
        <p:spPr/>
        <p:txBody>
          <a:bodyPr/>
          <a:lstStyle/>
          <a:p>
            <a:r>
              <a:rPr lang="en-US" dirty="0"/>
              <a:t>Conversion Practice</a:t>
            </a:r>
          </a:p>
        </p:txBody>
      </p:sp>
      <p:sp>
        <p:nvSpPr>
          <p:cNvPr id="5" name="Content Placeholder 4">
            <a:extLst>
              <a:ext uri="{FF2B5EF4-FFF2-40B4-BE49-F238E27FC236}">
                <a16:creationId xmlns:a16="http://schemas.microsoft.com/office/drawing/2014/main" id="{9D56F9DA-C657-98C4-93C7-A48D6B16075F}"/>
              </a:ext>
            </a:extLst>
          </p:cNvPr>
          <p:cNvSpPr>
            <a:spLocks noGrp="1"/>
          </p:cNvSpPr>
          <p:nvPr>
            <p:ph idx="1"/>
          </p:nvPr>
        </p:nvSpPr>
        <p:spPr/>
        <p:txBody>
          <a:bodyPr/>
          <a:lstStyle/>
          <a:p>
            <a:pPr marL="0" indent="0">
              <a:buNone/>
              <a:defRPr/>
            </a:pPr>
            <a:r>
              <a:rPr lang="en-US" dirty="0">
                <a:solidFill>
                  <a:srgbClr val="FFFFFF"/>
                </a:solidFill>
              </a:rPr>
              <a:t>A room measures 16 ft x 20 ft in area. What is it in square meters (m</a:t>
            </a:r>
            <a:r>
              <a:rPr lang="en-US" baseline="30000" dirty="0">
                <a:solidFill>
                  <a:srgbClr val="FFFFFF"/>
                </a:solidFill>
              </a:rPr>
              <a:t>2</a:t>
            </a:r>
            <a:r>
              <a:rPr lang="en-US" dirty="0">
                <a:solidFill>
                  <a:srgbClr val="FFFFFF"/>
                </a:solidFill>
              </a:rPr>
              <a:t>)</a:t>
            </a:r>
          </a:p>
          <a:p>
            <a:pPr marL="0" indent="0">
              <a:buNone/>
              <a:defRPr/>
            </a:pPr>
            <a:endParaRPr lang="en-US" dirty="0">
              <a:solidFill>
                <a:srgbClr val="FFFFFF"/>
              </a:solidFill>
            </a:endParaRPr>
          </a:p>
          <a:p>
            <a:pPr marL="0" indent="0">
              <a:buNone/>
              <a:defRPr/>
            </a:pPr>
            <a:r>
              <a:rPr lang="en-US" dirty="0">
                <a:solidFill>
                  <a:srgbClr val="FFFFFF"/>
                </a:solidFill>
              </a:rPr>
              <a:t>I remember</a:t>
            </a:r>
          </a:p>
          <a:p>
            <a:pPr>
              <a:defRPr/>
            </a:pPr>
            <a:r>
              <a:rPr lang="en-US" dirty="0">
                <a:solidFill>
                  <a:schemeClr val="accent1">
                    <a:lumMod val="60000"/>
                    <a:lumOff val="40000"/>
                  </a:schemeClr>
                </a:solidFill>
              </a:rPr>
              <a:t>12 inches = 1 foot</a:t>
            </a:r>
            <a:endParaRPr lang="en-US" dirty="0">
              <a:solidFill>
                <a:srgbClr val="FFFFFF"/>
              </a:solidFill>
            </a:endParaRPr>
          </a:p>
          <a:p>
            <a:pPr>
              <a:defRPr/>
            </a:pPr>
            <a:r>
              <a:rPr lang="en-US" dirty="0">
                <a:solidFill>
                  <a:schemeClr val="accent1">
                    <a:lumMod val="60000"/>
                    <a:lumOff val="40000"/>
                  </a:schemeClr>
                </a:solidFill>
              </a:rPr>
              <a:t>2.54 cm = 1 inch</a:t>
            </a:r>
          </a:p>
          <a:p>
            <a:pPr>
              <a:defRPr/>
            </a:pPr>
            <a:r>
              <a:rPr lang="en-US" dirty="0">
                <a:solidFill>
                  <a:schemeClr val="accent1">
                    <a:lumMod val="60000"/>
                    <a:lumOff val="40000"/>
                  </a:schemeClr>
                </a:solidFill>
              </a:rPr>
              <a:t>100 cm = 1 meter</a:t>
            </a:r>
          </a:p>
          <a:p>
            <a:pPr marL="0" indent="0">
              <a:buNone/>
              <a:defRPr/>
            </a:pPr>
            <a:r>
              <a:rPr lang="en-US" sz="2000" dirty="0"/>
              <a:t>These are actually conversion factors !</a:t>
            </a:r>
          </a:p>
          <a:p>
            <a:pPr marL="0" indent="0">
              <a:buNone/>
              <a:defRPr/>
            </a:pPr>
            <a:r>
              <a:rPr lang="en-US" sz="2000" dirty="0"/>
              <a:t>We have to get enough conversion factors to go from units on the left to the result with unit on right of equation!</a:t>
            </a:r>
          </a:p>
          <a:p>
            <a:pPr marL="0" indent="0" algn="ctr">
              <a:buNone/>
              <a:defRPr/>
            </a:pPr>
            <a:r>
              <a:rPr lang="en-US" sz="3200" dirty="0"/>
              <a:t>16 ft × 12 ft × …..  =  </a:t>
            </a:r>
            <a:r>
              <a:rPr lang="en-US" sz="3200" dirty="0">
                <a:solidFill>
                  <a:schemeClr val="accent1">
                    <a:lumMod val="60000"/>
                    <a:lumOff val="40000"/>
                  </a:schemeClr>
                </a:solidFill>
              </a:rPr>
              <a:t>?</a:t>
            </a:r>
            <a:r>
              <a:rPr lang="en-US" sz="3200" dirty="0"/>
              <a:t> m</a:t>
            </a:r>
            <a:r>
              <a:rPr lang="en-US" sz="3200" baseline="30000" dirty="0"/>
              <a:t>2</a:t>
            </a:r>
            <a:endParaRPr lang="en-US" sz="3200" dirty="0"/>
          </a:p>
        </p:txBody>
      </p:sp>
      <p:sp>
        <p:nvSpPr>
          <p:cNvPr id="3" name="Slide Number Placeholder 2">
            <a:extLst>
              <a:ext uri="{FF2B5EF4-FFF2-40B4-BE49-F238E27FC236}">
                <a16:creationId xmlns:a16="http://schemas.microsoft.com/office/drawing/2014/main" id="{97C93110-5C02-F76B-07F6-394C5E92F986}"/>
              </a:ext>
            </a:extLst>
          </p:cNvPr>
          <p:cNvSpPr>
            <a:spLocks noGrp="1"/>
          </p:cNvSpPr>
          <p:nvPr>
            <p:ph type="sldNum" sz="quarter" idx="10"/>
          </p:nvPr>
        </p:nvSpPr>
        <p:spPr/>
        <p:txBody>
          <a:bodyPr/>
          <a:lstStyle/>
          <a:p>
            <a:fld id="{12356DF5-CFED-4016-A2DB-A70AC2735480}" type="slidenum">
              <a:rPr lang="en-US" smtClean="0"/>
              <a:pPr/>
              <a:t>35</a:t>
            </a:fld>
            <a:endParaRPr lang="en-US" dirty="0">
              <a:solidFill>
                <a:schemeClr val="bg1"/>
              </a:solidFill>
            </a:endParaRPr>
          </a:p>
        </p:txBody>
      </p:sp>
    </p:spTree>
    <p:extLst>
      <p:ext uri="{BB962C8B-B14F-4D97-AF65-F5344CB8AC3E}">
        <p14:creationId xmlns:p14="http://schemas.microsoft.com/office/powerpoint/2010/main" val="28718400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0FB85-D268-E079-84E9-C585494EE0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AD949C-0C4F-DF23-1AE0-841568CE0592}"/>
              </a:ext>
            </a:extLst>
          </p:cNvPr>
          <p:cNvSpPr>
            <a:spLocks noGrp="1"/>
          </p:cNvSpPr>
          <p:nvPr>
            <p:ph type="title"/>
          </p:nvPr>
        </p:nvSpPr>
        <p:spPr/>
        <p:txBody>
          <a:bodyPr/>
          <a:lstStyle/>
          <a:p>
            <a:r>
              <a:rPr lang="en-US" dirty="0"/>
              <a:t>Conversion Practice</a:t>
            </a:r>
          </a:p>
        </p:txBody>
      </p:sp>
      <p:sp>
        <p:nvSpPr>
          <p:cNvPr id="5" name="Content Placeholder 4">
            <a:extLst>
              <a:ext uri="{FF2B5EF4-FFF2-40B4-BE49-F238E27FC236}">
                <a16:creationId xmlns:a16="http://schemas.microsoft.com/office/drawing/2014/main" id="{B97C2412-6FAE-8921-516A-ECC806229D4B}"/>
              </a:ext>
            </a:extLst>
          </p:cNvPr>
          <p:cNvSpPr>
            <a:spLocks noGrp="1"/>
          </p:cNvSpPr>
          <p:nvPr>
            <p:ph idx="1"/>
          </p:nvPr>
        </p:nvSpPr>
        <p:spPr/>
        <p:txBody>
          <a:bodyPr/>
          <a:lstStyle/>
          <a:p>
            <a:pPr marL="0" indent="0">
              <a:buNone/>
              <a:defRPr/>
            </a:pPr>
            <a:r>
              <a:rPr lang="en-US" dirty="0">
                <a:solidFill>
                  <a:srgbClr val="FFFFFF"/>
                </a:solidFill>
              </a:rPr>
              <a:t>A room measures 16 ft x 20 ft in area. What is it in square meters (m</a:t>
            </a:r>
            <a:r>
              <a:rPr lang="en-US" baseline="30000" dirty="0">
                <a:solidFill>
                  <a:srgbClr val="FFFFFF"/>
                </a:solidFill>
              </a:rPr>
              <a:t>2</a:t>
            </a:r>
            <a:r>
              <a:rPr lang="en-US" dirty="0">
                <a:solidFill>
                  <a:srgbClr val="FFFFFF"/>
                </a:solidFill>
              </a:rPr>
              <a:t>)</a:t>
            </a:r>
          </a:p>
          <a:p>
            <a:pPr marL="0" indent="0">
              <a:buNone/>
              <a:defRPr/>
            </a:pPr>
            <a:endParaRPr lang="en-US" sz="1800" dirty="0">
              <a:solidFill>
                <a:srgbClr val="FFFFFF"/>
              </a:solidFill>
            </a:endParaRPr>
          </a:p>
          <a:p>
            <a:pPr>
              <a:defRPr/>
            </a:pPr>
            <a:r>
              <a:rPr lang="en-US" sz="1800" dirty="0">
                <a:solidFill>
                  <a:schemeClr val="accent1">
                    <a:lumMod val="60000"/>
                    <a:lumOff val="40000"/>
                  </a:schemeClr>
                </a:solidFill>
              </a:rPr>
              <a:t>12 inches = 1 foot</a:t>
            </a:r>
            <a:endParaRPr lang="en-US" sz="1800" dirty="0">
              <a:solidFill>
                <a:srgbClr val="FFFFFF"/>
              </a:solidFill>
            </a:endParaRPr>
          </a:p>
          <a:p>
            <a:pPr>
              <a:defRPr/>
            </a:pPr>
            <a:r>
              <a:rPr lang="en-US" sz="1800" dirty="0">
                <a:solidFill>
                  <a:schemeClr val="accent1">
                    <a:lumMod val="60000"/>
                    <a:lumOff val="40000"/>
                  </a:schemeClr>
                </a:solidFill>
              </a:rPr>
              <a:t>2.54 cm = 1 inch</a:t>
            </a:r>
          </a:p>
          <a:p>
            <a:pPr>
              <a:defRPr/>
            </a:pPr>
            <a:r>
              <a:rPr lang="en-US" sz="1800" dirty="0">
                <a:solidFill>
                  <a:schemeClr val="accent1">
                    <a:lumMod val="60000"/>
                    <a:lumOff val="40000"/>
                  </a:schemeClr>
                </a:solidFill>
              </a:rPr>
              <a:t>100 cm = 1 meter</a:t>
            </a:r>
          </a:p>
          <a:p>
            <a:pPr marL="0" indent="0">
              <a:buNone/>
              <a:defRPr/>
            </a:pPr>
            <a:r>
              <a:rPr lang="en-US" dirty="0"/>
              <a:t>We know we have to multiply 16 ft x 12 ft to get an area </a:t>
            </a:r>
            <a:r>
              <a:rPr lang="en-US" dirty="0">
                <a:sym typeface="Wingdings" panose="05000000000000000000" pitchFamily="2" charset="2"/>
              </a:rPr>
              <a:t> that will give us a value in square feet (ft</a:t>
            </a:r>
            <a:r>
              <a:rPr lang="en-US" baseline="30000" dirty="0">
                <a:sym typeface="Wingdings" panose="05000000000000000000" pitchFamily="2" charset="2"/>
              </a:rPr>
              <a:t>2</a:t>
            </a:r>
            <a:r>
              <a:rPr lang="en-US" dirty="0">
                <a:sym typeface="Wingdings" panose="05000000000000000000" pitchFamily="2" charset="2"/>
              </a:rPr>
              <a:t>)</a:t>
            </a:r>
            <a:endParaRPr lang="en-US" dirty="0"/>
          </a:p>
          <a:p>
            <a:pPr marL="0" indent="0" algn="ctr">
              <a:buNone/>
              <a:defRPr/>
            </a:pPr>
            <a:r>
              <a:rPr lang="en-US" sz="3200" dirty="0"/>
              <a:t>16 ft × 12 ft × …..  =  </a:t>
            </a:r>
            <a:r>
              <a:rPr lang="en-US" sz="3200" dirty="0">
                <a:solidFill>
                  <a:schemeClr val="accent1">
                    <a:lumMod val="60000"/>
                    <a:lumOff val="40000"/>
                  </a:schemeClr>
                </a:solidFill>
              </a:rPr>
              <a:t>?</a:t>
            </a:r>
            <a:r>
              <a:rPr lang="en-US" sz="3200" dirty="0"/>
              <a:t> m</a:t>
            </a:r>
            <a:r>
              <a:rPr lang="en-US" sz="3200" baseline="30000" dirty="0"/>
              <a:t>2</a:t>
            </a:r>
            <a:endParaRPr lang="en-US" sz="3200" dirty="0"/>
          </a:p>
        </p:txBody>
      </p:sp>
      <p:sp>
        <p:nvSpPr>
          <p:cNvPr id="3" name="Slide Number Placeholder 2">
            <a:extLst>
              <a:ext uri="{FF2B5EF4-FFF2-40B4-BE49-F238E27FC236}">
                <a16:creationId xmlns:a16="http://schemas.microsoft.com/office/drawing/2014/main" id="{8FBA51B7-A8DF-7149-EBF7-27C58F3CD427}"/>
              </a:ext>
            </a:extLst>
          </p:cNvPr>
          <p:cNvSpPr>
            <a:spLocks noGrp="1"/>
          </p:cNvSpPr>
          <p:nvPr>
            <p:ph type="sldNum" sz="quarter" idx="10"/>
          </p:nvPr>
        </p:nvSpPr>
        <p:spPr/>
        <p:txBody>
          <a:bodyPr/>
          <a:lstStyle/>
          <a:p>
            <a:fld id="{12356DF5-CFED-4016-A2DB-A70AC2735480}" type="slidenum">
              <a:rPr lang="en-US" smtClean="0"/>
              <a:pPr/>
              <a:t>36</a:t>
            </a:fld>
            <a:endParaRPr lang="en-US" dirty="0">
              <a:solidFill>
                <a:schemeClr val="bg1"/>
              </a:solidFill>
            </a:endParaRPr>
          </a:p>
        </p:txBody>
      </p:sp>
    </p:spTree>
    <p:extLst>
      <p:ext uri="{BB962C8B-B14F-4D97-AF65-F5344CB8AC3E}">
        <p14:creationId xmlns:p14="http://schemas.microsoft.com/office/powerpoint/2010/main" val="29305917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199A8-3264-C59D-80EF-60EF8550F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B4E10A-6C18-A985-814C-342823AE7225}"/>
              </a:ext>
            </a:extLst>
          </p:cNvPr>
          <p:cNvSpPr>
            <a:spLocks noGrp="1"/>
          </p:cNvSpPr>
          <p:nvPr>
            <p:ph type="title"/>
          </p:nvPr>
        </p:nvSpPr>
        <p:spPr/>
        <p:txBody>
          <a:bodyPr/>
          <a:lstStyle/>
          <a:p>
            <a:r>
              <a:rPr lang="en-US" dirty="0"/>
              <a:t>Conversion Practice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315317E9-3B59-E674-4CBC-96926276758B}"/>
                  </a:ext>
                </a:extLst>
              </p:cNvPr>
              <p:cNvSpPr>
                <a:spLocks noGrp="1"/>
              </p:cNvSpPr>
              <p:nvPr>
                <p:ph idx="1"/>
              </p:nvPr>
            </p:nvSpPr>
            <p:spPr/>
            <p:txBody>
              <a:bodyPr/>
              <a:lstStyle/>
              <a:p>
                <a:pPr marL="0" indent="0">
                  <a:buNone/>
                  <a:defRPr/>
                </a:pPr>
                <a:r>
                  <a:rPr lang="en-US" dirty="0">
                    <a:solidFill>
                      <a:srgbClr val="FFFFFF"/>
                    </a:solidFill>
                  </a:rPr>
                  <a:t>A room measures 16 ft x 20 ft in area. What is it in square meters (m</a:t>
                </a:r>
                <a:r>
                  <a:rPr lang="en-US" baseline="30000" dirty="0">
                    <a:solidFill>
                      <a:srgbClr val="FFFFFF"/>
                    </a:solidFill>
                  </a:rPr>
                  <a:t>2</a:t>
                </a:r>
                <a:r>
                  <a:rPr lang="en-US" dirty="0">
                    <a:solidFill>
                      <a:srgbClr val="FFFFFF"/>
                    </a:solidFill>
                  </a:rPr>
                  <a:t>)</a:t>
                </a:r>
              </a:p>
              <a:p>
                <a:pPr marL="0" indent="0">
                  <a:buNone/>
                  <a:defRPr/>
                </a:pPr>
                <a:endParaRPr lang="en-US" sz="1800" dirty="0">
                  <a:solidFill>
                    <a:srgbClr val="FFFFFF"/>
                  </a:solidFill>
                </a:endParaRPr>
              </a:p>
              <a:p>
                <a:pPr>
                  <a:defRPr/>
                </a:pPr>
                <a:r>
                  <a:rPr lang="en-US" sz="1800" dirty="0">
                    <a:solidFill>
                      <a:schemeClr val="accent1">
                        <a:lumMod val="60000"/>
                        <a:lumOff val="40000"/>
                      </a:schemeClr>
                    </a:solidFill>
                  </a:rPr>
                  <a:t>12 inches = 1 foot</a:t>
                </a:r>
                <a:endParaRPr lang="en-US" sz="1800" dirty="0">
                  <a:solidFill>
                    <a:srgbClr val="FFFFFF"/>
                  </a:solidFill>
                </a:endParaRPr>
              </a:p>
              <a:p>
                <a:pPr>
                  <a:defRPr/>
                </a:pPr>
                <a:r>
                  <a:rPr lang="en-US" sz="1800" dirty="0">
                    <a:solidFill>
                      <a:schemeClr val="accent1">
                        <a:lumMod val="60000"/>
                        <a:lumOff val="40000"/>
                      </a:schemeClr>
                    </a:solidFill>
                  </a:rPr>
                  <a:t>2.54 cm = 1 inch</a:t>
                </a:r>
              </a:p>
              <a:p>
                <a:pPr>
                  <a:defRPr/>
                </a:pPr>
                <a:r>
                  <a:rPr lang="en-US" sz="1800" dirty="0">
                    <a:solidFill>
                      <a:schemeClr val="accent1">
                        <a:lumMod val="60000"/>
                        <a:lumOff val="40000"/>
                      </a:schemeClr>
                    </a:solidFill>
                  </a:rPr>
                  <a:t>100 cm = 1 meter</a:t>
                </a:r>
              </a:p>
              <a:p>
                <a:pPr marL="0" indent="0">
                  <a:buNone/>
                  <a:defRPr/>
                </a:pPr>
                <a:r>
                  <a:rPr lang="en-US" dirty="0"/>
                  <a:t>So we need a conversion factor that is in ft</a:t>
                </a:r>
                <a:r>
                  <a:rPr lang="en-US" baseline="30000" dirty="0"/>
                  <a:t>2</a:t>
                </a:r>
              </a:p>
              <a:p>
                <a:pPr marL="0" indent="0">
                  <a:buNone/>
                  <a:defRPr/>
                </a:pPr>
                <a:r>
                  <a:rPr lang="en-US" dirty="0"/>
                  <a:t>    12 in = 1 ft  </a:t>
                </a:r>
                <a:r>
                  <a:rPr lang="en-US" dirty="0">
                    <a:sym typeface="Wingdings" panose="05000000000000000000" pitchFamily="2" charset="2"/>
                  </a:rPr>
                  <a:t> (12 in)</a:t>
                </a:r>
                <a:r>
                  <a:rPr lang="en-US" baseline="30000" dirty="0">
                    <a:sym typeface="Wingdings" panose="05000000000000000000" pitchFamily="2" charset="2"/>
                  </a:rPr>
                  <a:t>2</a:t>
                </a:r>
                <a:r>
                  <a:rPr lang="en-US" dirty="0">
                    <a:sym typeface="Wingdings" panose="05000000000000000000" pitchFamily="2" charset="2"/>
                  </a:rPr>
                  <a:t> = (1 ft)</a:t>
                </a:r>
                <a:r>
                  <a:rPr lang="en-US" baseline="30000" dirty="0">
                    <a:sym typeface="Wingdings" panose="05000000000000000000" pitchFamily="2" charset="2"/>
                  </a:rPr>
                  <a:t>2</a:t>
                </a:r>
              </a:p>
              <a:p>
                <a:pPr marL="0" indent="0">
                  <a:buNone/>
                  <a:defRPr/>
                </a:pPr>
                <a:r>
                  <a:rPr lang="en-US" dirty="0"/>
                  <a:t>I am not going to evaluate it right now: I will add it to the equation</a:t>
                </a:r>
                <a:endParaRPr lang="en-US" baseline="30000" dirty="0"/>
              </a:p>
              <a:p>
                <a:pPr marL="0" indent="0">
                  <a:buNone/>
                  <a:defRPr/>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16 </m:t>
                          </m:r>
                          <m:r>
                            <m:rPr>
                              <m:nor/>
                            </m:rPr>
                            <a:rPr lang="en-US" b="0" i="0" smtClean="0">
                              <a:latin typeface="Cambria Math" panose="02040503050406030204" pitchFamily="18" charset="0"/>
                            </a:rPr>
                            <m:t>ft</m:t>
                          </m:r>
                        </m:num>
                        <m:den>
                          <m:r>
                            <a:rPr lang="en-US" b="0" i="1" smtClean="0">
                              <a:latin typeface="Cambria Math" panose="02040503050406030204" pitchFamily="18" charset="0"/>
                            </a:rPr>
                            <m:t>1</m:t>
                          </m:r>
                        </m:den>
                      </m:f>
                      <m:r>
                        <a:rPr lang="en-US"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b="0" i="1" smtClean="0">
                              <a:latin typeface="Cambria Math" panose="02040503050406030204" pitchFamily="18" charset="0"/>
                            </a:rPr>
                            <m:t>2</m:t>
                          </m:r>
                          <m:r>
                            <a:rPr lang="en-US" i="1">
                              <a:latin typeface="Cambria Math" panose="02040503050406030204" pitchFamily="18" charset="0"/>
                            </a:rPr>
                            <m:t> </m:t>
                          </m:r>
                          <m:r>
                            <m:rPr>
                              <m:nor/>
                            </m:rPr>
                            <a:rPr lang="en-US">
                              <a:latin typeface="Cambria Math" panose="02040503050406030204" pitchFamily="18" charset="0"/>
                            </a:rPr>
                            <m:t>ft</m:t>
                          </m:r>
                        </m:num>
                        <m:den>
                          <m:r>
                            <a:rPr lang="en-US" i="1">
                              <a:latin typeface="Cambria Math" panose="02040503050406030204" pitchFamily="18" charset="0"/>
                            </a:rPr>
                            <m:t>1</m:t>
                          </m:r>
                        </m:den>
                      </m:f>
                      <m:r>
                        <a:rPr lang="en-US" i="1">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(12 </m:t>
                              </m:r>
                              <m:r>
                                <m:rPr>
                                  <m:nor/>
                                </m:rPr>
                                <a:rPr lang="en-US">
                                  <a:latin typeface="Cambria Math" panose="02040503050406030204" pitchFamily="18" charset="0"/>
                                  <a:ea typeface="Cambria Math" panose="02040503050406030204" pitchFamily="18" charset="0"/>
                                </a:rPr>
                                <m:t>in</m:t>
                              </m:r>
                              <m:r>
                                <a:rPr lang="en-US" i="1">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num>
                        <m:den>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(1 </m:t>
                              </m:r>
                              <m:r>
                                <m:rPr>
                                  <m:nor/>
                                </m:rPr>
                                <a:rPr lang="en-US" b="0" i="0" smtClean="0">
                                  <a:latin typeface="Cambria Math" panose="02040503050406030204" pitchFamily="18" charset="0"/>
                                  <a:ea typeface="Cambria Math" panose="02040503050406030204" pitchFamily="18" charset="0"/>
                                </a:rPr>
                                <m:t>ft</m:t>
                              </m:r>
                              <m: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 × …= ?  </m:t>
                      </m:r>
                      <m:r>
                        <m:rPr>
                          <m:nor/>
                        </m:rPr>
                        <a:rPr lang="en-US" b="0" i="0" smtClean="0">
                          <a:latin typeface="Cambria Math" panose="02040503050406030204" pitchFamily="18" charset="0"/>
                          <a:ea typeface="Cambria Math" panose="02040503050406030204" pitchFamily="18" charset="0"/>
                        </a:rPr>
                        <m:t>m</m:t>
                      </m:r>
                      <m:r>
                        <a:rPr lang="en-US" b="0" i="1" baseline="30000" smtClean="0">
                          <a:latin typeface="Cambria Math" panose="02040503050406030204" pitchFamily="18" charset="0"/>
                          <a:ea typeface="Cambria Math" panose="02040503050406030204" pitchFamily="18" charset="0"/>
                        </a:rPr>
                        <m:t>2</m:t>
                      </m:r>
                    </m:oMath>
                  </m:oMathPara>
                </a14:m>
                <a:endParaRPr lang="en-US" baseline="30000" dirty="0"/>
              </a:p>
              <a:p>
                <a:pPr marL="0" indent="0">
                  <a:buNone/>
                  <a:defRPr/>
                </a:pPr>
                <a:endParaRPr lang="en-US" dirty="0"/>
              </a:p>
            </p:txBody>
          </p:sp>
        </mc:Choice>
        <mc:Fallback xmlns="">
          <p:sp>
            <p:nvSpPr>
              <p:cNvPr id="5" name="Content Placeholder 4">
                <a:extLst>
                  <a:ext uri="{FF2B5EF4-FFF2-40B4-BE49-F238E27FC236}">
                    <a16:creationId xmlns:a16="http://schemas.microsoft.com/office/drawing/2014/main" id="{315317E9-3B59-E674-4CBC-96926276758B}"/>
                  </a:ext>
                </a:extLst>
              </p:cNvPr>
              <p:cNvSpPr>
                <a:spLocks noGrp="1" noRot="1" noChangeAspect="1" noMove="1" noResize="1" noEditPoints="1" noAdjustHandles="1" noChangeArrowheads="1" noChangeShapeType="1" noTextEdit="1"/>
              </p:cNvSpPr>
              <p:nvPr>
                <p:ph idx="1"/>
              </p:nvPr>
            </p:nvSpPr>
            <p:spPr>
              <a:blipFill>
                <a:blip r:embed="rId2"/>
                <a:stretch>
                  <a:fillRect l="-1090" t="-936"/>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7B585E53-7510-EBB1-0AA3-233880242EE1}"/>
              </a:ext>
            </a:extLst>
          </p:cNvPr>
          <p:cNvSpPr>
            <a:spLocks noGrp="1"/>
          </p:cNvSpPr>
          <p:nvPr>
            <p:ph type="sldNum" sz="quarter" idx="10"/>
          </p:nvPr>
        </p:nvSpPr>
        <p:spPr/>
        <p:txBody>
          <a:bodyPr/>
          <a:lstStyle/>
          <a:p>
            <a:fld id="{12356DF5-CFED-4016-A2DB-A70AC2735480}" type="slidenum">
              <a:rPr lang="en-US" smtClean="0"/>
              <a:pPr/>
              <a:t>37</a:t>
            </a:fld>
            <a:endParaRPr lang="en-US" dirty="0">
              <a:solidFill>
                <a:schemeClr val="bg1"/>
              </a:solidFill>
            </a:endParaRPr>
          </a:p>
        </p:txBody>
      </p:sp>
    </p:spTree>
    <p:extLst>
      <p:ext uri="{BB962C8B-B14F-4D97-AF65-F5344CB8AC3E}">
        <p14:creationId xmlns:p14="http://schemas.microsoft.com/office/powerpoint/2010/main" val="37396197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2CFFD-654B-4B87-9CD9-2DFE2CA2E0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D30099-72B4-CE4F-5719-8F5215710B88}"/>
              </a:ext>
            </a:extLst>
          </p:cNvPr>
          <p:cNvSpPr>
            <a:spLocks noGrp="1"/>
          </p:cNvSpPr>
          <p:nvPr>
            <p:ph type="title"/>
          </p:nvPr>
        </p:nvSpPr>
        <p:spPr/>
        <p:txBody>
          <a:bodyPr/>
          <a:lstStyle/>
          <a:p>
            <a:r>
              <a:rPr lang="en-US" dirty="0"/>
              <a:t>Conversion Practice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3D9DF524-3A19-0034-07DF-11790D5D1436}"/>
                  </a:ext>
                </a:extLst>
              </p:cNvPr>
              <p:cNvSpPr>
                <a:spLocks noGrp="1"/>
              </p:cNvSpPr>
              <p:nvPr>
                <p:ph idx="1"/>
              </p:nvPr>
            </p:nvSpPr>
            <p:spPr/>
            <p:txBody>
              <a:bodyPr/>
              <a:lstStyle/>
              <a:p>
                <a:pPr>
                  <a:defRPr/>
                </a:pPr>
                <a:endParaRPr lang="en-US" sz="1800" dirty="0">
                  <a:solidFill>
                    <a:schemeClr val="accent1">
                      <a:lumMod val="60000"/>
                      <a:lumOff val="40000"/>
                    </a:schemeClr>
                  </a:solidFill>
                </a:endParaRPr>
              </a:p>
              <a:p>
                <a:pPr marL="0" indent="0">
                  <a:buNone/>
                  <a:defRPr/>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16 </m:t>
                          </m:r>
                          <m:r>
                            <m:rPr>
                              <m:nor/>
                            </m:rPr>
                            <a:rPr lang="en-US" b="0" i="0" smtClean="0">
                              <a:latin typeface="Cambria Math" panose="02040503050406030204" pitchFamily="18" charset="0"/>
                            </a:rPr>
                            <m:t>ft</m:t>
                          </m:r>
                        </m:num>
                        <m:den>
                          <m:r>
                            <a:rPr lang="en-US" b="0" i="1" smtClean="0">
                              <a:latin typeface="Cambria Math" panose="02040503050406030204" pitchFamily="18" charset="0"/>
                            </a:rPr>
                            <m:t>1</m:t>
                          </m:r>
                        </m:den>
                      </m:f>
                      <m:r>
                        <a:rPr lang="en-US"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b="0" i="1" smtClean="0">
                              <a:latin typeface="Cambria Math" panose="02040503050406030204" pitchFamily="18" charset="0"/>
                            </a:rPr>
                            <m:t>2</m:t>
                          </m:r>
                          <m:r>
                            <a:rPr lang="en-US" i="1">
                              <a:latin typeface="Cambria Math" panose="02040503050406030204" pitchFamily="18" charset="0"/>
                            </a:rPr>
                            <m:t> </m:t>
                          </m:r>
                          <m:r>
                            <m:rPr>
                              <m:nor/>
                            </m:rPr>
                            <a:rPr lang="en-US">
                              <a:latin typeface="Cambria Math" panose="02040503050406030204" pitchFamily="18" charset="0"/>
                            </a:rPr>
                            <m:t>ft</m:t>
                          </m:r>
                        </m:num>
                        <m:den>
                          <m:r>
                            <a:rPr lang="en-US" i="1">
                              <a:latin typeface="Cambria Math" panose="02040503050406030204" pitchFamily="18" charset="0"/>
                            </a:rPr>
                            <m:t>1</m:t>
                          </m:r>
                        </m:den>
                      </m:f>
                      <m:r>
                        <a:rPr lang="en-US" i="1">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(12 </m:t>
                              </m:r>
                              <m:r>
                                <m:rPr>
                                  <m:nor/>
                                </m:rPr>
                                <a:rPr lang="en-US">
                                  <a:latin typeface="Cambria Math" panose="02040503050406030204" pitchFamily="18" charset="0"/>
                                  <a:ea typeface="Cambria Math" panose="02040503050406030204" pitchFamily="18" charset="0"/>
                                </a:rPr>
                                <m:t>in</m:t>
                              </m:r>
                              <m:r>
                                <a:rPr lang="en-US" i="1">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num>
                        <m:den>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(1 </m:t>
                              </m:r>
                              <m:r>
                                <m:rPr>
                                  <m:nor/>
                                </m:rPr>
                                <a:rPr lang="en-US" b="0" i="0" smtClean="0">
                                  <a:latin typeface="Cambria Math" panose="02040503050406030204" pitchFamily="18" charset="0"/>
                                  <a:ea typeface="Cambria Math" panose="02040503050406030204" pitchFamily="18" charset="0"/>
                                </a:rPr>
                                <m:t>ft</m:t>
                              </m:r>
                              <m: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 × …= ?  </m:t>
                      </m:r>
                      <m:r>
                        <m:rPr>
                          <m:nor/>
                        </m:rPr>
                        <a:rPr lang="en-US" b="0" i="0" smtClean="0">
                          <a:latin typeface="Cambria Math" panose="02040503050406030204" pitchFamily="18" charset="0"/>
                          <a:ea typeface="Cambria Math" panose="02040503050406030204" pitchFamily="18" charset="0"/>
                        </a:rPr>
                        <m:t>m</m:t>
                      </m:r>
                      <m:r>
                        <a:rPr lang="en-US" b="0" i="1" baseline="30000" smtClean="0">
                          <a:latin typeface="Cambria Math" panose="02040503050406030204" pitchFamily="18" charset="0"/>
                          <a:ea typeface="Cambria Math" panose="02040503050406030204" pitchFamily="18" charset="0"/>
                        </a:rPr>
                        <m:t>2</m:t>
                      </m:r>
                    </m:oMath>
                  </m:oMathPara>
                </a14:m>
                <a:endParaRPr lang="en-US" baseline="30000" dirty="0"/>
              </a:p>
              <a:p>
                <a:pPr marL="0" indent="0">
                  <a:buNone/>
                  <a:defRPr/>
                </a:pPr>
                <a:r>
                  <a:rPr lang="en-US" dirty="0"/>
                  <a:t>I added the conversion factor in a way that when </a:t>
                </a:r>
                <a:br>
                  <a:rPr lang="en-US" dirty="0"/>
                </a:br>
                <a:r>
                  <a:rPr lang="en-US" dirty="0"/>
                  <a:t>“ft x ft” is evaluated, it equals “ft</a:t>
                </a:r>
                <a:r>
                  <a:rPr lang="en-US" baseline="30000" dirty="0"/>
                  <a:t>2</a:t>
                </a:r>
                <a:r>
                  <a:rPr lang="en-US" dirty="0"/>
                  <a:t>”</a:t>
                </a:r>
              </a:p>
              <a:p>
                <a:pPr marL="0" indent="0">
                  <a:buNone/>
                  <a:defRPr/>
                </a:pPr>
                <a:endParaRPr lang="en-US" baseline="30000" dirty="0"/>
              </a:p>
              <a:p>
                <a:pPr marL="0" indent="0">
                  <a:buNone/>
                  <a:defRPr/>
                </a:pPr>
                <a:r>
                  <a:rPr lang="en-US" dirty="0"/>
                  <a:t>If we evaluate that expression right now and stop, we drop the units to get just the numbers, and we get an answer of 16 x 12 x 12</a:t>
                </a:r>
                <a:r>
                  <a:rPr lang="en-US" baseline="30000" dirty="0"/>
                  <a:t>2</a:t>
                </a:r>
                <a:r>
                  <a:rPr lang="en-US" dirty="0"/>
                  <a:t> = 27468</a:t>
                </a:r>
              </a:p>
              <a:p>
                <a:pPr marL="0" indent="0">
                  <a:buNone/>
                  <a:defRPr/>
                </a:pPr>
                <a:endParaRPr lang="en-US" baseline="30000" dirty="0"/>
              </a:p>
              <a:p>
                <a:pPr marL="0" indent="0">
                  <a:buNone/>
                  <a:defRPr/>
                </a:pPr>
                <a:r>
                  <a:rPr lang="en-US" dirty="0"/>
                  <a:t>The </a:t>
                </a:r>
                <a:r>
                  <a:rPr lang="en-US" dirty="0">
                    <a:solidFill>
                      <a:schemeClr val="accent1">
                        <a:lumMod val="60000"/>
                        <a:lumOff val="40000"/>
                      </a:schemeClr>
                    </a:solidFill>
                  </a:rPr>
                  <a:t>ft x ft / ft</a:t>
                </a:r>
                <a:r>
                  <a:rPr lang="en-US" baseline="30000" dirty="0">
                    <a:solidFill>
                      <a:schemeClr val="accent1">
                        <a:lumMod val="60000"/>
                        <a:lumOff val="40000"/>
                      </a:schemeClr>
                    </a:solidFill>
                  </a:rPr>
                  <a:t>2 </a:t>
                </a:r>
                <a:r>
                  <a:rPr lang="en-US" dirty="0"/>
                  <a:t>should “cancel”: two “</a:t>
                </a:r>
                <a:r>
                  <a:rPr lang="en-US" dirty="0">
                    <a:solidFill>
                      <a:schemeClr val="accent1">
                        <a:lumMod val="60000"/>
                        <a:lumOff val="40000"/>
                      </a:schemeClr>
                    </a:solidFill>
                  </a:rPr>
                  <a:t>ft</a:t>
                </a:r>
                <a:r>
                  <a:rPr lang="en-US" dirty="0"/>
                  <a:t>” in the numerator, “</a:t>
                </a:r>
                <a:r>
                  <a:rPr lang="en-US" dirty="0">
                    <a:solidFill>
                      <a:schemeClr val="accent1">
                        <a:lumMod val="60000"/>
                        <a:lumOff val="40000"/>
                      </a:schemeClr>
                    </a:solidFill>
                  </a:rPr>
                  <a:t>ft</a:t>
                </a:r>
                <a:r>
                  <a:rPr lang="en-US" baseline="30000" dirty="0">
                    <a:solidFill>
                      <a:schemeClr val="accent1">
                        <a:lumMod val="60000"/>
                        <a:lumOff val="40000"/>
                      </a:schemeClr>
                    </a:solidFill>
                  </a:rPr>
                  <a:t>2</a:t>
                </a:r>
                <a:r>
                  <a:rPr lang="en-US" dirty="0"/>
                  <a:t>” in the denominator “</a:t>
                </a:r>
                <a:r>
                  <a:rPr lang="en-US" dirty="0">
                    <a:solidFill>
                      <a:schemeClr val="accent1">
                        <a:lumMod val="60000"/>
                        <a:lumOff val="40000"/>
                      </a:schemeClr>
                    </a:solidFill>
                  </a:rPr>
                  <a:t>in</a:t>
                </a:r>
                <a:r>
                  <a:rPr lang="en-US" baseline="30000" dirty="0">
                    <a:solidFill>
                      <a:schemeClr val="accent1">
                        <a:lumMod val="60000"/>
                        <a:lumOff val="40000"/>
                      </a:schemeClr>
                    </a:solidFill>
                  </a:rPr>
                  <a:t>2</a:t>
                </a:r>
                <a:r>
                  <a:rPr lang="en-US" dirty="0"/>
                  <a:t>” is left in the numerator, so that would be the intermediate result:  “27,468 </a:t>
                </a:r>
                <a:r>
                  <a:rPr lang="en-US" dirty="0">
                    <a:solidFill>
                      <a:schemeClr val="accent1">
                        <a:lumMod val="60000"/>
                        <a:lumOff val="40000"/>
                      </a:schemeClr>
                    </a:solidFill>
                  </a:rPr>
                  <a:t>in</a:t>
                </a:r>
                <a:r>
                  <a:rPr lang="en-US" baseline="30000" dirty="0">
                    <a:solidFill>
                      <a:schemeClr val="accent1">
                        <a:lumMod val="60000"/>
                        <a:lumOff val="40000"/>
                      </a:schemeClr>
                    </a:solidFill>
                  </a:rPr>
                  <a:t>2</a:t>
                </a:r>
                <a:r>
                  <a:rPr lang="en-US" dirty="0"/>
                  <a:t>”</a:t>
                </a:r>
                <a:endParaRPr lang="en-US" baseline="30000" dirty="0"/>
              </a:p>
            </p:txBody>
          </p:sp>
        </mc:Choice>
        <mc:Fallback xmlns="">
          <p:sp>
            <p:nvSpPr>
              <p:cNvPr id="5" name="Content Placeholder 4">
                <a:extLst>
                  <a:ext uri="{FF2B5EF4-FFF2-40B4-BE49-F238E27FC236}">
                    <a16:creationId xmlns:a16="http://schemas.microsoft.com/office/drawing/2014/main" id="{3D9DF524-3A19-0034-07DF-11790D5D1436}"/>
                  </a:ext>
                </a:extLst>
              </p:cNvPr>
              <p:cNvSpPr>
                <a:spLocks noGrp="1" noRot="1" noChangeAspect="1" noMove="1" noResize="1" noEditPoints="1" noAdjustHandles="1" noChangeArrowheads="1" noChangeShapeType="1" noTextEdit="1"/>
              </p:cNvSpPr>
              <p:nvPr>
                <p:ph idx="1"/>
              </p:nvPr>
            </p:nvSpPr>
            <p:spPr>
              <a:blipFill>
                <a:blip r:embed="rId2"/>
                <a:stretch>
                  <a:fillRect l="-1090" b="-3626"/>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414EBE5C-A44E-B6C2-92FC-ECF6958FE121}"/>
              </a:ext>
            </a:extLst>
          </p:cNvPr>
          <p:cNvSpPr>
            <a:spLocks noGrp="1"/>
          </p:cNvSpPr>
          <p:nvPr>
            <p:ph type="sldNum" sz="quarter" idx="10"/>
          </p:nvPr>
        </p:nvSpPr>
        <p:spPr/>
        <p:txBody>
          <a:bodyPr/>
          <a:lstStyle/>
          <a:p>
            <a:fld id="{12356DF5-CFED-4016-A2DB-A70AC2735480}" type="slidenum">
              <a:rPr lang="en-US" smtClean="0"/>
              <a:pPr/>
              <a:t>38</a:t>
            </a:fld>
            <a:endParaRPr lang="en-US" dirty="0">
              <a:solidFill>
                <a:schemeClr val="bg1"/>
              </a:solidFill>
            </a:endParaRPr>
          </a:p>
        </p:txBody>
      </p:sp>
    </p:spTree>
    <p:extLst>
      <p:ext uri="{BB962C8B-B14F-4D97-AF65-F5344CB8AC3E}">
        <p14:creationId xmlns:p14="http://schemas.microsoft.com/office/powerpoint/2010/main" val="24215382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2DBA8-F11F-409C-3E2F-6B825587FA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C99E80-3F51-1B75-808C-80A98693C7B1}"/>
              </a:ext>
            </a:extLst>
          </p:cNvPr>
          <p:cNvSpPr>
            <a:spLocks noGrp="1"/>
          </p:cNvSpPr>
          <p:nvPr>
            <p:ph type="title"/>
          </p:nvPr>
        </p:nvSpPr>
        <p:spPr/>
        <p:txBody>
          <a:bodyPr/>
          <a:lstStyle/>
          <a:p>
            <a:r>
              <a:rPr lang="en-US" dirty="0"/>
              <a:t>Conversion Practice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46E2BA8-88EA-14AC-F197-FE7ACD9FF8D5}"/>
                  </a:ext>
                </a:extLst>
              </p:cNvPr>
              <p:cNvSpPr>
                <a:spLocks noGrp="1"/>
              </p:cNvSpPr>
              <p:nvPr>
                <p:ph idx="1"/>
              </p:nvPr>
            </p:nvSpPr>
            <p:spPr/>
            <p:txBody>
              <a:bodyPr/>
              <a:lstStyle/>
              <a:p>
                <a:pPr>
                  <a:defRPr/>
                </a:pPr>
                <a:endParaRPr lang="en-US" sz="1800" dirty="0">
                  <a:solidFill>
                    <a:schemeClr val="accent1">
                      <a:lumMod val="60000"/>
                      <a:lumOff val="40000"/>
                    </a:schemeClr>
                  </a:solidFill>
                </a:endParaRPr>
              </a:p>
              <a:p>
                <a:pPr marL="0" indent="0">
                  <a:buNone/>
                  <a:defRPr/>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16 </m:t>
                          </m:r>
                          <m:r>
                            <m:rPr>
                              <m:nor/>
                            </m:rPr>
                            <a:rPr lang="en-US" b="0" i="0" smtClean="0">
                              <a:latin typeface="Cambria Math" panose="02040503050406030204" pitchFamily="18" charset="0"/>
                            </a:rPr>
                            <m:t>ft</m:t>
                          </m:r>
                        </m:num>
                        <m:den>
                          <m:r>
                            <a:rPr lang="en-US" b="0" i="1" smtClean="0">
                              <a:latin typeface="Cambria Math" panose="02040503050406030204" pitchFamily="18" charset="0"/>
                            </a:rPr>
                            <m:t>1</m:t>
                          </m:r>
                        </m:den>
                      </m:f>
                      <m:r>
                        <a:rPr lang="en-US"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b="0" i="1" smtClean="0">
                              <a:latin typeface="Cambria Math" panose="02040503050406030204" pitchFamily="18" charset="0"/>
                            </a:rPr>
                            <m:t>2</m:t>
                          </m:r>
                          <m:r>
                            <a:rPr lang="en-US" i="1">
                              <a:latin typeface="Cambria Math" panose="02040503050406030204" pitchFamily="18" charset="0"/>
                            </a:rPr>
                            <m:t> </m:t>
                          </m:r>
                          <m:r>
                            <m:rPr>
                              <m:nor/>
                            </m:rPr>
                            <a:rPr lang="en-US">
                              <a:latin typeface="Cambria Math" panose="02040503050406030204" pitchFamily="18" charset="0"/>
                            </a:rPr>
                            <m:t>ft</m:t>
                          </m:r>
                        </m:num>
                        <m:den>
                          <m:r>
                            <a:rPr lang="en-US" i="1">
                              <a:latin typeface="Cambria Math" panose="02040503050406030204" pitchFamily="18" charset="0"/>
                            </a:rPr>
                            <m:t>1</m:t>
                          </m:r>
                        </m:den>
                      </m:f>
                      <m:r>
                        <a:rPr lang="en-US" i="1">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(12 </m:t>
                              </m:r>
                              <m:r>
                                <m:rPr>
                                  <m:nor/>
                                </m:rPr>
                                <a:rPr lang="en-US">
                                  <a:latin typeface="Cambria Math" panose="02040503050406030204" pitchFamily="18" charset="0"/>
                                  <a:ea typeface="Cambria Math" panose="02040503050406030204" pitchFamily="18" charset="0"/>
                                </a:rPr>
                                <m:t>in</m:t>
                              </m:r>
                              <m:r>
                                <a:rPr lang="en-US" i="1">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num>
                        <m:den>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(1 </m:t>
                              </m:r>
                              <m:r>
                                <m:rPr>
                                  <m:nor/>
                                </m:rPr>
                                <a:rPr lang="en-US" b="0" i="0" smtClean="0">
                                  <a:latin typeface="Cambria Math" panose="02040503050406030204" pitchFamily="18" charset="0"/>
                                  <a:ea typeface="Cambria Math" panose="02040503050406030204" pitchFamily="18" charset="0"/>
                                </a:rPr>
                                <m:t>ft</m:t>
                              </m:r>
                              <m: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 ×</m:t>
                      </m:r>
                      <m:f>
                        <m:fPr>
                          <m:ctrlPr>
                            <a:rPr lang="en-US" i="1">
                              <a:latin typeface="Cambria Math" panose="02040503050406030204" pitchFamily="18" charset="0"/>
                              <a:ea typeface="Cambria Math" panose="02040503050406030204" pitchFamily="18" charset="0"/>
                            </a:rPr>
                          </m:ctrlPr>
                        </m:fPr>
                        <m:num>
                          <m:sSup>
                            <m:sSupPr>
                              <m:ctrlPr>
                                <a:rPr lang="en-US" i="1">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2.54</m:t>
                              </m:r>
                              <m:r>
                                <a:rPr lang="en-US" i="1">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cm</m:t>
                              </m:r>
                              <m:r>
                                <m:rPr>
                                  <m:nor/>
                                </m:rPr>
                                <a:rPr lang="en-US" b="0" i="0" smtClean="0">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num>
                        <m:den>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1 </m:t>
                              </m:r>
                              <m:r>
                                <m:rPr>
                                  <m:nor/>
                                </m:rPr>
                                <a:rPr lang="en-US" b="0" i="0" smtClean="0">
                                  <a:latin typeface="Cambria Math" panose="02040503050406030204" pitchFamily="18" charset="0"/>
                                  <a:ea typeface="Cambria Math" panose="02040503050406030204" pitchFamily="18" charset="0"/>
                                </a:rPr>
                                <m:t>in</m:t>
                              </m:r>
                              <m: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 </m:t>
                              </m:r>
                              <m:r>
                                <m:rPr>
                                  <m:nor/>
                                </m:rPr>
                                <a:rPr lang="en-US" smtClean="0">
                                  <a:latin typeface="Cambria Math" panose="02040503050406030204" pitchFamily="18" charset="0"/>
                                  <a:ea typeface="Cambria Math" panose="02040503050406030204" pitchFamily="18" charset="0"/>
                                </a:rPr>
                                <m:t>m</m:t>
                              </m:r>
                              <m:r>
                                <m:rPr>
                                  <m:nor/>
                                </m:rPr>
                                <a:rPr lang="en-US" smtClean="0">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num>
                        <m:den>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00</m:t>
                              </m:r>
                              <m:r>
                                <a:rPr lang="en-US" i="1">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cm</m:t>
                              </m:r>
                              <m: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 ?  </m:t>
                      </m:r>
                      <m:r>
                        <m:rPr>
                          <m:nor/>
                        </m:rPr>
                        <a:rPr lang="en-US" b="0" i="0" smtClean="0">
                          <a:latin typeface="Cambria Math" panose="02040503050406030204" pitchFamily="18" charset="0"/>
                          <a:ea typeface="Cambria Math" panose="02040503050406030204" pitchFamily="18" charset="0"/>
                        </a:rPr>
                        <m:t>m</m:t>
                      </m:r>
                      <m:r>
                        <a:rPr lang="en-US" b="0" i="1" baseline="30000" smtClean="0">
                          <a:latin typeface="Cambria Math" panose="02040503050406030204" pitchFamily="18" charset="0"/>
                          <a:ea typeface="Cambria Math" panose="02040503050406030204" pitchFamily="18" charset="0"/>
                        </a:rPr>
                        <m:t>2</m:t>
                      </m:r>
                    </m:oMath>
                  </m:oMathPara>
                </a14:m>
                <a:endParaRPr lang="en-US" baseline="30000" dirty="0"/>
              </a:p>
              <a:p>
                <a:pPr marL="0" indent="0">
                  <a:buNone/>
                  <a:defRPr/>
                </a:pPr>
                <a:endParaRPr lang="en-US" baseline="30000" dirty="0"/>
              </a:p>
              <a:p>
                <a:pPr marL="0" indent="0">
                  <a:buNone/>
                  <a:defRPr/>
                </a:pPr>
                <a:r>
                  <a:rPr lang="en-US" sz="2000" dirty="0"/>
                  <a:t>Note that we had to use the squared version of these linear conversions to get cancellation of the units in the quantities, but this is to demonstrate what you may sometimes need to keep track of. The book discusses this too.</a:t>
                </a:r>
              </a:p>
              <a:p>
                <a:pPr marL="0" indent="0">
                  <a:buNone/>
                  <a:defRPr/>
                </a:pPr>
                <a:endParaRPr lang="en-US" sz="2000" dirty="0"/>
              </a:p>
              <a:p>
                <a:pPr marL="0" indent="0">
                  <a:buNone/>
                  <a:defRPr/>
                </a:pPr>
                <a:r>
                  <a:rPr lang="en-US" sz="2000" dirty="0"/>
                  <a:t>When you have ensured all the units cancel, remove them from the equation, and evaluate the expression on the left</a:t>
                </a:r>
              </a:p>
              <a:p>
                <a:pPr marL="0" indent="0">
                  <a:buNone/>
                  <a:defRPr/>
                </a:pPr>
                <a:endParaRPr lang="en-US" sz="2000" dirty="0"/>
              </a:p>
              <a:p>
                <a:pPr marL="0" indent="0">
                  <a:buNone/>
                  <a:defRPr/>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16</m:t>
                          </m:r>
                        </m:num>
                        <m:den>
                          <m:r>
                            <a:rPr lang="en-US" i="1">
                              <a:latin typeface="Cambria Math" panose="02040503050406030204" pitchFamily="18" charset="0"/>
                            </a:rPr>
                            <m:t>1</m:t>
                          </m:r>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12</m:t>
                          </m:r>
                        </m:num>
                        <m:den>
                          <m:r>
                            <a:rPr lang="en-US" i="1">
                              <a:latin typeface="Cambria Math" panose="02040503050406030204" pitchFamily="18" charset="0"/>
                            </a:rPr>
                            <m:t>1</m:t>
                          </m:r>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(12</m:t>
                              </m:r>
                              <m:r>
                                <a:rPr lang="en-US" i="1" smtClean="0">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num>
                        <m:den>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m:t>
                              </m:r>
                              <m:r>
                                <a:rPr lang="en-US" i="1" smtClean="0">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den>
                      </m:f>
                      <m:r>
                        <a:rPr lang="en-US" i="1">
                          <a:latin typeface="Cambria Math" panose="02040503050406030204" pitchFamily="18" charset="0"/>
                          <a:ea typeface="Cambria Math" panose="02040503050406030204" pitchFamily="18" charset="0"/>
                        </a:rPr>
                        <m:t> ×</m:t>
                      </m:r>
                      <m:f>
                        <m:fPr>
                          <m:ctrlPr>
                            <a:rPr lang="en-US" i="1">
                              <a:latin typeface="Cambria Math" panose="02040503050406030204" pitchFamily="18" charset="0"/>
                              <a:ea typeface="Cambria Math" panose="02040503050406030204" pitchFamily="18" charset="0"/>
                            </a:rPr>
                          </m:ctrlPr>
                        </m:fPr>
                        <m:num>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(2.54</m:t>
                              </m:r>
                              <m:r>
                                <m:rPr>
                                  <m:nor/>
                                </m:rPr>
                                <a:rPr lang="en-US" smtClean="0">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num>
                        <m:den>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m:t>
                              </m:r>
                              <m:r>
                                <a:rPr lang="en-US" i="1" smtClean="0">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p>
                            <m:sSupPr>
                              <m:ctrlPr>
                                <a:rPr lang="en-US" i="1">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m:t>
                              </m:r>
                            </m:e>
                            <m:sup>
                              <m:r>
                                <a:rPr lang="en-US" i="1">
                                  <a:latin typeface="Cambria Math" panose="02040503050406030204" pitchFamily="18" charset="0"/>
                                  <a:ea typeface="Cambria Math" panose="02040503050406030204" pitchFamily="18" charset="0"/>
                                </a:rPr>
                                <m:t>2</m:t>
                              </m:r>
                            </m:sup>
                          </m:sSup>
                        </m:num>
                        <m:den>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100</m:t>
                              </m:r>
                            </m:e>
                            <m:sup>
                              <m:r>
                                <a:rPr lang="en-US" i="1">
                                  <a:latin typeface="Cambria Math" panose="02040503050406030204" pitchFamily="18" charset="0"/>
                                  <a:ea typeface="Cambria Math" panose="02040503050406030204" pitchFamily="18" charset="0"/>
                                </a:rPr>
                                <m:t>2</m:t>
                              </m:r>
                            </m:sup>
                          </m:sSup>
                        </m:den>
                      </m:f>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17.</m:t>
                      </m:r>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8</m:t>
                      </m:r>
                      <m:r>
                        <a:rPr lang="en-US" i="1">
                          <a:latin typeface="Cambria Math" panose="02040503050406030204" pitchFamily="18" charset="0"/>
                          <a:ea typeface="Cambria Math" panose="02040503050406030204" pitchFamily="18" charset="0"/>
                        </a:rPr>
                        <m:t> </m:t>
                      </m:r>
                      <m:r>
                        <m:rPr>
                          <m:nor/>
                        </m:rPr>
                        <a:rPr lang="en-US">
                          <a:latin typeface="Cambria Math" panose="02040503050406030204" pitchFamily="18" charset="0"/>
                          <a:ea typeface="Cambria Math" panose="02040503050406030204" pitchFamily="18" charset="0"/>
                        </a:rPr>
                        <m:t>m</m:t>
                      </m:r>
                      <m:r>
                        <a:rPr lang="en-US" i="1" baseline="30000">
                          <a:latin typeface="Cambria Math" panose="02040503050406030204" pitchFamily="18" charset="0"/>
                          <a:ea typeface="Cambria Math" panose="02040503050406030204" pitchFamily="18" charset="0"/>
                        </a:rPr>
                        <m:t>2</m:t>
                      </m:r>
                    </m:oMath>
                  </m:oMathPara>
                </a14:m>
                <a:endParaRPr lang="en-US" baseline="30000" dirty="0"/>
              </a:p>
            </p:txBody>
          </p:sp>
        </mc:Choice>
        <mc:Fallback xmlns="">
          <p:sp>
            <p:nvSpPr>
              <p:cNvPr id="5" name="Content Placeholder 4">
                <a:extLst>
                  <a:ext uri="{FF2B5EF4-FFF2-40B4-BE49-F238E27FC236}">
                    <a16:creationId xmlns:a16="http://schemas.microsoft.com/office/drawing/2014/main" id="{046E2BA8-88EA-14AC-F197-FE7ACD9FF8D5}"/>
                  </a:ext>
                </a:extLst>
              </p:cNvPr>
              <p:cNvSpPr>
                <a:spLocks noGrp="1" noRot="1" noChangeAspect="1" noMove="1" noResize="1" noEditPoints="1" noAdjustHandles="1" noChangeArrowheads="1" noChangeShapeType="1" noTextEdit="1"/>
              </p:cNvSpPr>
              <p:nvPr>
                <p:ph idx="1"/>
              </p:nvPr>
            </p:nvSpPr>
            <p:spPr>
              <a:blipFill>
                <a:blip r:embed="rId2"/>
                <a:stretch>
                  <a:fillRect l="-727" r="-1163"/>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E68CD3E-B752-B56E-42E2-1136A7E89BDA}"/>
              </a:ext>
            </a:extLst>
          </p:cNvPr>
          <p:cNvSpPr>
            <a:spLocks noGrp="1"/>
          </p:cNvSpPr>
          <p:nvPr>
            <p:ph type="sldNum" sz="quarter" idx="10"/>
          </p:nvPr>
        </p:nvSpPr>
        <p:spPr/>
        <p:txBody>
          <a:bodyPr/>
          <a:lstStyle/>
          <a:p>
            <a:fld id="{12356DF5-CFED-4016-A2DB-A70AC2735480}" type="slidenum">
              <a:rPr lang="en-US" smtClean="0"/>
              <a:pPr/>
              <a:t>39</a:t>
            </a:fld>
            <a:endParaRPr lang="en-US" dirty="0">
              <a:solidFill>
                <a:schemeClr val="bg1"/>
              </a:solidFill>
            </a:endParaRPr>
          </a:p>
        </p:txBody>
      </p:sp>
    </p:spTree>
    <p:extLst>
      <p:ext uri="{BB962C8B-B14F-4D97-AF65-F5344CB8AC3E}">
        <p14:creationId xmlns:p14="http://schemas.microsoft.com/office/powerpoint/2010/main" val="5467708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DF801-8CD9-07DA-578B-248B2CF5D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C58AE2-819B-20F3-8333-281A04B3074B}"/>
              </a:ext>
            </a:extLst>
          </p:cNvPr>
          <p:cNvSpPr>
            <a:spLocks noGrp="1"/>
          </p:cNvSpPr>
          <p:nvPr>
            <p:ph type="title"/>
          </p:nvPr>
        </p:nvSpPr>
        <p:spPr/>
        <p:txBody>
          <a:bodyPr/>
          <a:lstStyle/>
          <a:p>
            <a:r>
              <a:rPr lang="en-US" dirty="0"/>
              <a:t>Conversion Practice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299E6B87-AEC6-84E3-83AB-DCBAF2EFDCA2}"/>
                  </a:ext>
                </a:extLst>
              </p:cNvPr>
              <p:cNvSpPr>
                <a:spLocks noGrp="1"/>
              </p:cNvSpPr>
              <p:nvPr>
                <p:ph idx="1"/>
              </p:nvPr>
            </p:nvSpPr>
            <p:spPr/>
            <p:txBody>
              <a:bodyPr/>
              <a:lstStyle/>
              <a:p>
                <a:pPr>
                  <a:defRPr/>
                </a:pPr>
                <a:r>
                  <a:rPr lang="en-US" dirty="0"/>
                  <a:t>Now I suppose you could look up in a table that</a:t>
                </a:r>
                <a:br>
                  <a:rPr lang="en-US" dirty="0"/>
                </a:br>
                <a:r>
                  <a:rPr lang="en-US" dirty="0"/>
                  <a:t>1 ft</a:t>
                </a:r>
                <a:r>
                  <a:rPr lang="en-US" baseline="30000" dirty="0"/>
                  <a:t>2</a:t>
                </a:r>
                <a:r>
                  <a:rPr lang="en-US" dirty="0"/>
                  <a:t> = 0.092903 m</a:t>
                </a:r>
                <a:r>
                  <a:rPr lang="en-US" baseline="30000" dirty="0"/>
                  <a:t>2</a:t>
                </a:r>
              </a:p>
              <a:p>
                <a:pPr>
                  <a:defRPr/>
                </a:pPr>
                <a:endParaRPr lang="en-US" sz="1800" dirty="0">
                  <a:solidFill>
                    <a:schemeClr val="accent1">
                      <a:lumMod val="60000"/>
                      <a:lumOff val="40000"/>
                    </a:schemeClr>
                  </a:solidFill>
                </a:endParaRPr>
              </a:p>
              <a:p>
                <a:pPr marL="0" indent="0">
                  <a:buNone/>
                  <a:defRPr/>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16 </m:t>
                          </m:r>
                          <m:r>
                            <m:rPr>
                              <m:nor/>
                            </m:rPr>
                            <a:rPr lang="en-US">
                              <a:latin typeface="Cambria Math" panose="02040503050406030204" pitchFamily="18" charset="0"/>
                            </a:rPr>
                            <m:t>ft</m:t>
                          </m:r>
                        </m:num>
                        <m:den>
                          <m:r>
                            <a:rPr lang="en-US" i="1">
                              <a:latin typeface="Cambria Math" panose="02040503050406030204" pitchFamily="18" charset="0"/>
                            </a:rPr>
                            <m:t>1</m:t>
                          </m:r>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12 </m:t>
                          </m:r>
                          <m:r>
                            <m:rPr>
                              <m:nor/>
                            </m:rPr>
                            <a:rPr lang="en-US">
                              <a:latin typeface="Cambria Math" panose="02040503050406030204" pitchFamily="18" charset="0"/>
                            </a:rPr>
                            <m:t>ft</m:t>
                          </m:r>
                        </m:num>
                        <m:den>
                          <m:r>
                            <a:rPr lang="en-US" i="1">
                              <a:latin typeface="Cambria Math" panose="02040503050406030204" pitchFamily="18" charset="0"/>
                            </a:rPr>
                            <m:t>1</m:t>
                          </m:r>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p>
                            <m:sSupPr>
                              <m:ctrlPr>
                                <a:rPr lang="en-US" i="1">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0.092903</m:t>
                              </m:r>
                              <m:r>
                                <a:rPr lang="en-US" i="1">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m</m:t>
                              </m:r>
                            </m:e>
                            <m:sup>
                              <m:r>
                                <a:rPr lang="en-US" i="1">
                                  <a:latin typeface="Cambria Math" panose="02040503050406030204" pitchFamily="18" charset="0"/>
                                  <a:ea typeface="Cambria Math" panose="02040503050406030204" pitchFamily="18" charset="0"/>
                                </a:rPr>
                                <m:t>2</m:t>
                              </m:r>
                            </m:sup>
                          </m:sSup>
                        </m:num>
                        <m:den>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1 </m:t>
                              </m:r>
                              <m:r>
                                <m:rPr>
                                  <m:nor/>
                                </m:rPr>
                                <a:rPr lang="en-US">
                                  <a:latin typeface="Cambria Math" panose="02040503050406030204" pitchFamily="18" charset="0"/>
                                  <a:ea typeface="Cambria Math" panose="02040503050406030204" pitchFamily="18" charset="0"/>
                                </a:rPr>
                                <m:t>ft</m:t>
                              </m:r>
                            </m:e>
                            <m:sup>
                              <m:r>
                                <a:rPr lang="en-US" i="1">
                                  <a:latin typeface="Cambria Math" panose="02040503050406030204" pitchFamily="18" charset="0"/>
                                  <a:ea typeface="Cambria Math" panose="02040503050406030204" pitchFamily="18" charset="0"/>
                                </a:rPr>
                                <m:t>2</m:t>
                              </m:r>
                            </m:sup>
                          </m:sSup>
                        </m:den>
                      </m:f>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17.8</m:t>
                      </m:r>
                      <m:r>
                        <a:rPr lang="en-US" i="1">
                          <a:latin typeface="Cambria Math" panose="02040503050406030204" pitchFamily="18" charset="0"/>
                          <a:ea typeface="Cambria Math" panose="02040503050406030204" pitchFamily="18" charset="0"/>
                        </a:rPr>
                        <m:t>  </m:t>
                      </m:r>
                      <m:r>
                        <m:rPr>
                          <m:nor/>
                        </m:rPr>
                        <a:rPr lang="en-US">
                          <a:latin typeface="Cambria Math" panose="02040503050406030204" pitchFamily="18" charset="0"/>
                          <a:ea typeface="Cambria Math" panose="02040503050406030204" pitchFamily="18" charset="0"/>
                        </a:rPr>
                        <m:t>m</m:t>
                      </m:r>
                      <m:r>
                        <a:rPr lang="en-US" i="1" baseline="30000">
                          <a:latin typeface="Cambria Math" panose="02040503050406030204" pitchFamily="18" charset="0"/>
                          <a:ea typeface="Cambria Math" panose="02040503050406030204" pitchFamily="18" charset="0"/>
                        </a:rPr>
                        <m:t>2</m:t>
                      </m:r>
                    </m:oMath>
                  </m:oMathPara>
                </a14:m>
                <a:endParaRPr lang="en-US" baseline="30000" dirty="0"/>
              </a:p>
              <a:p>
                <a:pPr marL="0" indent="0">
                  <a:buNone/>
                  <a:defRPr/>
                </a:pPr>
                <a:endParaRPr lang="en-US" baseline="30000" dirty="0"/>
              </a:p>
              <a:p>
                <a:pPr marL="0" indent="0">
                  <a:buNone/>
                  <a:defRPr/>
                </a:pPr>
                <a:r>
                  <a:rPr lang="en-US" dirty="0"/>
                  <a:t>Just keep in mind what the conversion factor is and how you use it to cancel </a:t>
                </a:r>
                <a:r>
                  <a:rPr lang="en-US" dirty="0">
                    <a:solidFill>
                      <a:schemeClr val="accent1">
                        <a:lumMod val="60000"/>
                        <a:lumOff val="40000"/>
                      </a:schemeClr>
                    </a:solidFill>
                  </a:rPr>
                  <a:t>units</a:t>
                </a:r>
                <a:r>
                  <a:rPr lang="en-US" dirty="0"/>
                  <a:t> properly in evaluating the product. Ensure that the resulting final </a:t>
                </a:r>
                <a:r>
                  <a:rPr lang="en-US" dirty="0">
                    <a:solidFill>
                      <a:schemeClr val="accent1">
                        <a:lumMod val="60000"/>
                        <a:lumOff val="40000"/>
                      </a:schemeClr>
                    </a:solidFill>
                  </a:rPr>
                  <a:t>unit</a:t>
                </a:r>
                <a:r>
                  <a:rPr lang="en-US" dirty="0"/>
                  <a:t> is what it should be.</a:t>
                </a:r>
              </a:p>
              <a:p>
                <a:pPr marL="0" indent="0">
                  <a:buNone/>
                  <a:defRPr/>
                </a:pPr>
                <a:endParaRPr lang="en-US" baseline="30000" dirty="0"/>
              </a:p>
            </p:txBody>
          </p:sp>
        </mc:Choice>
        <mc:Fallback xmlns="">
          <p:sp>
            <p:nvSpPr>
              <p:cNvPr id="5" name="Content Placeholder 4">
                <a:extLst>
                  <a:ext uri="{FF2B5EF4-FFF2-40B4-BE49-F238E27FC236}">
                    <a16:creationId xmlns:a16="http://schemas.microsoft.com/office/drawing/2014/main" id="{299E6B87-AEC6-84E3-83AB-DCBAF2EFDCA2}"/>
                  </a:ext>
                </a:extLst>
              </p:cNvPr>
              <p:cNvSpPr>
                <a:spLocks noGrp="1" noRot="1" noChangeAspect="1" noMove="1" noResize="1" noEditPoints="1" noAdjustHandles="1" noChangeArrowheads="1" noChangeShapeType="1" noTextEdit="1"/>
              </p:cNvSpPr>
              <p:nvPr>
                <p:ph idx="1"/>
              </p:nvPr>
            </p:nvSpPr>
            <p:spPr>
              <a:blipFill>
                <a:blip r:embed="rId2"/>
                <a:stretch>
                  <a:fillRect l="-1090" t="-936" r="-727"/>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07AFCCAB-432D-0D95-1B3E-B7DA9A44BDA6}"/>
              </a:ext>
            </a:extLst>
          </p:cNvPr>
          <p:cNvSpPr>
            <a:spLocks noGrp="1"/>
          </p:cNvSpPr>
          <p:nvPr>
            <p:ph type="sldNum" sz="quarter" idx="10"/>
          </p:nvPr>
        </p:nvSpPr>
        <p:spPr/>
        <p:txBody>
          <a:bodyPr/>
          <a:lstStyle/>
          <a:p>
            <a:fld id="{12356DF5-CFED-4016-A2DB-A70AC2735480}" type="slidenum">
              <a:rPr lang="en-US" smtClean="0"/>
              <a:pPr/>
              <a:t>40</a:t>
            </a:fld>
            <a:endParaRPr lang="en-US" dirty="0">
              <a:solidFill>
                <a:schemeClr val="bg1"/>
              </a:solidFill>
            </a:endParaRPr>
          </a:p>
        </p:txBody>
      </p:sp>
    </p:spTree>
    <p:extLst>
      <p:ext uri="{BB962C8B-B14F-4D97-AF65-F5344CB8AC3E}">
        <p14:creationId xmlns:p14="http://schemas.microsoft.com/office/powerpoint/2010/main" val="5233723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A8ECF-7C3E-9091-9CD0-32EA2D12C5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D2DB76-418F-782F-9162-5EAD9F330A1B}"/>
              </a:ext>
            </a:extLst>
          </p:cNvPr>
          <p:cNvSpPr>
            <a:spLocks noGrp="1"/>
          </p:cNvSpPr>
          <p:nvPr>
            <p:ph type="title"/>
          </p:nvPr>
        </p:nvSpPr>
        <p:spPr>
          <a:xfrm>
            <a:off x="364067" y="336851"/>
            <a:ext cx="8421512" cy="646331"/>
          </a:xfrm>
        </p:spPr>
        <p:txBody>
          <a:bodyPr/>
          <a:lstStyle/>
          <a:p>
            <a:r>
              <a:rPr lang="en-US" sz="3600" dirty="0"/>
              <a:t>Density</a:t>
            </a:r>
          </a:p>
        </p:txBody>
      </p:sp>
      <p:sp>
        <p:nvSpPr>
          <p:cNvPr id="6" name="Content Placeholder 5">
            <a:extLst>
              <a:ext uri="{FF2B5EF4-FFF2-40B4-BE49-F238E27FC236}">
                <a16:creationId xmlns:a16="http://schemas.microsoft.com/office/drawing/2014/main" id="{68900D5F-905B-5EE5-08E2-E4E7AB418C2A}"/>
              </a:ext>
            </a:extLst>
          </p:cNvPr>
          <p:cNvSpPr>
            <a:spLocks noGrp="1"/>
          </p:cNvSpPr>
          <p:nvPr>
            <p:ph idx="1"/>
          </p:nvPr>
        </p:nvSpPr>
        <p:spPr>
          <a:xfrm>
            <a:off x="378177" y="1154669"/>
            <a:ext cx="8387645" cy="5215465"/>
          </a:xfrm>
          <a:prstGeom prst="rect">
            <a:avLst/>
          </a:prstGeom>
          <a:ln w="28575"/>
        </p:spPr>
        <p:txBody>
          <a:bodyPr/>
          <a:lstStyle/>
          <a:p>
            <a:pPr marL="0" indent="0">
              <a:buNone/>
              <a:defRPr/>
            </a:pPr>
            <a:r>
              <a:rPr lang="en-US" dirty="0"/>
              <a:t>How much </a:t>
            </a:r>
            <a:r>
              <a:rPr lang="en-US" dirty="0">
                <a:solidFill>
                  <a:srgbClr val="FFFF00"/>
                </a:solidFill>
              </a:rPr>
              <a:t>mass</a:t>
            </a:r>
            <a:r>
              <a:rPr lang="en-US" dirty="0"/>
              <a:t> is in a given </a:t>
            </a:r>
            <a:r>
              <a:rPr lang="en-US" dirty="0">
                <a:solidFill>
                  <a:srgbClr val="FFFF00"/>
                </a:solidFill>
              </a:rPr>
              <a:t>volume</a:t>
            </a:r>
          </a:p>
          <a:p>
            <a:pPr marL="0" indent="0">
              <a:buNone/>
              <a:defRPr/>
            </a:pPr>
            <a:endParaRPr lang="en-US" dirty="0"/>
          </a:p>
          <a:p>
            <a:pPr marL="0" indent="0">
              <a:buNone/>
              <a:defRPr/>
            </a:pPr>
            <a:r>
              <a:rPr lang="en-US" b="0" dirty="0"/>
              <a:t>The math definition:</a:t>
            </a:r>
          </a:p>
          <a:p>
            <a:pPr marL="0" indent="0">
              <a:buNone/>
              <a:defRPr/>
            </a:pPr>
            <a:endParaRPr lang="en-US" sz="1800" dirty="0"/>
          </a:p>
          <a:p>
            <a:pPr marL="0" indent="0">
              <a:buNone/>
              <a:defRPr/>
            </a:pPr>
            <a:r>
              <a:rPr lang="en-US" sz="1800" dirty="0"/>
              <a:t>Greek letter </a:t>
            </a:r>
            <a:r>
              <a:rPr lang="en-US" sz="1800" i="1" dirty="0"/>
              <a:t>rho</a:t>
            </a:r>
            <a:r>
              <a:rPr lang="en-US" sz="1800" dirty="0"/>
              <a:t> (</a:t>
            </a:r>
            <a:r>
              <a:rPr lang="en-US" sz="1800" dirty="0">
                <a:latin typeface="Symbol" panose="05050102010706020507" pitchFamily="18" charset="2"/>
              </a:rPr>
              <a:t>r</a:t>
            </a:r>
            <a:r>
              <a:rPr lang="en-US" sz="1800" dirty="0"/>
              <a:t>) is</a:t>
            </a:r>
            <a:br>
              <a:rPr lang="en-US" sz="1800" dirty="0"/>
            </a:br>
            <a:r>
              <a:rPr lang="en-US" sz="1800" dirty="0"/>
              <a:t>symbol for </a:t>
            </a:r>
            <a:r>
              <a:rPr lang="en-US" sz="1800" dirty="0">
                <a:solidFill>
                  <a:srgbClr val="00FF00"/>
                </a:solidFill>
              </a:rPr>
              <a:t>density</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0EAB591-6DB4-5B95-3067-EEA27B278D05}"/>
                  </a:ext>
                </a:extLst>
              </p:cNvPr>
              <p:cNvSpPr txBox="1"/>
              <p:nvPr/>
            </p:nvSpPr>
            <p:spPr>
              <a:xfrm>
                <a:off x="4572000" y="1770797"/>
                <a:ext cx="2913797" cy="1454437"/>
              </a:xfrm>
              <a:prstGeom prst="rect">
                <a:avLst/>
              </a:prstGeom>
              <a:noFill/>
              <a:ln w="28575">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𝑑𝑒𝑛𝑠𝑖𝑡𝑦</m:t>
                      </m:r>
                      <m:r>
                        <a:rPr lang="en-US" sz="2000" b="0" i="1" smtClean="0">
                          <a:solidFill>
                            <a:schemeClr val="bg1"/>
                          </a:solidFill>
                          <a:latin typeface="Cambria Math" panose="02040503050406030204" pitchFamily="18" charset="0"/>
                        </a:rPr>
                        <m:t>= </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𝑚𝑎𝑠𝑠</m:t>
                          </m:r>
                        </m:num>
                        <m:den>
                          <m:r>
                            <a:rPr lang="en-US" sz="2000" b="0" i="1" smtClean="0">
                              <a:solidFill>
                                <a:schemeClr val="bg1"/>
                              </a:solidFill>
                              <a:latin typeface="Cambria Math" panose="02040503050406030204" pitchFamily="18" charset="0"/>
                            </a:rPr>
                            <m:t>𝑣𝑜𝑙𝑢𝑚𝑒</m:t>
                          </m:r>
                        </m:den>
                      </m:f>
                      <m:r>
                        <a:rPr lang="en-US" sz="2000" b="0" i="1" smtClean="0">
                          <a:solidFill>
                            <a:schemeClr val="bg1"/>
                          </a:solidFill>
                          <a:latin typeface="Cambria Math" panose="02040503050406030204" pitchFamily="18" charset="0"/>
                        </a:rPr>
                        <m:t> </m:t>
                      </m:r>
                    </m:oMath>
                  </m:oMathPara>
                </a14:m>
                <a:endParaRPr lang="en-US" sz="2000" dirty="0">
                  <a:solidFill>
                    <a:schemeClr val="bg1"/>
                  </a:solidFill>
                </a:endParaRPr>
              </a:p>
              <a:p>
                <a:endParaRPr lang="en-US" sz="2000" dirty="0">
                  <a:solidFill>
                    <a:schemeClr val="bg1"/>
                  </a:solidFill>
                </a:endParaRPr>
              </a:p>
              <a:p>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ea typeface="Cambria Math" panose="02040503050406030204" pitchFamily="18" charset="0"/>
                        </a:rPr>
                        <m:t>𝜌</m:t>
                      </m:r>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𝑚</m:t>
                          </m:r>
                        </m:num>
                        <m:den>
                          <m:r>
                            <a:rPr lang="en-US" sz="2000" b="0" i="1" smtClean="0">
                              <a:solidFill>
                                <a:schemeClr val="bg1"/>
                              </a:solidFill>
                              <a:latin typeface="Cambria Math" panose="02040503050406030204" pitchFamily="18" charset="0"/>
                            </a:rPr>
                            <m:t>𝑉</m:t>
                          </m:r>
                        </m:den>
                      </m:f>
                    </m:oMath>
                  </m:oMathPara>
                </a14:m>
                <a:endParaRPr lang="en-US" sz="2000" dirty="0">
                  <a:solidFill>
                    <a:schemeClr val="bg1"/>
                  </a:solidFill>
                </a:endParaRPr>
              </a:p>
            </p:txBody>
          </p:sp>
        </mc:Choice>
        <mc:Fallback xmlns="">
          <p:sp>
            <p:nvSpPr>
              <p:cNvPr id="2" name="TextBox 1">
                <a:extLst>
                  <a:ext uri="{FF2B5EF4-FFF2-40B4-BE49-F238E27FC236}">
                    <a16:creationId xmlns:a16="http://schemas.microsoft.com/office/drawing/2014/main" id="{C0EAB591-6DB4-5B95-3067-EEA27B278D05}"/>
                  </a:ext>
                </a:extLst>
              </p:cNvPr>
              <p:cNvSpPr txBox="1">
                <a:spLocks noRot="1" noChangeAspect="1" noMove="1" noResize="1" noEditPoints="1" noAdjustHandles="1" noChangeArrowheads="1" noChangeShapeType="1" noTextEdit="1"/>
              </p:cNvSpPr>
              <p:nvPr/>
            </p:nvSpPr>
            <p:spPr>
              <a:xfrm>
                <a:off x="4572000" y="1770797"/>
                <a:ext cx="2913797" cy="1454437"/>
              </a:xfrm>
              <a:prstGeom prst="rect">
                <a:avLst/>
              </a:prstGeom>
              <a:blipFill>
                <a:blip r:embed="rId2"/>
                <a:stretch>
                  <a:fillRect/>
                </a:stretch>
              </a:blipFill>
              <a:ln w="28575">
                <a:solidFill>
                  <a:schemeClr val="bg1"/>
                </a:solidFill>
              </a:ln>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38984305-205D-1585-38D2-98E44F816425}"/>
              </a:ext>
            </a:extLst>
          </p:cNvPr>
          <p:cNvSpPr>
            <a:spLocks noGrp="1"/>
          </p:cNvSpPr>
          <p:nvPr>
            <p:ph type="sldNum" sz="quarter" idx="10"/>
          </p:nvPr>
        </p:nvSpPr>
        <p:spPr/>
        <p:txBody>
          <a:bodyPr/>
          <a:lstStyle/>
          <a:p>
            <a:fld id="{12356DF5-CFED-4016-A2DB-A70AC2735480}" type="slidenum">
              <a:rPr lang="en-US" smtClean="0"/>
              <a:pPr/>
              <a:t>41</a:t>
            </a:fld>
            <a:endParaRPr lang="en-US" dirty="0">
              <a:solidFill>
                <a:schemeClr val="bg1"/>
              </a:solidFill>
            </a:endParaRPr>
          </a:p>
        </p:txBody>
      </p:sp>
    </p:spTree>
    <p:extLst>
      <p:ext uri="{BB962C8B-B14F-4D97-AF65-F5344CB8AC3E}">
        <p14:creationId xmlns:p14="http://schemas.microsoft.com/office/powerpoint/2010/main" val="13324253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7CC5E-ABDD-12C4-63E0-80D2BE85E8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D0F8FB4-BEAC-5DEC-65C7-739429712841}"/>
              </a:ext>
            </a:extLst>
          </p:cNvPr>
          <p:cNvSpPr>
            <a:spLocks noGrp="1"/>
          </p:cNvSpPr>
          <p:nvPr>
            <p:ph type="title"/>
          </p:nvPr>
        </p:nvSpPr>
        <p:spPr>
          <a:xfrm>
            <a:off x="364067" y="336851"/>
            <a:ext cx="8421512" cy="646331"/>
          </a:xfrm>
        </p:spPr>
        <p:txBody>
          <a:bodyPr/>
          <a:lstStyle/>
          <a:p>
            <a:r>
              <a:rPr lang="en-US" sz="3600" dirty="0"/>
              <a:t>Densities of Natural Substances</a:t>
            </a:r>
          </a:p>
        </p:txBody>
      </p:sp>
      <p:pic>
        <p:nvPicPr>
          <p:cNvPr id="1026" name="Picture 2" descr="Science for Kids | Visually engaging way to learn about density and the  behavior of liquids. In this density column experiment, the most dense  liquid is... | Instagram">
            <a:extLst>
              <a:ext uri="{FF2B5EF4-FFF2-40B4-BE49-F238E27FC236}">
                <a16:creationId xmlns:a16="http://schemas.microsoft.com/office/drawing/2014/main" id="{F3E12CE3-1A56-E031-FB6D-11DC9581895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956888" y="2313077"/>
            <a:ext cx="1600200" cy="28575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3F50452A-05AE-DEDF-D9F1-2BC05C5E5336}"/>
              </a:ext>
            </a:extLst>
          </p:cNvPr>
          <p:cNvGraphicFramePr>
            <a:graphicFrameLocks noGrp="1"/>
          </p:cNvGraphicFramePr>
          <p:nvPr>
            <p:extLst>
              <p:ext uri="{D42A27DB-BD31-4B8C-83A1-F6EECF244321}">
                <p14:modId xmlns:p14="http://schemas.microsoft.com/office/powerpoint/2010/main" val="3272303520"/>
              </p:ext>
            </p:extLst>
          </p:nvPr>
        </p:nvGraphicFramePr>
        <p:xfrm>
          <a:off x="586912" y="1455089"/>
          <a:ext cx="5403830" cy="2468880"/>
        </p:xfrm>
        <a:graphic>
          <a:graphicData uri="http://schemas.openxmlformats.org/drawingml/2006/table">
            <a:tbl>
              <a:tblPr/>
              <a:tblGrid>
                <a:gridCol w="2701915">
                  <a:extLst>
                    <a:ext uri="{9D8B030D-6E8A-4147-A177-3AD203B41FA5}">
                      <a16:colId xmlns:a16="http://schemas.microsoft.com/office/drawing/2014/main" val="3793357863"/>
                    </a:ext>
                  </a:extLst>
                </a:gridCol>
                <a:gridCol w="2701915">
                  <a:extLst>
                    <a:ext uri="{9D8B030D-6E8A-4147-A177-3AD203B41FA5}">
                      <a16:colId xmlns:a16="http://schemas.microsoft.com/office/drawing/2014/main" val="2798420724"/>
                    </a:ext>
                  </a:extLst>
                </a:gridCol>
              </a:tblGrid>
              <a:tr h="0">
                <a:tc gridSpan="2">
                  <a:txBody>
                    <a:bodyPr/>
                    <a:lstStyle/>
                    <a:p>
                      <a:pPr algn="ctr">
                        <a:buNone/>
                      </a:pPr>
                      <a:r>
                        <a:rPr lang="en-US"/>
                        <a:t>Table 1.4.1: Densities of Common Substances</a:t>
                      </a:r>
                    </a:p>
                  </a:txBody>
                  <a:tcPr marL="0" marR="0" marT="0" marB="0" anchor="ctr">
                    <a:solidFill>
                      <a:srgbClr val="FFFFFF"/>
                    </a:solidFill>
                  </a:tcPr>
                </a:tc>
                <a:tc hMerge="1">
                  <a:txBody>
                    <a:bodyPr/>
                    <a:lstStyle/>
                    <a:p>
                      <a:endParaRPr lang="en-US"/>
                    </a:p>
                  </a:txBody>
                  <a:tcPr/>
                </a:tc>
                <a:extLst>
                  <a:ext uri="{0D108BD9-81ED-4DB2-BD59-A6C34878D82A}">
                    <a16:rowId xmlns:a16="http://schemas.microsoft.com/office/drawing/2014/main" val="3740192147"/>
                  </a:ext>
                </a:extLst>
              </a:tr>
              <a:tr h="0">
                <a:tc>
                  <a:txBody>
                    <a:bodyPr/>
                    <a:lstStyle/>
                    <a:p>
                      <a:pPr algn="ctr" fontAlgn="ctr">
                        <a:buNone/>
                      </a:pPr>
                      <a:r>
                        <a:rPr lang="en-US" b="1">
                          <a:effectLst/>
                          <a:latin typeface="Tahoma" panose="020B0604030504040204" pitchFamily="34" charset="0"/>
                        </a:rPr>
                        <a:t>Substance</a:t>
                      </a:r>
                      <a:endParaRPr lang="en-US" b="0">
                        <a:effectLst/>
                        <a:latin typeface="Tahoma" panose="020B0604030504040204" pitchFamily="34" charset="0"/>
                      </a:endParaRPr>
                    </a:p>
                  </a:txBody>
                  <a:tcPr marL="0" marR="0" marT="0" marB="0" anchor="ctr">
                    <a:lnL w="9525" cap="flat" cmpd="sng" algn="ctr">
                      <a:solidFill>
                        <a:srgbClr val="30B3F6"/>
                      </a:solidFill>
                      <a:prstDash val="solid"/>
                      <a:round/>
                      <a:headEnd type="none" w="med" len="med"/>
                      <a:tailEnd type="none" w="med" len="med"/>
                    </a:lnL>
                    <a:lnR w="9525" cap="flat" cmpd="sng" algn="ctr">
                      <a:solidFill>
                        <a:srgbClr val="30B3F6"/>
                      </a:solidFill>
                      <a:prstDash val="solid"/>
                      <a:round/>
                      <a:headEnd type="none" w="med" len="med"/>
                      <a:tailEnd type="none" w="med" len="med"/>
                    </a:lnR>
                    <a:lnB w="9525" cap="flat" cmpd="sng" algn="ctr">
                      <a:solidFill>
                        <a:srgbClr val="E8E8E8"/>
                      </a:solidFill>
                      <a:prstDash val="solid"/>
                      <a:round/>
                      <a:headEnd type="none" w="med" len="med"/>
                      <a:tailEnd type="none" w="med" len="med"/>
                    </a:lnB>
                    <a:solidFill>
                      <a:srgbClr val="E5F5FE"/>
                    </a:solidFill>
                  </a:tcPr>
                </a:tc>
                <a:tc>
                  <a:txBody>
                    <a:bodyPr/>
                    <a:lstStyle/>
                    <a:p>
                      <a:pPr algn="ctr" fontAlgn="ctr">
                        <a:buNone/>
                      </a:pPr>
                      <a:r>
                        <a:rPr lang="en-US" b="1">
                          <a:effectLst/>
                          <a:latin typeface="Tahoma" panose="020B0604030504040204" pitchFamily="34" charset="0"/>
                        </a:rPr>
                        <a:t>Density at 25°C (g/cm3)</a:t>
                      </a:r>
                      <a:endParaRPr lang="en-US" b="0">
                        <a:effectLst/>
                        <a:latin typeface="Tahoma" panose="020B0604030504040204" pitchFamily="34" charset="0"/>
                      </a:endParaRPr>
                    </a:p>
                  </a:txBody>
                  <a:tcPr marL="0" marR="0" marT="0" marB="0" anchor="ctr">
                    <a:lnL w="9525" cap="flat" cmpd="sng" algn="ctr">
                      <a:solidFill>
                        <a:srgbClr val="30B3F6"/>
                      </a:solidFill>
                      <a:prstDash val="solid"/>
                      <a:round/>
                      <a:headEnd type="none" w="med" len="med"/>
                      <a:tailEnd type="none" w="med" len="med"/>
                    </a:lnL>
                    <a:lnR w="9525" cap="flat" cmpd="sng" algn="ctr">
                      <a:solidFill>
                        <a:srgbClr val="30B3F6"/>
                      </a:solidFill>
                      <a:prstDash val="solid"/>
                      <a:round/>
                      <a:headEnd type="none" w="med" len="med"/>
                      <a:tailEnd type="none" w="med" len="med"/>
                    </a:lnR>
                    <a:lnT w="9525" cap="flat" cmpd="sng" algn="ctr">
                      <a:solidFill>
                        <a:srgbClr val="30B3F6"/>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E5F5FE"/>
                    </a:solidFill>
                  </a:tcPr>
                </a:tc>
                <a:extLst>
                  <a:ext uri="{0D108BD9-81ED-4DB2-BD59-A6C34878D82A}">
                    <a16:rowId xmlns:a16="http://schemas.microsoft.com/office/drawing/2014/main" val="3631366177"/>
                  </a:ext>
                </a:extLst>
              </a:tr>
              <a:tr h="0">
                <a:tc>
                  <a:txBody>
                    <a:bodyPr/>
                    <a:lstStyle/>
                    <a:p>
                      <a:pPr algn="ctr" fontAlgn="ctr">
                        <a:buNone/>
                      </a:pPr>
                      <a:r>
                        <a:rPr lang="en-US">
                          <a:effectLst/>
                        </a:rPr>
                        <a:t>blood</a:t>
                      </a:r>
                    </a:p>
                  </a:txBody>
                  <a:tcPr marL="0" marR="0" marT="0" marB="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tc>
                  <a:txBody>
                    <a:bodyPr/>
                    <a:lstStyle/>
                    <a:p>
                      <a:pPr algn="ctr" fontAlgn="ctr">
                        <a:buNone/>
                      </a:pPr>
                      <a:r>
                        <a:rPr lang="en-US">
                          <a:effectLst/>
                        </a:rPr>
                        <a:t>1.035</a:t>
                      </a:r>
                    </a:p>
                  </a:txBody>
                  <a:tcPr marL="0" marR="0" marT="0" marB="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extLst>
                  <a:ext uri="{0D108BD9-81ED-4DB2-BD59-A6C34878D82A}">
                    <a16:rowId xmlns:a16="http://schemas.microsoft.com/office/drawing/2014/main" val="421863743"/>
                  </a:ext>
                </a:extLst>
              </a:tr>
              <a:tr h="0">
                <a:tc>
                  <a:txBody>
                    <a:bodyPr/>
                    <a:lstStyle/>
                    <a:p>
                      <a:pPr algn="ctr" fontAlgn="ctr">
                        <a:buNone/>
                      </a:pPr>
                      <a:r>
                        <a:rPr lang="en-US">
                          <a:effectLst/>
                        </a:rPr>
                        <a:t>body fat</a:t>
                      </a:r>
                    </a:p>
                  </a:txBody>
                  <a:tcPr marL="0" marR="0" marT="0" marB="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EFEFEF"/>
                    </a:solidFill>
                  </a:tcPr>
                </a:tc>
                <a:tc>
                  <a:txBody>
                    <a:bodyPr/>
                    <a:lstStyle/>
                    <a:p>
                      <a:pPr algn="ctr" fontAlgn="ctr">
                        <a:buNone/>
                      </a:pPr>
                      <a:r>
                        <a:rPr lang="en-US">
                          <a:effectLst/>
                        </a:rPr>
                        <a:t>0.918</a:t>
                      </a:r>
                    </a:p>
                  </a:txBody>
                  <a:tcPr marL="0" marR="0" marT="0" marB="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EFEFEF"/>
                    </a:solidFill>
                  </a:tcPr>
                </a:tc>
                <a:extLst>
                  <a:ext uri="{0D108BD9-81ED-4DB2-BD59-A6C34878D82A}">
                    <a16:rowId xmlns:a16="http://schemas.microsoft.com/office/drawing/2014/main" val="3983238145"/>
                  </a:ext>
                </a:extLst>
              </a:tr>
              <a:tr h="0">
                <a:tc>
                  <a:txBody>
                    <a:bodyPr/>
                    <a:lstStyle/>
                    <a:p>
                      <a:pPr algn="ctr" fontAlgn="ctr">
                        <a:buNone/>
                      </a:pPr>
                      <a:r>
                        <a:rPr lang="en-US">
                          <a:effectLst/>
                        </a:rPr>
                        <a:t>whole milk</a:t>
                      </a:r>
                    </a:p>
                  </a:txBody>
                  <a:tcPr marL="0" marR="0" marT="0" marB="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tc>
                  <a:txBody>
                    <a:bodyPr/>
                    <a:lstStyle/>
                    <a:p>
                      <a:pPr algn="ctr" fontAlgn="ctr">
                        <a:buNone/>
                      </a:pPr>
                      <a:r>
                        <a:rPr lang="en-US">
                          <a:effectLst/>
                        </a:rPr>
                        <a:t>1.030</a:t>
                      </a:r>
                    </a:p>
                  </a:txBody>
                  <a:tcPr marL="0" marR="0" marT="0" marB="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extLst>
                  <a:ext uri="{0D108BD9-81ED-4DB2-BD59-A6C34878D82A}">
                    <a16:rowId xmlns:a16="http://schemas.microsoft.com/office/drawing/2014/main" val="2948018888"/>
                  </a:ext>
                </a:extLst>
              </a:tr>
              <a:tr h="0">
                <a:tc>
                  <a:txBody>
                    <a:bodyPr/>
                    <a:lstStyle/>
                    <a:p>
                      <a:pPr algn="ctr" fontAlgn="ctr">
                        <a:buNone/>
                      </a:pPr>
                      <a:r>
                        <a:rPr lang="en-US">
                          <a:effectLst/>
                        </a:rPr>
                        <a:t>corn oil</a:t>
                      </a:r>
                    </a:p>
                  </a:txBody>
                  <a:tcPr marL="0" marR="0" marT="0" marB="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EFEFEF"/>
                    </a:solidFill>
                  </a:tcPr>
                </a:tc>
                <a:tc>
                  <a:txBody>
                    <a:bodyPr/>
                    <a:lstStyle/>
                    <a:p>
                      <a:pPr algn="ctr" fontAlgn="ctr">
                        <a:buNone/>
                      </a:pPr>
                      <a:r>
                        <a:rPr lang="en-US">
                          <a:effectLst/>
                        </a:rPr>
                        <a:t>0.922</a:t>
                      </a:r>
                    </a:p>
                  </a:txBody>
                  <a:tcPr marL="0" marR="0" marT="0" marB="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EFEFEF"/>
                    </a:solidFill>
                  </a:tcPr>
                </a:tc>
                <a:extLst>
                  <a:ext uri="{0D108BD9-81ED-4DB2-BD59-A6C34878D82A}">
                    <a16:rowId xmlns:a16="http://schemas.microsoft.com/office/drawing/2014/main" val="699555024"/>
                  </a:ext>
                </a:extLst>
              </a:tr>
              <a:tr h="0">
                <a:tc>
                  <a:txBody>
                    <a:bodyPr/>
                    <a:lstStyle/>
                    <a:p>
                      <a:pPr algn="ctr" fontAlgn="ctr">
                        <a:buNone/>
                      </a:pPr>
                      <a:r>
                        <a:rPr lang="en-US" dirty="0">
                          <a:effectLst/>
                        </a:rPr>
                        <a:t>mayonnaise</a:t>
                      </a:r>
                    </a:p>
                  </a:txBody>
                  <a:tcPr marL="0" marR="0" marT="0" marB="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tc>
                  <a:txBody>
                    <a:bodyPr/>
                    <a:lstStyle/>
                    <a:p>
                      <a:pPr algn="ctr" fontAlgn="ctr">
                        <a:buNone/>
                      </a:pPr>
                      <a:r>
                        <a:rPr lang="en-US">
                          <a:effectLst/>
                        </a:rPr>
                        <a:t>0.910</a:t>
                      </a:r>
                    </a:p>
                  </a:txBody>
                  <a:tcPr marL="0" marR="0" marT="0" marB="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extLst>
                  <a:ext uri="{0D108BD9-81ED-4DB2-BD59-A6C34878D82A}">
                    <a16:rowId xmlns:a16="http://schemas.microsoft.com/office/drawing/2014/main" val="416344839"/>
                  </a:ext>
                </a:extLst>
              </a:tr>
              <a:tr h="0">
                <a:tc>
                  <a:txBody>
                    <a:bodyPr/>
                    <a:lstStyle/>
                    <a:p>
                      <a:pPr algn="ctr" fontAlgn="ctr">
                        <a:buNone/>
                      </a:pPr>
                      <a:r>
                        <a:rPr lang="en-US">
                          <a:effectLst/>
                        </a:rPr>
                        <a:t>honey</a:t>
                      </a:r>
                    </a:p>
                  </a:txBody>
                  <a:tcPr marL="0" marR="0" marT="0" marB="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EFEFEF"/>
                    </a:solidFill>
                  </a:tcPr>
                </a:tc>
                <a:tc>
                  <a:txBody>
                    <a:bodyPr/>
                    <a:lstStyle/>
                    <a:p>
                      <a:pPr algn="ctr" fontAlgn="ctr">
                        <a:buNone/>
                      </a:pPr>
                      <a:r>
                        <a:rPr lang="en-US" dirty="0">
                          <a:effectLst/>
                        </a:rPr>
                        <a:t>1.420</a:t>
                      </a:r>
                    </a:p>
                  </a:txBody>
                  <a:tcPr marL="0" marR="0" marT="0" marB="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EFEFEF"/>
                    </a:solidFill>
                  </a:tcPr>
                </a:tc>
                <a:extLst>
                  <a:ext uri="{0D108BD9-81ED-4DB2-BD59-A6C34878D82A}">
                    <a16:rowId xmlns:a16="http://schemas.microsoft.com/office/drawing/2014/main" val="513250012"/>
                  </a:ext>
                </a:extLst>
              </a:tr>
            </a:tbl>
          </a:graphicData>
        </a:graphic>
      </p:graphicFrame>
      <p:sp>
        <p:nvSpPr>
          <p:cNvPr id="2" name="Slide Number Placeholder 1">
            <a:extLst>
              <a:ext uri="{FF2B5EF4-FFF2-40B4-BE49-F238E27FC236}">
                <a16:creationId xmlns:a16="http://schemas.microsoft.com/office/drawing/2014/main" id="{BB23E16A-1693-69FE-AA44-184D40B499E6}"/>
              </a:ext>
            </a:extLst>
          </p:cNvPr>
          <p:cNvSpPr>
            <a:spLocks noGrp="1"/>
          </p:cNvSpPr>
          <p:nvPr>
            <p:ph type="sldNum" sz="quarter" idx="10"/>
          </p:nvPr>
        </p:nvSpPr>
        <p:spPr/>
        <p:txBody>
          <a:bodyPr/>
          <a:lstStyle/>
          <a:p>
            <a:fld id="{12356DF5-CFED-4016-A2DB-A70AC2735480}" type="slidenum">
              <a:rPr lang="en-US" smtClean="0"/>
              <a:pPr/>
              <a:t>42</a:t>
            </a:fld>
            <a:endParaRPr lang="en-US" dirty="0">
              <a:solidFill>
                <a:schemeClr val="bg1"/>
              </a:solidFill>
            </a:endParaRPr>
          </a:p>
        </p:txBody>
      </p:sp>
    </p:spTree>
    <p:extLst>
      <p:ext uri="{BB962C8B-B14F-4D97-AF65-F5344CB8AC3E}">
        <p14:creationId xmlns:p14="http://schemas.microsoft.com/office/powerpoint/2010/main" val="30228059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8F817-FC5D-1D8C-7A16-DD094763B2E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D93DD70-B425-FE93-CDEC-F04E5719A263}"/>
              </a:ext>
            </a:extLst>
          </p:cNvPr>
          <p:cNvSpPr>
            <a:spLocks noGrp="1"/>
          </p:cNvSpPr>
          <p:nvPr>
            <p:ph type="title"/>
          </p:nvPr>
        </p:nvSpPr>
        <p:spPr>
          <a:xfrm>
            <a:off x="364067" y="336851"/>
            <a:ext cx="8421512" cy="646331"/>
          </a:xfrm>
        </p:spPr>
        <p:txBody>
          <a:bodyPr/>
          <a:lstStyle/>
          <a:p>
            <a:r>
              <a:rPr lang="en-US" sz="3600" dirty="0"/>
              <a:t>Problem Solving Process Using Density</a:t>
            </a:r>
          </a:p>
        </p:txBody>
      </p:sp>
      <p:sp>
        <p:nvSpPr>
          <p:cNvPr id="6" name="Content Placeholder 5">
            <a:extLst>
              <a:ext uri="{FF2B5EF4-FFF2-40B4-BE49-F238E27FC236}">
                <a16:creationId xmlns:a16="http://schemas.microsoft.com/office/drawing/2014/main" id="{2169E1D8-6018-B307-5D82-B36640BC0FE2}"/>
              </a:ext>
            </a:extLst>
          </p:cNvPr>
          <p:cNvSpPr>
            <a:spLocks noGrp="1"/>
          </p:cNvSpPr>
          <p:nvPr>
            <p:ph idx="1"/>
          </p:nvPr>
        </p:nvSpPr>
        <p:spPr>
          <a:xfrm>
            <a:off x="378177" y="1154669"/>
            <a:ext cx="8387645" cy="5215465"/>
          </a:xfrm>
          <a:prstGeom prst="rect">
            <a:avLst/>
          </a:prstGeom>
          <a:ln w="28575"/>
        </p:spPr>
        <p:txBody>
          <a:bodyPr/>
          <a:lstStyle/>
          <a:p>
            <a:pPr marL="0" indent="0">
              <a:buNone/>
              <a:defRPr/>
            </a:pPr>
            <a:r>
              <a:rPr lang="en-US" dirty="0"/>
              <a:t>The problem/question (from your book)</a:t>
            </a:r>
          </a:p>
          <a:p>
            <a:pPr marL="0" indent="0">
              <a:buNone/>
              <a:defRPr/>
            </a:pPr>
            <a:endParaRPr lang="en-US" sz="1800" dirty="0">
              <a:solidFill>
                <a:srgbClr val="00FF00"/>
              </a:solidFill>
            </a:endParaRPr>
          </a:p>
          <a:p>
            <a:pPr marL="0" indent="0">
              <a:buNone/>
              <a:defRPr/>
            </a:pPr>
            <a:r>
              <a:rPr lang="en-US" i="1" dirty="0">
                <a:solidFill>
                  <a:srgbClr val="FFFF00"/>
                </a:solidFill>
              </a:rPr>
              <a:t>A mercury thermometer for measuring a patient’s temperature contains 0.750 g of mercury.</a:t>
            </a:r>
          </a:p>
          <a:p>
            <a:pPr marL="0" indent="0">
              <a:buNone/>
              <a:defRPr/>
            </a:pPr>
            <a:r>
              <a:rPr lang="en-US" i="1" dirty="0">
                <a:solidFill>
                  <a:srgbClr val="FFFF00"/>
                </a:solidFill>
              </a:rPr>
              <a:t>What is the volume of this mass of mercury?</a:t>
            </a:r>
          </a:p>
          <a:p>
            <a:pPr marL="0" indent="0">
              <a:buNone/>
              <a:defRPr/>
            </a:pPr>
            <a:endParaRPr lang="en-US" sz="1800" i="1" dirty="0">
              <a:solidFill>
                <a:srgbClr val="FFFF00"/>
              </a:solidFill>
            </a:endParaRPr>
          </a:p>
          <a:p>
            <a:pPr marL="0" indent="0">
              <a:buNone/>
              <a:defRPr/>
            </a:pPr>
            <a:r>
              <a:rPr lang="en-US" dirty="0"/>
              <a:t>The most important thing you will ever do is to spend the time and effort to fully understand the question, and identify the key elements of it</a:t>
            </a:r>
          </a:p>
          <a:p>
            <a:pPr marL="0" indent="0">
              <a:buNone/>
              <a:defRPr/>
            </a:pPr>
            <a:endParaRPr lang="en-US" dirty="0"/>
          </a:p>
          <a:p>
            <a:pPr marL="0" indent="0">
              <a:buNone/>
              <a:defRPr/>
            </a:pPr>
            <a:r>
              <a:rPr lang="en-US" dirty="0"/>
              <a:t>Look for what is asked for: </a:t>
            </a:r>
            <a:r>
              <a:rPr lang="en-US" u="sng" dirty="0">
                <a:solidFill>
                  <a:srgbClr val="FFC000"/>
                </a:solidFill>
              </a:rPr>
              <a:t>volume</a:t>
            </a:r>
            <a:r>
              <a:rPr lang="en-US" dirty="0">
                <a:solidFill>
                  <a:srgbClr val="FFC000"/>
                </a:solidFill>
              </a:rPr>
              <a:t> of mercury</a:t>
            </a:r>
          </a:p>
          <a:p>
            <a:pPr marL="0" indent="0">
              <a:buNone/>
              <a:defRPr/>
            </a:pPr>
            <a:r>
              <a:rPr lang="en-US" dirty="0"/>
              <a:t>Look for what is given: </a:t>
            </a:r>
            <a:r>
              <a:rPr lang="en-US" dirty="0">
                <a:solidFill>
                  <a:srgbClr val="FFC000"/>
                </a:solidFill>
              </a:rPr>
              <a:t>a </a:t>
            </a:r>
            <a:r>
              <a:rPr lang="en-US" u="sng" dirty="0">
                <a:solidFill>
                  <a:srgbClr val="FFC000"/>
                </a:solidFill>
              </a:rPr>
              <a:t>mass</a:t>
            </a:r>
            <a:r>
              <a:rPr lang="en-US" dirty="0">
                <a:solidFill>
                  <a:srgbClr val="FFC000"/>
                </a:solidFill>
              </a:rPr>
              <a:t> (7.50 g) of mercury</a:t>
            </a:r>
          </a:p>
        </p:txBody>
      </p:sp>
      <p:sp>
        <p:nvSpPr>
          <p:cNvPr id="2" name="Slide Number Placeholder 1">
            <a:extLst>
              <a:ext uri="{FF2B5EF4-FFF2-40B4-BE49-F238E27FC236}">
                <a16:creationId xmlns:a16="http://schemas.microsoft.com/office/drawing/2014/main" id="{C2DF3891-42D7-B506-793E-02AC580566C4}"/>
              </a:ext>
            </a:extLst>
          </p:cNvPr>
          <p:cNvSpPr>
            <a:spLocks noGrp="1"/>
          </p:cNvSpPr>
          <p:nvPr>
            <p:ph type="sldNum" sz="quarter" idx="10"/>
          </p:nvPr>
        </p:nvSpPr>
        <p:spPr/>
        <p:txBody>
          <a:bodyPr/>
          <a:lstStyle/>
          <a:p>
            <a:fld id="{12356DF5-CFED-4016-A2DB-A70AC2735480}" type="slidenum">
              <a:rPr lang="en-US" smtClean="0"/>
              <a:pPr/>
              <a:t>43</a:t>
            </a:fld>
            <a:endParaRPr lang="en-US" dirty="0">
              <a:solidFill>
                <a:schemeClr val="bg1"/>
              </a:solidFill>
            </a:endParaRPr>
          </a:p>
        </p:txBody>
      </p:sp>
    </p:spTree>
    <p:extLst>
      <p:ext uri="{BB962C8B-B14F-4D97-AF65-F5344CB8AC3E}">
        <p14:creationId xmlns:p14="http://schemas.microsoft.com/office/powerpoint/2010/main" val="39502365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659C2-B9C5-A43C-230F-3E0A02E5127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B5ABFA7-D035-9185-4F3B-392A4C17C467}"/>
              </a:ext>
            </a:extLst>
          </p:cNvPr>
          <p:cNvSpPr>
            <a:spLocks noGrp="1"/>
          </p:cNvSpPr>
          <p:nvPr>
            <p:ph type="title"/>
          </p:nvPr>
        </p:nvSpPr>
        <p:spPr>
          <a:xfrm>
            <a:off x="364067" y="336851"/>
            <a:ext cx="8421512" cy="646331"/>
          </a:xfrm>
        </p:spPr>
        <p:txBody>
          <a:bodyPr/>
          <a:lstStyle/>
          <a:p>
            <a:r>
              <a:rPr lang="en-US" sz="3600" dirty="0"/>
              <a:t>Problem Solving Process Using Density</a:t>
            </a:r>
          </a:p>
        </p:txBody>
      </p:sp>
      <p:sp>
        <p:nvSpPr>
          <p:cNvPr id="6" name="Content Placeholder 5">
            <a:extLst>
              <a:ext uri="{FF2B5EF4-FFF2-40B4-BE49-F238E27FC236}">
                <a16:creationId xmlns:a16="http://schemas.microsoft.com/office/drawing/2014/main" id="{C6BF0CD9-E261-EA01-C8AE-DFE32975EF35}"/>
              </a:ext>
            </a:extLst>
          </p:cNvPr>
          <p:cNvSpPr>
            <a:spLocks noGrp="1"/>
          </p:cNvSpPr>
          <p:nvPr>
            <p:ph idx="1"/>
          </p:nvPr>
        </p:nvSpPr>
        <p:spPr>
          <a:xfrm>
            <a:off x="378177" y="1154669"/>
            <a:ext cx="8387645" cy="5215465"/>
          </a:xfrm>
          <a:prstGeom prst="rect">
            <a:avLst/>
          </a:prstGeom>
          <a:ln w="28575"/>
        </p:spPr>
        <p:txBody>
          <a:bodyPr/>
          <a:lstStyle/>
          <a:p>
            <a:pPr marL="0" indent="0">
              <a:buNone/>
              <a:defRPr/>
            </a:pPr>
            <a:r>
              <a:rPr lang="en-US" i="1" dirty="0">
                <a:solidFill>
                  <a:srgbClr val="CC99FF"/>
                </a:solidFill>
                <a:latin typeface="Times New Roman" panose="02020603050405020304" pitchFamily="18" charset="0"/>
                <a:cs typeface="Times New Roman" panose="02020603050405020304" pitchFamily="18" charset="0"/>
              </a:rPr>
              <a:t>What is missing from the information given in the problem/question?</a:t>
            </a:r>
          </a:p>
          <a:p>
            <a:pPr marL="0" indent="0">
              <a:spcBef>
                <a:spcPts val="1200"/>
              </a:spcBef>
              <a:buNone/>
              <a:defRPr/>
            </a:pPr>
            <a:br>
              <a:rPr lang="en-US" sz="2800" dirty="0">
                <a:solidFill>
                  <a:srgbClr val="FFC000"/>
                </a:solidFill>
              </a:rPr>
            </a:br>
            <a:r>
              <a:rPr lang="en-US" dirty="0"/>
              <a:t>Usually the information not given are constants of nature and (numerical) properties of matter and energy like atomic weights.</a:t>
            </a:r>
            <a:br>
              <a:rPr lang="en-US" dirty="0"/>
            </a:br>
            <a:r>
              <a:rPr lang="en-US" dirty="0"/>
              <a:t>In this case, it is a </a:t>
            </a:r>
            <a:r>
              <a:rPr lang="en-US" u="sng" dirty="0"/>
              <a:t>density</a:t>
            </a:r>
            <a:r>
              <a:rPr lang="en-US" dirty="0"/>
              <a:t>.</a:t>
            </a:r>
          </a:p>
          <a:p>
            <a:pPr marL="0" indent="0">
              <a:spcBef>
                <a:spcPts val="1200"/>
              </a:spcBef>
              <a:buNone/>
              <a:defRPr/>
            </a:pPr>
            <a:r>
              <a:rPr lang="en-US" dirty="0"/>
              <a:t>The density of a substance is a property that allows you to relate its mass to its volume </a:t>
            </a:r>
            <a:r>
              <a:rPr lang="en-US" i="1" dirty="0">
                <a:solidFill>
                  <a:srgbClr val="FFFF00"/>
                </a:solidFill>
              </a:rPr>
              <a:t>and vice versa</a:t>
            </a:r>
          </a:p>
          <a:p>
            <a:pPr marL="0" indent="0">
              <a:spcBef>
                <a:spcPts val="1200"/>
              </a:spcBef>
              <a:buNone/>
              <a:defRPr/>
            </a:pPr>
            <a:r>
              <a:rPr lang="en-US" dirty="0"/>
              <a:t>The density of water is 1 g/mL (at 0°C) and is a </a:t>
            </a:r>
            <a:r>
              <a:rPr lang="en-US" u="sng" dirty="0"/>
              <a:t>property</a:t>
            </a:r>
            <a:r>
              <a:rPr lang="en-US" dirty="0"/>
              <a:t> of water</a:t>
            </a:r>
          </a:p>
          <a:p>
            <a:pPr marL="0" indent="0">
              <a:spcBef>
                <a:spcPts val="1200"/>
              </a:spcBef>
              <a:buNone/>
              <a:defRPr/>
            </a:pPr>
            <a:r>
              <a:rPr lang="en-US" dirty="0"/>
              <a:t>The density of mercury is 13.6 g/mL</a:t>
            </a:r>
          </a:p>
        </p:txBody>
      </p:sp>
      <p:sp>
        <p:nvSpPr>
          <p:cNvPr id="2" name="Slide Number Placeholder 1">
            <a:extLst>
              <a:ext uri="{FF2B5EF4-FFF2-40B4-BE49-F238E27FC236}">
                <a16:creationId xmlns:a16="http://schemas.microsoft.com/office/drawing/2014/main" id="{71DA68AC-32B9-6C0A-C6F6-9CC67C731E44}"/>
              </a:ext>
            </a:extLst>
          </p:cNvPr>
          <p:cNvSpPr>
            <a:spLocks noGrp="1"/>
          </p:cNvSpPr>
          <p:nvPr>
            <p:ph type="sldNum" sz="quarter" idx="10"/>
          </p:nvPr>
        </p:nvSpPr>
        <p:spPr/>
        <p:txBody>
          <a:bodyPr/>
          <a:lstStyle/>
          <a:p>
            <a:fld id="{12356DF5-CFED-4016-A2DB-A70AC2735480}" type="slidenum">
              <a:rPr lang="en-US" smtClean="0"/>
              <a:pPr/>
              <a:t>44</a:t>
            </a:fld>
            <a:endParaRPr lang="en-US" dirty="0">
              <a:solidFill>
                <a:schemeClr val="bg1"/>
              </a:solidFill>
            </a:endParaRPr>
          </a:p>
        </p:txBody>
      </p:sp>
    </p:spTree>
    <p:extLst>
      <p:ext uri="{BB962C8B-B14F-4D97-AF65-F5344CB8AC3E}">
        <p14:creationId xmlns:p14="http://schemas.microsoft.com/office/powerpoint/2010/main" val="35047065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4DB31-67E3-0F5B-1D6D-F6771205F1C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C4EB860-0527-D5C0-1176-5A240E2EB194}"/>
              </a:ext>
            </a:extLst>
          </p:cNvPr>
          <p:cNvSpPr>
            <a:spLocks noGrp="1"/>
          </p:cNvSpPr>
          <p:nvPr>
            <p:ph type="title"/>
          </p:nvPr>
        </p:nvSpPr>
        <p:spPr/>
        <p:txBody>
          <a:bodyPr/>
          <a:lstStyle/>
          <a:p>
            <a:r>
              <a:rPr lang="en-US" sz="3600" dirty="0"/>
              <a:t>Problem Solving Process Using Density</a:t>
            </a: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C2BF77C-758A-A344-49CB-8D1BA2E9D027}"/>
                  </a:ext>
                </a:extLst>
              </p:cNvPr>
              <p:cNvSpPr txBox="1">
                <a:spLocks noGrp="1"/>
              </p:cNvSpPr>
              <p:nvPr>
                <p:ph idx="1"/>
              </p:nvPr>
            </p:nvSpPr>
            <p:spPr>
              <a:xfrm>
                <a:off x="372533" y="1332090"/>
                <a:ext cx="8387645" cy="3405548"/>
              </a:xfrm>
              <a:prstGeom prst="rect">
                <a:avLst/>
              </a:prstGeom>
              <a:noFill/>
              <a:ln w="28575">
                <a:noFill/>
              </a:ln>
            </p:spPr>
            <p:txBody>
              <a:bodyPr wrap="square" rtlCol="0">
                <a:spAutoFit/>
              </a:bodyPr>
              <a:lstStyle/>
              <a:p>
                <a:pPr marL="0" indent="0">
                  <a:buNone/>
                </a:pPr>
                <a:r>
                  <a:rPr lang="en-US" dirty="0"/>
                  <a:t>For this equation about density, this is all just algebra below which you already know</a:t>
                </a:r>
              </a:p>
              <a:p>
                <a:pPr marL="0" indent="0">
                  <a:buNone/>
                </a:pPr>
                <a14:m>
                  <m:oMath xmlns:m="http://schemas.openxmlformats.org/officeDocument/2006/math">
                    <m:r>
                      <a:rPr lang="en-US" sz="3600" b="0" i="1" smtClean="0">
                        <a:solidFill>
                          <a:schemeClr val="bg1"/>
                        </a:solidFill>
                        <a:latin typeface="Cambria Math" panose="02040503050406030204" pitchFamily="18" charset="0"/>
                        <a:ea typeface="Cambria Math" panose="02040503050406030204" pitchFamily="18" charset="0"/>
                      </a:rPr>
                      <m:t>𝜌</m:t>
                    </m:r>
                    <m:r>
                      <a:rPr lang="en-US" sz="3600" b="0" i="1" smtClean="0">
                        <a:solidFill>
                          <a:schemeClr val="bg1"/>
                        </a:solidFill>
                        <a:latin typeface="Cambria Math" panose="02040503050406030204" pitchFamily="18" charset="0"/>
                      </a:rPr>
                      <m:t>=</m:t>
                    </m:r>
                    <m:f>
                      <m:fPr>
                        <m:ctrlPr>
                          <a:rPr lang="en-US" sz="3600" b="0" i="1" smtClean="0">
                            <a:solidFill>
                              <a:schemeClr val="bg1"/>
                            </a:solidFill>
                            <a:latin typeface="Cambria Math" panose="02040503050406030204" pitchFamily="18" charset="0"/>
                          </a:rPr>
                        </m:ctrlPr>
                      </m:fPr>
                      <m:num>
                        <m:r>
                          <a:rPr lang="en-US" sz="3600" b="0" i="1" smtClean="0">
                            <a:solidFill>
                              <a:schemeClr val="bg1"/>
                            </a:solidFill>
                            <a:latin typeface="Cambria Math" panose="02040503050406030204" pitchFamily="18" charset="0"/>
                          </a:rPr>
                          <m:t>𝑚</m:t>
                        </m:r>
                      </m:num>
                      <m:den>
                        <m:r>
                          <a:rPr lang="en-US" sz="3600" b="0" i="1" smtClean="0">
                            <a:solidFill>
                              <a:schemeClr val="bg1"/>
                            </a:solidFill>
                            <a:latin typeface="Cambria Math" panose="02040503050406030204" pitchFamily="18" charset="0"/>
                          </a:rPr>
                          <m:t>𝑉</m:t>
                        </m:r>
                      </m:den>
                    </m:f>
                  </m:oMath>
                </a14:m>
                <a:r>
                  <a:rPr lang="en-US" sz="3600" dirty="0">
                    <a:solidFill>
                      <a:schemeClr val="bg1"/>
                    </a:solidFill>
                  </a:rPr>
                  <a:t>  </a:t>
                </a:r>
                <a:r>
                  <a:rPr lang="en-US" sz="3600" dirty="0">
                    <a:solidFill>
                      <a:schemeClr val="bg1"/>
                    </a:solidFill>
                    <a:sym typeface="Wingdings" panose="05000000000000000000" pitchFamily="2" charset="2"/>
                  </a:rPr>
                  <a:t> </a:t>
                </a:r>
                <a14:m>
                  <m:oMath xmlns:m="http://schemas.openxmlformats.org/officeDocument/2006/math">
                    <m:r>
                      <a:rPr lang="en-US" sz="3600" i="1">
                        <a:latin typeface="Cambria Math" panose="02040503050406030204" pitchFamily="18" charset="0"/>
                      </a:rPr>
                      <m:t>𝑉</m:t>
                    </m:r>
                    <m:r>
                      <a:rPr lang="en-US" sz="3600" i="1" smtClean="0">
                        <a:latin typeface="Cambria Math" panose="02040503050406030204" pitchFamily="18" charset="0"/>
                      </a:rPr>
                      <m:t>×</m:t>
                    </m:r>
                    <m:r>
                      <a:rPr lang="en-US" sz="3600" i="1">
                        <a:latin typeface="Cambria Math" panose="02040503050406030204" pitchFamily="18" charset="0"/>
                        <a:ea typeface="Cambria Math" panose="02040503050406030204" pitchFamily="18" charset="0"/>
                      </a:rPr>
                      <m:t>𝜌</m:t>
                    </m:r>
                    <m:r>
                      <a:rPr lang="en-US" sz="3600" i="1">
                        <a:latin typeface="Cambria Math" panose="02040503050406030204" pitchFamily="18" charset="0"/>
                      </a:rPr>
                      <m:t>=</m:t>
                    </m:r>
                    <m:r>
                      <a:rPr lang="en-US" sz="3600" b="0" i="1" smtClean="0">
                        <a:latin typeface="Cambria Math" panose="02040503050406030204" pitchFamily="18" charset="0"/>
                      </a:rPr>
                      <m:t>𝑚</m:t>
                    </m:r>
                  </m:oMath>
                </a14:m>
                <a:r>
                  <a:rPr lang="en-US" sz="3600" dirty="0">
                    <a:solidFill>
                      <a:schemeClr val="bg1"/>
                    </a:solidFill>
                  </a:rPr>
                  <a:t> </a:t>
                </a:r>
                <a:r>
                  <a:rPr lang="en-US" sz="3600" dirty="0">
                    <a:sym typeface="Wingdings" panose="05000000000000000000" pitchFamily="2" charset="2"/>
                  </a:rPr>
                  <a:t> </a:t>
                </a:r>
                <a14:m>
                  <m:oMath xmlns:m="http://schemas.openxmlformats.org/officeDocument/2006/math">
                    <m:r>
                      <a:rPr lang="en-US" sz="3600" i="1">
                        <a:latin typeface="Cambria Math" panose="02040503050406030204" pitchFamily="18" charset="0"/>
                      </a:rPr>
                      <m:t>𝑉</m:t>
                    </m:r>
                    <m:r>
                      <a:rPr lang="en-US" sz="3600" i="1">
                        <a:latin typeface="Cambria Math" panose="02040503050406030204" pitchFamily="18" charset="0"/>
                      </a:rPr>
                      <m:t>=</m:t>
                    </m:r>
                    <m:f>
                      <m:fPr>
                        <m:ctrlPr>
                          <a:rPr lang="en-US" sz="3600" i="1">
                            <a:latin typeface="Cambria Math" panose="02040503050406030204" pitchFamily="18" charset="0"/>
                          </a:rPr>
                        </m:ctrlPr>
                      </m:fPr>
                      <m:num>
                        <m:r>
                          <a:rPr lang="en-US" sz="3600" i="1">
                            <a:latin typeface="Cambria Math" panose="02040503050406030204" pitchFamily="18" charset="0"/>
                          </a:rPr>
                          <m:t>𝑚</m:t>
                        </m:r>
                      </m:num>
                      <m:den>
                        <m:r>
                          <a:rPr lang="en-US" sz="3600" i="1">
                            <a:latin typeface="Cambria Math" panose="02040503050406030204" pitchFamily="18" charset="0"/>
                            <a:ea typeface="Cambria Math" panose="02040503050406030204" pitchFamily="18" charset="0"/>
                          </a:rPr>
                          <m:t>𝜌</m:t>
                        </m:r>
                      </m:den>
                    </m:f>
                  </m:oMath>
                </a14:m>
                <a:r>
                  <a:rPr lang="en-US" sz="3600" dirty="0"/>
                  <a:t> </a:t>
                </a:r>
                <a14:m>
                  <m:oMath xmlns:m="http://schemas.openxmlformats.org/officeDocument/2006/math">
                    <m:r>
                      <a:rPr lang="en-US" sz="3600" i="1">
                        <a:latin typeface="Cambria Math" panose="02040503050406030204" pitchFamily="18" charset="0"/>
                      </a:rPr>
                      <m:t>=</m:t>
                    </m:r>
                  </m:oMath>
                </a14:m>
                <a:r>
                  <a:rPr lang="en-US" sz="3600" dirty="0"/>
                  <a:t> </a:t>
                </a:r>
                <a14:m>
                  <m:oMath xmlns:m="http://schemas.openxmlformats.org/officeDocument/2006/math">
                    <m:f>
                      <m:fPr>
                        <m:ctrlPr>
                          <a:rPr lang="en-US" sz="3600" i="1">
                            <a:latin typeface="Cambria Math" panose="02040503050406030204" pitchFamily="18" charset="0"/>
                          </a:rPr>
                        </m:ctrlPr>
                      </m:fPr>
                      <m:num>
                        <m:r>
                          <a:rPr lang="en-US" sz="3600" b="0" i="1" smtClean="0">
                            <a:latin typeface="Cambria Math" panose="02040503050406030204" pitchFamily="18" charset="0"/>
                          </a:rPr>
                          <m:t>1</m:t>
                        </m:r>
                      </m:num>
                      <m:den>
                        <m:r>
                          <a:rPr lang="en-US" sz="3600" i="1">
                            <a:latin typeface="Cambria Math" panose="02040503050406030204" pitchFamily="18" charset="0"/>
                            <a:ea typeface="Cambria Math" panose="02040503050406030204" pitchFamily="18" charset="0"/>
                          </a:rPr>
                          <m:t>𝜌</m:t>
                        </m:r>
                      </m:den>
                    </m:f>
                  </m:oMath>
                </a14:m>
                <a:r>
                  <a:rPr lang="en-US" sz="3600" dirty="0">
                    <a:sym typeface="Wingdings" panose="05000000000000000000" pitchFamily="2" charset="2"/>
                  </a:rPr>
                  <a:t> </a:t>
                </a:r>
                <a14:m>
                  <m:oMath xmlns:m="http://schemas.openxmlformats.org/officeDocument/2006/math">
                    <m:r>
                      <a:rPr lang="en-US" sz="3600" i="1">
                        <a:latin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𝑚</m:t>
                    </m:r>
                  </m:oMath>
                </a14:m>
                <a:endParaRPr lang="en-US" sz="3600" dirty="0">
                  <a:sym typeface="Wingdings" panose="05000000000000000000" pitchFamily="2" charset="2"/>
                </a:endParaRPr>
              </a:p>
              <a:p>
                <a:pPr marL="0" indent="0">
                  <a:buNone/>
                </a:pPr>
                <a:r>
                  <a:rPr lang="en-US" dirty="0"/>
                  <a:t>In the last manipulation, we have an expression that tells us what the volume is equal to: the inverse of the density multiplied by the mass, or “mass </a:t>
                </a:r>
                <a:r>
                  <a:rPr lang="en-US"/>
                  <a:t>over density”</a:t>
                </a:r>
                <a:endParaRPr lang="en-US" dirty="0">
                  <a:sym typeface="Wingdings" panose="05000000000000000000" pitchFamily="2" charset="2"/>
                </a:endParaRPr>
              </a:p>
            </p:txBody>
          </p:sp>
        </mc:Choice>
        <mc:Fallback xmlns="">
          <p:sp>
            <p:nvSpPr>
              <p:cNvPr id="2" name="Content Placeholder 1">
                <a:extLst>
                  <a:ext uri="{FF2B5EF4-FFF2-40B4-BE49-F238E27FC236}">
                    <a16:creationId xmlns:a16="http://schemas.microsoft.com/office/drawing/2014/main" id="{AC2BF77C-758A-A344-49CB-8D1BA2E9D027}"/>
                  </a:ext>
                </a:extLst>
              </p:cNvPr>
              <p:cNvSpPr txBox="1">
                <a:spLocks noGrp="1" noRot="1" noChangeAspect="1" noMove="1" noResize="1" noEditPoints="1" noAdjustHandles="1" noChangeArrowheads="1" noChangeShapeType="1" noTextEdit="1"/>
              </p:cNvSpPr>
              <p:nvPr>
                <p:ph idx="1"/>
              </p:nvPr>
            </p:nvSpPr>
            <p:spPr>
              <a:xfrm>
                <a:off x="372533" y="1332090"/>
                <a:ext cx="8387645" cy="3405548"/>
              </a:xfrm>
              <a:prstGeom prst="rect">
                <a:avLst/>
              </a:prstGeom>
              <a:blipFill>
                <a:blip r:embed="rId2"/>
                <a:stretch>
                  <a:fillRect l="-1090" t="-1434" r="-1672" b="-3226"/>
                </a:stretch>
              </a:blipFill>
              <a:ln w="28575">
                <a:noFill/>
              </a:ln>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3F4C4945-2F1E-0FAC-0902-E35F024C3E72}"/>
              </a:ext>
            </a:extLst>
          </p:cNvPr>
          <p:cNvSpPr>
            <a:spLocks noGrp="1"/>
          </p:cNvSpPr>
          <p:nvPr>
            <p:ph type="sldNum" sz="quarter" idx="10"/>
          </p:nvPr>
        </p:nvSpPr>
        <p:spPr/>
        <p:txBody>
          <a:bodyPr/>
          <a:lstStyle/>
          <a:p>
            <a:fld id="{12356DF5-CFED-4016-A2DB-A70AC2735480}" type="slidenum">
              <a:rPr lang="en-US" smtClean="0"/>
              <a:pPr/>
              <a:t>45</a:t>
            </a:fld>
            <a:endParaRPr lang="en-US" dirty="0">
              <a:solidFill>
                <a:schemeClr val="bg1"/>
              </a:solidFill>
            </a:endParaRPr>
          </a:p>
        </p:txBody>
      </p:sp>
    </p:spTree>
    <p:extLst>
      <p:ext uri="{BB962C8B-B14F-4D97-AF65-F5344CB8AC3E}">
        <p14:creationId xmlns:p14="http://schemas.microsoft.com/office/powerpoint/2010/main" val="12601002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56387-3088-0AAD-52B2-1E0E2D4CCD9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2FB2D6B-7BC8-50A4-DF0E-62FDF3CFA8BD}"/>
              </a:ext>
            </a:extLst>
          </p:cNvPr>
          <p:cNvSpPr>
            <a:spLocks noGrp="1"/>
          </p:cNvSpPr>
          <p:nvPr>
            <p:ph type="title"/>
          </p:nvPr>
        </p:nvSpPr>
        <p:spPr/>
        <p:txBody>
          <a:bodyPr/>
          <a:lstStyle/>
          <a:p>
            <a:r>
              <a:rPr lang="en-US" sz="3600" dirty="0"/>
              <a:t>Problem Solving Process Using Density</a:t>
            </a: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F2B7684-5FDE-20B6-5C9E-7D4665084B51}"/>
                  </a:ext>
                </a:extLst>
              </p:cNvPr>
              <p:cNvSpPr txBox="1">
                <a:spLocks noGrp="1"/>
              </p:cNvSpPr>
              <p:nvPr>
                <p:ph idx="1"/>
              </p:nvPr>
            </p:nvSpPr>
            <p:spPr>
              <a:xfrm>
                <a:off x="372533" y="1345738"/>
                <a:ext cx="8387645" cy="5631606"/>
              </a:xfrm>
              <a:prstGeom prst="rect">
                <a:avLst/>
              </a:prstGeom>
              <a:noFill/>
              <a:ln w="28575">
                <a:noFill/>
              </a:ln>
            </p:spPr>
            <p:txBody>
              <a:bodyPr wrap="square" rtlCol="0">
                <a:spAutoFit/>
              </a:bodyPr>
              <a:lstStyle/>
              <a:p>
                <a:pPr marL="0" indent="0">
                  <a:buNone/>
                </a:pPr>
                <a:r>
                  <a:rPr lang="en-US" sz="3600" dirty="0"/>
                  <a:t> </a:t>
                </a:r>
                <a14:m>
                  <m:oMath xmlns:m="http://schemas.openxmlformats.org/officeDocument/2006/math">
                    <m:f>
                      <m:fPr>
                        <m:ctrlPr>
                          <a:rPr lang="en-US" sz="3600" i="1">
                            <a:latin typeface="Cambria Math" panose="02040503050406030204" pitchFamily="18" charset="0"/>
                          </a:rPr>
                        </m:ctrlPr>
                      </m:fPr>
                      <m:num>
                        <m:r>
                          <a:rPr lang="en-US" sz="3600" b="0" i="1" smtClean="0">
                            <a:latin typeface="Cambria Math" panose="02040503050406030204" pitchFamily="18" charset="0"/>
                          </a:rPr>
                          <m:t>1</m:t>
                        </m:r>
                      </m:num>
                      <m:den>
                        <m:r>
                          <a:rPr lang="en-US" sz="3600" i="1">
                            <a:latin typeface="Cambria Math" panose="02040503050406030204" pitchFamily="18" charset="0"/>
                            <a:ea typeface="Cambria Math" panose="02040503050406030204" pitchFamily="18" charset="0"/>
                          </a:rPr>
                          <m:t>𝜌</m:t>
                        </m:r>
                      </m:den>
                    </m:f>
                  </m:oMath>
                </a14:m>
                <a:r>
                  <a:rPr lang="en-US" sz="3600" dirty="0">
                    <a:sym typeface="Wingdings" panose="05000000000000000000" pitchFamily="2" charset="2"/>
                  </a:rPr>
                  <a:t> </a:t>
                </a:r>
                <a14:m>
                  <m:oMath xmlns:m="http://schemas.openxmlformats.org/officeDocument/2006/math">
                    <m:r>
                      <a:rPr lang="en-US" sz="3600" i="1">
                        <a:latin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𝑚</m:t>
                    </m:r>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𝑉</m:t>
                    </m:r>
                  </m:oMath>
                </a14:m>
                <a:endParaRPr lang="en-US" sz="3600" dirty="0">
                  <a:sym typeface="Wingdings" panose="05000000000000000000" pitchFamily="2" charset="2"/>
                </a:endParaRPr>
              </a:p>
              <a:p>
                <a:pPr marL="0" indent="0">
                  <a:buNone/>
                </a:pPr>
                <a:r>
                  <a:rPr lang="en-US" dirty="0"/>
                  <a:t>We now just enter the values to solve: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sz="280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13.6 </m:t>
                          </m:r>
                          <m:r>
                            <m:rPr>
                              <m:nor/>
                            </m:rPr>
                            <a:rPr lang="en-US" sz="2800" b="0" i="0" smtClean="0">
                              <a:latin typeface="Cambria Math" panose="02040503050406030204" pitchFamily="18" charset="0"/>
                            </a:rPr>
                            <m:t>g</m:t>
                          </m:r>
                          <m:r>
                            <m:rPr>
                              <m:nor/>
                            </m:rPr>
                            <a:rPr lang="en-US" sz="2800" b="0" i="0" smtClean="0">
                              <a:latin typeface="Cambria Math" panose="02040503050406030204" pitchFamily="18" charset="0"/>
                            </a:rPr>
                            <m:t> /</m:t>
                          </m:r>
                          <m:r>
                            <m:rPr>
                              <m:nor/>
                            </m:rPr>
                            <a:rPr lang="en-US" sz="2800" b="0" i="0" smtClean="0">
                              <a:latin typeface="Cambria Math" panose="02040503050406030204" pitchFamily="18" charset="0"/>
                            </a:rPr>
                            <m:t>mL</m:t>
                          </m:r>
                        </m:den>
                      </m:f>
                      <m:r>
                        <a:rPr lang="en-US" sz="2800" i="1">
                          <a:latin typeface="Cambria Math" panose="02040503050406030204" pitchFamily="18" charset="0"/>
                        </a:rPr>
                        <m:t>×</m:t>
                      </m:r>
                      <m:r>
                        <a:rPr lang="en-US" sz="2800" b="0" i="1" smtClean="0">
                          <a:latin typeface="Cambria Math" panose="02040503050406030204" pitchFamily="18" charset="0"/>
                        </a:rPr>
                        <m:t>7.50 </m:t>
                      </m:r>
                      <m:r>
                        <m:rPr>
                          <m:nor/>
                        </m:rPr>
                        <a:rPr lang="en-US" sz="2800" b="0" i="0" smtClean="0">
                          <a:latin typeface="Cambria Math" panose="02040503050406030204" pitchFamily="18" charset="0"/>
                        </a:rPr>
                        <m:t>g</m:t>
                      </m:r>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r>
                            <a:rPr lang="en-US" sz="2800" b="0" i="1" smtClean="0">
                              <a:latin typeface="Cambria Math" panose="02040503050406030204" pitchFamily="18" charset="0"/>
                            </a:rPr>
                            <m:t> </m:t>
                          </m:r>
                          <m:r>
                            <m:rPr>
                              <m:nor/>
                            </m:rPr>
                            <a:rPr lang="en-US" sz="2800" b="0" i="0" smtClean="0">
                              <a:latin typeface="Cambria Math" panose="02040503050406030204" pitchFamily="18" charset="0"/>
                            </a:rPr>
                            <m:t>mL</m:t>
                          </m:r>
                        </m:num>
                        <m:den>
                          <m:r>
                            <a:rPr lang="en-US" sz="2800" i="1">
                              <a:latin typeface="Cambria Math" panose="02040503050406030204" pitchFamily="18" charset="0"/>
                            </a:rPr>
                            <m:t>13.6 </m:t>
                          </m:r>
                          <m:r>
                            <m:rPr>
                              <m:nor/>
                            </m:rPr>
                            <a:rPr lang="en-US" sz="2800">
                              <a:latin typeface="Cambria Math" panose="02040503050406030204" pitchFamily="18" charset="0"/>
                            </a:rPr>
                            <m:t>g</m:t>
                          </m:r>
                        </m:den>
                      </m:f>
                      <m:r>
                        <a:rPr lang="en-US" sz="2800" i="1">
                          <a:latin typeface="Cambria Math" panose="02040503050406030204" pitchFamily="18" charset="0"/>
                        </a:rPr>
                        <m:t>×</m:t>
                      </m:r>
                      <m:r>
                        <a:rPr lang="en-US" sz="2800" b="0" i="1" smtClean="0">
                          <a:latin typeface="Cambria Math" panose="02040503050406030204" pitchFamily="18" charset="0"/>
                        </a:rPr>
                        <m:t>7</m:t>
                      </m:r>
                      <m:r>
                        <a:rPr lang="en-US" sz="2800" i="1">
                          <a:latin typeface="Cambria Math" panose="02040503050406030204" pitchFamily="18" charset="0"/>
                        </a:rPr>
                        <m:t>.50 </m:t>
                      </m:r>
                      <m:r>
                        <m:rPr>
                          <m:nor/>
                        </m:rPr>
                        <a:rPr lang="en-US" sz="2800">
                          <a:latin typeface="Cambria Math" panose="02040503050406030204" pitchFamily="18" charset="0"/>
                        </a:rPr>
                        <m:t>g</m:t>
                      </m:r>
                      <m:r>
                        <a:rPr lang="en-US" sz="2800" i="1">
                          <a:latin typeface="Cambria Math" panose="02040503050406030204" pitchFamily="18" charset="0"/>
                        </a:rPr>
                        <m:t>=</m:t>
                      </m:r>
                      <m:r>
                        <a:rPr lang="en-US" sz="2800" b="0" i="1" smtClean="0">
                          <a:latin typeface="Cambria Math" panose="02040503050406030204" pitchFamily="18" charset="0"/>
                        </a:rPr>
                        <m:t>0.55 </m:t>
                      </m:r>
                      <m:r>
                        <m:rPr>
                          <m:nor/>
                        </m:rPr>
                        <a:rPr lang="en-US" sz="2800" b="0" i="0" smtClean="0">
                          <a:latin typeface="Cambria Math" panose="02040503050406030204" pitchFamily="18" charset="0"/>
                        </a:rPr>
                        <m:t>mL</m:t>
                      </m:r>
                    </m:oMath>
                  </m:oMathPara>
                </a14:m>
                <a:endParaRPr lang="en-US" sz="3600" dirty="0">
                  <a:sym typeface="Wingdings" panose="05000000000000000000" pitchFamily="2" charset="2"/>
                </a:endParaRP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Could be expressed as </a:t>
                </a:r>
                <a:r>
                  <a:rPr lang="en-US" dirty="0">
                    <a:solidFill>
                      <a:schemeClr val="accent1">
                        <a:lumMod val="60000"/>
                        <a:lumOff val="40000"/>
                      </a:schemeClr>
                    </a:solidFill>
                    <a:sym typeface="Wingdings" panose="05000000000000000000" pitchFamily="2" charset="2"/>
                  </a:rPr>
                  <a:t>5.5 x 10</a:t>
                </a:r>
                <a:r>
                  <a:rPr lang="en-US" baseline="30000" dirty="0">
                    <a:solidFill>
                      <a:schemeClr val="accent1">
                        <a:lumMod val="60000"/>
                        <a:lumOff val="40000"/>
                      </a:schemeClr>
                    </a:solidFill>
                    <a:sym typeface="Wingdings" panose="05000000000000000000" pitchFamily="2" charset="2"/>
                  </a:rPr>
                  <a:t>-1</a:t>
                </a:r>
                <a:r>
                  <a:rPr lang="en-US" dirty="0">
                    <a:solidFill>
                      <a:schemeClr val="accent1">
                        <a:lumMod val="60000"/>
                        <a:lumOff val="40000"/>
                      </a:schemeClr>
                    </a:solidFill>
                    <a:sym typeface="Wingdings" panose="05000000000000000000" pitchFamily="2" charset="2"/>
                  </a:rPr>
                  <a:t> mL</a:t>
                </a:r>
              </a:p>
              <a:p>
                <a:pPr marL="0" indent="0">
                  <a:buNone/>
                </a:pPr>
                <a:r>
                  <a:rPr lang="en-US" dirty="0">
                    <a:sym typeface="Wingdings" panose="05000000000000000000" pitchFamily="2" charset="2"/>
                  </a:rPr>
                  <a:t>Or converting to microliters (µL)</a:t>
                </a:r>
              </a:p>
              <a:p>
                <a:pPr marL="0" indent="0">
                  <a:buNone/>
                </a:pPr>
                <a:endParaRPr lang="en-US" dirty="0">
                  <a:sym typeface="Wingdings" panose="05000000000000000000" pitchFamily="2" charset="2"/>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0.55</m:t>
                      </m:r>
                      <m:r>
                        <a:rPr lang="en-US" i="1">
                          <a:latin typeface="Cambria Math" panose="02040503050406030204" pitchFamily="18" charset="0"/>
                        </a:rPr>
                        <m:t> </m:t>
                      </m:r>
                      <m:r>
                        <m:rPr>
                          <m:nor/>
                        </m:rPr>
                        <a:rPr lang="en-US" b="0" i="0" smtClean="0">
                          <a:latin typeface="Cambria Math" panose="02040503050406030204" pitchFamily="18" charset="0"/>
                        </a:rPr>
                        <m:t>mL</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b="0" i="1" smtClean="0">
                              <a:latin typeface="Cambria Math" panose="02040503050406030204" pitchFamily="18" charset="0"/>
                            </a:rPr>
                            <m:t>000 </m:t>
                          </m:r>
                          <m:r>
                            <m:rPr>
                              <m:nor/>
                            </m:rPr>
                            <a:rPr lang="en-US" b="0" i="0" smtClean="0">
                              <a:latin typeface="Cambria Math" panose="02040503050406030204" pitchFamily="18" charset="0"/>
                            </a:rPr>
                            <m:t>µ</m:t>
                          </m:r>
                          <m:r>
                            <m:rPr>
                              <m:nor/>
                            </m:rPr>
                            <a:rPr lang="en-US" b="0" i="0" smtClean="0">
                              <a:latin typeface="Cambria Math" panose="02040503050406030204" pitchFamily="18" charset="0"/>
                            </a:rPr>
                            <m:t>l</m:t>
                          </m:r>
                        </m:num>
                        <m:den>
                          <m:r>
                            <a:rPr lang="en-US" b="0" i="1" smtClean="0">
                              <a:latin typeface="Cambria Math" panose="02040503050406030204" pitchFamily="18" charset="0"/>
                            </a:rPr>
                            <m:t>1</m:t>
                          </m:r>
                          <m:r>
                            <m:rPr>
                              <m:nor/>
                            </m:rPr>
                            <a:rPr lang="en-US">
                              <a:latin typeface="Cambria Math" panose="02040503050406030204" pitchFamily="18" charset="0"/>
                            </a:rPr>
                            <m:t> </m:t>
                          </m:r>
                          <m:r>
                            <m:rPr>
                              <m:nor/>
                            </m:rPr>
                            <a:rPr lang="en-US">
                              <a:latin typeface="Cambria Math" panose="02040503050406030204" pitchFamily="18" charset="0"/>
                            </a:rPr>
                            <m:t>mL</m:t>
                          </m:r>
                        </m:den>
                      </m:f>
                      <m:r>
                        <a:rPr lang="en-US" i="1">
                          <a:latin typeface="Cambria Math" panose="02040503050406030204" pitchFamily="18" charset="0"/>
                        </a:rPr>
                        <m:t>=</m:t>
                      </m:r>
                      <m:r>
                        <a:rPr lang="en-US" b="0" i="1" smtClean="0">
                          <a:latin typeface="Cambria Math" panose="02040503050406030204" pitchFamily="18" charset="0"/>
                        </a:rPr>
                        <m:t>550</m:t>
                      </m:r>
                      <m:r>
                        <a:rPr lang="en-US" i="1">
                          <a:latin typeface="Cambria Math" panose="02040503050406030204" pitchFamily="18" charset="0"/>
                        </a:rPr>
                        <m:t> </m:t>
                      </m:r>
                      <m:r>
                        <m:rPr>
                          <m:nor/>
                        </m:rPr>
                        <a:rPr lang="en-US" b="0" i="0" smtClean="0">
                          <a:latin typeface="Cambria Math" panose="02040503050406030204" pitchFamily="18" charset="0"/>
                        </a:rPr>
                        <m:t>µ</m:t>
                      </m:r>
                      <m:r>
                        <m:rPr>
                          <m:nor/>
                        </m:rPr>
                        <a:rPr lang="en-US">
                          <a:latin typeface="Cambria Math" panose="02040503050406030204" pitchFamily="18" charset="0"/>
                        </a:rPr>
                        <m:t>L</m:t>
                      </m:r>
                    </m:oMath>
                  </m:oMathPara>
                </a14:m>
                <a:endParaRPr lang="en-US" sz="3200" dirty="0">
                  <a:sym typeface="Wingdings" panose="05000000000000000000" pitchFamily="2" charset="2"/>
                </a:endParaRPr>
              </a:p>
              <a:p>
                <a:pPr marL="0" indent="0">
                  <a:buNone/>
                </a:pPr>
                <a:endParaRPr lang="en-US" dirty="0">
                  <a:sym typeface="Wingdings" panose="05000000000000000000" pitchFamily="2" charset="2"/>
                </a:endParaRPr>
              </a:p>
            </p:txBody>
          </p:sp>
        </mc:Choice>
        <mc:Fallback xmlns="">
          <p:sp>
            <p:nvSpPr>
              <p:cNvPr id="2" name="Content Placeholder 1">
                <a:extLst>
                  <a:ext uri="{FF2B5EF4-FFF2-40B4-BE49-F238E27FC236}">
                    <a16:creationId xmlns:a16="http://schemas.microsoft.com/office/drawing/2014/main" id="{2F2B7684-5FDE-20B6-5C9E-7D4665084B51}"/>
                  </a:ext>
                </a:extLst>
              </p:cNvPr>
              <p:cNvSpPr txBox="1">
                <a:spLocks noGrp="1" noRot="1" noChangeAspect="1" noMove="1" noResize="1" noEditPoints="1" noAdjustHandles="1" noChangeArrowheads="1" noChangeShapeType="1" noTextEdit="1"/>
              </p:cNvSpPr>
              <p:nvPr>
                <p:ph idx="1"/>
              </p:nvPr>
            </p:nvSpPr>
            <p:spPr>
              <a:xfrm>
                <a:off x="372533" y="1345738"/>
                <a:ext cx="8387645" cy="5631606"/>
              </a:xfrm>
              <a:prstGeom prst="rect">
                <a:avLst/>
              </a:prstGeom>
              <a:blipFill>
                <a:blip r:embed="rId2"/>
                <a:stretch>
                  <a:fillRect l="-1090"/>
                </a:stretch>
              </a:blipFill>
              <a:ln w="28575">
                <a:noFill/>
              </a:ln>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41F0EEAB-67BF-456A-27C9-5FADAEE641F7}"/>
              </a:ext>
            </a:extLst>
          </p:cNvPr>
          <p:cNvSpPr>
            <a:spLocks noGrp="1"/>
          </p:cNvSpPr>
          <p:nvPr>
            <p:ph type="sldNum" sz="quarter" idx="10"/>
          </p:nvPr>
        </p:nvSpPr>
        <p:spPr/>
        <p:txBody>
          <a:bodyPr/>
          <a:lstStyle/>
          <a:p>
            <a:fld id="{12356DF5-CFED-4016-A2DB-A70AC2735480}" type="slidenum">
              <a:rPr lang="en-US" smtClean="0"/>
              <a:pPr/>
              <a:t>46</a:t>
            </a:fld>
            <a:endParaRPr lang="en-US" dirty="0">
              <a:solidFill>
                <a:schemeClr val="bg1"/>
              </a:solidFill>
            </a:endParaRPr>
          </a:p>
        </p:txBody>
      </p:sp>
    </p:spTree>
    <p:extLst>
      <p:ext uri="{BB962C8B-B14F-4D97-AF65-F5344CB8AC3E}">
        <p14:creationId xmlns:p14="http://schemas.microsoft.com/office/powerpoint/2010/main" val="11378844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C24D2-D3CA-C264-390F-8F4E1D339AA9}"/>
              </a:ext>
            </a:extLst>
          </p:cNvPr>
          <p:cNvSpPr>
            <a:spLocks noGrp="1"/>
          </p:cNvSpPr>
          <p:nvPr>
            <p:ph type="title"/>
          </p:nvPr>
        </p:nvSpPr>
        <p:spPr/>
        <p:txBody>
          <a:bodyPr/>
          <a:lstStyle/>
          <a:p>
            <a:r>
              <a:rPr lang="en-US" dirty="0"/>
              <a:t>Temperature</a:t>
            </a:r>
          </a:p>
        </p:txBody>
      </p:sp>
      <p:sp>
        <p:nvSpPr>
          <p:cNvPr id="3" name="Content Placeholder 2">
            <a:extLst>
              <a:ext uri="{FF2B5EF4-FFF2-40B4-BE49-F238E27FC236}">
                <a16:creationId xmlns:a16="http://schemas.microsoft.com/office/drawing/2014/main" id="{87BFE258-FB6F-3EE1-D974-F0C4B7CFF7DC}"/>
              </a:ext>
            </a:extLst>
          </p:cNvPr>
          <p:cNvSpPr>
            <a:spLocks noGrp="1"/>
          </p:cNvSpPr>
          <p:nvPr>
            <p:ph idx="1"/>
          </p:nvPr>
        </p:nvSpPr>
        <p:spPr/>
        <p:txBody>
          <a:bodyPr/>
          <a:lstStyle/>
          <a:p>
            <a:r>
              <a:rPr lang="en-US" dirty="0"/>
              <a:t>A measure of the average kinetic energy of particles in a substance</a:t>
            </a:r>
          </a:p>
          <a:p>
            <a:r>
              <a:rPr lang="en-US" dirty="0"/>
              <a:t>Not energy itself, but an indicator or measure of energy</a:t>
            </a:r>
          </a:p>
        </p:txBody>
      </p:sp>
      <p:sp>
        <p:nvSpPr>
          <p:cNvPr id="4" name="Slide Number Placeholder 3">
            <a:extLst>
              <a:ext uri="{FF2B5EF4-FFF2-40B4-BE49-F238E27FC236}">
                <a16:creationId xmlns:a16="http://schemas.microsoft.com/office/drawing/2014/main" id="{6EB8D0B8-BCD3-3AEB-1F52-1377B3455DB3}"/>
              </a:ext>
            </a:extLst>
          </p:cNvPr>
          <p:cNvSpPr>
            <a:spLocks noGrp="1"/>
          </p:cNvSpPr>
          <p:nvPr>
            <p:ph type="sldNum" sz="quarter" idx="10"/>
          </p:nvPr>
        </p:nvSpPr>
        <p:spPr/>
        <p:txBody>
          <a:bodyPr/>
          <a:lstStyle/>
          <a:p>
            <a:fld id="{12356DF5-CFED-4016-A2DB-A70AC2735480}" type="slidenum">
              <a:rPr lang="en-US" smtClean="0"/>
              <a:pPr/>
              <a:t>47</a:t>
            </a:fld>
            <a:endParaRPr lang="en-US" dirty="0">
              <a:solidFill>
                <a:schemeClr val="bg1"/>
              </a:solidFill>
            </a:endParaRPr>
          </a:p>
        </p:txBody>
      </p:sp>
    </p:spTree>
    <p:extLst>
      <p:ext uri="{BB962C8B-B14F-4D97-AF65-F5344CB8AC3E}">
        <p14:creationId xmlns:p14="http://schemas.microsoft.com/office/powerpoint/2010/main" val="29154623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9F1E8-D2AC-7FA9-E917-F90C94B3818A}"/>
              </a:ext>
            </a:extLst>
          </p:cNvPr>
          <p:cNvSpPr>
            <a:spLocks noGrp="1"/>
          </p:cNvSpPr>
          <p:nvPr>
            <p:ph type="title"/>
          </p:nvPr>
        </p:nvSpPr>
        <p:spPr/>
        <p:txBody>
          <a:bodyPr/>
          <a:lstStyle/>
          <a:p>
            <a:r>
              <a:rPr lang="en-US" dirty="0"/>
              <a:t>Measuring Temperature</a:t>
            </a:r>
          </a:p>
        </p:txBody>
      </p:sp>
      <p:pic>
        <p:nvPicPr>
          <p:cNvPr id="1026" name="Picture 2">
            <a:extLst>
              <a:ext uri="{FF2B5EF4-FFF2-40B4-BE49-F238E27FC236}">
                <a16:creationId xmlns:a16="http://schemas.microsoft.com/office/drawing/2014/main" id="{AD199F0B-D17C-D6D3-55F3-74755658B58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3063" y="1580605"/>
            <a:ext cx="8386762" cy="471755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4CE6475-A36D-80BA-1C65-FB4D262EAC11}"/>
              </a:ext>
            </a:extLst>
          </p:cNvPr>
          <p:cNvSpPr txBox="1"/>
          <p:nvPr/>
        </p:nvSpPr>
        <p:spPr>
          <a:xfrm>
            <a:off x="7137779" y="6298158"/>
            <a:ext cx="1552284" cy="276999"/>
          </a:xfrm>
          <a:prstGeom prst="rect">
            <a:avLst/>
          </a:prstGeom>
          <a:noFill/>
        </p:spPr>
        <p:txBody>
          <a:bodyPr wrap="none" rtlCol="0">
            <a:spAutoFit/>
          </a:bodyPr>
          <a:lstStyle/>
          <a:p>
            <a:r>
              <a:rPr lang="en-US" sz="1200" i="1" dirty="0">
                <a:solidFill>
                  <a:srgbClr val="FFFFCC"/>
                </a:solidFill>
                <a:latin typeface="Times New Roman" panose="02020603050405020304" pitchFamily="18" charset="0"/>
                <a:cs typeface="Times New Roman" panose="02020603050405020304" pitchFamily="18" charset="0"/>
              </a:rPr>
              <a:t>image from Study.com</a:t>
            </a:r>
          </a:p>
        </p:txBody>
      </p:sp>
      <p:sp>
        <p:nvSpPr>
          <p:cNvPr id="3" name="Slide Number Placeholder 2">
            <a:extLst>
              <a:ext uri="{FF2B5EF4-FFF2-40B4-BE49-F238E27FC236}">
                <a16:creationId xmlns:a16="http://schemas.microsoft.com/office/drawing/2014/main" id="{1034DA44-6CF7-BF25-E92A-B413CCA290F9}"/>
              </a:ext>
            </a:extLst>
          </p:cNvPr>
          <p:cNvSpPr>
            <a:spLocks noGrp="1"/>
          </p:cNvSpPr>
          <p:nvPr>
            <p:ph type="sldNum" sz="quarter" idx="10"/>
          </p:nvPr>
        </p:nvSpPr>
        <p:spPr/>
        <p:txBody>
          <a:bodyPr/>
          <a:lstStyle/>
          <a:p>
            <a:fld id="{12356DF5-CFED-4016-A2DB-A70AC2735480}" type="slidenum">
              <a:rPr lang="en-US" smtClean="0"/>
              <a:pPr/>
              <a:t>48</a:t>
            </a:fld>
            <a:endParaRPr lang="en-US" dirty="0">
              <a:solidFill>
                <a:schemeClr val="bg1"/>
              </a:solidFill>
            </a:endParaRPr>
          </a:p>
        </p:txBody>
      </p:sp>
    </p:spTree>
    <p:extLst>
      <p:ext uri="{BB962C8B-B14F-4D97-AF65-F5344CB8AC3E}">
        <p14:creationId xmlns:p14="http://schemas.microsoft.com/office/powerpoint/2010/main" val="16977336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73A3D-B829-24BE-C8D3-4E4C7D7C57E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B44E676-275D-A5CD-07B8-28E46741F40F}"/>
              </a:ext>
            </a:extLst>
          </p:cNvPr>
          <p:cNvSpPr>
            <a:spLocks noGrp="1"/>
          </p:cNvSpPr>
          <p:nvPr>
            <p:ph type="title"/>
          </p:nvPr>
        </p:nvSpPr>
        <p:spPr>
          <a:xfrm>
            <a:off x="364067" y="306073"/>
            <a:ext cx="8421512" cy="707886"/>
          </a:xfrm>
        </p:spPr>
        <p:txBody>
          <a:bodyPr/>
          <a:lstStyle/>
          <a:p>
            <a:r>
              <a:rPr lang="en-US" sz="4000" dirty="0"/>
              <a:t>Temperature Scales</a:t>
            </a:r>
          </a:p>
        </p:txBody>
      </p:sp>
      <p:sp>
        <p:nvSpPr>
          <p:cNvPr id="5" name="Content Placeholder 4">
            <a:extLst>
              <a:ext uri="{FF2B5EF4-FFF2-40B4-BE49-F238E27FC236}">
                <a16:creationId xmlns:a16="http://schemas.microsoft.com/office/drawing/2014/main" id="{8EA906A4-1845-3AB4-2976-0DB03AFE7EA7}"/>
              </a:ext>
            </a:extLst>
          </p:cNvPr>
          <p:cNvSpPr>
            <a:spLocks noGrp="1"/>
          </p:cNvSpPr>
          <p:nvPr>
            <p:ph idx="1"/>
          </p:nvPr>
        </p:nvSpPr>
        <p:spPr>
          <a:xfrm>
            <a:off x="392288" y="1336462"/>
            <a:ext cx="8387645" cy="5215465"/>
          </a:xfrm>
        </p:spPr>
        <p:txBody>
          <a:bodyPr/>
          <a:lstStyle/>
          <a:p>
            <a:pPr marL="0" indent="0">
              <a:buNone/>
            </a:pPr>
            <a:r>
              <a:rPr lang="en-US" dirty="0"/>
              <a:t>Three scales (measurement types) are used to get a value of temperature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Thermometers usually involve expansion or contraction of calibrated sealed tube of mercury (Hg) or dyed-alcohol</a:t>
            </a:r>
          </a:p>
        </p:txBody>
      </p:sp>
      <p:graphicFrame>
        <p:nvGraphicFramePr>
          <p:cNvPr id="7" name="Table 6">
            <a:extLst>
              <a:ext uri="{FF2B5EF4-FFF2-40B4-BE49-F238E27FC236}">
                <a16:creationId xmlns:a16="http://schemas.microsoft.com/office/drawing/2014/main" id="{08B8A7F7-88D8-54CF-A9E6-795174F5A749}"/>
              </a:ext>
            </a:extLst>
          </p:cNvPr>
          <p:cNvGraphicFramePr>
            <a:graphicFrameLocks noGrp="1"/>
          </p:cNvGraphicFramePr>
          <p:nvPr>
            <p:extLst>
              <p:ext uri="{D42A27DB-BD31-4B8C-83A1-F6EECF244321}">
                <p14:modId xmlns:p14="http://schemas.microsoft.com/office/powerpoint/2010/main" val="2544253236"/>
              </p:ext>
            </p:extLst>
          </p:nvPr>
        </p:nvGraphicFramePr>
        <p:xfrm>
          <a:off x="867447" y="2599897"/>
          <a:ext cx="7014244" cy="1849120"/>
        </p:xfrm>
        <a:graphic>
          <a:graphicData uri="http://schemas.openxmlformats.org/drawingml/2006/table">
            <a:tbl>
              <a:tblPr firstRow="1" bandRow="1">
                <a:tableStyleId>{073A0DAA-6AF3-43AB-8588-CEC1D06C72B9}</a:tableStyleId>
              </a:tblPr>
              <a:tblGrid>
                <a:gridCol w="2796977">
                  <a:extLst>
                    <a:ext uri="{9D8B030D-6E8A-4147-A177-3AD203B41FA5}">
                      <a16:colId xmlns:a16="http://schemas.microsoft.com/office/drawing/2014/main" val="2997406436"/>
                    </a:ext>
                  </a:extLst>
                </a:gridCol>
                <a:gridCol w="2129051">
                  <a:extLst>
                    <a:ext uri="{9D8B030D-6E8A-4147-A177-3AD203B41FA5}">
                      <a16:colId xmlns:a16="http://schemas.microsoft.com/office/drawing/2014/main" val="3205729253"/>
                    </a:ext>
                  </a:extLst>
                </a:gridCol>
                <a:gridCol w="2088216">
                  <a:extLst>
                    <a:ext uri="{9D8B030D-6E8A-4147-A177-3AD203B41FA5}">
                      <a16:colId xmlns:a16="http://schemas.microsoft.com/office/drawing/2014/main" val="1039054553"/>
                    </a:ext>
                  </a:extLst>
                </a:gridCol>
              </a:tblGrid>
              <a:tr h="332883">
                <a:tc rowSpan="2">
                  <a:txBody>
                    <a:bodyPr/>
                    <a:lstStyle/>
                    <a:p>
                      <a:pPr algn="ctr"/>
                      <a:r>
                        <a:rPr lang="en-US" sz="1600" dirty="0"/>
                        <a:t>Scale</a:t>
                      </a:r>
                    </a:p>
                  </a:txBody>
                  <a:tcPr anchor="b">
                    <a:lnR w="12700" cap="flat" cmpd="sng" algn="ctr">
                      <a:solidFill>
                        <a:schemeClr val="bg1"/>
                      </a:solidFill>
                      <a:prstDash val="solid"/>
                      <a:round/>
                      <a:headEnd type="none" w="med" len="med"/>
                      <a:tailEnd type="none" w="med" len="med"/>
                    </a:lnR>
                  </a:tcPr>
                </a:tc>
                <a:tc gridSpan="2">
                  <a:txBody>
                    <a:bodyPr/>
                    <a:lstStyle/>
                    <a:p>
                      <a:pPr algn="ctr"/>
                      <a:r>
                        <a:rPr lang="en-US" dirty="0"/>
                        <a:t>Water Property</a:t>
                      </a:r>
                    </a:p>
                  </a:txBody>
                  <a:tcP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tx1"/>
                    </a:solidFill>
                  </a:tcPr>
                </a:tc>
                <a:tc hMerge="1">
                  <a:txBody>
                    <a:bodyPr/>
                    <a:lstStyle/>
                    <a:p>
                      <a:pPr algn="ctr"/>
                      <a:endParaRPr lang="en-US" dirty="0"/>
                    </a:p>
                  </a:txBody>
                  <a:tcPr>
                    <a:solidFill>
                      <a:schemeClr val="tx1"/>
                    </a:solidFill>
                  </a:tcPr>
                </a:tc>
                <a:extLst>
                  <a:ext uri="{0D108BD9-81ED-4DB2-BD59-A6C34878D82A}">
                    <a16:rowId xmlns:a16="http://schemas.microsoft.com/office/drawing/2014/main" val="369811630"/>
                  </a:ext>
                </a:extLst>
              </a:tr>
              <a:tr h="370840">
                <a:tc vMerge="1">
                  <a:txBody>
                    <a:bodyPr/>
                    <a:lstStyle/>
                    <a:p>
                      <a:endParaRPr lang="en-US" dirty="0"/>
                    </a:p>
                  </a:txBody>
                  <a:tcPr/>
                </a:tc>
                <a:tc>
                  <a:txBody>
                    <a:bodyPr/>
                    <a:lstStyle/>
                    <a:p>
                      <a:pPr algn="ctr"/>
                      <a:r>
                        <a:rPr lang="en-US" dirty="0">
                          <a:solidFill>
                            <a:schemeClr val="bg1"/>
                          </a:solidFill>
                        </a:rPr>
                        <a:t>freezing point</a:t>
                      </a:r>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chemeClr val="tx1"/>
                    </a:solidFill>
                  </a:tcPr>
                </a:tc>
                <a:tc>
                  <a:txBody>
                    <a:bodyPr/>
                    <a:lstStyle/>
                    <a:p>
                      <a:pPr algn="ctr"/>
                      <a:r>
                        <a:rPr lang="en-US" dirty="0">
                          <a:solidFill>
                            <a:schemeClr val="bg1"/>
                          </a:solidFill>
                        </a:rPr>
                        <a:t>boiling point</a:t>
                      </a:r>
                    </a:p>
                  </a:txBody>
                  <a:tcPr>
                    <a:lnT w="12700" cap="flat" cmpd="sng" algn="ctr">
                      <a:solidFill>
                        <a:schemeClr val="bg1"/>
                      </a:solidFill>
                      <a:prstDash val="solid"/>
                      <a:round/>
                      <a:headEnd type="none" w="med" len="med"/>
                      <a:tailEnd type="none" w="med" len="med"/>
                    </a:lnT>
                    <a:solidFill>
                      <a:schemeClr val="tx1"/>
                    </a:solidFill>
                  </a:tcPr>
                </a:tc>
                <a:extLst>
                  <a:ext uri="{0D108BD9-81ED-4DB2-BD59-A6C34878D82A}">
                    <a16:rowId xmlns:a16="http://schemas.microsoft.com/office/drawing/2014/main" val="4054594233"/>
                  </a:ext>
                </a:extLst>
              </a:tr>
              <a:tr h="370840">
                <a:tc>
                  <a:txBody>
                    <a:bodyPr/>
                    <a:lstStyle/>
                    <a:p>
                      <a:r>
                        <a:rPr lang="en-US" dirty="0"/>
                        <a:t>Fahrenheit</a:t>
                      </a:r>
                    </a:p>
                  </a:txBody>
                  <a:tcPr/>
                </a:tc>
                <a:tc>
                  <a:txBody>
                    <a:bodyPr/>
                    <a:lstStyle/>
                    <a:p>
                      <a:pPr algn="ctr"/>
                      <a:r>
                        <a:rPr lang="en-US" dirty="0"/>
                        <a:t>32° F</a:t>
                      </a:r>
                    </a:p>
                  </a:txBody>
                  <a:tcPr anchor="ctr"/>
                </a:tc>
                <a:tc>
                  <a:txBody>
                    <a:bodyPr/>
                    <a:lstStyle/>
                    <a:p>
                      <a:pPr algn="ctr"/>
                      <a:r>
                        <a:rPr lang="en-US" dirty="0">
                          <a:latin typeface="+mj-lt"/>
                        </a:rPr>
                        <a:t>212° F</a:t>
                      </a:r>
                    </a:p>
                  </a:txBody>
                  <a:tcPr anchor="ctr"/>
                </a:tc>
                <a:extLst>
                  <a:ext uri="{0D108BD9-81ED-4DB2-BD59-A6C34878D82A}">
                    <a16:rowId xmlns:a16="http://schemas.microsoft.com/office/drawing/2014/main" val="1761702033"/>
                  </a:ext>
                </a:extLst>
              </a:tr>
              <a:tr h="370840">
                <a:tc>
                  <a:txBody>
                    <a:bodyPr/>
                    <a:lstStyle/>
                    <a:p>
                      <a:r>
                        <a:rPr lang="en-US" dirty="0"/>
                        <a:t>Celsius (centigrade)</a:t>
                      </a:r>
                    </a:p>
                  </a:txBody>
                  <a:tcPr/>
                </a:tc>
                <a:tc>
                  <a:txBody>
                    <a:bodyPr/>
                    <a:lstStyle/>
                    <a:p>
                      <a:pPr algn="ctr"/>
                      <a:r>
                        <a:rPr lang="en-US" dirty="0"/>
                        <a:t>0° C</a:t>
                      </a:r>
                    </a:p>
                  </a:txBody>
                  <a:tcPr anchor="ctr"/>
                </a:tc>
                <a:tc>
                  <a:txBody>
                    <a:bodyPr/>
                    <a:lstStyle/>
                    <a:p>
                      <a:pPr algn="ctr"/>
                      <a:r>
                        <a:rPr lang="en-US" dirty="0">
                          <a:latin typeface="+mj-lt"/>
                        </a:rPr>
                        <a:t>100° C</a:t>
                      </a:r>
                    </a:p>
                  </a:txBody>
                  <a:tcPr anchor="ctr"/>
                </a:tc>
                <a:extLst>
                  <a:ext uri="{0D108BD9-81ED-4DB2-BD59-A6C34878D82A}">
                    <a16:rowId xmlns:a16="http://schemas.microsoft.com/office/drawing/2014/main" val="1124620680"/>
                  </a:ext>
                </a:extLst>
              </a:tr>
              <a:tr h="370840">
                <a:tc>
                  <a:txBody>
                    <a:bodyPr/>
                    <a:lstStyle/>
                    <a:p>
                      <a:r>
                        <a:rPr lang="en-US" dirty="0"/>
                        <a:t>Kelvin</a:t>
                      </a:r>
                    </a:p>
                  </a:txBody>
                  <a:tcPr/>
                </a:tc>
                <a:tc>
                  <a:txBody>
                    <a:bodyPr/>
                    <a:lstStyle/>
                    <a:p>
                      <a:pPr algn="ctr"/>
                      <a:r>
                        <a:rPr lang="en-US" dirty="0"/>
                        <a:t>273 K</a:t>
                      </a:r>
                    </a:p>
                  </a:txBody>
                  <a:tcPr anchor="ctr"/>
                </a:tc>
                <a:tc>
                  <a:txBody>
                    <a:bodyPr/>
                    <a:lstStyle/>
                    <a:p>
                      <a:pPr algn="ctr"/>
                      <a:r>
                        <a:rPr lang="en-US" dirty="0">
                          <a:latin typeface="+mj-lt"/>
                        </a:rPr>
                        <a:t>373 K</a:t>
                      </a:r>
                    </a:p>
                  </a:txBody>
                  <a:tcPr anchor="ctr"/>
                </a:tc>
                <a:extLst>
                  <a:ext uri="{0D108BD9-81ED-4DB2-BD59-A6C34878D82A}">
                    <a16:rowId xmlns:a16="http://schemas.microsoft.com/office/drawing/2014/main" val="1807739249"/>
                  </a:ext>
                </a:extLst>
              </a:tr>
            </a:tbl>
          </a:graphicData>
        </a:graphic>
      </p:graphicFrame>
      <p:sp>
        <p:nvSpPr>
          <p:cNvPr id="2" name="Slide Number Placeholder 1">
            <a:extLst>
              <a:ext uri="{FF2B5EF4-FFF2-40B4-BE49-F238E27FC236}">
                <a16:creationId xmlns:a16="http://schemas.microsoft.com/office/drawing/2014/main" id="{1AC6BA5D-A87A-0C81-2BD6-6444855BF2E3}"/>
              </a:ext>
            </a:extLst>
          </p:cNvPr>
          <p:cNvSpPr>
            <a:spLocks noGrp="1"/>
          </p:cNvSpPr>
          <p:nvPr>
            <p:ph type="sldNum" sz="quarter" idx="10"/>
          </p:nvPr>
        </p:nvSpPr>
        <p:spPr/>
        <p:txBody>
          <a:bodyPr/>
          <a:lstStyle/>
          <a:p>
            <a:fld id="{12356DF5-CFED-4016-A2DB-A70AC2735480}" type="slidenum">
              <a:rPr lang="en-US" smtClean="0"/>
              <a:pPr/>
              <a:t>49</a:t>
            </a:fld>
            <a:endParaRPr lang="en-US" dirty="0">
              <a:solidFill>
                <a:schemeClr val="bg1"/>
              </a:solidFill>
            </a:endParaRPr>
          </a:p>
        </p:txBody>
      </p:sp>
    </p:spTree>
    <p:extLst>
      <p:ext uri="{BB962C8B-B14F-4D97-AF65-F5344CB8AC3E}">
        <p14:creationId xmlns:p14="http://schemas.microsoft.com/office/powerpoint/2010/main" val="22882941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A3B84-A7EF-76A1-A3C2-9AD76850FE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B63526-5ED5-D270-D0C9-51CCB7F7634A}"/>
              </a:ext>
            </a:extLst>
          </p:cNvPr>
          <p:cNvSpPr>
            <a:spLocks noGrp="1"/>
          </p:cNvSpPr>
          <p:nvPr>
            <p:ph type="title"/>
          </p:nvPr>
        </p:nvSpPr>
        <p:spPr/>
        <p:txBody>
          <a:bodyPr/>
          <a:lstStyle/>
          <a:p>
            <a:r>
              <a:rPr lang="en-US" dirty="0"/>
              <a:t>Converting Temperature</a:t>
            </a:r>
          </a:p>
        </p:txBody>
      </p:sp>
      <p:sp>
        <p:nvSpPr>
          <p:cNvPr id="3" name="Content Placeholder 2">
            <a:extLst>
              <a:ext uri="{FF2B5EF4-FFF2-40B4-BE49-F238E27FC236}">
                <a16:creationId xmlns:a16="http://schemas.microsoft.com/office/drawing/2014/main" id="{8E4F53CE-7776-FB69-554E-27EE51C7634D}"/>
              </a:ext>
            </a:extLst>
          </p:cNvPr>
          <p:cNvSpPr>
            <a:spLocks noGrp="1"/>
          </p:cNvSpPr>
          <p:nvPr>
            <p:ph idx="1"/>
          </p:nvPr>
        </p:nvSpPr>
        <p:spPr>
          <a:xfrm>
            <a:off x="383822" y="1386681"/>
            <a:ext cx="8387645" cy="5215465"/>
          </a:xfrm>
        </p:spPr>
        <p:txBody>
          <a:bodyPr/>
          <a:lstStyle/>
          <a:p>
            <a:pPr marL="0" indent="0">
              <a:buNone/>
            </a:pPr>
            <a:r>
              <a:rPr lang="en-US" dirty="0"/>
              <a:t>Conversions apply basic algebraic principles of sloped lines</a:t>
            </a:r>
          </a:p>
        </p:txBody>
      </p:sp>
      <p:grpSp>
        <p:nvGrpSpPr>
          <p:cNvPr id="15" name="Group 14">
            <a:extLst>
              <a:ext uri="{FF2B5EF4-FFF2-40B4-BE49-F238E27FC236}">
                <a16:creationId xmlns:a16="http://schemas.microsoft.com/office/drawing/2014/main" id="{BD609EFD-48EF-A5E2-4BFF-038EB57CD40E}"/>
              </a:ext>
            </a:extLst>
          </p:cNvPr>
          <p:cNvGrpSpPr/>
          <p:nvPr/>
        </p:nvGrpSpPr>
        <p:grpSpPr>
          <a:xfrm>
            <a:off x="383822" y="2931692"/>
            <a:ext cx="4085050" cy="3324729"/>
            <a:chOff x="520890" y="2562450"/>
            <a:chExt cx="3552967" cy="2963460"/>
          </a:xfrm>
        </p:grpSpPr>
        <mc:AlternateContent xmlns:mc="http://schemas.openxmlformats.org/markup-compatibility/2006" xmlns:a14="http://schemas.microsoft.com/office/drawing/2010/main">
          <mc:Choice Requires="a14">
            <p:graphicFrame>
              <p:nvGraphicFramePr>
                <p:cNvPr id="9" name="Chart 8">
                  <a:extLst>
                    <a:ext uri="{FF2B5EF4-FFF2-40B4-BE49-F238E27FC236}">
                      <a16:creationId xmlns:a16="http://schemas.microsoft.com/office/drawing/2014/main" id="{5818B1F0-A797-3FEA-AFDC-641D3D9F6550}"/>
                    </a:ext>
                  </a:extLst>
                </p:cNvPr>
                <p:cNvGraphicFramePr/>
                <p:nvPr>
                  <p:extLst>
                    <p:ext uri="{D42A27DB-BD31-4B8C-83A1-F6EECF244321}">
                      <p14:modId xmlns:p14="http://schemas.microsoft.com/office/powerpoint/2010/main" val="731876632"/>
                    </p:ext>
                  </p:extLst>
                </p:nvPr>
              </p:nvGraphicFramePr>
              <p:xfrm>
                <a:off x="520890" y="2562450"/>
                <a:ext cx="3552967" cy="2963460"/>
              </p:xfrm>
              <a:graphic>
                <a:graphicData uri="http://schemas.openxmlformats.org/drawingml/2006/chart">
                  <c:chart xmlns:c="http://schemas.openxmlformats.org/drawingml/2006/chart" xmlns:r="http://schemas.openxmlformats.org/officeDocument/2006/relationships" r:id="rId2"/>
                </a:graphicData>
              </a:graphic>
            </p:graphicFrame>
          </mc:Choice>
          <mc:Fallback xmlns="">
            <p:graphicFrame>
              <p:nvGraphicFramePr>
                <p:cNvPr id="9" name="Chart 8">
                  <a:extLst>
                    <a:ext uri="{FF2B5EF4-FFF2-40B4-BE49-F238E27FC236}">
                      <a16:creationId xmlns:a16="http://schemas.microsoft.com/office/drawing/2014/main" id="{5818B1F0-A797-3FEA-AFDC-641D3D9F6550}"/>
                    </a:ext>
                  </a:extLst>
                </p:cNvPr>
                <p:cNvGraphicFramePr/>
                <p:nvPr>
                  <p:extLst>
                    <p:ext uri="{D42A27DB-BD31-4B8C-83A1-F6EECF244321}">
                      <p14:modId xmlns:p14="http://schemas.microsoft.com/office/powerpoint/2010/main" val="731876632"/>
                    </p:ext>
                  </p:extLst>
                </p:nvPr>
              </p:nvGraphicFramePr>
              <p:xfrm>
                <a:off x="520890" y="2562450"/>
                <a:ext cx="3552967" cy="2963460"/>
              </p:xfrm>
              <a:graphic>
                <a:graphicData uri="http://schemas.openxmlformats.org/drawingml/2006/chart">
                  <c:chart xmlns:c="http://schemas.openxmlformats.org/drawingml/2006/chart" xmlns:r="http://schemas.openxmlformats.org/officeDocument/2006/relationships" r:id="rId3"/>
                </a:graphicData>
              </a:graphic>
            </p:graphicFrame>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4916786-534E-FB51-E6FD-ADA002F768A6}"/>
                    </a:ext>
                  </a:extLst>
                </p:cNvPr>
                <p:cNvSpPr txBox="1"/>
                <p:nvPr/>
              </p:nvSpPr>
              <p:spPr>
                <a:xfrm>
                  <a:off x="2614760" y="4440162"/>
                  <a:ext cx="1186350" cy="246221"/>
                </a:xfrm>
                <a:prstGeom prst="rect">
                  <a:avLst/>
                </a:prstGeom>
                <a:noFill/>
              </p:spPr>
              <p:txBody>
                <a:bodyPr wrap="none" lIns="0" tIns="0" rIns="0" bIns="0" rtlCol="0">
                  <a:spAutoFit/>
                </a:bodyPr>
                <a:lstStyle/>
                <a:p>
                  <a:r>
                    <a:rPr lang="en-US" sz="1600" i="1" dirty="0"/>
                    <a:t>K</a:t>
                  </a:r>
                  <a14:m>
                    <m:oMath xmlns:m="http://schemas.openxmlformats.org/officeDocument/2006/math">
                      <m:r>
                        <a:rPr lang="en-US" sz="1600" b="0" i="1" smtClean="0">
                          <a:latin typeface="Cambria Math" panose="02040503050406030204" pitchFamily="18" charset="0"/>
                        </a:rPr>
                        <m:t> =°</m:t>
                      </m:r>
                      <m:r>
                        <a:rPr lang="en-US" sz="1600" b="0" i="1" smtClean="0">
                          <a:latin typeface="Cambria Math" panose="02040503050406030204" pitchFamily="18" charset="0"/>
                        </a:rPr>
                        <m:t>𝐶</m:t>
                      </m:r>
                      <m:r>
                        <a:rPr lang="en-US" sz="1600" b="0" i="1" smtClean="0">
                          <a:latin typeface="Cambria Math" panose="02040503050406030204" pitchFamily="18" charset="0"/>
                        </a:rPr>
                        <m:t>+273</m:t>
                      </m:r>
                    </m:oMath>
                  </a14:m>
                  <a:endParaRPr lang="en-US" sz="1600" dirty="0">
                    <a:solidFill>
                      <a:schemeClr val="bg1"/>
                    </a:solidFill>
                  </a:endParaRPr>
                </a:p>
              </p:txBody>
            </p:sp>
          </mc:Choice>
          <mc:Fallback xmlns="">
            <p:sp>
              <p:nvSpPr>
                <p:cNvPr id="10" name="TextBox 9">
                  <a:extLst>
                    <a:ext uri="{FF2B5EF4-FFF2-40B4-BE49-F238E27FC236}">
                      <a16:creationId xmlns:a16="http://schemas.microsoft.com/office/drawing/2014/main" id="{84916786-534E-FB51-E6FD-ADA002F768A6}"/>
                    </a:ext>
                  </a:extLst>
                </p:cNvPr>
                <p:cNvSpPr txBox="1">
                  <a:spLocks noRot="1" noChangeAspect="1" noMove="1" noResize="1" noEditPoints="1" noAdjustHandles="1" noChangeArrowheads="1" noChangeShapeType="1" noTextEdit="1"/>
                </p:cNvSpPr>
                <p:nvPr/>
              </p:nvSpPr>
              <p:spPr>
                <a:xfrm>
                  <a:off x="2614760" y="4440162"/>
                  <a:ext cx="1186350" cy="246221"/>
                </a:xfrm>
                <a:prstGeom prst="rect">
                  <a:avLst/>
                </a:prstGeom>
                <a:blipFill>
                  <a:blip r:embed="rId4"/>
                  <a:stretch>
                    <a:fillRect l="-10769" t="-27500" r="-4103"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D736493-778E-DF23-545D-E4A555480BF8}"/>
                    </a:ext>
                  </a:extLst>
                </p:cNvPr>
                <p:cNvSpPr txBox="1"/>
                <p:nvPr/>
              </p:nvSpPr>
              <p:spPr>
                <a:xfrm>
                  <a:off x="1438912" y="3158939"/>
                  <a:ext cx="1375954" cy="262316"/>
                </a:xfrm>
                <a:prstGeom prst="rect">
                  <a:avLst/>
                </a:prstGeom>
                <a:noFill/>
                <a:ln>
                  <a:solidFill>
                    <a:schemeClr val="tx1"/>
                  </a:solidFill>
                </a:ln>
              </p:spPr>
              <p:txBody>
                <a:bodyPr wrap="none" lIns="0" tIns="0" rIns="0" bIns="0" rtlCol="0">
                  <a:spAutoFit/>
                </a:bodyPr>
                <a:lstStyle/>
                <a:p>
                  <a:r>
                    <a:rPr lang="en-US" sz="1200" i="1" dirty="0">
                      <a:latin typeface="+mj-lt"/>
                    </a:rPr>
                    <a:t>s</a:t>
                  </a:r>
                  <a14:m>
                    <m:oMath xmlns:m="http://schemas.openxmlformats.org/officeDocument/2006/math">
                      <m:r>
                        <m:rPr>
                          <m:nor/>
                        </m:rPr>
                        <a:rPr lang="en-US" sz="1200" b="0" i="0" smtClean="0">
                          <a:latin typeface="+mj-lt"/>
                        </a:rPr>
                        <m:t>lope</m:t>
                      </m:r>
                      <m:r>
                        <m:rPr>
                          <m:nor/>
                        </m:rPr>
                        <a:rPr lang="en-US" sz="1200" b="0" i="0" smtClean="0">
                          <a:latin typeface="Cambria Math" panose="02040503050406030204" pitchFamily="18" charset="0"/>
                        </a:rPr>
                        <m:t> </m:t>
                      </m:r>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373 −273</m:t>
                          </m:r>
                        </m:num>
                        <m:den>
                          <m:r>
                            <a:rPr lang="en-US" sz="1200" b="0" i="1" smtClean="0">
                              <a:latin typeface="Cambria Math" panose="02040503050406030204" pitchFamily="18" charset="0"/>
                            </a:rPr>
                            <m:t>100 − 0</m:t>
                          </m:r>
                        </m:den>
                      </m:f>
                    </m:oMath>
                  </a14:m>
                  <a:r>
                    <a:rPr lang="en-US" sz="1600" dirty="0"/>
                    <a:t> </a:t>
                  </a:r>
                  <a:r>
                    <a:rPr lang="en-US" sz="1200" dirty="0"/>
                    <a:t>= 1</a:t>
                  </a:r>
                  <a:endParaRPr lang="en-US" sz="1600" dirty="0"/>
                </a:p>
              </p:txBody>
            </p:sp>
          </mc:Choice>
          <mc:Fallback xmlns="">
            <p:sp>
              <p:nvSpPr>
                <p:cNvPr id="12" name="TextBox 11">
                  <a:extLst>
                    <a:ext uri="{FF2B5EF4-FFF2-40B4-BE49-F238E27FC236}">
                      <a16:creationId xmlns:a16="http://schemas.microsoft.com/office/drawing/2014/main" id="{AD736493-778E-DF23-545D-E4A555480BF8}"/>
                    </a:ext>
                  </a:extLst>
                </p:cNvPr>
                <p:cNvSpPr txBox="1">
                  <a:spLocks noRot="1" noChangeAspect="1" noMove="1" noResize="1" noEditPoints="1" noAdjustHandles="1" noChangeArrowheads="1" noChangeShapeType="1" noTextEdit="1"/>
                </p:cNvSpPr>
                <p:nvPr/>
              </p:nvSpPr>
              <p:spPr>
                <a:xfrm>
                  <a:off x="1438912" y="3158939"/>
                  <a:ext cx="1375954" cy="262316"/>
                </a:xfrm>
                <a:prstGeom prst="rect">
                  <a:avLst/>
                </a:prstGeom>
                <a:blipFill>
                  <a:blip r:embed="rId5"/>
                  <a:stretch>
                    <a:fillRect l="-6140" t="-2222" r="-5263" b="-17778"/>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5510C77-40AA-3598-2EB3-159FD07DFF32}"/>
                    </a:ext>
                  </a:extLst>
                </p:cNvPr>
                <p:cNvSpPr txBox="1"/>
                <p:nvPr/>
              </p:nvSpPr>
              <p:spPr>
                <a:xfrm>
                  <a:off x="1429696" y="3517203"/>
                  <a:ext cx="1452898" cy="323165"/>
                </a:xfrm>
                <a:prstGeom prst="rect">
                  <a:avLst/>
                </a:prstGeom>
                <a:noFill/>
                <a:ln>
                  <a:solidFill>
                    <a:schemeClr val="tx1"/>
                  </a:solidFill>
                </a:ln>
              </p:spPr>
              <p:txBody>
                <a:bodyPr wrap="none" lIns="0" tIns="0" rIns="0" bIns="0" rtlCol="0">
                  <a:spAutoFit/>
                </a:bodyPr>
                <a:lstStyle/>
                <a:p>
                  <a:r>
                    <a:rPr lang="en-US" sz="1050" dirty="0">
                      <a:latin typeface="+mj-lt"/>
                    </a:rPr>
                    <a:t>2</a:t>
                  </a:r>
                  <a14:m>
                    <m:oMath xmlns:m="http://schemas.openxmlformats.org/officeDocument/2006/math">
                      <m:r>
                        <a:rPr lang="en-US" sz="1050" b="0" i="0" smtClean="0">
                          <a:latin typeface="Cambria Math" panose="02040503050406030204" pitchFamily="18" charset="0"/>
                        </a:rPr>
                        <m:t>73</m:t>
                      </m:r>
                      <m:r>
                        <m:rPr>
                          <m:nor/>
                        </m:rPr>
                        <a:rPr lang="en-US" sz="1050" b="0" i="0" smtClean="0">
                          <a:latin typeface="+mj-lt"/>
                        </a:rPr>
                        <m:t> </m:t>
                      </m:r>
                      <m:r>
                        <a:rPr lang="en-US" sz="1050" b="0" i="1" smtClean="0">
                          <a:latin typeface="Cambria Math" panose="02040503050406030204" pitchFamily="18" charset="0"/>
                        </a:rPr>
                        <m:t>=</m:t>
                      </m:r>
                      <m:r>
                        <a:rPr lang="en-US" sz="1050" b="0" i="0" smtClean="0">
                          <a:latin typeface="Cambria Math" panose="02040503050406030204" pitchFamily="18" charset="0"/>
                        </a:rPr>
                        <m:t>1 </m:t>
                      </m:r>
                      <m:r>
                        <a:rPr lang="en-US" sz="1050" b="0" i="1" smtClean="0">
                          <a:latin typeface="Cambria Math" panose="02040503050406030204" pitchFamily="18" charset="0"/>
                          <a:ea typeface="Cambria Math" panose="02040503050406030204" pitchFamily="18" charset="0"/>
                        </a:rPr>
                        <m:t>×0+</m:t>
                      </m:r>
                      <m:r>
                        <m:rPr>
                          <m:nor/>
                        </m:rPr>
                        <a:rPr lang="en-US" sz="1050" b="0" i="0" smtClean="0">
                          <a:latin typeface="+mj-lt"/>
                          <a:ea typeface="Cambria Math" panose="02040503050406030204" pitchFamily="18" charset="0"/>
                        </a:rPr>
                        <m:t>intercept</m:t>
                      </m:r>
                    </m:oMath>
                  </a14:m>
                  <a:endParaRPr lang="en-US" sz="1050" b="0" dirty="0">
                    <a:latin typeface="+mj-lt"/>
                    <a:ea typeface="Cambria Math" panose="02040503050406030204" pitchFamily="18" charset="0"/>
                  </a:endParaRPr>
                </a:p>
                <a:p>
                  <a:r>
                    <a:rPr lang="en-US" sz="1050" dirty="0">
                      <a:latin typeface="+mj-lt"/>
                      <a:ea typeface="Cambria Math" panose="02040503050406030204" pitchFamily="18" charset="0"/>
                    </a:rPr>
                    <a:t>Intercept = 273</a:t>
                  </a:r>
                  <a:endParaRPr lang="en-US" sz="1050" b="0" dirty="0">
                    <a:latin typeface="+mj-lt"/>
                    <a:ea typeface="Cambria Math" panose="02040503050406030204" pitchFamily="18" charset="0"/>
                  </a:endParaRPr>
                </a:p>
              </p:txBody>
            </p:sp>
          </mc:Choice>
          <mc:Fallback xmlns="">
            <p:sp>
              <p:nvSpPr>
                <p:cNvPr id="13" name="TextBox 12">
                  <a:extLst>
                    <a:ext uri="{FF2B5EF4-FFF2-40B4-BE49-F238E27FC236}">
                      <a16:creationId xmlns:a16="http://schemas.microsoft.com/office/drawing/2014/main" id="{B5510C77-40AA-3598-2EB3-159FD07DFF32}"/>
                    </a:ext>
                  </a:extLst>
                </p:cNvPr>
                <p:cNvSpPr txBox="1">
                  <a:spLocks noRot="1" noChangeAspect="1" noMove="1" noResize="1" noEditPoints="1" noAdjustHandles="1" noChangeArrowheads="1" noChangeShapeType="1" noTextEdit="1"/>
                </p:cNvSpPr>
                <p:nvPr/>
              </p:nvSpPr>
              <p:spPr>
                <a:xfrm>
                  <a:off x="1429696" y="3517203"/>
                  <a:ext cx="1452898" cy="323165"/>
                </a:xfrm>
                <a:prstGeom prst="rect">
                  <a:avLst/>
                </a:prstGeom>
                <a:blipFill>
                  <a:blip r:embed="rId6"/>
                  <a:stretch>
                    <a:fillRect l="-4979" t="-10909" r="-2490" b="-23636"/>
                  </a:stretch>
                </a:blipFill>
                <a:ln>
                  <a:solidFill>
                    <a:schemeClr val="tx1"/>
                  </a:solidFill>
                </a:ln>
              </p:spPr>
              <p:txBody>
                <a:bodyPr/>
                <a:lstStyle/>
                <a:p>
                  <a:r>
                    <a:rPr lang="en-US">
                      <a:noFill/>
                    </a:rPr>
                    <a:t> </a:t>
                  </a:r>
                </a:p>
              </p:txBody>
            </p:sp>
          </mc:Fallback>
        </mc:AlternateContent>
      </p:grpSp>
      <p:graphicFrame>
        <p:nvGraphicFramePr>
          <p:cNvPr id="17" name="Chart 16">
            <a:extLst>
              <a:ext uri="{FF2B5EF4-FFF2-40B4-BE49-F238E27FC236}">
                <a16:creationId xmlns:a16="http://schemas.microsoft.com/office/drawing/2014/main" id="{2574B9D5-4256-F33F-C6DF-FDB7B2E2C4ED}"/>
              </a:ext>
            </a:extLst>
          </p:cNvPr>
          <p:cNvGraphicFramePr/>
          <p:nvPr>
            <p:extLst>
              <p:ext uri="{D42A27DB-BD31-4B8C-83A1-F6EECF244321}">
                <p14:modId xmlns:p14="http://schemas.microsoft.com/office/powerpoint/2010/main" val="3188433419"/>
              </p:ext>
            </p:extLst>
          </p:nvPr>
        </p:nvGraphicFramePr>
        <p:xfrm>
          <a:off x="4468873" y="2931692"/>
          <a:ext cx="4441372" cy="3324729"/>
        </p:xfrm>
        <a:graphic>
          <a:graphicData uri="http://schemas.openxmlformats.org/drawingml/2006/chart">
            <c:chart xmlns:c="http://schemas.openxmlformats.org/drawingml/2006/chart" xmlns:r="http://schemas.openxmlformats.org/officeDocument/2006/relationships" r:id="rId7"/>
          </a:graphicData>
        </a:graphic>
      </p:graphicFrame>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1A79250-F9D2-3A7B-550F-171FA4532F46}"/>
                  </a:ext>
                </a:extLst>
              </p:cNvPr>
              <p:cNvSpPr txBox="1"/>
              <p:nvPr/>
            </p:nvSpPr>
            <p:spPr>
              <a:xfrm>
                <a:off x="5873689" y="3542129"/>
                <a:ext cx="1358577"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m:t>
                      </m:r>
                      <m:r>
                        <a:rPr lang="en-US" sz="1600" i="1" smtClean="0">
                          <a:latin typeface="Cambria Math" panose="02040503050406030204" pitchFamily="18" charset="0"/>
                        </a:rPr>
                        <m:t>𝐶</m:t>
                      </m:r>
                      <m:r>
                        <a:rPr lang="en-US" sz="1600" b="0" i="1" smtClean="0">
                          <a:latin typeface="Cambria Math" panose="02040503050406030204" pitchFamily="18" charset="0"/>
                        </a:rPr>
                        <m:t> =</m:t>
                      </m:r>
                      <m:r>
                        <a:rPr lang="en-US" sz="1600" b="0" i="1" smtClean="0">
                          <a:latin typeface="Cambria Math" panose="02040503050406030204" pitchFamily="18" charset="0"/>
                        </a:rPr>
                        <m:t>𝐾</m:t>
                      </m:r>
                      <m:r>
                        <a:rPr lang="en-US" sz="1600" b="0" i="1" smtClean="0">
                          <a:latin typeface="Cambria Math" panose="02040503050406030204" pitchFamily="18" charset="0"/>
                        </a:rPr>
                        <m:t> −273</m:t>
                      </m:r>
                    </m:oMath>
                  </m:oMathPara>
                </a14:m>
                <a:endParaRPr lang="en-US" sz="1600" dirty="0">
                  <a:solidFill>
                    <a:schemeClr val="bg1"/>
                  </a:solidFill>
                </a:endParaRPr>
              </a:p>
            </p:txBody>
          </p:sp>
        </mc:Choice>
        <mc:Fallback xmlns="">
          <p:sp>
            <p:nvSpPr>
              <p:cNvPr id="18" name="TextBox 17">
                <a:extLst>
                  <a:ext uri="{FF2B5EF4-FFF2-40B4-BE49-F238E27FC236}">
                    <a16:creationId xmlns:a16="http://schemas.microsoft.com/office/drawing/2014/main" id="{B1A79250-F9D2-3A7B-550F-171FA4532F46}"/>
                  </a:ext>
                </a:extLst>
              </p:cNvPr>
              <p:cNvSpPr txBox="1">
                <a:spLocks noRot="1" noChangeAspect="1" noMove="1" noResize="1" noEditPoints="1" noAdjustHandles="1" noChangeArrowheads="1" noChangeShapeType="1" noTextEdit="1"/>
              </p:cNvSpPr>
              <p:nvPr/>
            </p:nvSpPr>
            <p:spPr>
              <a:xfrm>
                <a:off x="5873689" y="3542129"/>
                <a:ext cx="1358577" cy="246221"/>
              </a:xfrm>
              <a:prstGeom prst="rect">
                <a:avLst/>
              </a:prstGeom>
              <a:blipFill>
                <a:blip r:embed="rId8"/>
                <a:stretch>
                  <a:fillRect l="-2703" r="-2252" b="-1000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10C6F41-25BA-0BEA-C7E1-0685802AB8E1}"/>
              </a:ext>
            </a:extLst>
          </p:cNvPr>
          <p:cNvSpPr>
            <a:spLocks noGrp="1"/>
          </p:cNvSpPr>
          <p:nvPr>
            <p:ph type="sldNum" sz="quarter" idx="10"/>
          </p:nvPr>
        </p:nvSpPr>
        <p:spPr/>
        <p:txBody>
          <a:bodyPr/>
          <a:lstStyle/>
          <a:p>
            <a:fld id="{12356DF5-CFED-4016-A2DB-A70AC2735480}" type="slidenum">
              <a:rPr lang="en-US" smtClean="0"/>
              <a:pPr/>
              <a:t>50</a:t>
            </a:fld>
            <a:endParaRPr lang="en-US" dirty="0">
              <a:solidFill>
                <a:schemeClr val="bg1"/>
              </a:solidFill>
            </a:endParaRPr>
          </a:p>
        </p:txBody>
      </p:sp>
    </p:spTree>
    <p:extLst>
      <p:ext uri="{BB962C8B-B14F-4D97-AF65-F5344CB8AC3E}">
        <p14:creationId xmlns:p14="http://schemas.microsoft.com/office/powerpoint/2010/main" val="26407616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F0F7D-6CF5-B9DA-097C-A4B47EC679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6B6AB6-FA58-4AF6-0528-15E6A2A4E7EC}"/>
              </a:ext>
            </a:extLst>
          </p:cNvPr>
          <p:cNvSpPr>
            <a:spLocks noGrp="1"/>
          </p:cNvSpPr>
          <p:nvPr>
            <p:ph type="title"/>
          </p:nvPr>
        </p:nvSpPr>
        <p:spPr/>
        <p:txBody>
          <a:bodyPr/>
          <a:lstStyle/>
          <a:p>
            <a:r>
              <a:rPr lang="en-US" dirty="0"/>
              <a:t>Converting Temperature</a:t>
            </a:r>
          </a:p>
        </p:txBody>
      </p:sp>
      <p:sp>
        <p:nvSpPr>
          <p:cNvPr id="3" name="Content Placeholder 2">
            <a:extLst>
              <a:ext uri="{FF2B5EF4-FFF2-40B4-BE49-F238E27FC236}">
                <a16:creationId xmlns:a16="http://schemas.microsoft.com/office/drawing/2014/main" id="{B1E5B6F4-D670-1DD5-70BB-6CDBE005294E}"/>
              </a:ext>
            </a:extLst>
          </p:cNvPr>
          <p:cNvSpPr>
            <a:spLocks noGrp="1"/>
          </p:cNvSpPr>
          <p:nvPr>
            <p:ph idx="1"/>
          </p:nvPr>
        </p:nvSpPr>
        <p:spPr>
          <a:xfrm>
            <a:off x="383822" y="1386681"/>
            <a:ext cx="8387645" cy="5215465"/>
          </a:xfrm>
        </p:spPr>
        <p:txBody>
          <a:bodyPr/>
          <a:lstStyle/>
          <a:p>
            <a:pPr marL="0" indent="0">
              <a:buNone/>
            </a:pPr>
            <a:r>
              <a:rPr lang="en-US" dirty="0"/>
              <a:t>Fahrenheit not used in chemistry, but be prepared to convert</a:t>
            </a:r>
          </a:p>
        </p:txBody>
      </p:sp>
      <p:graphicFrame>
        <p:nvGraphicFramePr>
          <p:cNvPr id="9" name="Chart 8">
            <a:extLst>
              <a:ext uri="{FF2B5EF4-FFF2-40B4-BE49-F238E27FC236}">
                <a16:creationId xmlns:a16="http://schemas.microsoft.com/office/drawing/2014/main" id="{71389EC2-EFAB-DCBB-2F45-7C00802FB223}"/>
              </a:ext>
            </a:extLst>
          </p:cNvPr>
          <p:cNvGraphicFramePr/>
          <p:nvPr>
            <p:extLst>
              <p:ext uri="{D42A27DB-BD31-4B8C-83A1-F6EECF244321}">
                <p14:modId xmlns:p14="http://schemas.microsoft.com/office/powerpoint/2010/main" val="3977856566"/>
              </p:ext>
            </p:extLst>
          </p:nvPr>
        </p:nvGraphicFramePr>
        <p:xfrm>
          <a:off x="412389" y="2652253"/>
          <a:ext cx="3939605" cy="3384162"/>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1436B41-7A93-8719-42A6-3F27EEA898FE}"/>
                  </a:ext>
                </a:extLst>
              </p:cNvPr>
              <p:cNvSpPr txBox="1"/>
              <p:nvPr/>
            </p:nvSpPr>
            <p:spPr>
              <a:xfrm>
                <a:off x="2624417" y="4677335"/>
                <a:ext cx="1328825" cy="349711"/>
              </a:xfrm>
              <a:prstGeom prst="rect">
                <a:avLst/>
              </a:prstGeom>
              <a:noFill/>
            </p:spPr>
            <p:txBody>
              <a:bodyPr wrap="none" lIns="0" tIns="0" rIns="0" bIns="0" rtlCol="0">
                <a:spAutoFit/>
              </a:bodyPr>
              <a:lstStyle/>
              <a:p>
                <a:r>
                  <a:rPr lang="en-US" sz="1600" i="1" dirty="0"/>
                  <a:t>°</a:t>
                </a:r>
                <a14:m>
                  <m:oMath xmlns:m="http://schemas.openxmlformats.org/officeDocument/2006/math">
                    <m:r>
                      <a:rPr lang="en-US" sz="1600" b="0" i="1" smtClean="0">
                        <a:latin typeface="Cambria Math" panose="02040503050406030204" pitchFamily="18" charset="0"/>
                      </a:rPr>
                      <m:t>𝐹</m:t>
                    </m:r>
                    <m:r>
                      <a:rPr lang="en-US" sz="1600" b="0" i="1" smtClean="0">
                        <a:latin typeface="Cambria Math" panose="02040503050406030204" pitchFamily="18" charset="0"/>
                      </a:rPr>
                      <m:t> =</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9</m:t>
                        </m:r>
                      </m:num>
                      <m:den>
                        <m:r>
                          <a:rPr lang="en-US" sz="1600" b="0" i="1" smtClean="0">
                            <a:latin typeface="Cambria Math" panose="02040503050406030204" pitchFamily="18" charset="0"/>
                          </a:rPr>
                          <m:t>5</m:t>
                        </m:r>
                      </m:den>
                    </m:f>
                    <m:r>
                      <a:rPr lang="en-US" sz="1600" b="0" i="1" smtClean="0">
                        <a:latin typeface="Cambria Math" panose="02040503050406030204" pitchFamily="18" charset="0"/>
                      </a:rPr>
                      <m:t>°</m:t>
                    </m:r>
                    <m:r>
                      <a:rPr lang="en-US" sz="1600" b="0" i="1" smtClean="0">
                        <a:latin typeface="Cambria Math" panose="02040503050406030204" pitchFamily="18" charset="0"/>
                      </a:rPr>
                      <m:t>𝐶</m:t>
                    </m:r>
                    <m:r>
                      <a:rPr lang="en-US" sz="1600" b="0" i="1" smtClean="0">
                        <a:latin typeface="Cambria Math" panose="02040503050406030204" pitchFamily="18" charset="0"/>
                      </a:rPr>
                      <m:t>+32</m:t>
                    </m:r>
                  </m:oMath>
                </a14:m>
                <a:endParaRPr lang="en-US" sz="1600" dirty="0">
                  <a:solidFill>
                    <a:schemeClr val="bg1"/>
                  </a:solidFill>
                </a:endParaRPr>
              </a:p>
            </p:txBody>
          </p:sp>
        </mc:Choice>
        <mc:Fallback xmlns="">
          <p:sp>
            <p:nvSpPr>
              <p:cNvPr id="10" name="TextBox 9">
                <a:extLst>
                  <a:ext uri="{FF2B5EF4-FFF2-40B4-BE49-F238E27FC236}">
                    <a16:creationId xmlns:a16="http://schemas.microsoft.com/office/drawing/2014/main" id="{B1436B41-7A93-8719-42A6-3F27EEA898FE}"/>
                  </a:ext>
                </a:extLst>
              </p:cNvPr>
              <p:cNvSpPr txBox="1">
                <a:spLocks noRot="1" noChangeAspect="1" noMove="1" noResize="1" noEditPoints="1" noAdjustHandles="1" noChangeArrowheads="1" noChangeShapeType="1" noTextEdit="1"/>
              </p:cNvSpPr>
              <p:nvPr/>
            </p:nvSpPr>
            <p:spPr>
              <a:xfrm>
                <a:off x="2624417" y="4677335"/>
                <a:ext cx="1328825" cy="349711"/>
              </a:xfrm>
              <a:prstGeom prst="rect">
                <a:avLst/>
              </a:prstGeom>
              <a:blipFill>
                <a:blip r:embed="rId3"/>
                <a:stretch>
                  <a:fillRect l="-9677" t="-3448" r="-4147" b="-189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A963ECD-0B27-1642-C6BB-110862354854}"/>
                  </a:ext>
                </a:extLst>
              </p:cNvPr>
              <p:cNvSpPr txBox="1"/>
              <p:nvPr/>
            </p:nvSpPr>
            <p:spPr>
              <a:xfrm>
                <a:off x="1713046" y="3452554"/>
                <a:ext cx="1822743" cy="262316"/>
              </a:xfrm>
              <a:prstGeom prst="rect">
                <a:avLst/>
              </a:prstGeom>
              <a:noFill/>
              <a:ln>
                <a:solidFill>
                  <a:schemeClr val="tx1"/>
                </a:solidFill>
              </a:ln>
            </p:spPr>
            <p:txBody>
              <a:bodyPr wrap="none" lIns="0" tIns="0" rIns="0" bIns="0" rtlCol="0">
                <a:spAutoFit/>
              </a:bodyPr>
              <a:lstStyle/>
              <a:p>
                <a:r>
                  <a:rPr lang="en-US" sz="1200" i="1" dirty="0">
                    <a:latin typeface="+mj-lt"/>
                  </a:rPr>
                  <a:t>s</a:t>
                </a:r>
                <a14:m>
                  <m:oMath xmlns:m="http://schemas.openxmlformats.org/officeDocument/2006/math">
                    <m:r>
                      <m:rPr>
                        <m:nor/>
                      </m:rPr>
                      <a:rPr lang="en-US" sz="1200" b="0" i="0" smtClean="0">
                        <a:latin typeface="+mj-lt"/>
                      </a:rPr>
                      <m:t>lope</m:t>
                    </m:r>
                    <m:r>
                      <m:rPr>
                        <m:nor/>
                      </m:rPr>
                      <a:rPr lang="en-US" sz="1200" b="0" i="0" smtClean="0">
                        <a:latin typeface="Cambria Math" panose="02040503050406030204" pitchFamily="18" charset="0"/>
                      </a:rPr>
                      <m:t> </m:t>
                    </m:r>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212 −32</m:t>
                        </m:r>
                      </m:num>
                      <m:den>
                        <m:r>
                          <a:rPr lang="en-US" sz="1200" b="0" i="1" smtClean="0">
                            <a:latin typeface="Cambria Math" panose="02040503050406030204" pitchFamily="18" charset="0"/>
                          </a:rPr>
                          <m:t>100 − 0</m:t>
                        </m:r>
                      </m:den>
                    </m:f>
                    <m:r>
                      <a:rPr lang="en-US" sz="1200" b="0" i="0"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180</m:t>
                        </m:r>
                      </m:num>
                      <m:den>
                        <m:r>
                          <a:rPr lang="en-US" sz="1200" b="0" i="1" smtClean="0">
                            <a:latin typeface="Cambria Math" panose="02040503050406030204" pitchFamily="18" charset="0"/>
                          </a:rPr>
                          <m:t>100</m:t>
                        </m:r>
                      </m:den>
                    </m:f>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9</m:t>
                        </m:r>
                      </m:num>
                      <m:den>
                        <m:r>
                          <a:rPr lang="en-US" sz="1200" b="0" i="1" smtClean="0">
                            <a:latin typeface="Cambria Math" panose="02040503050406030204" pitchFamily="18" charset="0"/>
                          </a:rPr>
                          <m:t>5</m:t>
                        </m:r>
                      </m:den>
                    </m:f>
                  </m:oMath>
                </a14:m>
                <a:r>
                  <a:rPr lang="en-US" sz="1200" dirty="0"/>
                  <a:t>  </a:t>
                </a:r>
                <a:endParaRPr lang="en-US" sz="1600" dirty="0"/>
              </a:p>
            </p:txBody>
          </p:sp>
        </mc:Choice>
        <mc:Fallback xmlns="">
          <p:sp>
            <p:nvSpPr>
              <p:cNvPr id="12" name="TextBox 11">
                <a:extLst>
                  <a:ext uri="{FF2B5EF4-FFF2-40B4-BE49-F238E27FC236}">
                    <a16:creationId xmlns:a16="http://schemas.microsoft.com/office/drawing/2014/main" id="{8A963ECD-0B27-1642-C6BB-110862354854}"/>
                  </a:ext>
                </a:extLst>
              </p:cNvPr>
              <p:cNvSpPr txBox="1">
                <a:spLocks noRot="1" noChangeAspect="1" noMove="1" noResize="1" noEditPoints="1" noAdjustHandles="1" noChangeArrowheads="1" noChangeShapeType="1" noTextEdit="1"/>
              </p:cNvSpPr>
              <p:nvPr/>
            </p:nvSpPr>
            <p:spPr>
              <a:xfrm>
                <a:off x="1713046" y="3452554"/>
                <a:ext cx="1822743" cy="262316"/>
              </a:xfrm>
              <a:prstGeom prst="rect">
                <a:avLst/>
              </a:prstGeom>
              <a:blipFill>
                <a:blip r:embed="rId4"/>
                <a:stretch>
                  <a:fillRect l="-4651" t="-4444" b="-15556"/>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121C8DC-46E5-8CC1-F51C-E9352071AB67}"/>
                  </a:ext>
                </a:extLst>
              </p:cNvPr>
              <p:cNvSpPr txBox="1"/>
              <p:nvPr/>
            </p:nvSpPr>
            <p:spPr>
              <a:xfrm>
                <a:off x="1703830" y="3810818"/>
                <a:ext cx="1465401" cy="323165"/>
              </a:xfrm>
              <a:prstGeom prst="rect">
                <a:avLst/>
              </a:prstGeom>
              <a:noFill/>
              <a:ln>
                <a:solidFill>
                  <a:schemeClr val="tx1"/>
                </a:solidFill>
              </a:ln>
            </p:spPr>
            <p:txBody>
              <a:bodyPr wrap="none" lIns="0" tIns="0" rIns="0" bIns="0" rtlCol="0">
                <a:spAutoFit/>
              </a:bodyPr>
              <a:lstStyle/>
              <a:p>
                <a:r>
                  <a:rPr lang="en-US" sz="1050" dirty="0">
                    <a:latin typeface="+mj-lt"/>
                  </a:rPr>
                  <a:t>3</a:t>
                </a:r>
                <a14:m>
                  <m:oMath xmlns:m="http://schemas.openxmlformats.org/officeDocument/2006/math">
                    <m:r>
                      <a:rPr lang="en-US" sz="1050" b="0" i="0" smtClean="0">
                        <a:latin typeface="Cambria Math" panose="02040503050406030204" pitchFamily="18" charset="0"/>
                      </a:rPr>
                      <m:t>2</m:t>
                    </m:r>
                    <m:r>
                      <m:rPr>
                        <m:nor/>
                      </m:rPr>
                      <a:rPr lang="en-US" sz="1050" b="0" i="0" smtClean="0">
                        <a:latin typeface="+mj-lt"/>
                      </a:rPr>
                      <m:t> </m:t>
                    </m:r>
                    <m:r>
                      <a:rPr lang="en-US" sz="1050" b="0" i="1" smtClean="0">
                        <a:latin typeface="Cambria Math" panose="02040503050406030204" pitchFamily="18" charset="0"/>
                      </a:rPr>
                      <m:t>=</m:t>
                    </m:r>
                    <m:f>
                      <m:fPr>
                        <m:type m:val="skw"/>
                        <m:ctrlPr>
                          <a:rPr lang="en-US" sz="1050" b="0" i="1" smtClean="0">
                            <a:latin typeface="Cambria Math" panose="02040503050406030204" pitchFamily="18" charset="0"/>
                          </a:rPr>
                        </m:ctrlPr>
                      </m:fPr>
                      <m:num>
                        <m:r>
                          <a:rPr lang="en-US" sz="1050" b="0" i="1" smtClean="0">
                            <a:latin typeface="Cambria Math" panose="02040503050406030204" pitchFamily="18" charset="0"/>
                          </a:rPr>
                          <m:t>9</m:t>
                        </m:r>
                      </m:num>
                      <m:den>
                        <m:r>
                          <a:rPr lang="en-US" sz="1050" b="0" i="1" smtClean="0">
                            <a:latin typeface="Cambria Math" panose="02040503050406030204" pitchFamily="18" charset="0"/>
                          </a:rPr>
                          <m:t>5</m:t>
                        </m:r>
                      </m:den>
                    </m:f>
                    <m:r>
                      <a:rPr lang="en-US" sz="1050" b="0" i="1" smtClean="0">
                        <a:latin typeface="Cambria Math" panose="02040503050406030204" pitchFamily="18" charset="0"/>
                        <a:ea typeface="Cambria Math" panose="02040503050406030204" pitchFamily="18" charset="0"/>
                      </a:rPr>
                      <m:t>×0+</m:t>
                    </m:r>
                    <m:r>
                      <m:rPr>
                        <m:nor/>
                      </m:rPr>
                      <a:rPr lang="en-US" sz="1050" b="0" i="0" smtClean="0">
                        <a:latin typeface="+mj-lt"/>
                        <a:ea typeface="Cambria Math" panose="02040503050406030204" pitchFamily="18" charset="0"/>
                      </a:rPr>
                      <m:t>intercept</m:t>
                    </m:r>
                  </m:oMath>
                </a14:m>
                <a:endParaRPr lang="en-US" sz="1050" b="0" dirty="0">
                  <a:latin typeface="+mj-lt"/>
                  <a:ea typeface="Cambria Math" panose="02040503050406030204" pitchFamily="18" charset="0"/>
                </a:endParaRPr>
              </a:p>
              <a:p>
                <a:r>
                  <a:rPr lang="en-US" sz="1050" dirty="0">
                    <a:latin typeface="+mj-lt"/>
                    <a:ea typeface="Cambria Math" panose="02040503050406030204" pitchFamily="18" charset="0"/>
                  </a:rPr>
                  <a:t>Intercept = 32</a:t>
                </a:r>
                <a:endParaRPr lang="en-US" sz="1050" b="0" dirty="0">
                  <a:latin typeface="+mj-lt"/>
                  <a:ea typeface="Cambria Math" panose="02040503050406030204" pitchFamily="18" charset="0"/>
                </a:endParaRPr>
              </a:p>
            </p:txBody>
          </p:sp>
        </mc:Choice>
        <mc:Fallback xmlns="">
          <p:sp>
            <p:nvSpPr>
              <p:cNvPr id="13" name="TextBox 12">
                <a:extLst>
                  <a:ext uri="{FF2B5EF4-FFF2-40B4-BE49-F238E27FC236}">
                    <a16:creationId xmlns:a16="http://schemas.microsoft.com/office/drawing/2014/main" id="{9121C8DC-46E5-8CC1-F51C-E9352071AB67}"/>
                  </a:ext>
                </a:extLst>
              </p:cNvPr>
              <p:cNvSpPr txBox="1">
                <a:spLocks noRot="1" noChangeAspect="1" noMove="1" noResize="1" noEditPoints="1" noAdjustHandles="1" noChangeArrowheads="1" noChangeShapeType="1" noTextEdit="1"/>
              </p:cNvSpPr>
              <p:nvPr/>
            </p:nvSpPr>
            <p:spPr>
              <a:xfrm>
                <a:off x="1703830" y="3810818"/>
                <a:ext cx="1465401" cy="323165"/>
              </a:xfrm>
              <a:prstGeom prst="rect">
                <a:avLst/>
              </a:prstGeom>
              <a:blipFill>
                <a:blip r:embed="rId5"/>
                <a:stretch>
                  <a:fillRect l="-4938" t="-80000" r="-412" b="-76364"/>
                </a:stretch>
              </a:blipFill>
              <a:ln>
                <a:solidFill>
                  <a:schemeClr val="tx1"/>
                </a:solidFill>
              </a:ln>
            </p:spPr>
            <p:txBody>
              <a:bodyPr/>
              <a:lstStyle/>
              <a:p>
                <a:r>
                  <a:rPr lang="en-US">
                    <a:noFill/>
                  </a:rPr>
                  <a:t> </a:t>
                </a:r>
              </a:p>
            </p:txBody>
          </p:sp>
        </mc:Fallback>
      </mc:AlternateContent>
      <p:graphicFrame>
        <p:nvGraphicFramePr>
          <p:cNvPr id="17" name="Chart 16">
            <a:extLst>
              <a:ext uri="{FF2B5EF4-FFF2-40B4-BE49-F238E27FC236}">
                <a16:creationId xmlns:a16="http://schemas.microsoft.com/office/drawing/2014/main" id="{487E34BB-617D-E211-CBC7-E0CD25A9276B}"/>
              </a:ext>
            </a:extLst>
          </p:cNvPr>
          <p:cNvGraphicFramePr/>
          <p:nvPr>
            <p:extLst>
              <p:ext uri="{D42A27DB-BD31-4B8C-83A1-F6EECF244321}">
                <p14:modId xmlns:p14="http://schemas.microsoft.com/office/powerpoint/2010/main" val="3663486860"/>
              </p:ext>
            </p:extLst>
          </p:nvPr>
        </p:nvGraphicFramePr>
        <p:xfrm>
          <a:off x="4388786" y="2652252"/>
          <a:ext cx="4253325" cy="3384162"/>
        </p:xfrm>
        <a:graphic>
          <a:graphicData uri="http://schemas.openxmlformats.org/drawingml/2006/chart">
            <c:chart xmlns:c="http://schemas.openxmlformats.org/drawingml/2006/chart" xmlns:r="http://schemas.openxmlformats.org/officeDocument/2006/relationships" r:id="rId6"/>
          </a:graphicData>
        </a:graphic>
      </p:graphicFrame>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4CC1194-54C2-5907-7723-9FD143275238}"/>
                  </a:ext>
                </a:extLst>
              </p:cNvPr>
              <p:cNvSpPr txBox="1"/>
              <p:nvPr/>
            </p:nvSpPr>
            <p:spPr>
              <a:xfrm>
                <a:off x="5894160" y="3468649"/>
                <a:ext cx="1624163" cy="4676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m:t>
                      </m:r>
                      <m:r>
                        <a:rPr lang="en-US" sz="1600" i="1" smtClean="0">
                          <a:latin typeface="Cambria Math" panose="02040503050406030204" pitchFamily="18" charset="0"/>
                        </a:rPr>
                        <m:t>𝐶</m:t>
                      </m:r>
                      <m:r>
                        <a:rPr lang="en-US" sz="1600" b="0" i="1" smtClean="0">
                          <a:latin typeface="Cambria Math" panose="02040503050406030204" pitchFamily="18" charset="0"/>
                        </a:rPr>
                        <m:t> =</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5</m:t>
                          </m:r>
                        </m:num>
                        <m:den>
                          <m:r>
                            <a:rPr lang="en-US" sz="1600" b="0" i="1" smtClean="0">
                              <a:latin typeface="Cambria Math" panose="02040503050406030204" pitchFamily="18" charset="0"/>
                            </a:rPr>
                            <m:t>9</m:t>
                          </m:r>
                        </m:den>
                      </m:f>
                      <m:d>
                        <m:dPr>
                          <m:ctrlPr>
                            <a:rPr lang="en-US" sz="1600" b="0" i="1" smtClean="0">
                              <a:latin typeface="Cambria Math" panose="02040503050406030204" pitchFamily="18" charset="0"/>
                            </a:rPr>
                          </m:ctrlPr>
                        </m:dPr>
                        <m:e>
                          <m:r>
                            <a:rPr lang="en-US" sz="1600" i="1">
                              <a:latin typeface="Cambria Math" panose="02040503050406030204" pitchFamily="18" charset="0"/>
                            </a:rPr>
                            <m:t>°</m:t>
                          </m:r>
                          <m:r>
                            <a:rPr lang="en-US" sz="1600" i="1">
                              <a:latin typeface="Cambria Math" panose="02040503050406030204" pitchFamily="18" charset="0"/>
                            </a:rPr>
                            <m:t>𝐹</m:t>
                          </m:r>
                          <m:r>
                            <a:rPr lang="en-US" sz="1600" i="1">
                              <a:latin typeface="Cambria Math" panose="02040503050406030204" pitchFamily="18" charset="0"/>
                            </a:rPr>
                            <m:t> −32</m:t>
                          </m:r>
                        </m:e>
                      </m:d>
                    </m:oMath>
                  </m:oMathPara>
                </a14:m>
                <a:endParaRPr lang="en-US" sz="1600" dirty="0">
                  <a:solidFill>
                    <a:schemeClr val="bg1"/>
                  </a:solidFill>
                </a:endParaRPr>
              </a:p>
            </p:txBody>
          </p:sp>
        </mc:Choice>
        <mc:Fallback xmlns="">
          <p:sp>
            <p:nvSpPr>
              <p:cNvPr id="18" name="TextBox 17">
                <a:extLst>
                  <a:ext uri="{FF2B5EF4-FFF2-40B4-BE49-F238E27FC236}">
                    <a16:creationId xmlns:a16="http://schemas.microsoft.com/office/drawing/2014/main" id="{C4CC1194-54C2-5907-7723-9FD143275238}"/>
                  </a:ext>
                </a:extLst>
              </p:cNvPr>
              <p:cNvSpPr txBox="1">
                <a:spLocks noRot="1" noChangeAspect="1" noMove="1" noResize="1" noEditPoints="1" noAdjustHandles="1" noChangeArrowheads="1" noChangeShapeType="1" noTextEdit="1"/>
              </p:cNvSpPr>
              <p:nvPr/>
            </p:nvSpPr>
            <p:spPr>
              <a:xfrm>
                <a:off x="5894160" y="3468649"/>
                <a:ext cx="1624163" cy="467629"/>
              </a:xfrm>
              <a:prstGeom prst="rect">
                <a:avLst/>
              </a:prstGeom>
              <a:blipFill>
                <a:blip r:embed="rId7"/>
                <a:stretch>
                  <a:fillRect/>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BE57F0D-F281-9C8C-96E5-00C170CE4A4B}"/>
              </a:ext>
            </a:extLst>
          </p:cNvPr>
          <p:cNvSpPr>
            <a:spLocks noGrp="1"/>
          </p:cNvSpPr>
          <p:nvPr>
            <p:ph type="sldNum" sz="quarter" idx="10"/>
          </p:nvPr>
        </p:nvSpPr>
        <p:spPr/>
        <p:txBody>
          <a:bodyPr/>
          <a:lstStyle/>
          <a:p>
            <a:fld id="{12356DF5-CFED-4016-A2DB-A70AC2735480}" type="slidenum">
              <a:rPr lang="en-US" smtClean="0"/>
              <a:pPr/>
              <a:t>51</a:t>
            </a:fld>
            <a:endParaRPr lang="en-US" dirty="0">
              <a:solidFill>
                <a:schemeClr val="bg1"/>
              </a:solidFill>
            </a:endParaRPr>
          </a:p>
        </p:txBody>
      </p:sp>
    </p:spTree>
    <p:extLst>
      <p:ext uri="{BB962C8B-B14F-4D97-AF65-F5344CB8AC3E}">
        <p14:creationId xmlns:p14="http://schemas.microsoft.com/office/powerpoint/2010/main" val="3761029063"/>
      </p:ext>
    </p:extLst>
  </p:cSld>
  <p:clrMapOvr>
    <a:masterClrMapping/>
  </p:clrMapOvr>
</p:sld>
</file>

<file path=ppt/theme/theme1.xml><?xml version="1.0" encoding="utf-8"?>
<a:theme xmlns:a="http://schemas.openxmlformats.org/drawingml/2006/main" name="Light-on-dark-standard-presentation">
  <a:themeElements>
    <a:clrScheme name="4_LightOnDark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4_LightOnDark">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600" dirty="0" smtClean="0">
            <a:solidFill>
              <a:schemeClr val="bg1"/>
            </a:solidFill>
          </a:defRPr>
        </a:defPPr>
      </a:lstStyle>
    </a:txDef>
  </a:objectDefaults>
  <a:extraClrSchemeLst>
    <a:extraClrScheme>
      <a:clrScheme name="4_LightOnDark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4_LightOnDark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4_LightOnDark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4_LightOnDark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4_LightOnDark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4_LightOnDark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4_LightOnDark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30790</TotalTime>
  <Words>3996</Words>
  <Application>Microsoft Office PowerPoint</Application>
  <PresentationFormat>On-screen Show (4:3)</PresentationFormat>
  <Paragraphs>690</Paragraphs>
  <Slides>51</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51</vt:i4>
      </vt:variant>
    </vt:vector>
  </HeadingPairs>
  <TitlesOfParts>
    <vt:vector size="63" baseType="lpstr">
      <vt:lpstr>Aptos Narrow</vt:lpstr>
      <vt:lpstr>Arial</vt:lpstr>
      <vt:lpstr>Cambria</vt:lpstr>
      <vt:lpstr>Cambria Math</vt:lpstr>
      <vt:lpstr>Courier New</vt:lpstr>
      <vt:lpstr>Segoe UI</vt:lpstr>
      <vt:lpstr>Symbol</vt:lpstr>
      <vt:lpstr>Tahoma</vt:lpstr>
      <vt:lpstr>Times New Roman</vt:lpstr>
      <vt:lpstr>Verdana</vt:lpstr>
      <vt:lpstr>Wingdings</vt:lpstr>
      <vt:lpstr>Light-on-dark-standard-presentation</vt:lpstr>
      <vt:lpstr>Chemistry 3A Introductory General Chemistry</vt:lpstr>
      <vt:lpstr>PowerPoint Presentation</vt:lpstr>
      <vt:lpstr>Math in Chem: Algebra Review</vt:lpstr>
      <vt:lpstr>Quantities</vt:lpstr>
      <vt:lpstr>Scientific Notation</vt:lpstr>
      <vt:lpstr>Scientific Notation</vt:lpstr>
      <vt:lpstr>Scientific Notation</vt:lpstr>
      <vt:lpstr>Scientific Notation</vt:lpstr>
      <vt:lpstr>Scientific Notation</vt:lpstr>
      <vt:lpstr>Scientific Notation</vt:lpstr>
      <vt:lpstr>Scientific Notation</vt:lpstr>
      <vt:lpstr>Practicing Scientific Notation</vt:lpstr>
      <vt:lpstr>Practicing Scientific Notation</vt:lpstr>
      <vt:lpstr>Practicing Scientific Notation</vt:lpstr>
      <vt:lpstr>Practicing Scientific Notation</vt:lpstr>
      <vt:lpstr>Practicing Scientific Notation</vt:lpstr>
      <vt:lpstr>Significant Digits</vt:lpstr>
      <vt:lpstr>Significant Digits</vt:lpstr>
      <vt:lpstr>Significant Digits</vt:lpstr>
      <vt:lpstr>18 ≠ 18. ≠ 18.0 ≠ 18.00</vt:lpstr>
      <vt:lpstr>A Slight Tangent on “Precision”</vt:lpstr>
      <vt:lpstr>Significant Digits in Scientific Notation</vt:lpstr>
      <vt:lpstr>Doing Math with “Decimal Places”</vt:lpstr>
      <vt:lpstr>Doing Math with Sig Digits</vt:lpstr>
      <vt:lpstr>PowerPoint Presentation</vt:lpstr>
      <vt:lpstr>Doing Calculations: NO INTERMEDIATE ROUNDING!!!</vt:lpstr>
      <vt:lpstr>Doing Chem Math</vt:lpstr>
      <vt:lpstr>PEMDAS</vt:lpstr>
      <vt:lpstr>PEMDAS</vt:lpstr>
      <vt:lpstr>PEMDAS</vt:lpstr>
      <vt:lpstr>Caution In Using Your Calculator</vt:lpstr>
      <vt:lpstr>Conversion Factors</vt:lpstr>
      <vt:lpstr>Conversion Nomenclature</vt:lpstr>
      <vt:lpstr>Conversion Practice</vt:lpstr>
      <vt:lpstr>Conversion Practice</vt:lpstr>
      <vt:lpstr>Conversion Practice</vt:lpstr>
      <vt:lpstr>Conversion Practice</vt:lpstr>
      <vt:lpstr>Conversion Practice</vt:lpstr>
      <vt:lpstr>Conversion Practice</vt:lpstr>
      <vt:lpstr>Conversion Practice</vt:lpstr>
      <vt:lpstr>Density</vt:lpstr>
      <vt:lpstr>Densities of Natural Substances</vt:lpstr>
      <vt:lpstr>Problem Solving Process Using Density</vt:lpstr>
      <vt:lpstr>Problem Solving Process Using Density</vt:lpstr>
      <vt:lpstr>Problem Solving Process Using Density</vt:lpstr>
      <vt:lpstr>Problem Solving Process Using Density</vt:lpstr>
      <vt:lpstr>Temperature</vt:lpstr>
      <vt:lpstr>Measuring Temperature</vt:lpstr>
      <vt:lpstr>Temperature Scales</vt:lpstr>
      <vt:lpstr>Converting Temperature</vt:lpstr>
      <vt:lpstr>Converting Temperature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 M Halloran</dc:creator>
  <cp:lastModifiedBy>Mitch Halloran</cp:lastModifiedBy>
  <cp:revision>1029</cp:revision>
  <cp:lastPrinted>2016-03-14T04:22:58Z</cp:lastPrinted>
  <dcterms:created xsi:type="dcterms:W3CDTF">2005-12-08T13:54:14Z</dcterms:created>
  <dcterms:modified xsi:type="dcterms:W3CDTF">2026-01-13T19:09:15Z</dcterms:modified>
</cp:coreProperties>
</file>