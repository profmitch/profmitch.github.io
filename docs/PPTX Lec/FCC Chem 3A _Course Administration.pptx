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2"/>
  </p:notesMasterIdLst>
  <p:sldIdLst>
    <p:sldId id="833" r:id="rId2"/>
    <p:sldId id="608" r:id="rId3"/>
    <p:sldId id="826" r:id="rId4"/>
    <p:sldId id="832" r:id="rId5"/>
    <p:sldId id="831" r:id="rId6"/>
    <p:sldId id="827" r:id="rId7"/>
    <p:sldId id="828" r:id="rId8"/>
    <p:sldId id="796" r:id="rId9"/>
    <p:sldId id="834" r:id="rId10"/>
    <p:sldId id="818" r:id="rId11"/>
    <p:sldId id="838" r:id="rId12"/>
    <p:sldId id="836" r:id="rId13"/>
    <p:sldId id="816" r:id="rId14"/>
    <p:sldId id="837" r:id="rId15"/>
    <p:sldId id="835" r:id="rId16"/>
    <p:sldId id="824" r:id="rId17"/>
    <p:sldId id="825" r:id="rId18"/>
    <p:sldId id="820" r:id="rId19"/>
    <p:sldId id="829" r:id="rId20"/>
    <p:sldId id="830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C99FF"/>
    <a:srgbClr val="FFFFCC"/>
    <a:srgbClr val="339933"/>
    <a:srgbClr val="CCFFFF"/>
    <a:srgbClr val="FFFF99"/>
    <a:srgbClr val="99FFCC"/>
    <a:srgbClr val="99FF66"/>
    <a:srgbClr val="FF993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99" d="100"/>
          <a:sy n="99" d="100"/>
        </p:scale>
        <p:origin x="96" y="798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itch.halloran@fresnocitycollege.ed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CC3F-9CFF-5806-8C64-3AE9984A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EDB89F-366E-8037-7B2C-EFB465F4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356006"/>
            <a:ext cx="8387645" cy="6145987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5400" b="1" dirty="0">
                <a:solidFill>
                  <a:srgbClr val="FFC000"/>
                </a:solidFill>
              </a:rPr>
              <a:t>This is Chemistry 3A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200" b="1" dirty="0"/>
              <a:t>If you are not enrolled or waitlisted, see your counselor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200" dirty="0">
                <a:solidFill>
                  <a:srgbClr val="FFFF00"/>
                </a:solidFill>
              </a:rPr>
              <a:t>All others will sign in with Attendance Code during this first day in lecture</a:t>
            </a:r>
          </a:p>
          <a:p>
            <a:pPr>
              <a:spcBef>
                <a:spcPts val="1800"/>
              </a:spcBef>
            </a:pPr>
            <a:r>
              <a:rPr lang="en-US" sz="2800" b="1" dirty="0"/>
              <a:t>Seats are available first to enrolled students</a:t>
            </a:r>
          </a:p>
          <a:p>
            <a:pPr>
              <a:spcBef>
                <a:spcPts val="600"/>
              </a:spcBef>
            </a:pPr>
            <a:r>
              <a:rPr lang="en-US" sz="2800" b="1" dirty="0"/>
              <a:t>Waitlisted students will have to stand or find useful floor space for sitting if no available seating</a:t>
            </a:r>
          </a:p>
        </p:txBody>
      </p:sp>
    </p:spTree>
    <p:extLst>
      <p:ext uri="{BB962C8B-B14F-4D97-AF65-F5344CB8AC3E}">
        <p14:creationId xmlns:p14="http://schemas.microsoft.com/office/powerpoint/2010/main" val="40631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F076B50A-8DFC-B976-E589-F7B1C6233B99}"/>
              </a:ext>
            </a:extLst>
          </p:cNvPr>
          <p:cNvSpPr txBox="1">
            <a:spLocks/>
          </p:cNvSpPr>
          <p:nvPr/>
        </p:nvSpPr>
        <p:spPr bwMode="auto">
          <a:xfrm>
            <a:off x="503197" y="3665385"/>
            <a:ext cx="6793992" cy="14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itchFamily="49" charset="0"/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sz="4800" kern="0" dirty="0">
                <a:solidFill>
                  <a:srgbClr val="CC99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Administration &amp; Policies</a:t>
            </a:r>
          </a:p>
        </p:txBody>
      </p:sp>
      <p:sp>
        <p:nvSpPr>
          <p:cNvPr id="34" name="Title 3">
            <a:extLst>
              <a:ext uri="{FF2B5EF4-FFF2-40B4-BE49-F238E27FC236}">
                <a16:creationId xmlns:a16="http://schemas.microsoft.com/office/drawing/2014/main" id="{863EFB67-4EBC-73F7-3AAD-1D237D991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197" y="382012"/>
            <a:ext cx="8111067" cy="3046988"/>
          </a:xfrm>
        </p:spPr>
        <p:txBody>
          <a:bodyPr/>
          <a:lstStyle/>
          <a:p>
            <a: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  <a:b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7200" dirty="0"/>
              <a:t>Introductory General 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A8AFB-322F-C33F-0067-8198DA65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2CF0BB-07F9-F1D4-20F9-48EA5D9B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Course Facts &amp; Information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B77D61-63DC-1DD8-BC68-E55150C2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Know your section number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There are 30 enrolled students in each section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Both sections, 60 students total, will be here in room NS-101 (yes, here) from 5:00-6:20 p.m. on Tuesday and Thursday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Right after lecture, one section will have its lab </a:t>
            </a:r>
            <a:r>
              <a:rPr lang="en-US" b="1" dirty="0" err="1"/>
              <a:t>sessin</a:t>
            </a:r>
            <a:r>
              <a:rPr lang="en-US" b="1" dirty="0"/>
              <a:t> in room NS-339 starting at 6:30 pm</a:t>
            </a:r>
          </a:p>
        </p:txBody>
      </p:sp>
    </p:spTree>
    <p:extLst>
      <p:ext uri="{BB962C8B-B14F-4D97-AF65-F5344CB8AC3E}">
        <p14:creationId xmlns:p14="http://schemas.microsoft.com/office/powerpoint/2010/main" val="403165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EED6-790E-060D-743E-216BB644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AF9BD3-2A56-5C36-8949-E881CB64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195338"/>
            <a:ext cx="8421512" cy="707886"/>
          </a:xfrm>
        </p:spPr>
        <p:txBody>
          <a:bodyPr/>
          <a:lstStyle/>
          <a:p>
            <a:r>
              <a:rPr lang="en-US" sz="4000" dirty="0"/>
              <a:t>Waitlisted Procedure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997E8F-4CE2-B7CD-62F6-89A356DB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987746"/>
            <a:ext cx="8387645" cy="521546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200" dirty="0"/>
              <a:t>Only students on waitlist have a chance of being added to course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Enrolled students who are no-shows in 1</a:t>
            </a:r>
            <a:r>
              <a:rPr lang="en-US" sz="2200" baseline="30000" dirty="0"/>
              <a:t>st</a:t>
            </a:r>
            <a:r>
              <a:rPr lang="en-US" sz="2200" dirty="0"/>
              <a:t> lecture get 24 hours to make contact with instructor if they wish to continue enrollment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Waitlisted students attending 1</a:t>
            </a:r>
            <a:r>
              <a:rPr lang="en-US" sz="2200" baseline="30000" dirty="0"/>
              <a:t>st</a:t>
            </a:r>
            <a:r>
              <a:rPr lang="en-US" sz="2200" dirty="0"/>
              <a:t> lecture &amp; submitting Attendance Code will be given Add Authorization IF slots become available and in order of the queue of intent-to-enroll on waitlist. A message will be sent to add the course</a:t>
            </a:r>
          </a:p>
          <a:p>
            <a:pPr marL="231775" lvl="1" indent="0">
              <a:spcBef>
                <a:spcPts val="600"/>
              </a:spcBef>
              <a:buNone/>
            </a:pPr>
            <a:r>
              <a:rPr lang="en-US" dirty="0">
                <a:solidFill>
                  <a:srgbClr val="FFC000"/>
                </a:solidFill>
              </a:rPr>
              <a:t>Students on waitlist given Add Authorization have 24 hours to add the course, or the Add Authorization is removed &amp; given to next student on waitlist</a:t>
            </a:r>
          </a:p>
          <a:p>
            <a:pPr>
              <a:spcBef>
                <a:spcPts val="600"/>
              </a:spcBef>
            </a:pPr>
            <a:r>
              <a:rPr lang="en-US" dirty="0"/>
              <a:t>The last day a waitlisted student is able to add is the 1</a:t>
            </a:r>
            <a:r>
              <a:rPr lang="en-US" baseline="30000" dirty="0"/>
              <a:t>st</a:t>
            </a:r>
            <a:r>
              <a:rPr lang="en-US" dirty="0"/>
              <a:t> day of the 3</a:t>
            </a:r>
            <a:r>
              <a:rPr lang="en-US" baseline="30000" dirty="0"/>
              <a:t>rd</a:t>
            </a:r>
            <a:r>
              <a:rPr lang="en-US" dirty="0"/>
              <a:t> week of semester</a:t>
            </a:r>
          </a:p>
        </p:txBody>
      </p:sp>
    </p:spTree>
    <p:extLst>
      <p:ext uri="{BB962C8B-B14F-4D97-AF65-F5344CB8AC3E}">
        <p14:creationId xmlns:p14="http://schemas.microsoft.com/office/powerpoint/2010/main" val="236474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E643-1CA6-EF4C-ABFC-94D46D9A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B526FB-C47A-44BF-6162-3E83746C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Your Instructor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21E518-4011-7782-27F0-14C56612B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2800" b="1" dirty="0"/>
              <a:t>Mitch Halloran</a:t>
            </a:r>
          </a:p>
          <a:p>
            <a:pPr>
              <a:spcBef>
                <a:spcPts val="600"/>
              </a:spcBef>
            </a:pPr>
            <a:r>
              <a:rPr lang="en-US" dirty="0"/>
              <a:t>“Mitch”</a:t>
            </a:r>
          </a:p>
          <a:p>
            <a:pPr>
              <a:spcBef>
                <a:spcPts val="600"/>
              </a:spcBef>
            </a:pPr>
            <a:r>
              <a:rPr lang="en-US" dirty="0"/>
              <a:t>“Mister M”, “Mister H”, “Mister Mitch”</a:t>
            </a:r>
          </a:p>
          <a:p>
            <a:pPr>
              <a:spcBef>
                <a:spcPts val="600"/>
              </a:spcBef>
            </a:pPr>
            <a:r>
              <a:rPr lang="en-US" dirty="0"/>
              <a:t>“Dr. H”, “Dr. Mitch”, “Dr. M”</a:t>
            </a:r>
            <a:endParaRPr lang="en-US" dirty="0">
              <a:solidFill>
                <a:srgbClr val="FFC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i="1" dirty="0">
                <a:solidFill>
                  <a:srgbClr val="CC99FF"/>
                </a:solidFill>
              </a:rPr>
              <a:t>Probably not</a:t>
            </a:r>
          </a:p>
          <a:p>
            <a:pPr>
              <a:spcBef>
                <a:spcPts val="600"/>
              </a:spcBef>
            </a:pPr>
            <a:r>
              <a:rPr lang="en-US" dirty="0"/>
              <a:t>“Professor Halloran” </a:t>
            </a:r>
            <a:r>
              <a:rPr lang="en-US" sz="2000" dirty="0"/>
              <a:t>(but thank you)</a:t>
            </a:r>
          </a:p>
          <a:p>
            <a:pPr>
              <a:spcBef>
                <a:spcPts val="600"/>
              </a:spcBef>
            </a:pPr>
            <a:r>
              <a:rPr lang="en-US" dirty="0"/>
              <a:t>“Mitchell” </a:t>
            </a:r>
            <a:r>
              <a:rPr lang="en-US" sz="1600" dirty="0"/>
              <a:t>(certainly not! Not even Mom called me that except in a fit)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8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7C80-48CD-953F-4621-FF948FBA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BA4D8-1BBA-F54E-1870-378E51C8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CC9942-AFDF-3BF3-B13E-A1E34C84A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800" dirty="0"/>
              <a:t>To see you realize the objectives of the Chemistry 3A course in the Department of Chemistry at Fresno City College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In 18 weeks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Through implementation of the course design already developed</a:t>
            </a:r>
          </a:p>
          <a:p>
            <a:pPr>
              <a:spcBef>
                <a:spcPts val="18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2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5467-859A-E333-9F06-3F59EC7E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C9C351-9684-2743-7B3F-47746852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Communication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E4566E-31F1-DD3F-5E00-42B51DC3A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000" dirty="0"/>
              <a:t>All projects—like your success in this course—write  out a </a:t>
            </a:r>
            <a:r>
              <a:rPr lang="en-US" sz="2000" dirty="0">
                <a:solidFill>
                  <a:srgbClr val="00FF00"/>
                </a:solidFill>
              </a:rPr>
              <a:t>communication plan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This is about </a:t>
            </a:r>
            <a:r>
              <a:rPr lang="en-US" sz="2000" dirty="0">
                <a:solidFill>
                  <a:srgbClr val="FFFF00"/>
                </a:solidFill>
              </a:rPr>
              <a:t>what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how</a:t>
            </a:r>
            <a:r>
              <a:rPr lang="en-US" sz="2000" dirty="0"/>
              <a:t> to communicate to move the project along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What to communicate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Asking about how to solve a problem, understanding details of an assignment, when is a deadline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Helping each other with reminders, setting up an interactive meeting online or in person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FFC000"/>
                </a:solidFill>
              </a:rPr>
              <a:t>How to communicate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Canvas Inbox/Messages</a:t>
            </a:r>
          </a:p>
          <a:p>
            <a:pPr marL="576263" lvl="2" indent="0">
              <a:spcBef>
                <a:spcPts val="600"/>
              </a:spcBef>
              <a:buNone/>
            </a:pPr>
            <a:r>
              <a:rPr lang="en-US" dirty="0"/>
              <a:t>Avoid “</a:t>
            </a:r>
            <a:r>
              <a:rPr lang="en-US" dirty="0" err="1"/>
              <a:t>reply”ing</a:t>
            </a:r>
            <a:r>
              <a:rPr lang="en-US" dirty="0"/>
              <a:t> to Canvas Announcements, Assignments, etc. Might not be seen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Email: </a:t>
            </a:r>
            <a:r>
              <a:rPr lang="en-US" dirty="0">
                <a:hlinkClick r:id="rId2"/>
              </a:rPr>
              <a:t>mitch.halloran@fresnocitycollege.edu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b="1" dirty="0"/>
              <a:t>Zoom</a:t>
            </a:r>
            <a:r>
              <a:rPr lang="en-US" dirty="0"/>
              <a:t>: “online office hours”  (MORE TO FOLLOW)</a:t>
            </a:r>
          </a:p>
        </p:txBody>
      </p:sp>
    </p:spTree>
    <p:extLst>
      <p:ext uri="{BB962C8B-B14F-4D97-AF65-F5344CB8AC3E}">
        <p14:creationId xmlns:p14="http://schemas.microsoft.com/office/powerpoint/2010/main" val="186068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Working Successfully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192046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Syllabus</a:t>
            </a:r>
            <a:endParaRPr lang="en-US" dirty="0"/>
          </a:p>
          <a:p>
            <a:pPr lvl="1"/>
            <a:r>
              <a:rPr lang="en-US" dirty="0"/>
              <a:t>Answers questions about objectives, content, structure of the course with a broad overview and outline of the course</a:t>
            </a:r>
          </a:p>
          <a:p>
            <a:pPr lvl="1"/>
            <a:r>
              <a:rPr lang="en-US" dirty="0"/>
              <a:t>Information about required materials for the course</a:t>
            </a:r>
          </a:p>
          <a:p>
            <a:pPr lvl="1"/>
            <a:r>
              <a:rPr lang="en-US" dirty="0"/>
              <a:t>freely accessible online textbook</a:t>
            </a:r>
          </a:p>
          <a:p>
            <a:pPr lvl="1"/>
            <a:r>
              <a:rPr lang="en-US" dirty="0"/>
              <a:t>lab gear (coat + goggles)</a:t>
            </a:r>
          </a:p>
          <a:p>
            <a:pPr lvl="1"/>
            <a:r>
              <a:rPr lang="en-US" dirty="0"/>
              <a:t>scientific-grade calculator for use on examinations</a:t>
            </a:r>
          </a:p>
          <a:p>
            <a:pPr lvl="1"/>
            <a:r>
              <a:rPr lang="en-US" dirty="0"/>
              <a:t>Grading: components of performance in course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Examinations: midterms and final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Reports of laboratory experiments submitted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Homework: pre-lecture and pre-lab quizzes, graded assignments, ungraded offerings (practice exams)</a:t>
            </a:r>
          </a:p>
          <a:p>
            <a:pPr lvl="1"/>
            <a:r>
              <a:rPr lang="en-US" dirty="0"/>
              <a:t>Policy on late work submission, missed exams (retakes),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5440C-A11C-C1BB-A288-D6B6782D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75234-01EB-AF09-9EB4-9FC78A95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SYLLABUS CHANGES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9D6294-4D9D-3FCE-D431-BA49068C5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9" y="1147452"/>
            <a:ext cx="3138854" cy="5215465"/>
          </a:xfrm>
        </p:spPr>
        <p:txBody>
          <a:bodyPr/>
          <a:lstStyle/>
          <a:p>
            <a:pPr marL="231775" lvl="1" indent="0">
              <a:buNone/>
            </a:pPr>
            <a:r>
              <a:rPr lang="en-US" sz="2400" dirty="0"/>
              <a:t>I will be making changes to the syllabus and putting them up hopefully before Thursday’s (Aug 14) lecture</a:t>
            </a:r>
          </a:p>
          <a:p>
            <a:pPr marL="231775" lvl="1" indent="0">
              <a:buNone/>
            </a:pPr>
            <a:endParaRPr lang="en-US" sz="2400" dirty="0"/>
          </a:p>
          <a:p>
            <a:pPr marL="231775" lvl="1" indent="0">
              <a:buNone/>
            </a:pPr>
            <a:r>
              <a:rPr lang="en-US" sz="2400" dirty="0"/>
              <a:t>The last three list items under “Homework” will not be utilized in this course</a:t>
            </a:r>
          </a:p>
          <a:p>
            <a:pPr marL="231775" lvl="1" indent="0">
              <a:buNone/>
            </a:pPr>
            <a:endParaRPr lang="en-US" sz="2400" dirty="0"/>
          </a:p>
          <a:p>
            <a:pPr marL="231775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B4874-EF5D-6F55-7277-74E7AA93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92" y="1831401"/>
            <a:ext cx="5578719" cy="48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1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3EFE-5E3F-3659-29E8-5AD12E5E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F609D-9A6A-8E7F-0F82-F0D2876F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Working Successfully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ACA032-15D9-16F2-DC98-CEFC36E0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110709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Online Systems/Tools</a:t>
            </a:r>
          </a:p>
          <a:p>
            <a:r>
              <a:rPr lang="en-US" dirty="0"/>
              <a:t>Canvas</a:t>
            </a:r>
          </a:p>
          <a:p>
            <a:pPr lvl="1"/>
            <a:r>
              <a:rPr lang="en-US" dirty="0"/>
              <a:t>Modules – each week a module will be published and you should find your links to what you need to do to doing reading, complete quizzes, find homework</a:t>
            </a:r>
          </a:p>
          <a:p>
            <a:pPr lvl="1"/>
            <a:r>
              <a:rPr lang="en-US" dirty="0"/>
              <a:t>Announcements – look for this regularly</a:t>
            </a:r>
          </a:p>
          <a:p>
            <a:pPr lvl="1"/>
            <a:r>
              <a:rPr lang="en-US" dirty="0"/>
              <a:t>Course Home Page </a:t>
            </a:r>
          </a:p>
          <a:p>
            <a:pPr marL="0" indent="0">
              <a:buNone/>
            </a:pPr>
            <a:r>
              <a:rPr lang="en-US" i="1" dirty="0"/>
              <a:t>Interaction between instructor &amp; student(s)</a:t>
            </a:r>
          </a:p>
          <a:p>
            <a:pPr lvl="1"/>
            <a:r>
              <a:rPr lang="en-US" dirty="0"/>
              <a:t>Part-time instructors interact through Canvas and email</a:t>
            </a:r>
          </a:p>
          <a:p>
            <a:pPr marL="0" indent="0">
              <a:buNone/>
            </a:pPr>
            <a:r>
              <a:rPr lang="en-US" dirty="0"/>
              <a:t>Email: Mitch.Halloran@fresnocitycollege.edu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B1FE-8593-3499-81B9-66732A38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A16C3-1987-B500-30BF-8F89E5B0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388" y="103258"/>
            <a:ext cx="5870363" cy="707886"/>
          </a:xfrm>
        </p:spPr>
        <p:txBody>
          <a:bodyPr/>
          <a:lstStyle/>
          <a:p>
            <a:r>
              <a:rPr lang="en-US" sz="4000" dirty="0"/>
              <a:t>Canvas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60CD6-818B-5AA5-7A46-8E8C03499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245" y="914401"/>
            <a:ext cx="7071360" cy="5642208"/>
          </a:xfrm>
        </p:spPr>
        <p:txBody>
          <a:bodyPr/>
          <a:lstStyle/>
          <a:p>
            <a:pPr lvl="1"/>
            <a:r>
              <a:rPr lang="en-US" dirty="0"/>
              <a:t>Modules your main go-to</a:t>
            </a:r>
          </a:p>
          <a:p>
            <a:pPr lvl="1"/>
            <a:r>
              <a:rPr lang="en-US" dirty="0"/>
              <a:t>Announcements important</a:t>
            </a:r>
          </a:p>
          <a:p>
            <a:pPr lvl="1"/>
            <a:r>
              <a:rPr lang="en-US" dirty="0"/>
              <a:t>Grades!</a:t>
            </a:r>
          </a:p>
          <a:p>
            <a:pPr lvl="1"/>
            <a:r>
              <a:rPr lang="en-US" dirty="0"/>
              <a:t>Zoom – your walk-in “office hours”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Starfish – helps instructor contact with those who can help you deal with college</a:t>
            </a:r>
          </a:p>
          <a:p>
            <a:pPr lvl="1"/>
            <a:r>
              <a:rPr lang="en-US" dirty="0"/>
              <a:t>Conference : </a:t>
            </a:r>
            <a:r>
              <a:rPr lang="en-US" dirty="0" err="1"/>
              <a:t>BigBlueButton</a:t>
            </a:r>
            <a:r>
              <a:rPr lang="en-US" dirty="0"/>
              <a:t> – works like Zoom?</a:t>
            </a:r>
          </a:p>
          <a:p>
            <a:pPr lvl="1"/>
            <a:r>
              <a:rPr lang="en-US" dirty="0" err="1"/>
              <a:t>NameCoach</a:t>
            </a:r>
            <a:r>
              <a:rPr lang="en-US" dirty="0"/>
              <a:t>: help me &amp; others pronounce your name</a:t>
            </a:r>
          </a:p>
          <a:p>
            <a:pPr lvl="1"/>
            <a:r>
              <a:rPr lang="en-US" dirty="0"/>
              <a:t>Chat – can be a thing</a:t>
            </a:r>
          </a:p>
          <a:p>
            <a:pPr lvl="1"/>
            <a:r>
              <a:rPr lang="en-US" dirty="0"/>
              <a:t>Lucid – need to work </a:t>
            </a:r>
            <a:r>
              <a:rPr lang="en-US"/>
              <a:t>with that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3D99EB-F850-5EF4-EEF2-26E553C7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61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82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7A284F-AF2F-03BF-471E-5932EB5D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FCDACB-B4A3-7273-02A0-2F59A0A0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Content on Canvas app Now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65B6AC-A295-6100-2C6B-3D1F3376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lvl="1" indent="0">
              <a:buNone/>
            </a:pPr>
            <a:r>
              <a:rPr lang="en-US" dirty="0"/>
              <a:t>There is content on the Canvas app now</a:t>
            </a:r>
          </a:p>
          <a:p>
            <a:pPr marL="231775" lvl="1" indent="0">
              <a:buNone/>
            </a:pPr>
            <a:endParaRPr lang="en-US" dirty="0"/>
          </a:p>
          <a:p>
            <a:pPr marL="231775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Check Assignments</a:t>
            </a:r>
            <a:br>
              <a:rPr lang="en-US" dirty="0"/>
            </a:br>
            <a:r>
              <a:rPr lang="en-US" dirty="0"/>
              <a:t>typically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can also link to Quizzes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B26C1-351C-05C8-098B-2867150E2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99" y="1862918"/>
            <a:ext cx="4461206" cy="43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5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10F0-7B8F-D8FE-4852-FB26302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5AA279-4381-CA39-2167-664BA236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Working Successfully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08CB57-B5A6-0B6B-7663-F49816950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93192"/>
            <a:ext cx="8413047" cy="5458735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Attendance</a:t>
            </a:r>
          </a:p>
          <a:p>
            <a:pPr marL="346075" lvl="1"/>
            <a:r>
              <a:rPr lang="en-US" dirty="0"/>
              <a:t>Being at lecture &amp; certainly being in the lab is not optional: attendance is recorded</a:t>
            </a:r>
          </a:p>
          <a:p>
            <a:pPr marL="346075" lvl="1"/>
            <a:r>
              <a:rPr lang="en-US" dirty="0"/>
              <a:t>While attendance is not graded, missing lectures can result in being dropped from course, getting messages from instructor</a:t>
            </a:r>
          </a:p>
          <a:p>
            <a:pPr marL="346075" lvl="1"/>
            <a:r>
              <a:rPr lang="en-US" dirty="0"/>
              <a:t>Missed laboratory sessions get a ZERO for required report of that experiment</a:t>
            </a:r>
          </a:p>
          <a:p>
            <a:pPr marL="0" indent="0">
              <a:buNone/>
            </a:pPr>
            <a:r>
              <a:rPr lang="en-US" i="1" dirty="0"/>
              <a:t>Time Commitment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7E1CB4-9EFF-9CCE-D6D6-435A6C5D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66" y="4011332"/>
            <a:ext cx="6321668" cy="254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46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5665-ED17-A4DB-39DB-03673F96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9B0E8D-6432-8586-3189-0E6DD253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Rubrics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5D4A74-4483-EF21-3B18-E2484BBF0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13960"/>
            <a:ext cx="8387645" cy="5533596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FF00"/>
                </a:solidFill>
              </a:rPr>
              <a:t>rubric</a:t>
            </a:r>
            <a:r>
              <a:rPr lang="en-US" dirty="0"/>
              <a:t> is a structured scoring guide that defines the </a:t>
            </a:r>
            <a:r>
              <a:rPr lang="en-US" dirty="0">
                <a:solidFill>
                  <a:srgbClr val="FFFF00"/>
                </a:solidFill>
              </a:rPr>
              <a:t>criteria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performance levels</a:t>
            </a:r>
            <a:r>
              <a:rPr lang="en-US" dirty="0"/>
              <a:t>, and </a:t>
            </a:r>
            <a:r>
              <a:rPr lang="en-US" dirty="0">
                <a:solidFill>
                  <a:srgbClr val="FFFF00"/>
                </a:solidFill>
              </a:rPr>
              <a:t>expectations</a:t>
            </a:r>
            <a:r>
              <a:rPr lang="en-US" dirty="0"/>
              <a:t> used to evaluate the quality of a student’s work</a:t>
            </a:r>
          </a:p>
          <a:p>
            <a:r>
              <a:rPr lang="en-US" dirty="0"/>
              <a:t>It clarifies what matters, how it will be judged, and what distinguishes stronger from weaker performance.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Rubrics in </a:t>
            </a:r>
            <a:r>
              <a:rPr lang="en-US" b="1" dirty="0">
                <a:solidFill>
                  <a:srgbClr val="FFC000"/>
                </a:solidFill>
              </a:rPr>
              <a:t>Canvas</a:t>
            </a:r>
            <a:r>
              <a:rPr lang="en-US" dirty="0"/>
              <a:t> are to be used for</a:t>
            </a:r>
          </a:p>
          <a:p>
            <a:pPr lvl="1"/>
            <a:r>
              <a:rPr lang="en-US" dirty="0"/>
              <a:t>laboratory report submissions</a:t>
            </a:r>
          </a:p>
          <a:p>
            <a:pPr lvl="1"/>
            <a:r>
              <a:rPr lang="en-US" dirty="0"/>
              <a:t>homework</a:t>
            </a:r>
          </a:p>
          <a:p>
            <a:r>
              <a:rPr lang="en-US" dirty="0"/>
              <a:t>Students should look at the rubric so they can see what is expected of them in the submission of work, and BEFORE the work is submitted</a:t>
            </a:r>
          </a:p>
        </p:txBody>
      </p:sp>
    </p:spTree>
    <p:extLst>
      <p:ext uri="{BB962C8B-B14F-4D97-AF65-F5344CB8AC3E}">
        <p14:creationId xmlns:p14="http://schemas.microsoft.com/office/powerpoint/2010/main" val="97891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7636-70E4-8F31-33C5-5529E5DE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1214A-1148-ABF0-9738-02CF4C0F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Content For This Course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D842B9-93B5-C1AB-DF7E-E5E1032A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All of the content of this course, including the PowerPoints of these lectures (in PDF form), should be found in some place on the </a:t>
            </a:r>
            <a:r>
              <a:rPr lang="en-US" sz="3200" dirty="0">
                <a:solidFill>
                  <a:srgbClr val="FFFF00"/>
                </a:solidFill>
              </a:rPr>
              <a:t>Canvas app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And if you don’t find what you are looking for, send me a message right away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74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9AD2C9-2496-56C1-518B-144D75F5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02484A-08D4-9E2F-A2F7-191D3286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Teamwork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20FD16-ACAA-9B3F-89E2-BD883D9C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Throughout your career, you will learn that </a:t>
            </a:r>
            <a:r>
              <a:rPr lang="en-US" dirty="0">
                <a:solidFill>
                  <a:srgbClr val="FFFF00"/>
                </a:solidFill>
              </a:rPr>
              <a:t>projects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programs</a:t>
            </a:r>
            <a:r>
              <a:rPr lang="en-US" dirty="0"/>
              <a:t> have </a:t>
            </a:r>
            <a:r>
              <a:rPr lang="en-US" dirty="0">
                <a:solidFill>
                  <a:srgbClr val="00FF00"/>
                </a:solidFill>
              </a:rPr>
              <a:t>teams </a:t>
            </a:r>
            <a:r>
              <a:rPr lang="en-US" dirty="0"/>
              <a:t>of people in order to get work done </a:t>
            </a:r>
            <a:r>
              <a:rPr lang="en-US" u="sng" dirty="0"/>
              <a:t>successfully</a:t>
            </a:r>
            <a:r>
              <a:rPr lang="en-US" dirty="0"/>
              <a:t>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While </a:t>
            </a:r>
            <a:r>
              <a:rPr lang="en-US" dirty="0">
                <a:solidFill>
                  <a:srgbClr val="FFFF00"/>
                </a:solidFill>
              </a:rPr>
              <a:t>tasks</a:t>
            </a:r>
            <a:r>
              <a:rPr lang="en-US" dirty="0"/>
              <a:t> in </a:t>
            </a:r>
            <a:r>
              <a:rPr lang="en-US" dirty="0">
                <a:solidFill>
                  <a:srgbClr val="FFFF00"/>
                </a:solidFill>
              </a:rPr>
              <a:t>projects</a:t>
            </a:r>
            <a:r>
              <a:rPr lang="en-US" dirty="0"/>
              <a:t> are done by </a:t>
            </a:r>
            <a:r>
              <a:rPr lang="en-US" dirty="0">
                <a:solidFill>
                  <a:srgbClr val="00FF00"/>
                </a:solidFill>
              </a:rPr>
              <a:t>individuals</a:t>
            </a:r>
            <a:r>
              <a:rPr lang="en-US" dirty="0"/>
              <a:t> performing </a:t>
            </a:r>
            <a:r>
              <a:rPr lang="en-US" dirty="0">
                <a:solidFill>
                  <a:srgbClr val="FFFF00"/>
                </a:solidFill>
              </a:rPr>
              <a:t>roles</a:t>
            </a:r>
            <a:r>
              <a:rPr lang="en-US" dirty="0"/>
              <a:t> as part of the </a:t>
            </a:r>
            <a:r>
              <a:rPr lang="en-US" dirty="0">
                <a:solidFill>
                  <a:srgbClr val="00FF00"/>
                </a:solidFill>
              </a:rPr>
              <a:t>team</a:t>
            </a:r>
            <a:r>
              <a:rPr lang="en-US" dirty="0"/>
              <a:t>, the overall work is a product of the team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The “project” here at FCC in this course is learning chemistry, so everyone will be part of a team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This team is your </a:t>
            </a:r>
            <a:r>
              <a:rPr lang="en-US" dirty="0">
                <a:solidFill>
                  <a:srgbClr val="00FF00"/>
                </a:solidFill>
              </a:rPr>
              <a:t>study group</a:t>
            </a:r>
          </a:p>
        </p:txBody>
      </p:sp>
    </p:spTree>
    <p:extLst>
      <p:ext uri="{BB962C8B-B14F-4D97-AF65-F5344CB8AC3E}">
        <p14:creationId xmlns:p14="http://schemas.microsoft.com/office/powerpoint/2010/main" val="881260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B61758-4C53-871D-29CB-0442626F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30A2B-27E1-2BCC-2874-4A7A9A66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Study Group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D2655-2F9A-7182-5F15-BFBBA80C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The Canvas LMS app was used to randomly group students into </a:t>
            </a:r>
            <a:r>
              <a:rPr lang="en-US" dirty="0">
                <a:solidFill>
                  <a:srgbClr val="00FF00"/>
                </a:solidFill>
              </a:rPr>
              <a:t>study groups</a:t>
            </a:r>
            <a:r>
              <a:rPr lang="en-US" dirty="0"/>
              <a:t> in this course</a:t>
            </a:r>
          </a:p>
          <a:p>
            <a:pPr>
              <a:spcBef>
                <a:spcPts val="1800"/>
              </a:spcBef>
            </a:pPr>
            <a:r>
              <a:rPr lang="en-US" dirty="0"/>
              <a:t>The study group is only one facet of your learning process, intended to initiate you into being part of a team in your learning goal</a:t>
            </a:r>
          </a:p>
          <a:p>
            <a:pPr>
              <a:spcBef>
                <a:spcPts val="1800"/>
              </a:spcBef>
            </a:pPr>
            <a:r>
              <a:rPr lang="en-US" dirty="0"/>
              <a:t>Your instructor (me), your peers, resources of the College (tutors, tutoring services, counselors, other support staff) are always ready &amp; present too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0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A387-8692-B981-4BDC-DDFC55BC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C8828-4606-7540-E3CC-DD11B443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E3F07A-09F1-1F5D-1A7E-379B4C008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18" y="1120550"/>
            <a:ext cx="8387645" cy="5215465"/>
          </a:xfrm>
        </p:spPr>
        <p:txBody>
          <a:bodyPr/>
          <a:lstStyle/>
          <a:p>
            <a:r>
              <a:rPr lang="en-US" dirty="0"/>
              <a:t>The elephant in the room? Have you been talking about it in your course of learning?</a:t>
            </a:r>
          </a:p>
          <a:p>
            <a:r>
              <a:rPr lang="en-US" dirty="0"/>
              <a:t>Will be transformative, but…</a:t>
            </a:r>
          </a:p>
          <a:p>
            <a:pPr lvl="1"/>
            <a:r>
              <a:rPr lang="en-US" dirty="0"/>
              <a:t>useful to you IF you use it properly</a:t>
            </a:r>
          </a:p>
          <a:p>
            <a:pPr lvl="1"/>
            <a:r>
              <a:rPr lang="en-US" dirty="0"/>
              <a:t>ChatGPT/Bing CoPilot/Gemini don’t initiate the “what if” and “why” that drives discovery and exploration</a:t>
            </a:r>
          </a:p>
          <a:p>
            <a:pPr lvl="1"/>
            <a:r>
              <a:rPr lang="en-US" dirty="0"/>
              <a:t>A.I. does not and will not replace humans in asking questions that push discovery</a:t>
            </a:r>
          </a:p>
          <a:p>
            <a:pPr lvl="1"/>
            <a:r>
              <a:rPr lang="en-US" dirty="0"/>
              <a:t>Learning the foundations of a discipline—that is, getting that Associates or Bachelors or Doctoral degree—makes  you that better thinker who is asking “what if” and “why”</a:t>
            </a:r>
          </a:p>
          <a:p>
            <a:r>
              <a:rPr lang="en-US" dirty="0"/>
              <a:t>Doing that “homework”…</a:t>
            </a:r>
          </a:p>
          <a:p>
            <a:pPr lvl="1"/>
            <a:r>
              <a:rPr lang="en-US" dirty="0"/>
              <a:t>Helps you pass the test, yes</a:t>
            </a:r>
          </a:p>
          <a:p>
            <a:pPr lvl="1"/>
            <a:r>
              <a:rPr lang="en-US" dirty="0"/>
              <a:t>But also builds you as a discoverer, explorer, researcher, thinker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776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F4E7-1DD9-2953-0632-0B66EE66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69BCE-0489-1397-6A18-3239457A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671C92-053F-B638-2EDF-9E6AFECA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BC370-7463-D4CD-C1CD-020313B5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4" y="1240568"/>
            <a:ext cx="8690436" cy="50453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AF8C21-26BF-F1B6-F112-DFD4BBA1AC21}"/>
              </a:ext>
            </a:extLst>
          </p:cNvPr>
          <p:cNvSpPr txBox="1"/>
          <p:nvPr/>
        </p:nvSpPr>
        <p:spPr>
          <a:xfrm>
            <a:off x="158454" y="1458932"/>
            <a:ext cx="3373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This is why you take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Chem 3A &amp; learn chemistry: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to prepare you for doing what A.I. can’t [ever] do</a:t>
            </a:r>
          </a:p>
        </p:txBody>
      </p:sp>
    </p:spTree>
    <p:extLst>
      <p:ext uri="{BB962C8B-B14F-4D97-AF65-F5344CB8AC3E}">
        <p14:creationId xmlns:p14="http://schemas.microsoft.com/office/powerpoint/2010/main" val="235904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34FBC-6434-7973-A6E3-3FA01CB1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36D44-D3C3-806D-2886-7CC2CC79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9C3F851-6C29-2829-3867-428448FD1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1735" y="1331913"/>
            <a:ext cx="7869418" cy="521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34553408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32198</TotalTime>
  <Words>1275</Words>
  <Application>Microsoft Office PowerPoint</Application>
  <PresentationFormat>On-screen Show (4:3)</PresentationFormat>
  <Paragraphs>129</Paragraphs>
  <Slides>20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PowerPoint Presentation</vt:lpstr>
      <vt:lpstr>Chemistry 3A Introductory General Chemistry</vt:lpstr>
      <vt:lpstr>Course Facts &amp; Information</vt:lpstr>
      <vt:lpstr>Waitlisted Procedure</vt:lpstr>
      <vt:lpstr>Your Instructor</vt:lpstr>
      <vt:lpstr>The Project</vt:lpstr>
      <vt:lpstr>Communication Plan</vt:lpstr>
      <vt:lpstr>Working Successfully in Chem 3A</vt:lpstr>
      <vt:lpstr>SYLLABUS CHANGES</vt:lpstr>
      <vt:lpstr>Working Successfully in Chem 3A</vt:lpstr>
      <vt:lpstr>Canvas Features</vt:lpstr>
      <vt:lpstr>Content on Canvas app Now</vt:lpstr>
      <vt:lpstr>Working Successfully in Chem 3A</vt:lpstr>
      <vt:lpstr>Rubrics</vt:lpstr>
      <vt:lpstr>Content For This Course</vt:lpstr>
      <vt:lpstr>Teamwork</vt:lpstr>
      <vt:lpstr>The Study Group</vt:lpstr>
      <vt:lpstr>Artificial Intelligence in Learning &amp; Academics</vt:lpstr>
      <vt:lpstr>Artificial Intelligence in Learning &amp; Academics</vt:lpstr>
      <vt:lpstr>Artificial Intelligence in Learning &amp; Academics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1005</cp:revision>
  <cp:lastPrinted>2016-03-14T04:22:58Z</cp:lastPrinted>
  <dcterms:created xsi:type="dcterms:W3CDTF">2005-12-08T13:54:14Z</dcterms:created>
  <dcterms:modified xsi:type="dcterms:W3CDTF">2026-01-13T20:39:00Z</dcterms:modified>
</cp:coreProperties>
</file>