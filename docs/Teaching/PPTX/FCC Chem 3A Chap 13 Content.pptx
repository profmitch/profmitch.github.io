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803" r:id="rId1"/>
  </p:sldMasterIdLst>
  <p:notesMasterIdLst>
    <p:notesMasterId r:id="rId45"/>
  </p:notesMasterIdLst>
  <p:sldIdLst>
    <p:sldId id="608" r:id="rId2"/>
    <p:sldId id="830" r:id="rId3"/>
    <p:sldId id="831" r:id="rId4"/>
    <p:sldId id="837" r:id="rId5"/>
    <p:sldId id="838" r:id="rId6"/>
    <p:sldId id="849" r:id="rId7"/>
    <p:sldId id="850" r:id="rId8"/>
    <p:sldId id="839" r:id="rId9"/>
    <p:sldId id="851" r:id="rId10"/>
    <p:sldId id="832" r:id="rId11"/>
    <p:sldId id="840" r:id="rId12"/>
    <p:sldId id="852" r:id="rId13"/>
    <p:sldId id="833" r:id="rId14"/>
    <p:sldId id="854" r:id="rId15"/>
    <p:sldId id="853" r:id="rId16"/>
    <p:sldId id="841" r:id="rId17"/>
    <p:sldId id="842" r:id="rId18"/>
    <p:sldId id="855" r:id="rId19"/>
    <p:sldId id="856" r:id="rId20"/>
    <p:sldId id="857" r:id="rId21"/>
    <p:sldId id="834" r:id="rId22"/>
    <p:sldId id="858" r:id="rId23"/>
    <p:sldId id="859" r:id="rId24"/>
    <p:sldId id="860" r:id="rId25"/>
    <p:sldId id="861" r:id="rId26"/>
    <p:sldId id="862" r:id="rId27"/>
    <p:sldId id="863" r:id="rId28"/>
    <p:sldId id="864" r:id="rId29"/>
    <p:sldId id="866" r:id="rId30"/>
    <p:sldId id="865" r:id="rId31"/>
    <p:sldId id="843" r:id="rId32"/>
    <p:sldId id="835" r:id="rId33"/>
    <p:sldId id="844" r:id="rId34"/>
    <p:sldId id="845" r:id="rId35"/>
    <p:sldId id="868" r:id="rId36"/>
    <p:sldId id="846" r:id="rId37"/>
    <p:sldId id="869" r:id="rId38"/>
    <p:sldId id="870" r:id="rId39"/>
    <p:sldId id="867" r:id="rId40"/>
    <p:sldId id="871" r:id="rId41"/>
    <p:sldId id="836" r:id="rId42"/>
    <p:sldId id="872" r:id="rId43"/>
    <p:sldId id="848" r:id="rId44"/>
  </p:sldIdLst>
  <p:sldSz cx="9144000" cy="6858000" type="screen4x3"/>
  <p:notesSz cx="7315200" cy="9601200"/>
  <p:defaultTextStyle>
    <a:defPPr>
      <a:defRPr lang="en-US"/>
    </a:defPPr>
    <a:lvl1pPr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>
          <p15:clr>
            <a:srgbClr val="A4A3A4"/>
          </p15:clr>
        </p15:guide>
        <p15:guide id="2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FF00"/>
    <a:srgbClr val="CC99FF"/>
    <a:srgbClr val="FFFFCC"/>
    <a:srgbClr val="339933"/>
    <a:srgbClr val="CCFFFF"/>
    <a:srgbClr val="FFFF99"/>
    <a:srgbClr val="99FFCC"/>
    <a:srgbClr val="99FF66"/>
    <a:srgbClr val="FF9933"/>
    <a:srgbClr val="99FF9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1FECB4D8-DB02-4DC6-A0A2-4F2EBAE1DC90}" styleName="Medium Style 1 - Accent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3">
              <a:tint val="20000"/>
            </a:schemeClr>
          </a:solidFill>
        </a:fill>
      </a:tcStyle>
    </a:band1H>
    <a:band1V>
      <a:tcStyle>
        <a:tcBdr/>
        <a:fill>
          <a:solidFill>
            <a:schemeClr val="accent3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Row>
  </a:tblStyle>
  <a:tblStyle styleId="{C083E6E3-FA7D-4D7B-A595-EF9225AFEA82}" styleName="Light Style 1 - Accent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1E171933-4619-4E11-9A3F-F7608DF75F80}" styleName="Medium Style 1 -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4">
              <a:tint val="20000"/>
            </a:schemeClr>
          </a:solidFill>
        </a:fill>
      </a:tcStyle>
    </a:band1H>
    <a:band1V>
      <a:tcStyle>
        <a:tcBdr/>
        <a:fill>
          <a:solidFill>
            <a:schemeClr val="accent4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522" autoAdjust="0"/>
    <p:restoredTop sz="94620" autoAdjust="0"/>
  </p:normalViewPr>
  <p:slideViewPr>
    <p:cSldViewPr snapToGrid="0">
      <p:cViewPr varScale="1">
        <p:scale>
          <a:sx n="129" d="100"/>
          <a:sy n="129" d="100"/>
        </p:scale>
        <p:origin x="138" y="384"/>
      </p:cViewPr>
      <p:guideLst>
        <p:guide orient="horz"/>
        <p:guide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80" d="100"/>
        <a:sy n="80" d="100"/>
      </p:scale>
      <p:origin x="0" y="3294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presProps" Target="pres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169920" cy="4800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6661" tIns="48331" rIns="96661" bIns="48331" numCol="1" anchor="t" anchorCtr="0" compatLnSpc="1">
            <a:prstTxWarp prst="textNoShape">
              <a:avLst/>
            </a:prstTxWarp>
          </a:bodyPr>
          <a:lstStyle>
            <a:lvl1pPr>
              <a:defRPr sz="1300"/>
            </a:lvl1pPr>
          </a:lstStyle>
          <a:p>
            <a:endParaRPr lang="en-US"/>
          </a:p>
        </p:txBody>
      </p:sp>
      <p:sp>
        <p:nvSpPr>
          <p:cNvPr id="4099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4143587" y="0"/>
            <a:ext cx="3169920" cy="4800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6661" tIns="48331" rIns="96661" bIns="48331" numCol="1" anchor="t" anchorCtr="0" compatLnSpc="1">
            <a:prstTxWarp prst="textNoShape">
              <a:avLst/>
            </a:prstTxWarp>
          </a:bodyPr>
          <a:lstStyle>
            <a:lvl1pPr algn="r">
              <a:defRPr sz="1300"/>
            </a:lvl1pPr>
          </a:lstStyle>
          <a:p>
            <a:endParaRPr lang="en-US"/>
          </a:p>
        </p:txBody>
      </p:sp>
      <p:sp>
        <p:nvSpPr>
          <p:cNvPr id="4100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1257300" y="720725"/>
            <a:ext cx="4800600" cy="360045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ffectLst/>
        </p:spPr>
      </p:sp>
      <p:sp>
        <p:nvSpPr>
          <p:cNvPr id="4101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731520" y="4560570"/>
            <a:ext cx="5852160" cy="432054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6661" tIns="48331" rIns="96661" bIns="48331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102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9119474"/>
            <a:ext cx="3169920" cy="4800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6661" tIns="48331" rIns="96661" bIns="48331" numCol="1" anchor="b" anchorCtr="0" compatLnSpc="1">
            <a:prstTxWarp prst="textNoShape">
              <a:avLst/>
            </a:prstTxWarp>
          </a:bodyPr>
          <a:lstStyle>
            <a:lvl1pPr>
              <a:defRPr sz="1300"/>
            </a:lvl1pPr>
          </a:lstStyle>
          <a:p>
            <a:endParaRPr lang="en-US"/>
          </a:p>
        </p:txBody>
      </p:sp>
      <p:sp>
        <p:nvSpPr>
          <p:cNvPr id="4103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4143587" y="9119474"/>
            <a:ext cx="3169920" cy="4800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6661" tIns="48331" rIns="96661" bIns="48331" numCol="1" anchor="b" anchorCtr="0" compatLnSpc="1">
            <a:prstTxWarp prst="textNoShape">
              <a:avLst/>
            </a:prstTxWarp>
          </a:bodyPr>
          <a:lstStyle>
            <a:lvl1pPr algn="r">
              <a:defRPr sz="1300"/>
            </a:lvl1pPr>
          </a:lstStyle>
          <a:p>
            <a:fld id="{F80B39F9-9779-49E4-9061-3C452DBF8DE4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7671031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80B39F9-9779-49E4-9061-3C452DBF8DE4}" type="slidenum">
              <a:rPr lang="en-US" smtClean="0"/>
              <a:pPr/>
              <a:t>1</a:t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08000" y="1355676"/>
            <a:ext cx="8111067" cy="2308324"/>
          </a:xfrm>
        </p:spPr>
        <p:txBody>
          <a:bodyPr/>
          <a:lstStyle>
            <a:lvl1pPr>
              <a:defRPr sz="7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21208" y="4297679"/>
            <a:ext cx="6793992" cy="1157901"/>
          </a:xfrm>
        </p:spPr>
        <p:txBody>
          <a:bodyPr/>
          <a:lstStyle>
            <a:lvl1pPr marL="0" indent="0" algn="l">
              <a:buNone/>
              <a:defRPr sz="3200" i="1">
                <a:solidFill>
                  <a:schemeClr val="accent1">
                    <a:lumMod val="60000"/>
                    <a:lumOff val="4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en-US" dirty="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214629511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0860FB8-6836-F5F6-C7BB-6469ECF258B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E0D52F3-54CA-4E42-BFA9-4F0301781925}" type="slidenum">
              <a:rPr lang="en-US" smtClean="0"/>
              <a:pPr/>
              <a:t>‹#›</a:t>
            </a:fld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74263330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+Subtitle+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1246" y="307480"/>
            <a:ext cx="8421512" cy="769441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30927" y="1611086"/>
            <a:ext cx="8464730" cy="493646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0"/>
          </p:nvPr>
        </p:nvSpPr>
        <p:spPr>
          <a:xfrm>
            <a:off x="331016" y="1114697"/>
            <a:ext cx="8439150" cy="435428"/>
          </a:xfrm>
        </p:spPr>
        <p:txBody>
          <a:bodyPr/>
          <a:lstStyle>
            <a:lvl1pPr>
              <a:buNone/>
              <a:defRPr sz="2200" i="1">
                <a:solidFill>
                  <a:srgbClr val="CCFFFF"/>
                </a:solidFill>
                <a:latin typeface="Times New Roman" pitchFamily="18" charset="0"/>
                <a:cs typeface="Times New Roman" pitchFamily="18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50635184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bg>
      <p:bgPr>
        <a:solidFill>
          <a:srgbClr val="0066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5246" y="1512554"/>
            <a:ext cx="8167688" cy="1754326"/>
          </a:xfrm>
        </p:spPr>
        <p:txBody>
          <a:bodyPr anchor="ctr" anchorCtr="0"/>
          <a:lstStyle>
            <a:lvl1pPr algn="l">
              <a:defRPr sz="5400" b="0" i="0" cap="none" baseline="0">
                <a:solidFill>
                  <a:srgbClr val="FFFF99"/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82600" y="4075113"/>
            <a:ext cx="8161868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6678057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98500" y="1617663"/>
            <a:ext cx="3810000" cy="4732337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60900" y="1617663"/>
            <a:ext cx="3810000" cy="4732337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422734465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2100358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06790508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9869053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44859411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58171344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8624764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27800" y="612775"/>
            <a:ext cx="1943100" cy="57372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98500" y="612775"/>
            <a:ext cx="5676900" cy="57372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411864369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/>
          </p:nvPr>
        </p:nvSpPr>
        <p:spPr>
          <a:xfrm>
            <a:off x="698500" y="612775"/>
            <a:ext cx="7772400" cy="573722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58015931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xOverObj" preserve="1">
  <p:cSld name="Title and Tex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8500" y="612775"/>
            <a:ext cx="7772400" cy="762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698500" y="1617663"/>
            <a:ext cx="7772400" cy="22891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98500" y="4059238"/>
            <a:ext cx="7772400" cy="229076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71102132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, Content,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8500" y="612775"/>
            <a:ext cx="7772400" cy="762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98500" y="1617663"/>
            <a:ext cx="3810000" cy="473233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quarter" idx="2"/>
          </p:nvPr>
        </p:nvSpPr>
        <p:spPr>
          <a:xfrm>
            <a:off x="4660900" y="1617663"/>
            <a:ext cx="3810000" cy="22891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quarter" idx="3"/>
          </p:nvPr>
        </p:nvSpPr>
        <p:spPr>
          <a:xfrm>
            <a:off x="4660900" y="4059238"/>
            <a:ext cx="3810000" cy="229076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56106243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+Subtitle+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1246" y="307480"/>
            <a:ext cx="8421512" cy="769441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30927" y="1611086"/>
            <a:ext cx="8464730" cy="4936469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0"/>
          </p:nvPr>
        </p:nvSpPr>
        <p:spPr>
          <a:xfrm>
            <a:off x="331016" y="1114697"/>
            <a:ext cx="8439150" cy="435428"/>
          </a:xfrm>
        </p:spPr>
        <p:txBody>
          <a:bodyPr/>
          <a:lstStyle>
            <a:lvl1pPr>
              <a:buNone/>
              <a:defRPr sz="2200" i="1">
                <a:solidFill>
                  <a:srgbClr val="CCFFFF"/>
                </a:solidFill>
                <a:latin typeface="Times New Roman" pitchFamily="18" charset="0"/>
                <a:cs typeface="Times New Roman" pitchFamily="18" charset="0"/>
              </a:defRPr>
            </a:lvl1pPr>
          </a:lstStyle>
          <a:p>
            <a:pPr lvl="0"/>
            <a:r>
              <a:rPr lang="en-US" dirty="0"/>
              <a:t>Click to edit Master text style</a:t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gradFill rotWithShape="0">
          <a:gsLst>
            <a:gs pos="0">
              <a:schemeClr val="tx1"/>
            </a:gs>
            <a:gs pos="100000">
              <a:srgbClr val="333399"/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14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349955" y="363788"/>
            <a:ext cx="8421512" cy="83099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/>
            <a:r>
              <a:rPr lang="en-US" dirty="0"/>
              <a:t>This is the Master </a:t>
            </a:r>
            <a:r>
              <a:rPr lang="en-US" dirty="0" err="1"/>
              <a:t>supraTitle</a:t>
            </a:r>
            <a:endParaRPr lang="en-US" dirty="0"/>
          </a:p>
        </p:txBody>
      </p:sp>
      <p:sp>
        <p:nvSpPr>
          <p:cNvPr id="38915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372533" y="1332090"/>
            <a:ext cx="8387645" cy="52154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FABAA30-0CF1-8634-C519-C554DC7C2B5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7024727" y="6364992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400" b="1" i="0" baseline="0">
                <a:solidFill>
                  <a:schemeClr val="bg1"/>
                </a:solidFill>
              </a:defRPr>
            </a:lvl1pPr>
          </a:lstStyle>
          <a:p>
            <a:fld id="{DE0D52F3-54CA-4E42-BFA9-4F0301781925}" type="slidenum">
              <a:rPr lang="en-US" smtClean="0"/>
              <a:pPr/>
              <a:t>‹#›</a:t>
            </a:fld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355244357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04" r:id="rId1"/>
    <p:sldLayoutId id="2147483805" r:id="rId2"/>
    <p:sldLayoutId id="2147483806" r:id="rId3"/>
    <p:sldLayoutId id="2147483807" r:id="rId4"/>
    <p:sldLayoutId id="2147483808" r:id="rId5"/>
    <p:sldLayoutId id="2147483809" r:id="rId6"/>
    <p:sldLayoutId id="2147483810" r:id="rId7"/>
    <p:sldLayoutId id="2147483811" r:id="rId8"/>
    <p:sldLayoutId id="2147483812" r:id="rId9"/>
    <p:sldLayoutId id="2147483813" r:id="rId10"/>
    <p:sldLayoutId id="2147483814" r:id="rId11"/>
    <p:sldLayoutId id="2147483815" r:id="rId12"/>
    <p:sldLayoutId id="2147483816" r:id="rId13"/>
    <p:sldLayoutId id="2147483817" r:id="rId14"/>
    <p:sldLayoutId id="2147483818" r:id="rId15"/>
    <p:sldLayoutId id="2147483802" r:id="rId16"/>
  </p:sldLayoutIdLst>
  <p:hf hdr="0" ftr="0" dt="0"/>
  <p:txStyles>
    <p:titleStyle>
      <a:lvl1pPr algn="l" rtl="0" eaLnBrk="1" fontAlgn="base" hangingPunct="1">
        <a:spcBef>
          <a:spcPct val="0"/>
        </a:spcBef>
        <a:spcAft>
          <a:spcPct val="0"/>
        </a:spcAft>
        <a:defRPr sz="4800">
          <a:solidFill>
            <a:srgbClr val="FFFF99"/>
          </a:solidFill>
          <a:latin typeface="+mj-lt"/>
          <a:ea typeface="+mj-ea"/>
          <a:cs typeface="+mj-cs"/>
        </a:defRPr>
      </a:lvl1pPr>
      <a:lvl2pPr algn="l" rtl="0" eaLnBrk="1" fontAlgn="base" hangingPunct="1">
        <a:spcBef>
          <a:spcPct val="0"/>
        </a:spcBef>
        <a:spcAft>
          <a:spcPct val="0"/>
        </a:spcAft>
        <a:defRPr sz="4400">
          <a:solidFill>
            <a:srgbClr val="FFFF99"/>
          </a:solidFill>
          <a:latin typeface="Arial" charset="0"/>
        </a:defRPr>
      </a:lvl2pPr>
      <a:lvl3pPr algn="l" rtl="0" eaLnBrk="1" fontAlgn="base" hangingPunct="1">
        <a:spcBef>
          <a:spcPct val="0"/>
        </a:spcBef>
        <a:spcAft>
          <a:spcPct val="0"/>
        </a:spcAft>
        <a:defRPr sz="4400">
          <a:solidFill>
            <a:srgbClr val="FFFF99"/>
          </a:solidFill>
          <a:latin typeface="Arial" charset="0"/>
        </a:defRPr>
      </a:lvl3pPr>
      <a:lvl4pPr algn="l" rtl="0" eaLnBrk="1" fontAlgn="base" hangingPunct="1">
        <a:spcBef>
          <a:spcPct val="0"/>
        </a:spcBef>
        <a:spcAft>
          <a:spcPct val="0"/>
        </a:spcAft>
        <a:defRPr sz="4400">
          <a:solidFill>
            <a:srgbClr val="FFFF99"/>
          </a:solidFill>
          <a:latin typeface="Arial" charset="0"/>
        </a:defRPr>
      </a:lvl4pPr>
      <a:lvl5pPr algn="l" rtl="0" eaLnBrk="1" fontAlgn="base" hangingPunct="1">
        <a:spcBef>
          <a:spcPct val="0"/>
        </a:spcBef>
        <a:spcAft>
          <a:spcPct val="0"/>
        </a:spcAft>
        <a:defRPr sz="4400">
          <a:solidFill>
            <a:srgbClr val="FFFF99"/>
          </a:solidFill>
          <a:latin typeface="Arial" charset="0"/>
        </a:defRPr>
      </a:lvl5pPr>
      <a:lvl6pPr marL="457200" algn="l" rtl="0" eaLnBrk="1" fontAlgn="base" hangingPunct="1">
        <a:spcBef>
          <a:spcPct val="0"/>
        </a:spcBef>
        <a:spcAft>
          <a:spcPct val="0"/>
        </a:spcAft>
        <a:defRPr sz="4400">
          <a:solidFill>
            <a:srgbClr val="FFFF99"/>
          </a:solidFill>
          <a:latin typeface="Arial" charset="0"/>
        </a:defRPr>
      </a:lvl6pPr>
      <a:lvl7pPr marL="914400" algn="l" rtl="0" eaLnBrk="1" fontAlgn="base" hangingPunct="1">
        <a:spcBef>
          <a:spcPct val="0"/>
        </a:spcBef>
        <a:spcAft>
          <a:spcPct val="0"/>
        </a:spcAft>
        <a:defRPr sz="4400">
          <a:solidFill>
            <a:srgbClr val="FFFF99"/>
          </a:solidFill>
          <a:latin typeface="Arial" charset="0"/>
        </a:defRPr>
      </a:lvl7pPr>
      <a:lvl8pPr marL="1371600" algn="l" rtl="0" eaLnBrk="1" fontAlgn="base" hangingPunct="1">
        <a:spcBef>
          <a:spcPct val="0"/>
        </a:spcBef>
        <a:spcAft>
          <a:spcPct val="0"/>
        </a:spcAft>
        <a:defRPr sz="4400">
          <a:solidFill>
            <a:srgbClr val="FFFF99"/>
          </a:solidFill>
          <a:latin typeface="Arial" charset="0"/>
        </a:defRPr>
      </a:lvl8pPr>
      <a:lvl9pPr marL="1828800" algn="l" rtl="0" eaLnBrk="1" fontAlgn="base" hangingPunct="1">
        <a:spcBef>
          <a:spcPct val="0"/>
        </a:spcBef>
        <a:spcAft>
          <a:spcPct val="0"/>
        </a:spcAft>
        <a:defRPr sz="4400">
          <a:solidFill>
            <a:srgbClr val="FFFF99"/>
          </a:solidFill>
          <a:latin typeface="Arial" charset="0"/>
        </a:defRPr>
      </a:lvl9pPr>
    </p:titleStyle>
    <p:bodyStyle>
      <a:lvl1pPr marL="282575" indent="-282575" algn="l" rtl="0" eaLnBrk="1" fontAlgn="base" hangingPunct="1">
        <a:spcBef>
          <a:spcPct val="20000"/>
        </a:spcBef>
        <a:spcAft>
          <a:spcPct val="0"/>
        </a:spcAft>
        <a:buChar char="•"/>
        <a:defRPr sz="2400">
          <a:solidFill>
            <a:schemeClr val="bg1"/>
          </a:solidFill>
          <a:latin typeface="+mn-lt"/>
          <a:ea typeface="+mn-ea"/>
          <a:cs typeface="+mn-cs"/>
        </a:defRPr>
      </a:lvl1pPr>
      <a:lvl2pPr marL="519113" indent="-287338" algn="l" rtl="0" eaLnBrk="1" fontAlgn="base" hangingPunct="1">
        <a:spcBef>
          <a:spcPct val="20000"/>
        </a:spcBef>
        <a:spcAft>
          <a:spcPct val="0"/>
        </a:spcAft>
        <a:buFont typeface="Wingdings" pitchFamily="2" charset="2"/>
        <a:buChar char="§"/>
        <a:defRPr sz="2000">
          <a:solidFill>
            <a:schemeClr val="bg1"/>
          </a:solidFill>
          <a:latin typeface="+mn-lt"/>
        </a:defRPr>
      </a:lvl2pPr>
      <a:lvl3pPr marL="801688" indent="-225425" algn="l" rtl="0" eaLnBrk="1" fontAlgn="base" hangingPunct="1">
        <a:spcBef>
          <a:spcPct val="20000"/>
        </a:spcBef>
        <a:spcAft>
          <a:spcPct val="0"/>
        </a:spcAft>
        <a:buFont typeface="Wingdings" pitchFamily="2" charset="2"/>
        <a:buChar char="Ø"/>
        <a:defRPr sz="1800">
          <a:solidFill>
            <a:schemeClr val="bg1"/>
          </a:solidFill>
          <a:latin typeface="+mn-lt"/>
        </a:defRPr>
      </a:lvl3pPr>
      <a:lvl4pPr marL="1084263" indent="-288925" algn="l" rtl="0" eaLnBrk="1" fontAlgn="base" hangingPunct="1">
        <a:spcBef>
          <a:spcPct val="20000"/>
        </a:spcBef>
        <a:spcAft>
          <a:spcPct val="0"/>
        </a:spcAft>
        <a:buFont typeface="Courier New" pitchFamily="49" charset="0"/>
        <a:buChar char="o"/>
        <a:defRPr sz="1600">
          <a:solidFill>
            <a:schemeClr val="bg1"/>
          </a:solidFill>
          <a:latin typeface="+mn-lt"/>
        </a:defRPr>
      </a:lvl4pPr>
      <a:lvl5pPr marL="1377950" indent="-293688" algn="l" rtl="0" eaLnBrk="1" fontAlgn="base" hangingPunct="1">
        <a:spcBef>
          <a:spcPct val="20000"/>
        </a:spcBef>
        <a:spcAft>
          <a:spcPct val="0"/>
        </a:spcAft>
        <a:buChar char="»"/>
        <a:defRPr sz="1400">
          <a:solidFill>
            <a:schemeClr val="bg1"/>
          </a:solidFill>
          <a:latin typeface="+mn-lt"/>
        </a:defRPr>
      </a:lvl5pPr>
      <a:lvl6pPr marL="2514600" indent="-228600" algn="l" rtl="0" eaLnBrk="1" fontAlgn="base" hangingPunct="1">
        <a:spcBef>
          <a:spcPct val="20000"/>
        </a:spcBef>
        <a:spcAft>
          <a:spcPct val="0"/>
        </a:spcAft>
        <a:buChar char="»"/>
        <a:defRPr sz="2000">
          <a:solidFill>
            <a:schemeClr val="bg1"/>
          </a:solidFill>
          <a:latin typeface="+mn-lt"/>
        </a:defRPr>
      </a:lvl6pPr>
      <a:lvl7pPr marL="2971800" indent="-228600" algn="l" rtl="0" eaLnBrk="1" fontAlgn="base" hangingPunct="1">
        <a:spcBef>
          <a:spcPct val="20000"/>
        </a:spcBef>
        <a:spcAft>
          <a:spcPct val="0"/>
        </a:spcAft>
        <a:buChar char="»"/>
        <a:defRPr sz="2000">
          <a:solidFill>
            <a:schemeClr val="bg1"/>
          </a:solidFill>
          <a:latin typeface="+mn-lt"/>
        </a:defRPr>
      </a:lvl7pPr>
      <a:lvl8pPr marL="3429000" indent="-228600" algn="l" rtl="0" eaLnBrk="1" fontAlgn="base" hangingPunct="1">
        <a:spcBef>
          <a:spcPct val="20000"/>
        </a:spcBef>
        <a:spcAft>
          <a:spcPct val="0"/>
        </a:spcAft>
        <a:buChar char="»"/>
        <a:defRPr sz="2000">
          <a:solidFill>
            <a:schemeClr val="bg1"/>
          </a:solidFill>
          <a:latin typeface="+mn-lt"/>
        </a:defRPr>
      </a:lvl8pPr>
      <a:lvl9pPr marL="3886200" indent="-228600" algn="l" rtl="0" eaLnBrk="1" fontAlgn="base" hangingPunct="1">
        <a:spcBef>
          <a:spcPct val="20000"/>
        </a:spcBef>
        <a:spcAft>
          <a:spcPct val="0"/>
        </a:spcAft>
        <a:buChar char="»"/>
        <a:defRPr sz="2000">
          <a:solidFill>
            <a:schemeClr val="bg1"/>
          </a:solidFill>
          <a:latin typeface="+mn-lt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slideLayout" Target="../slideLayouts/slideLayout2.xml"/><Relationship Id="rId1" Type="http://schemas.openxmlformats.org/officeDocument/2006/relationships/video" Target="https://www.youtube.com/embed/EAu-j9gYmXs?feature=oembed" TargetMode="Externa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ctrTitle"/>
          </p:nvPr>
        </p:nvSpPr>
        <p:spPr>
          <a:xfrm>
            <a:off x="452436" y="2274838"/>
            <a:ext cx="8111067" cy="2308324"/>
          </a:xfrm>
        </p:spPr>
        <p:txBody>
          <a:bodyPr/>
          <a:lstStyle/>
          <a:p>
            <a:r>
              <a:rPr lang="en-US" sz="7200" dirty="0"/>
              <a:t>Introductory General Chemistry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24933" y="335982"/>
            <a:ext cx="6793992" cy="1466314"/>
          </a:xfrm>
        </p:spPr>
        <p:txBody>
          <a:bodyPr/>
          <a:lstStyle/>
          <a:p>
            <a:r>
              <a:rPr lang="en-US" sz="4800" dirty="0">
                <a:latin typeface="Cambria" panose="02040503050406030204" pitchFamily="18" charset="0"/>
                <a:ea typeface="Cambria" panose="02040503050406030204" pitchFamily="18" charset="0"/>
              </a:rPr>
              <a:t>Chemistry 3A</a:t>
            </a:r>
          </a:p>
        </p:txBody>
      </p:sp>
      <p:sp>
        <p:nvSpPr>
          <p:cNvPr id="5" name="Rectangle 3"/>
          <p:cNvSpPr txBox="1">
            <a:spLocks noChangeArrowheads="1"/>
          </p:cNvSpPr>
          <p:nvPr/>
        </p:nvSpPr>
        <p:spPr bwMode="auto">
          <a:xfrm>
            <a:off x="452436" y="6183465"/>
            <a:ext cx="8212591" cy="33855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0" cap="none" spc="0" normalizeH="0" baseline="0" noProof="0" dirty="0">
                <a:ln>
                  <a:noFill/>
                </a:ln>
                <a:solidFill>
                  <a:srgbClr val="99FFCC"/>
                </a:solidFill>
                <a:effectLst/>
                <a:uLnTx/>
                <a:uFillTx/>
                <a:latin typeface="Tahoma" pitchFamily="34" charset="0"/>
                <a:ea typeface="+mn-ea"/>
                <a:cs typeface="+mn-cs"/>
              </a:rPr>
              <a:t>S. M. Halloran</a:t>
            </a:r>
          </a:p>
        </p:txBody>
      </p:sp>
      <p:grpSp>
        <p:nvGrpSpPr>
          <p:cNvPr id="7" name="Graphic 5">
            <a:extLst>
              <a:ext uri="{FF2B5EF4-FFF2-40B4-BE49-F238E27FC236}">
                <a16:creationId xmlns:a16="http://schemas.microsoft.com/office/drawing/2014/main" id="{5B52E0F6-8842-2F84-F5D5-89B62A99B5B8}"/>
              </a:ext>
            </a:extLst>
          </p:cNvPr>
          <p:cNvGrpSpPr/>
          <p:nvPr/>
        </p:nvGrpSpPr>
        <p:grpSpPr>
          <a:xfrm>
            <a:off x="6173698" y="6065033"/>
            <a:ext cx="2491329" cy="325030"/>
            <a:chOff x="3790393" y="2022509"/>
            <a:chExt cx="3776519" cy="492702"/>
          </a:xfrm>
          <a:solidFill>
            <a:schemeClr val="bg1"/>
          </a:solidFill>
        </p:grpSpPr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4445359E-6CDB-90C0-FF05-8856FBB015CC}"/>
                </a:ext>
              </a:extLst>
            </p:cNvPr>
            <p:cNvSpPr/>
            <p:nvPr/>
          </p:nvSpPr>
          <p:spPr>
            <a:xfrm>
              <a:off x="3790393" y="2022509"/>
              <a:ext cx="492702" cy="492702"/>
            </a:xfrm>
            <a:custGeom>
              <a:avLst/>
              <a:gdLst>
                <a:gd name="connsiteX0" fmla="*/ 21214 w 492702"/>
                <a:gd name="connsiteY0" fmla="*/ 0 h 492702"/>
                <a:gd name="connsiteX1" fmla="*/ 471489 w 492702"/>
                <a:gd name="connsiteY1" fmla="*/ 0 h 492702"/>
                <a:gd name="connsiteX2" fmla="*/ 492703 w 492702"/>
                <a:gd name="connsiteY2" fmla="*/ 21122 h 492702"/>
                <a:gd name="connsiteX3" fmla="*/ 492703 w 492702"/>
                <a:gd name="connsiteY3" fmla="*/ 471580 h 492702"/>
                <a:gd name="connsiteX4" fmla="*/ 471489 w 492702"/>
                <a:gd name="connsiteY4" fmla="*/ 492703 h 492702"/>
                <a:gd name="connsiteX5" fmla="*/ 21214 w 492702"/>
                <a:gd name="connsiteY5" fmla="*/ 492703 h 492702"/>
                <a:gd name="connsiteX6" fmla="*/ 0 w 492702"/>
                <a:gd name="connsiteY6" fmla="*/ 471580 h 492702"/>
                <a:gd name="connsiteX7" fmla="*/ 0 w 492702"/>
                <a:gd name="connsiteY7" fmla="*/ 21122 h 492702"/>
                <a:gd name="connsiteX8" fmla="*/ 21214 w 492702"/>
                <a:gd name="connsiteY8" fmla="*/ 0 h 4927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92702" h="492702">
                  <a:moveTo>
                    <a:pt x="21214" y="0"/>
                  </a:moveTo>
                  <a:lnTo>
                    <a:pt x="471489" y="0"/>
                  </a:lnTo>
                  <a:cubicBezTo>
                    <a:pt x="483182" y="-27"/>
                    <a:pt x="492675" y="9430"/>
                    <a:pt x="492703" y="21122"/>
                  </a:cubicBezTo>
                  <a:lnTo>
                    <a:pt x="492703" y="471580"/>
                  </a:lnTo>
                  <a:cubicBezTo>
                    <a:pt x="492675" y="483273"/>
                    <a:pt x="483182" y="492725"/>
                    <a:pt x="471489" y="492703"/>
                  </a:cubicBezTo>
                  <a:lnTo>
                    <a:pt x="21214" y="492703"/>
                  </a:lnTo>
                  <a:cubicBezTo>
                    <a:pt x="9523" y="492730"/>
                    <a:pt x="25" y="483273"/>
                    <a:pt x="0" y="471580"/>
                  </a:cubicBezTo>
                  <a:lnTo>
                    <a:pt x="0" y="21122"/>
                  </a:lnTo>
                  <a:cubicBezTo>
                    <a:pt x="25" y="9430"/>
                    <a:pt x="9523" y="-27"/>
                    <a:pt x="21214" y="0"/>
                  </a:cubicBezTo>
                </a:path>
              </a:pathLst>
            </a:custGeom>
            <a:grpFill/>
            <a:ln w="45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2909A04D-0D5D-01FD-7DB9-AC8C8BC673AF}"/>
                </a:ext>
              </a:extLst>
            </p:cNvPr>
            <p:cNvSpPr/>
            <p:nvPr/>
          </p:nvSpPr>
          <p:spPr>
            <a:xfrm>
              <a:off x="3790393" y="2022509"/>
              <a:ext cx="492702" cy="492702"/>
            </a:xfrm>
            <a:custGeom>
              <a:avLst/>
              <a:gdLst>
                <a:gd name="connsiteX0" fmla="*/ 21214 w 492702"/>
                <a:gd name="connsiteY0" fmla="*/ 0 h 492702"/>
                <a:gd name="connsiteX1" fmla="*/ 471489 w 492702"/>
                <a:gd name="connsiteY1" fmla="*/ 0 h 492702"/>
                <a:gd name="connsiteX2" fmla="*/ 492703 w 492702"/>
                <a:gd name="connsiteY2" fmla="*/ 21122 h 492702"/>
                <a:gd name="connsiteX3" fmla="*/ 492703 w 492702"/>
                <a:gd name="connsiteY3" fmla="*/ 471580 h 492702"/>
                <a:gd name="connsiteX4" fmla="*/ 471489 w 492702"/>
                <a:gd name="connsiteY4" fmla="*/ 492703 h 492702"/>
                <a:gd name="connsiteX5" fmla="*/ 21214 w 492702"/>
                <a:gd name="connsiteY5" fmla="*/ 492703 h 492702"/>
                <a:gd name="connsiteX6" fmla="*/ 0 w 492702"/>
                <a:gd name="connsiteY6" fmla="*/ 471580 h 492702"/>
                <a:gd name="connsiteX7" fmla="*/ 0 w 492702"/>
                <a:gd name="connsiteY7" fmla="*/ 21122 h 492702"/>
                <a:gd name="connsiteX8" fmla="*/ 21214 w 492702"/>
                <a:gd name="connsiteY8" fmla="*/ 0 h 4927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92702" h="492702">
                  <a:moveTo>
                    <a:pt x="21214" y="0"/>
                  </a:moveTo>
                  <a:lnTo>
                    <a:pt x="471489" y="0"/>
                  </a:lnTo>
                  <a:cubicBezTo>
                    <a:pt x="483182" y="-27"/>
                    <a:pt x="492675" y="9430"/>
                    <a:pt x="492703" y="21122"/>
                  </a:cubicBezTo>
                  <a:lnTo>
                    <a:pt x="492703" y="471580"/>
                  </a:lnTo>
                  <a:cubicBezTo>
                    <a:pt x="492675" y="483273"/>
                    <a:pt x="483182" y="492725"/>
                    <a:pt x="471489" y="492703"/>
                  </a:cubicBezTo>
                  <a:lnTo>
                    <a:pt x="21214" y="492703"/>
                  </a:lnTo>
                  <a:cubicBezTo>
                    <a:pt x="9523" y="492730"/>
                    <a:pt x="25" y="483273"/>
                    <a:pt x="0" y="471580"/>
                  </a:cubicBezTo>
                  <a:lnTo>
                    <a:pt x="0" y="21122"/>
                  </a:lnTo>
                  <a:cubicBezTo>
                    <a:pt x="25" y="9430"/>
                    <a:pt x="9523" y="-27"/>
                    <a:pt x="21214" y="0"/>
                  </a:cubicBezTo>
                  <a:close/>
                </a:path>
              </a:pathLst>
            </a:custGeom>
            <a:grpFill/>
            <a:ln w="7968" cap="flat">
              <a:solidFill>
                <a:srgbClr val="23202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56EE4331-1540-5318-0722-CE5188B33B81}"/>
                </a:ext>
              </a:extLst>
            </p:cNvPr>
            <p:cNvSpPr/>
            <p:nvPr/>
          </p:nvSpPr>
          <p:spPr>
            <a:xfrm>
              <a:off x="3825932" y="2058504"/>
              <a:ext cx="421762" cy="419709"/>
            </a:xfrm>
            <a:custGeom>
              <a:avLst/>
              <a:gdLst>
                <a:gd name="connsiteX0" fmla="*/ 59717 w 421762"/>
                <a:gd name="connsiteY0" fmla="*/ 0 h 419709"/>
                <a:gd name="connsiteX1" fmla="*/ 421489 w 421762"/>
                <a:gd name="connsiteY1" fmla="*/ 0 h 419709"/>
                <a:gd name="connsiteX2" fmla="*/ 421489 w 421762"/>
                <a:gd name="connsiteY2" fmla="*/ 57117 h 419709"/>
                <a:gd name="connsiteX3" fmla="*/ 57391 w 421762"/>
                <a:gd name="connsiteY3" fmla="*/ 57117 h 419709"/>
                <a:gd name="connsiteX4" fmla="*/ 57391 w 421762"/>
                <a:gd name="connsiteY4" fmla="*/ 167656 h 419709"/>
                <a:gd name="connsiteX5" fmla="*/ 91059 w 421762"/>
                <a:gd name="connsiteY5" fmla="*/ 167656 h 419709"/>
                <a:gd name="connsiteX6" fmla="*/ 91059 w 421762"/>
                <a:gd name="connsiteY6" fmla="*/ 144024 h 419709"/>
                <a:gd name="connsiteX7" fmla="*/ 150913 w 421762"/>
                <a:gd name="connsiteY7" fmla="*/ 90648 h 419709"/>
                <a:gd name="connsiteX8" fmla="*/ 421626 w 421762"/>
                <a:gd name="connsiteY8" fmla="*/ 90648 h 419709"/>
                <a:gd name="connsiteX9" fmla="*/ 421626 w 421762"/>
                <a:gd name="connsiteY9" fmla="*/ 147902 h 419709"/>
                <a:gd name="connsiteX10" fmla="*/ 149681 w 421762"/>
                <a:gd name="connsiteY10" fmla="*/ 147902 h 419709"/>
                <a:gd name="connsiteX11" fmla="*/ 149681 w 421762"/>
                <a:gd name="connsiteY11" fmla="*/ 167793 h 419709"/>
                <a:gd name="connsiteX12" fmla="*/ 421626 w 421762"/>
                <a:gd name="connsiteY12" fmla="*/ 167793 h 419709"/>
                <a:gd name="connsiteX13" fmla="*/ 421626 w 421762"/>
                <a:gd name="connsiteY13" fmla="*/ 224910 h 419709"/>
                <a:gd name="connsiteX14" fmla="*/ 225776 w 421762"/>
                <a:gd name="connsiteY14" fmla="*/ 224910 h 419709"/>
                <a:gd name="connsiteX15" fmla="*/ 225776 w 421762"/>
                <a:gd name="connsiteY15" fmla="*/ 284490 h 419709"/>
                <a:gd name="connsiteX16" fmla="*/ 421626 w 421762"/>
                <a:gd name="connsiteY16" fmla="*/ 284490 h 419709"/>
                <a:gd name="connsiteX17" fmla="*/ 421626 w 421762"/>
                <a:gd name="connsiteY17" fmla="*/ 342702 h 419709"/>
                <a:gd name="connsiteX18" fmla="*/ 220895 w 421762"/>
                <a:gd name="connsiteY18" fmla="*/ 342702 h 419709"/>
                <a:gd name="connsiteX19" fmla="*/ 168523 w 421762"/>
                <a:gd name="connsiteY19" fmla="*/ 284353 h 419709"/>
                <a:gd name="connsiteX20" fmla="*/ 168523 w 421762"/>
                <a:gd name="connsiteY20" fmla="*/ 224773 h 419709"/>
                <a:gd name="connsiteX21" fmla="*/ 149818 w 421762"/>
                <a:gd name="connsiteY21" fmla="*/ 224773 h 419709"/>
                <a:gd name="connsiteX22" fmla="*/ 149818 w 421762"/>
                <a:gd name="connsiteY22" fmla="*/ 362593 h 419709"/>
                <a:gd name="connsiteX23" fmla="*/ 421763 w 421762"/>
                <a:gd name="connsiteY23" fmla="*/ 362593 h 419709"/>
                <a:gd name="connsiteX24" fmla="*/ 421763 w 421762"/>
                <a:gd name="connsiteY24" fmla="*/ 419710 h 419709"/>
                <a:gd name="connsiteX25" fmla="*/ 144845 w 421762"/>
                <a:gd name="connsiteY25" fmla="*/ 419710 h 419709"/>
                <a:gd name="connsiteX26" fmla="*/ 91196 w 421762"/>
                <a:gd name="connsiteY26" fmla="*/ 364969 h 419709"/>
                <a:gd name="connsiteX27" fmla="*/ 91196 w 421762"/>
                <a:gd name="connsiteY27" fmla="*/ 364965 h 419709"/>
                <a:gd name="connsiteX28" fmla="*/ 91196 w 421762"/>
                <a:gd name="connsiteY28" fmla="*/ 224773 h 419709"/>
                <a:gd name="connsiteX29" fmla="*/ 57528 w 421762"/>
                <a:gd name="connsiteY29" fmla="*/ 224773 h 419709"/>
                <a:gd name="connsiteX30" fmla="*/ 57528 w 421762"/>
                <a:gd name="connsiteY30" fmla="*/ 419710 h 419709"/>
                <a:gd name="connsiteX31" fmla="*/ 0 w 421762"/>
                <a:gd name="connsiteY31" fmla="*/ 419710 h 419709"/>
                <a:gd name="connsiteX32" fmla="*/ 0 w 421762"/>
                <a:gd name="connsiteY32" fmla="*/ 53422 h 419709"/>
                <a:gd name="connsiteX33" fmla="*/ 59854 w 421762"/>
                <a:gd name="connsiteY33" fmla="*/ 0 h 4197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</a:cxnLst>
              <a:rect l="l" t="t" r="r" b="b"/>
              <a:pathLst>
                <a:path w="421762" h="419709">
                  <a:moveTo>
                    <a:pt x="59717" y="0"/>
                  </a:moveTo>
                  <a:lnTo>
                    <a:pt x="421489" y="0"/>
                  </a:lnTo>
                  <a:lnTo>
                    <a:pt x="421489" y="57117"/>
                  </a:lnTo>
                  <a:lnTo>
                    <a:pt x="57391" y="57117"/>
                  </a:lnTo>
                  <a:lnTo>
                    <a:pt x="57391" y="167656"/>
                  </a:lnTo>
                  <a:lnTo>
                    <a:pt x="91059" y="167656"/>
                  </a:lnTo>
                  <a:lnTo>
                    <a:pt x="91059" y="144024"/>
                  </a:lnTo>
                  <a:cubicBezTo>
                    <a:pt x="91059" y="112865"/>
                    <a:pt x="119572" y="90648"/>
                    <a:pt x="150913" y="90648"/>
                  </a:cubicBezTo>
                  <a:lnTo>
                    <a:pt x="421626" y="90648"/>
                  </a:lnTo>
                  <a:lnTo>
                    <a:pt x="421626" y="147902"/>
                  </a:lnTo>
                  <a:lnTo>
                    <a:pt x="149681" y="147902"/>
                  </a:lnTo>
                  <a:lnTo>
                    <a:pt x="149681" y="167793"/>
                  </a:lnTo>
                  <a:lnTo>
                    <a:pt x="421626" y="167793"/>
                  </a:lnTo>
                  <a:lnTo>
                    <a:pt x="421626" y="224910"/>
                  </a:lnTo>
                  <a:lnTo>
                    <a:pt x="225776" y="224910"/>
                  </a:lnTo>
                  <a:lnTo>
                    <a:pt x="225776" y="284490"/>
                  </a:lnTo>
                  <a:lnTo>
                    <a:pt x="421626" y="284490"/>
                  </a:lnTo>
                  <a:lnTo>
                    <a:pt x="421626" y="342702"/>
                  </a:lnTo>
                  <a:lnTo>
                    <a:pt x="220895" y="342702"/>
                  </a:lnTo>
                  <a:cubicBezTo>
                    <a:pt x="190192" y="342702"/>
                    <a:pt x="168523" y="314919"/>
                    <a:pt x="168523" y="284353"/>
                  </a:cubicBezTo>
                  <a:lnTo>
                    <a:pt x="168523" y="224773"/>
                  </a:lnTo>
                  <a:lnTo>
                    <a:pt x="149818" y="224773"/>
                  </a:lnTo>
                  <a:lnTo>
                    <a:pt x="149818" y="362593"/>
                  </a:lnTo>
                  <a:lnTo>
                    <a:pt x="421763" y="362593"/>
                  </a:lnTo>
                  <a:lnTo>
                    <a:pt x="421763" y="419710"/>
                  </a:lnTo>
                  <a:lnTo>
                    <a:pt x="144845" y="419710"/>
                  </a:lnTo>
                  <a:cubicBezTo>
                    <a:pt x="114914" y="419408"/>
                    <a:pt x="90894" y="394901"/>
                    <a:pt x="91196" y="364969"/>
                  </a:cubicBezTo>
                  <a:cubicBezTo>
                    <a:pt x="91196" y="364969"/>
                    <a:pt x="91196" y="364965"/>
                    <a:pt x="91196" y="364965"/>
                  </a:cubicBezTo>
                  <a:lnTo>
                    <a:pt x="91196" y="224773"/>
                  </a:lnTo>
                  <a:lnTo>
                    <a:pt x="57528" y="224773"/>
                  </a:lnTo>
                  <a:lnTo>
                    <a:pt x="57528" y="419710"/>
                  </a:lnTo>
                  <a:lnTo>
                    <a:pt x="0" y="419710"/>
                  </a:lnTo>
                  <a:lnTo>
                    <a:pt x="0" y="53422"/>
                  </a:lnTo>
                  <a:cubicBezTo>
                    <a:pt x="0" y="22217"/>
                    <a:pt x="28513" y="0"/>
                    <a:pt x="59854" y="0"/>
                  </a:cubicBezTo>
                </a:path>
              </a:pathLst>
            </a:custGeom>
            <a:grpFill/>
            <a:ln w="45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A72C943D-29C0-01D5-C496-31B31C02ECE3}"/>
                </a:ext>
              </a:extLst>
            </p:cNvPr>
            <p:cNvSpPr/>
            <p:nvPr/>
          </p:nvSpPr>
          <p:spPr>
            <a:xfrm>
              <a:off x="3825932" y="2058504"/>
              <a:ext cx="421762" cy="419709"/>
            </a:xfrm>
            <a:custGeom>
              <a:avLst/>
              <a:gdLst>
                <a:gd name="connsiteX0" fmla="*/ 59717 w 421762"/>
                <a:gd name="connsiteY0" fmla="*/ 0 h 419709"/>
                <a:gd name="connsiteX1" fmla="*/ 421489 w 421762"/>
                <a:gd name="connsiteY1" fmla="*/ 0 h 419709"/>
                <a:gd name="connsiteX2" fmla="*/ 421489 w 421762"/>
                <a:gd name="connsiteY2" fmla="*/ 57117 h 419709"/>
                <a:gd name="connsiteX3" fmla="*/ 57391 w 421762"/>
                <a:gd name="connsiteY3" fmla="*/ 57117 h 419709"/>
                <a:gd name="connsiteX4" fmla="*/ 57391 w 421762"/>
                <a:gd name="connsiteY4" fmla="*/ 167656 h 419709"/>
                <a:gd name="connsiteX5" fmla="*/ 91059 w 421762"/>
                <a:gd name="connsiteY5" fmla="*/ 167656 h 419709"/>
                <a:gd name="connsiteX6" fmla="*/ 91059 w 421762"/>
                <a:gd name="connsiteY6" fmla="*/ 144024 h 419709"/>
                <a:gd name="connsiteX7" fmla="*/ 150913 w 421762"/>
                <a:gd name="connsiteY7" fmla="*/ 90648 h 419709"/>
                <a:gd name="connsiteX8" fmla="*/ 421626 w 421762"/>
                <a:gd name="connsiteY8" fmla="*/ 90648 h 419709"/>
                <a:gd name="connsiteX9" fmla="*/ 421626 w 421762"/>
                <a:gd name="connsiteY9" fmla="*/ 147902 h 419709"/>
                <a:gd name="connsiteX10" fmla="*/ 149681 w 421762"/>
                <a:gd name="connsiteY10" fmla="*/ 147902 h 419709"/>
                <a:gd name="connsiteX11" fmla="*/ 149681 w 421762"/>
                <a:gd name="connsiteY11" fmla="*/ 167793 h 419709"/>
                <a:gd name="connsiteX12" fmla="*/ 421626 w 421762"/>
                <a:gd name="connsiteY12" fmla="*/ 167793 h 419709"/>
                <a:gd name="connsiteX13" fmla="*/ 421626 w 421762"/>
                <a:gd name="connsiteY13" fmla="*/ 224910 h 419709"/>
                <a:gd name="connsiteX14" fmla="*/ 225776 w 421762"/>
                <a:gd name="connsiteY14" fmla="*/ 224910 h 419709"/>
                <a:gd name="connsiteX15" fmla="*/ 225776 w 421762"/>
                <a:gd name="connsiteY15" fmla="*/ 284490 h 419709"/>
                <a:gd name="connsiteX16" fmla="*/ 421626 w 421762"/>
                <a:gd name="connsiteY16" fmla="*/ 284490 h 419709"/>
                <a:gd name="connsiteX17" fmla="*/ 421626 w 421762"/>
                <a:gd name="connsiteY17" fmla="*/ 342702 h 419709"/>
                <a:gd name="connsiteX18" fmla="*/ 220895 w 421762"/>
                <a:gd name="connsiteY18" fmla="*/ 342702 h 419709"/>
                <a:gd name="connsiteX19" fmla="*/ 168523 w 421762"/>
                <a:gd name="connsiteY19" fmla="*/ 284353 h 419709"/>
                <a:gd name="connsiteX20" fmla="*/ 168523 w 421762"/>
                <a:gd name="connsiteY20" fmla="*/ 224773 h 419709"/>
                <a:gd name="connsiteX21" fmla="*/ 149818 w 421762"/>
                <a:gd name="connsiteY21" fmla="*/ 224773 h 419709"/>
                <a:gd name="connsiteX22" fmla="*/ 149818 w 421762"/>
                <a:gd name="connsiteY22" fmla="*/ 362593 h 419709"/>
                <a:gd name="connsiteX23" fmla="*/ 421763 w 421762"/>
                <a:gd name="connsiteY23" fmla="*/ 362593 h 419709"/>
                <a:gd name="connsiteX24" fmla="*/ 421763 w 421762"/>
                <a:gd name="connsiteY24" fmla="*/ 419710 h 419709"/>
                <a:gd name="connsiteX25" fmla="*/ 144845 w 421762"/>
                <a:gd name="connsiteY25" fmla="*/ 419710 h 419709"/>
                <a:gd name="connsiteX26" fmla="*/ 91196 w 421762"/>
                <a:gd name="connsiteY26" fmla="*/ 364969 h 419709"/>
                <a:gd name="connsiteX27" fmla="*/ 91196 w 421762"/>
                <a:gd name="connsiteY27" fmla="*/ 364965 h 419709"/>
                <a:gd name="connsiteX28" fmla="*/ 91196 w 421762"/>
                <a:gd name="connsiteY28" fmla="*/ 224773 h 419709"/>
                <a:gd name="connsiteX29" fmla="*/ 57528 w 421762"/>
                <a:gd name="connsiteY29" fmla="*/ 224773 h 419709"/>
                <a:gd name="connsiteX30" fmla="*/ 57528 w 421762"/>
                <a:gd name="connsiteY30" fmla="*/ 419710 h 419709"/>
                <a:gd name="connsiteX31" fmla="*/ 0 w 421762"/>
                <a:gd name="connsiteY31" fmla="*/ 419710 h 419709"/>
                <a:gd name="connsiteX32" fmla="*/ 0 w 421762"/>
                <a:gd name="connsiteY32" fmla="*/ 53422 h 419709"/>
                <a:gd name="connsiteX33" fmla="*/ 59717 w 421762"/>
                <a:gd name="connsiteY33" fmla="*/ 0 h 4197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</a:cxnLst>
              <a:rect l="l" t="t" r="r" b="b"/>
              <a:pathLst>
                <a:path w="421762" h="419709">
                  <a:moveTo>
                    <a:pt x="59717" y="0"/>
                  </a:moveTo>
                  <a:lnTo>
                    <a:pt x="421489" y="0"/>
                  </a:lnTo>
                  <a:lnTo>
                    <a:pt x="421489" y="57117"/>
                  </a:lnTo>
                  <a:lnTo>
                    <a:pt x="57391" y="57117"/>
                  </a:lnTo>
                  <a:lnTo>
                    <a:pt x="57391" y="167656"/>
                  </a:lnTo>
                  <a:lnTo>
                    <a:pt x="91059" y="167656"/>
                  </a:lnTo>
                  <a:lnTo>
                    <a:pt x="91059" y="144024"/>
                  </a:lnTo>
                  <a:cubicBezTo>
                    <a:pt x="91059" y="112865"/>
                    <a:pt x="119572" y="90648"/>
                    <a:pt x="150913" y="90648"/>
                  </a:cubicBezTo>
                  <a:lnTo>
                    <a:pt x="421626" y="90648"/>
                  </a:lnTo>
                  <a:lnTo>
                    <a:pt x="421626" y="147902"/>
                  </a:lnTo>
                  <a:lnTo>
                    <a:pt x="149681" y="147902"/>
                  </a:lnTo>
                  <a:lnTo>
                    <a:pt x="149681" y="167793"/>
                  </a:lnTo>
                  <a:lnTo>
                    <a:pt x="421626" y="167793"/>
                  </a:lnTo>
                  <a:lnTo>
                    <a:pt x="421626" y="224910"/>
                  </a:lnTo>
                  <a:lnTo>
                    <a:pt x="225776" y="224910"/>
                  </a:lnTo>
                  <a:lnTo>
                    <a:pt x="225776" y="284490"/>
                  </a:lnTo>
                  <a:lnTo>
                    <a:pt x="421626" y="284490"/>
                  </a:lnTo>
                  <a:lnTo>
                    <a:pt x="421626" y="342702"/>
                  </a:lnTo>
                  <a:lnTo>
                    <a:pt x="220895" y="342702"/>
                  </a:lnTo>
                  <a:cubicBezTo>
                    <a:pt x="190192" y="342702"/>
                    <a:pt x="168523" y="314919"/>
                    <a:pt x="168523" y="284353"/>
                  </a:cubicBezTo>
                  <a:lnTo>
                    <a:pt x="168523" y="224773"/>
                  </a:lnTo>
                  <a:lnTo>
                    <a:pt x="149818" y="224773"/>
                  </a:lnTo>
                  <a:lnTo>
                    <a:pt x="149818" y="362593"/>
                  </a:lnTo>
                  <a:lnTo>
                    <a:pt x="421763" y="362593"/>
                  </a:lnTo>
                  <a:lnTo>
                    <a:pt x="421763" y="419710"/>
                  </a:lnTo>
                  <a:lnTo>
                    <a:pt x="144845" y="419710"/>
                  </a:lnTo>
                  <a:cubicBezTo>
                    <a:pt x="114914" y="419408"/>
                    <a:pt x="90894" y="394901"/>
                    <a:pt x="91196" y="364969"/>
                  </a:cubicBezTo>
                  <a:cubicBezTo>
                    <a:pt x="91196" y="364969"/>
                    <a:pt x="91196" y="364965"/>
                    <a:pt x="91196" y="364965"/>
                  </a:cubicBezTo>
                  <a:lnTo>
                    <a:pt x="91196" y="224773"/>
                  </a:lnTo>
                  <a:lnTo>
                    <a:pt x="57528" y="224773"/>
                  </a:lnTo>
                  <a:lnTo>
                    <a:pt x="57528" y="419710"/>
                  </a:lnTo>
                  <a:lnTo>
                    <a:pt x="0" y="419710"/>
                  </a:lnTo>
                  <a:lnTo>
                    <a:pt x="0" y="53422"/>
                  </a:lnTo>
                  <a:cubicBezTo>
                    <a:pt x="0" y="22217"/>
                    <a:pt x="28513" y="0"/>
                    <a:pt x="59717" y="0"/>
                  </a:cubicBezTo>
                  <a:close/>
                </a:path>
              </a:pathLst>
            </a:custGeom>
            <a:solidFill>
              <a:srgbClr val="C00000"/>
            </a:solidFill>
            <a:ln w="820" cap="flat">
              <a:solidFill>
                <a:srgbClr val="DB0032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50741ADA-80E5-F192-86C1-F7E0C41F5B41}"/>
                </a:ext>
              </a:extLst>
            </p:cNvPr>
            <p:cNvSpPr/>
            <p:nvPr/>
          </p:nvSpPr>
          <p:spPr>
            <a:xfrm>
              <a:off x="4352622" y="2133413"/>
              <a:ext cx="200183" cy="271807"/>
            </a:xfrm>
            <a:custGeom>
              <a:avLst/>
              <a:gdLst>
                <a:gd name="connsiteX0" fmla="*/ 75913 w 200183"/>
                <a:gd name="connsiteY0" fmla="*/ 14736 h 271807"/>
                <a:gd name="connsiteX1" fmla="*/ 75913 w 200183"/>
                <a:gd name="connsiteY1" fmla="*/ 121670 h 271807"/>
                <a:gd name="connsiteX2" fmla="*/ 124179 w 200183"/>
                <a:gd name="connsiteY2" fmla="*/ 121670 h 271807"/>
                <a:gd name="connsiteX3" fmla="*/ 148586 w 200183"/>
                <a:gd name="connsiteY3" fmla="*/ 114143 h 271807"/>
                <a:gd name="connsiteX4" fmla="*/ 158851 w 200183"/>
                <a:gd name="connsiteY4" fmla="*/ 84444 h 271807"/>
                <a:gd name="connsiteX5" fmla="*/ 166196 w 200183"/>
                <a:gd name="connsiteY5" fmla="*/ 84444 h 271807"/>
                <a:gd name="connsiteX6" fmla="*/ 166196 w 200183"/>
                <a:gd name="connsiteY6" fmla="*/ 176415 h 271807"/>
                <a:gd name="connsiteX7" fmla="*/ 158851 w 200183"/>
                <a:gd name="connsiteY7" fmla="*/ 176415 h 271807"/>
                <a:gd name="connsiteX8" fmla="*/ 154836 w 200183"/>
                <a:gd name="connsiteY8" fmla="*/ 153148 h 271807"/>
                <a:gd name="connsiteX9" fmla="*/ 144298 w 200183"/>
                <a:gd name="connsiteY9" fmla="*/ 142063 h 271807"/>
                <a:gd name="connsiteX10" fmla="*/ 124179 w 200183"/>
                <a:gd name="connsiteY10" fmla="*/ 138367 h 271807"/>
                <a:gd name="connsiteX11" fmla="*/ 75913 w 200183"/>
                <a:gd name="connsiteY11" fmla="*/ 138367 h 271807"/>
                <a:gd name="connsiteX12" fmla="*/ 75913 w 200183"/>
                <a:gd name="connsiteY12" fmla="*/ 223541 h 271807"/>
                <a:gd name="connsiteX13" fmla="*/ 78467 w 200183"/>
                <a:gd name="connsiteY13" fmla="*/ 250913 h 271807"/>
                <a:gd name="connsiteX14" fmla="*/ 86725 w 200183"/>
                <a:gd name="connsiteY14" fmla="*/ 259490 h 271807"/>
                <a:gd name="connsiteX15" fmla="*/ 104745 w 200183"/>
                <a:gd name="connsiteY15" fmla="*/ 264326 h 271807"/>
                <a:gd name="connsiteX16" fmla="*/ 114371 w 200183"/>
                <a:gd name="connsiteY16" fmla="*/ 264326 h 271807"/>
                <a:gd name="connsiteX17" fmla="*/ 114371 w 200183"/>
                <a:gd name="connsiteY17" fmla="*/ 271808 h 271807"/>
                <a:gd name="connsiteX18" fmla="*/ 319 w 200183"/>
                <a:gd name="connsiteY18" fmla="*/ 271808 h 271807"/>
                <a:gd name="connsiteX19" fmla="*/ 319 w 200183"/>
                <a:gd name="connsiteY19" fmla="*/ 264326 h 271807"/>
                <a:gd name="connsiteX20" fmla="*/ 9717 w 200183"/>
                <a:gd name="connsiteY20" fmla="*/ 264326 h 271807"/>
                <a:gd name="connsiteX21" fmla="*/ 33668 w 200183"/>
                <a:gd name="connsiteY21" fmla="*/ 254517 h 271807"/>
                <a:gd name="connsiteX22" fmla="*/ 38230 w 200183"/>
                <a:gd name="connsiteY22" fmla="*/ 223678 h 271807"/>
                <a:gd name="connsiteX23" fmla="*/ 38230 w 200183"/>
                <a:gd name="connsiteY23" fmla="*/ 48084 h 271807"/>
                <a:gd name="connsiteX24" fmla="*/ 35675 w 200183"/>
                <a:gd name="connsiteY24" fmla="*/ 20712 h 271807"/>
                <a:gd name="connsiteX25" fmla="*/ 27646 w 200183"/>
                <a:gd name="connsiteY25" fmla="*/ 12089 h 271807"/>
                <a:gd name="connsiteX26" fmla="*/ 9398 w 200183"/>
                <a:gd name="connsiteY26" fmla="*/ 7299 h 271807"/>
                <a:gd name="connsiteX27" fmla="*/ 0 w 200183"/>
                <a:gd name="connsiteY27" fmla="*/ 7299 h 271807"/>
                <a:gd name="connsiteX28" fmla="*/ 0 w 200183"/>
                <a:gd name="connsiteY28" fmla="*/ 0 h 271807"/>
                <a:gd name="connsiteX29" fmla="*/ 197446 w 200183"/>
                <a:gd name="connsiteY29" fmla="*/ 0 h 271807"/>
                <a:gd name="connsiteX30" fmla="*/ 200183 w 200183"/>
                <a:gd name="connsiteY30" fmla="*/ 59672 h 271807"/>
                <a:gd name="connsiteX31" fmla="*/ 193295 w 200183"/>
                <a:gd name="connsiteY31" fmla="*/ 59672 h 271807"/>
                <a:gd name="connsiteX32" fmla="*/ 181479 w 200183"/>
                <a:gd name="connsiteY32" fmla="*/ 31706 h 271807"/>
                <a:gd name="connsiteX33" fmla="*/ 164827 w 200183"/>
                <a:gd name="connsiteY33" fmla="*/ 18750 h 271807"/>
                <a:gd name="connsiteX34" fmla="*/ 134170 w 200183"/>
                <a:gd name="connsiteY34" fmla="*/ 14736 h 2718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</a:cxnLst>
              <a:rect l="l" t="t" r="r" b="b"/>
              <a:pathLst>
                <a:path w="200183" h="271807">
                  <a:moveTo>
                    <a:pt x="75913" y="14736"/>
                  </a:moveTo>
                  <a:lnTo>
                    <a:pt x="75913" y="121670"/>
                  </a:lnTo>
                  <a:lnTo>
                    <a:pt x="124179" y="121670"/>
                  </a:lnTo>
                  <a:cubicBezTo>
                    <a:pt x="135311" y="121670"/>
                    <a:pt x="143445" y="119161"/>
                    <a:pt x="148586" y="114143"/>
                  </a:cubicBezTo>
                  <a:cubicBezTo>
                    <a:pt x="153728" y="109125"/>
                    <a:pt x="157149" y="99225"/>
                    <a:pt x="158851" y="84444"/>
                  </a:cubicBezTo>
                  <a:lnTo>
                    <a:pt x="166196" y="84444"/>
                  </a:lnTo>
                  <a:lnTo>
                    <a:pt x="166196" y="176415"/>
                  </a:lnTo>
                  <a:lnTo>
                    <a:pt x="158851" y="176415"/>
                  </a:lnTo>
                  <a:cubicBezTo>
                    <a:pt x="159234" y="168459"/>
                    <a:pt x="157866" y="160516"/>
                    <a:pt x="154836" y="153148"/>
                  </a:cubicBezTo>
                  <a:cubicBezTo>
                    <a:pt x="152523" y="148472"/>
                    <a:pt x="148851" y="144608"/>
                    <a:pt x="144298" y="142063"/>
                  </a:cubicBezTo>
                  <a:cubicBezTo>
                    <a:pt x="137984" y="139239"/>
                    <a:pt x="131086" y="137970"/>
                    <a:pt x="124179" y="138367"/>
                  </a:cubicBezTo>
                  <a:lnTo>
                    <a:pt x="75913" y="138367"/>
                  </a:lnTo>
                  <a:lnTo>
                    <a:pt x="75913" y="223541"/>
                  </a:lnTo>
                  <a:cubicBezTo>
                    <a:pt x="75393" y="232743"/>
                    <a:pt x="76255" y="241967"/>
                    <a:pt x="78467" y="250913"/>
                  </a:cubicBezTo>
                  <a:cubicBezTo>
                    <a:pt x="80146" y="254641"/>
                    <a:pt x="83066" y="257670"/>
                    <a:pt x="86725" y="259490"/>
                  </a:cubicBezTo>
                  <a:cubicBezTo>
                    <a:pt x="92213" y="262638"/>
                    <a:pt x="98422" y="264303"/>
                    <a:pt x="104745" y="264326"/>
                  </a:cubicBezTo>
                  <a:lnTo>
                    <a:pt x="114371" y="264326"/>
                  </a:lnTo>
                  <a:lnTo>
                    <a:pt x="114371" y="271808"/>
                  </a:lnTo>
                  <a:lnTo>
                    <a:pt x="319" y="271808"/>
                  </a:lnTo>
                  <a:lnTo>
                    <a:pt x="319" y="264326"/>
                  </a:lnTo>
                  <a:lnTo>
                    <a:pt x="9717" y="264326"/>
                  </a:lnTo>
                  <a:cubicBezTo>
                    <a:pt x="20698" y="264326"/>
                    <a:pt x="28682" y="261055"/>
                    <a:pt x="33668" y="254517"/>
                  </a:cubicBezTo>
                  <a:cubicBezTo>
                    <a:pt x="36770" y="250229"/>
                    <a:pt x="38230" y="239964"/>
                    <a:pt x="38230" y="223678"/>
                  </a:cubicBezTo>
                  <a:lnTo>
                    <a:pt x="38230" y="48084"/>
                  </a:lnTo>
                  <a:cubicBezTo>
                    <a:pt x="38759" y="38882"/>
                    <a:pt x="37897" y="29658"/>
                    <a:pt x="35675" y="20712"/>
                  </a:cubicBezTo>
                  <a:cubicBezTo>
                    <a:pt x="34024" y="17030"/>
                    <a:pt x="31204" y="13996"/>
                    <a:pt x="27646" y="12089"/>
                  </a:cubicBezTo>
                  <a:cubicBezTo>
                    <a:pt x="22099" y="8901"/>
                    <a:pt x="15798" y="7249"/>
                    <a:pt x="9398" y="7299"/>
                  </a:cubicBezTo>
                  <a:lnTo>
                    <a:pt x="0" y="7299"/>
                  </a:lnTo>
                  <a:lnTo>
                    <a:pt x="0" y="0"/>
                  </a:lnTo>
                  <a:lnTo>
                    <a:pt x="197446" y="0"/>
                  </a:lnTo>
                  <a:lnTo>
                    <a:pt x="200183" y="59672"/>
                  </a:lnTo>
                  <a:lnTo>
                    <a:pt x="193295" y="59672"/>
                  </a:lnTo>
                  <a:cubicBezTo>
                    <a:pt x="191109" y="49704"/>
                    <a:pt x="187104" y="40224"/>
                    <a:pt x="181479" y="31706"/>
                  </a:cubicBezTo>
                  <a:cubicBezTo>
                    <a:pt x="177227" y="25940"/>
                    <a:pt x="171465" y="21455"/>
                    <a:pt x="164827" y="18750"/>
                  </a:cubicBezTo>
                  <a:cubicBezTo>
                    <a:pt x="154928" y="15602"/>
                    <a:pt x="144544" y="14243"/>
                    <a:pt x="134170" y="14736"/>
                  </a:cubicBezTo>
                  <a:close/>
                </a:path>
              </a:pathLst>
            </a:custGeom>
            <a:grpFill/>
            <a:ln w="45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3C2904AC-BC83-A3A1-4615-D3F6C57D071B}"/>
                </a:ext>
              </a:extLst>
            </p:cNvPr>
            <p:cNvSpPr/>
            <p:nvPr/>
          </p:nvSpPr>
          <p:spPr>
            <a:xfrm>
              <a:off x="4572239" y="2216155"/>
              <a:ext cx="133308" cy="189156"/>
            </a:xfrm>
            <a:custGeom>
              <a:avLst/>
              <a:gdLst>
                <a:gd name="connsiteX0" fmla="*/ 62683 w 133308"/>
                <a:gd name="connsiteY0" fmla="*/ 14 h 189156"/>
                <a:gd name="connsiteX1" fmla="*/ 62683 w 133308"/>
                <a:gd name="connsiteY1" fmla="*/ 41072 h 189156"/>
                <a:gd name="connsiteX2" fmla="*/ 108577 w 133308"/>
                <a:gd name="connsiteY2" fmla="*/ 14 h 189156"/>
                <a:gd name="connsiteX3" fmla="*/ 126278 w 133308"/>
                <a:gd name="connsiteY3" fmla="*/ 6720 h 189156"/>
                <a:gd name="connsiteX4" fmla="*/ 133303 w 133308"/>
                <a:gd name="connsiteY4" fmla="*/ 22231 h 189156"/>
                <a:gd name="connsiteX5" fmla="*/ 128239 w 133308"/>
                <a:gd name="connsiteY5" fmla="*/ 35461 h 189156"/>
                <a:gd name="connsiteX6" fmla="*/ 116196 w 133308"/>
                <a:gd name="connsiteY6" fmla="*/ 40844 h 189156"/>
                <a:gd name="connsiteX7" fmla="*/ 100913 w 133308"/>
                <a:gd name="connsiteY7" fmla="*/ 34001 h 189156"/>
                <a:gd name="connsiteX8" fmla="*/ 88367 w 133308"/>
                <a:gd name="connsiteY8" fmla="*/ 27158 h 189156"/>
                <a:gd name="connsiteX9" fmla="*/ 80749 w 133308"/>
                <a:gd name="connsiteY9" fmla="*/ 31173 h 189156"/>
                <a:gd name="connsiteX10" fmla="*/ 62500 w 133308"/>
                <a:gd name="connsiteY10" fmla="*/ 58089 h 189156"/>
                <a:gd name="connsiteX11" fmla="*/ 62500 w 133308"/>
                <a:gd name="connsiteY11" fmla="*/ 146045 h 189156"/>
                <a:gd name="connsiteX12" fmla="*/ 66196 w 133308"/>
                <a:gd name="connsiteY12" fmla="*/ 169175 h 189156"/>
                <a:gd name="connsiteX13" fmla="*/ 75320 w 133308"/>
                <a:gd name="connsiteY13" fmla="*/ 178299 h 189156"/>
                <a:gd name="connsiteX14" fmla="*/ 93933 w 133308"/>
                <a:gd name="connsiteY14" fmla="*/ 181857 h 189156"/>
                <a:gd name="connsiteX15" fmla="*/ 93933 w 133308"/>
                <a:gd name="connsiteY15" fmla="*/ 189157 h 189156"/>
                <a:gd name="connsiteX16" fmla="*/ 1779 w 133308"/>
                <a:gd name="connsiteY16" fmla="*/ 189157 h 189156"/>
                <a:gd name="connsiteX17" fmla="*/ 1779 w 133308"/>
                <a:gd name="connsiteY17" fmla="*/ 181857 h 189156"/>
                <a:gd name="connsiteX18" fmla="*/ 22126 w 133308"/>
                <a:gd name="connsiteY18" fmla="*/ 177295 h 189156"/>
                <a:gd name="connsiteX19" fmla="*/ 29015 w 133308"/>
                <a:gd name="connsiteY19" fmla="*/ 167031 h 189156"/>
                <a:gd name="connsiteX20" fmla="*/ 29973 w 133308"/>
                <a:gd name="connsiteY20" fmla="*/ 147505 h 189156"/>
                <a:gd name="connsiteX21" fmla="*/ 29973 w 133308"/>
                <a:gd name="connsiteY21" fmla="*/ 76565 h 189156"/>
                <a:gd name="connsiteX22" fmla="*/ 28695 w 133308"/>
                <a:gd name="connsiteY22" fmla="*/ 38426 h 189156"/>
                <a:gd name="connsiteX23" fmla="*/ 24133 w 133308"/>
                <a:gd name="connsiteY23" fmla="*/ 29530 h 189156"/>
                <a:gd name="connsiteX24" fmla="*/ 15648 w 133308"/>
                <a:gd name="connsiteY24" fmla="*/ 26702 h 189156"/>
                <a:gd name="connsiteX25" fmla="*/ 1962 w 133308"/>
                <a:gd name="connsiteY25" fmla="*/ 29713 h 189156"/>
                <a:gd name="connsiteX26" fmla="*/ 0 w 133308"/>
                <a:gd name="connsiteY26" fmla="*/ 22459 h 189156"/>
                <a:gd name="connsiteX27" fmla="*/ 54471 w 133308"/>
                <a:gd name="connsiteY27" fmla="*/ 14 h 1891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133308" h="189156">
                  <a:moveTo>
                    <a:pt x="62683" y="14"/>
                  </a:moveTo>
                  <a:lnTo>
                    <a:pt x="62683" y="41072"/>
                  </a:lnTo>
                  <a:cubicBezTo>
                    <a:pt x="77555" y="13700"/>
                    <a:pt x="92852" y="14"/>
                    <a:pt x="108577" y="14"/>
                  </a:cubicBezTo>
                  <a:cubicBezTo>
                    <a:pt x="115137" y="-205"/>
                    <a:pt x="121511" y="2208"/>
                    <a:pt x="126278" y="6720"/>
                  </a:cubicBezTo>
                  <a:cubicBezTo>
                    <a:pt x="130712" y="10661"/>
                    <a:pt x="133262" y="16300"/>
                    <a:pt x="133303" y="22231"/>
                  </a:cubicBezTo>
                  <a:cubicBezTo>
                    <a:pt x="133422" y="27135"/>
                    <a:pt x="131602" y="31889"/>
                    <a:pt x="128239" y="35461"/>
                  </a:cubicBezTo>
                  <a:cubicBezTo>
                    <a:pt x="125192" y="38914"/>
                    <a:pt x="120799" y="40876"/>
                    <a:pt x="116196" y="40844"/>
                  </a:cubicBezTo>
                  <a:cubicBezTo>
                    <a:pt x="110475" y="40351"/>
                    <a:pt x="105092" y="37938"/>
                    <a:pt x="100913" y="34001"/>
                  </a:cubicBezTo>
                  <a:cubicBezTo>
                    <a:pt x="97482" y="30552"/>
                    <a:pt x="93125" y="28171"/>
                    <a:pt x="88367" y="27158"/>
                  </a:cubicBezTo>
                  <a:cubicBezTo>
                    <a:pt x="85402" y="27450"/>
                    <a:pt x="82665" y="28891"/>
                    <a:pt x="80749" y="31173"/>
                  </a:cubicBezTo>
                  <a:cubicBezTo>
                    <a:pt x="73166" y="39028"/>
                    <a:pt x="66994" y="48134"/>
                    <a:pt x="62500" y="58089"/>
                  </a:cubicBezTo>
                  <a:lnTo>
                    <a:pt x="62500" y="146045"/>
                  </a:lnTo>
                  <a:cubicBezTo>
                    <a:pt x="62090" y="153928"/>
                    <a:pt x="63349" y="161812"/>
                    <a:pt x="66196" y="169175"/>
                  </a:cubicBezTo>
                  <a:cubicBezTo>
                    <a:pt x="68162" y="173126"/>
                    <a:pt x="71369" y="176333"/>
                    <a:pt x="75320" y="178299"/>
                  </a:cubicBezTo>
                  <a:cubicBezTo>
                    <a:pt x="81141" y="180991"/>
                    <a:pt x="87532" y="182213"/>
                    <a:pt x="93933" y="181857"/>
                  </a:cubicBezTo>
                  <a:lnTo>
                    <a:pt x="93933" y="189157"/>
                  </a:lnTo>
                  <a:lnTo>
                    <a:pt x="1779" y="189157"/>
                  </a:lnTo>
                  <a:lnTo>
                    <a:pt x="1779" y="181857"/>
                  </a:lnTo>
                  <a:cubicBezTo>
                    <a:pt x="8859" y="182313"/>
                    <a:pt x="15922" y="180731"/>
                    <a:pt x="22126" y="177295"/>
                  </a:cubicBezTo>
                  <a:cubicBezTo>
                    <a:pt x="25616" y="174846"/>
                    <a:pt x="28070" y="171187"/>
                    <a:pt x="29015" y="167031"/>
                  </a:cubicBezTo>
                  <a:cubicBezTo>
                    <a:pt x="29923" y="160566"/>
                    <a:pt x="30242" y="154029"/>
                    <a:pt x="29973" y="147505"/>
                  </a:cubicBezTo>
                  <a:lnTo>
                    <a:pt x="29973" y="76565"/>
                  </a:lnTo>
                  <a:cubicBezTo>
                    <a:pt x="30361" y="63837"/>
                    <a:pt x="29936" y="51100"/>
                    <a:pt x="28695" y="38426"/>
                  </a:cubicBezTo>
                  <a:cubicBezTo>
                    <a:pt x="28244" y="35023"/>
                    <a:pt x="26633" y="31884"/>
                    <a:pt x="24133" y="29530"/>
                  </a:cubicBezTo>
                  <a:cubicBezTo>
                    <a:pt x="21729" y="27610"/>
                    <a:pt x="18723" y="26606"/>
                    <a:pt x="15648" y="26702"/>
                  </a:cubicBezTo>
                  <a:cubicBezTo>
                    <a:pt x="10940" y="26871"/>
                    <a:pt x="6305" y="27892"/>
                    <a:pt x="1962" y="29713"/>
                  </a:cubicBezTo>
                  <a:lnTo>
                    <a:pt x="0" y="22459"/>
                  </a:lnTo>
                  <a:lnTo>
                    <a:pt x="54471" y="14"/>
                  </a:lnTo>
                  <a:close/>
                </a:path>
              </a:pathLst>
            </a:custGeom>
            <a:grpFill/>
            <a:ln w="45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85C475EE-EFC4-76F2-B18E-BD376DF85512}"/>
                </a:ext>
              </a:extLst>
            </p:cNvPr>
            <p:cNvSpPr/>
            <p:nvPr/>
          </p:nvSpPr>
          <p:spPr>
            <a:xfrm>
              <a:off x="4717951" y="2216088"/>
              <a:ext cx="151916" cy="194663"/>
            </a:xfrm>
            <a:custGeom>
              <a:avLst/>
              <a:gdLst>
                <a:gd name="connsiteX0" fmla="*/ 27783 w 151916"/>
                <a:gd name="connsiteY0" fmla="*/ 74716 h 194663"/>
                <a:gd name="connsiteX1" fmla="*/ 47217 w 151916"/>
                <a:gd name="connsiteY1" fmla="*/ 138585 h 194663"/>
                <a:gd name="connsiteX2" fmla="*/ 93294 w 151916"/>
                <a:gd name="connsiteY2" fmla="*/ 161760 h 194663"/>
                <a:gd name="connsiteX3" fmla="*/ 123951 w 151916"/>
                <a:gd name="connsiteY3" fmla="*/ 151906 h 194663"/>
                <a:gd name="connsiteX4" fmla="*/ 145849 w 151916"/>
                <a:gd name="connsiteY4" fmla="*/ 117919 h 194663"/>
                <a:gd name="connsiteX5" fmla="*/ 151917 w 151916"/>
                <a:gd name="connsiteY5" fmla="*/ 121933 h 194663"/>
                <a:gd name="connsiteX6" fmla="*/ 127966 w 151916"/>
                <a:gd name="connsiteY6" fmla="*/ 172116 h 194663"/>
                <a:gd name="connsiteX7" fmla="*/ 78376 w 151916"/>
                <a:gd name="connsiteY7" fmla="*/ 194653 h 194663"/>
                <a:gd name="connsiteX8" fmla="*/ 23038 w 151916"/>
                <a:gd name="connsiteY8" fmla="*/ 168923 h 194663"/>
                <a:gd name="connsiteX9" fmla="*/ 0 w 151916"/>
                <a:gd name="connsiteY9" fmla="*/ 99716 h 194663"/>
                <a:gd name="connsiteX10" fmla="*/ 23586 w 151916"/>
                <a:gd name="connsiteY10" fmla="*/ 26358 h 194663"/>
                <a:gd name="connsiteX11" fmla="*/ 82893 w 151916"/>
                <a:gd name="connsiteY11" fmla="*/ 35 h 194663"/>
                <a:gd name="connsiteX12" fmla="*/ 132482 w 151916"/>
                <a:gd name="connsiteY12" fmla="*/ 20336 h 194663"/>
                <a:gd name="connsiteX13" fmla="*/ 151917 w 151916"/>
                <a:gd name="connsiteY13" fmla="*/ 74670 h 194663"/>
                <a:gd name="connsiteX14" fmla="*/ 27783 w 151916"/>
                <a:gd name="connsiteY14" fmla="*/ 63174 h 194663"/>
                <a:gd name="connsiteX15" fmla="*/ 111132 w 151916"/>
                <a:gd name="connsiteY15" fmla="*/ 63174 h 194663"/>
                <a:gd name="connsiteX16" fmla="*/ 107026 w 151916"/>
                <a:gd name="connsiteY16" fmla="*/ 38402 h 194663"/>
                <a:gd name="connsiteX17" fmla="*/ 92382 w 151916"/>
                <a:gd name="connsiteY17" fmla="*/ 20792 h 194663"/>
                <a:gd name="connsiteX18" fmla="*/ 72035 w 151916"/>
                <a:gd name="connsiteY18" fmla="*/ 14406 h 194663"/>
                <a:gd name="connsiteX19" fmla="*/ 42838 w 151916"/>
                <a:gd name="connsiteY19" fmla="*/ 27316 h 194663"/>
                <a:gd name="connsiteX20" fmla="*/ 27783 w 151916"/>
                <a:gd name="connsiteY20" fmla="*/ 63174 h 1946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51916" h="194663">
                  <a:moveTo>
                    <a:pt x="27783" y="74716"/>
                  </a:moveTo>
                  <a:cubicBezTo>
                    <a:pt x="27783" y="101906"/>
                    <a:pt x="34261" y="123197"/>
                    <a:pt x="47217" y="138585"/>
                  </a:cubicBezTo>
                  <a:cubicBezTo>
                    <a:pt x="60174" y="153973"/>
                    <a:pt x="75534" y="161701"/>
                    <a:pt x="93294" y="161760"/>
                  </a:cubicBezTo>
                  <a:cubicBezTo>
                    <a:pt x="104325" y="161993"/>
                    <a:pt x="115119" y="158521"/>
                    <a:pt x="123951" y="151906"/>
                  </a:cubicBezTo>
                  <a:cubicBezTo>
                    <a:pt x="132651" y="145337"/>
                    <a:pt x="139950" y="134009"/>
                    <a:pt x="145849" y="117919"/>
                  </a:cubicBezTo>
                  <a:lnTo>
                    <a:pt x="151917" y="121933"/>
                  </a:lnTo>
                  <a:cubicBezTo>
                    <a:pt x="149029" y="140647"/>
                    <a:pt x="140699" y="158101"/>
                    <a:pt x="127966" y="172116"/>
                  </a:cubicBezTo>
                  <a:cubicBezTo>
                    <a:pt x="115685" y="186728"/>
                    <a:pt x="97459" y="195008"/>
                    <a:pt x="78376" y="194653"/>
                  </a:cubicBezTo>
                  <a:cubicBezTo>
                    <a:pt x="57021" y="194744"/>
                    <a:pt x="36734" y="185310"/>
                    <a:pt x="23038" y="168923"/>
                  </a:cubicBezTo>
                  <a:cubicBezTo>
                    <a:pt x="7651" y="151769"/>
                    <a:pt x="-32" y="128699"/>
                    <a:pt x="0" y="99716"/>
                  </a:cubicBezTo>
                  <a:cubicBezTo>
                    <a:pt x="0" y="68361"/>
                    <a:pt x="7860" y="43909"/>
                    <a:pt x="23586" y="26358"/>
                  </a:cubicBezTo>
                  <a:cubicBezTo>
                    <a:pt x="38449" y="9196"/>
                    <a:pt x="60192" y="-458"/>
                    <a:pt x="82893" y="35"/>
                  </a:cubicBezTo>
                  <a:cubicBezTo>
                    <a:pt x="101561" y="-576"/>
                    <a:pt x="119604" y="6810"/>
                    <a:pt x="132482" y="20336"/>
                  </a:cubicBezTo>
                  <a:cubicBezTo>
                    <a:pt x="145439" y="33899"/>
                    <a:pt x="151917" y="52011"/>
                    <a:pt x="151917" y="74670"/>
                  </a:cubicBezTo>
                  <a:close/>
                  <a:moveTo>
                    <a:pt x="27783" y="63174"/>
                  </a:moveTo>
                  <a:lnTo>
                    <a:pt x="111132" y="63174"/>
                  </a:lnTo>
                  <a:cubicBezTo>
                    <a:pt x="111091" y="54752"/>
                    <a:pt x="109709" y="46386"/>
                    <a:pt x="107026" y="38402"/>
                  </a:cubicBezTo>
                  <a:cubicBezTo>
                    <a:pt x="103979" y="31221"/>
                    <a:pt x="98887" y="25099"/>
                    <a:pt x="92382" y="20792"/>
                  </a:cubicBezTo>
                  <a:cubicBezTo>
                    <a:pt x="86378" y="16700"/>
                    <a:pt x="79298" y="14479"/>
                    <a:pt x="72035" y="14406"/>
                  </a:cubicBezTo>
                  <a:cubicBezTo>
                    <a:pt x="60936" y="14483"/>
                    <a:pt x="50365" y="19159"/>
                    <a:pt x="42838" y="27316"/>
                  </a:cubicBezTo>
                  <a:cubicBezTo>
                    <a:pt x="33695" y="37084"/>
                    <a:pt x="28353" y="49807"/>
                    <a:pt x="27783" y="63174"/>
                  </a:cubicBezTo>
                </a:path>
              </a:pathLst>
            </a:custGeom>
            <a:grpFill/>
            <a:ln w="45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642E6D0B-515E-6869-B7D3-2582328136FD}"/>
                </a:ext>
              </a:extLst>
            </p:cNvPr>
            <p:cNvSpPr/>
            <p:nvPr/>
          </p:nvSpPr>
          <p:spPr>
            <a:xfrm>
              <a:off x="4900760" y="2216169"/>
              <a:ext cx="122511" cy="194800"/>
            </a:xfrm>
            <a:custGeom>
              <a:avLst/>
              <a:gdLst>
                <a:gd name="connsiteX0" fmla="*/ 108890 w 122511"/>
                <a:gd name="connsiteY0" fmla="*/ 0 h 194800"/>
                <a:gd name="connsiteX1" fmla="*/ 108890 w 122511"/>
                <a:gd name="connsiteY1" fmla="*/ 62637 h 194800"/>
                <a:gd name="connsiteX2" fmla="*/ 102594 w 122511"/>
                <a:gd name="connsiteY2" fmla="*/ 62637 h 194800"/>
                <a:gd name="connsiteX3" fmla="*/ 83570 w 122511"/>
                <a:gd name="connsiteY3" fmla="*/ 22400 h 194800"/>
                <a:gd name="connsiteX4" fmla="*/ 53917 w 122511"/>
                <a:gd name="connsiteY4" fmla="*/ 11770 h 194800"/>
                <a:gd name="connsiteX5" fmla="*/ 31837 w 122511"/>
                <a:gd name="connsiteY5" fmla="*/ 19161 h 194800"/>
                <a:gd name="connsiteX6" fmla="*/ 23214 w 122511"/>
                <a:gd name="connsiteY6" fmla="*/ 35858 h 194800"/>
                <a:gd name="connsiteX7" fmla="*/ 29464 w 122511"/>
                <a:gd name="connsiteY7" fmla="*/ 55110 h 194800"/>
                <a:gd name="connsiteX8" fmla="*/ 54100 w 122511"/>
                <a:gd name="connsiteY8" fmla="*/ 72537 h 194800"/>
                <a:gd name="connsiteX9" fmla="*/ 82749 w 122511"/>
                <a:gd name="connsiteY9" fmla="*/ 86770 h 194800"/>
                <a:gd name="connsiteX10" fmla="*/ 122485 w 122511"/>
                <a:gd name="connsiteY10" fmla="*/ 139097 h 194800"/>
                <a:gd name="connsiteX11" fmla="*/ 103963 w 122511"/>
                <a:gd name="connsiteY11" fmla="*/ 179471 h 194800"/>
                <a:gd name="connsiteX12" fmla="*/ 62585 w 122511"/>
                <a:gd name="connsiteY12" fmla="*/ 194800 h 194800"/>
                <a:gd name="connsiteX13" fmla="*/ 24994 w 122511"/>
                <a:gd name="connsiteY13" fmla="*/ 188732 h 194800"/>
                <a:gd name="connsiteX14" fmla="*/ 14410 w 122511"/>
                <a:gd name="connsiteY14" fmla="*/ 186679 h 194800"/>
                <a:gd name="connsiteX15" fmla="*/ 7338 w 122511"/>
                <a:gd name="connsiteY15" fmla="*/ 192063 h 194800"/>
                <a:gd name="connsiteX16" fmla="*/ 860 w 122511"/>
                <a:gd name="connsiteY16" fmla="*/ 192063 h 194800"/>
                <a:gd name="connsiteX17" fmla="*/ 860 w 122511"/>
                <a:gd name="connsiteY17" fmla="*/ 126369 h 194800"/>
                <a:gd name="connsiteX18" fmla="*/ 7338 w 122511"/>
                <a:gd name="connsiteY18" fmla="*/ 126369 h 194800"/>
                <a:gd name="connsiteX19" fmla="*/ 28278 w 122511"/>
                <a:gd name="connsiteY19" fmla="*/ 168796 h 194800"/>
                <a:gd name="connsiteX20" fmla="*/ 62904 w 122511"/>
                <a:gd name="connsiteY20" fmla="*/ 183076 h 194800"/>
                <a:gd name="connsiteX21" fmla="*/ 84939 w 122511"/>
                <a:gd name="connsiteY21" fmla="*/ 174955 h 194800"/>
                <a:gd name="connsiteX22" fmla="*/ 93425 w 122511"/>
                <a:gd name="connsiteY22" fmla="*/ 155384 h 194800"/>
                <a:gd name="connsiteX23" fmla="*/ 83981 w 122511"/>
                <a:gd name="connsiteY23" fmla="*/ 132117 h 194800"/>
                <a:gd name="connsiteX24" fmla="*/ 46070 w 122511"/>
                <a:gd name="connsiteY24" fmla="*/ 108303 h 194800"/>
                <a:gd name="connsiteX25" fmla="*/ 8844 w 122511"/>
                <a:gd name="connsiteY25" fmla="*/ 82299 h 194800"/>
                <a:gd name="connsiteX26" fmla="*/ 39 w 122511"/>
                <a:gd name="connsiteY26" fmla="*/ 53422 h 194800"/>
                <a:gd name="connsiteX27" fmla="*/ 15231 w 122511"/>
                <a:gd name="connsiteY27" fmla="*/ 15465 h 194800"/>
                <a:gd name="connsiteX28" fmla="*/ 54465 w 122511"/>
                <a:gd name="connsiteY28" fmla="*/ 228 h 194800"/>
                <a:gd name="connsiteX29" fmla="*/ 80103 w 122511"/>
                <a:gd name="connsiteY29" fmla="*/ 4790 h 194800"/>
                <a:gd name="connsiteX30" fmla="*/ 93425 w 122511"/>
                <a:gd name="connsiteY30" fmla="*/ 7847 h 194800"/>
                <a:gd name="connsiteX31" fmla="*/ 98306 w 122511"/>
                <a:gd name="connsiteY31" fmla="*/ 6432 h 194800"/>
                <a:gd name="connsiteX32" fmla="*/ 102412 w 122511"/>
                <a:gd name="connsiteY32" fmla="*/ 137 h 1948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122511" h="194800">
                  <a:moveTo>
                    <a:pt x="108890" y="0"/>
                  </a:moveTo>
                  <a:lnTo>
                    <a:pt x="108890" y="62637"/>
                  </a:lnTo>
                  <a:lnTo>
                    <a:pt x="102594" y="62637"/>
                  </a:lnTo>
                  <a:cubicBezTo>
                    <a:pt x="97667" y="42929"/>
                    <a:pt x="91326" y="29516"/>
                    <a:pt x="83570" y="22400"/>
                  </a:cubicBezTo>
                  <a:cubicBezTo>
                    <a:pt x="75418" y="15182"/>
                    <a:pt x="64798" y="11378"/>
                    <a:pt x="53917" y="11770"/>
                  </a:cubicBezTo>
                  <a:cubicBezTo>
                    <a:pt x="45893" y="11396"/>
                    <a:pt x="38018" y="14028"/>
                    <a:pt x="31837" y="19161"/>
                  </a:cubicBezTo>
                  <a:cubicBezTo>
                    <a:pt x="26590" y="23139"/>
                    <a:pt x="23420" y="29275"/>
                    <a:pt x="23214" y="35858"/>
                  </a:cubicBezTo>
                  <a:cubicBezTo>
                    <a:pt x="23041" y="42801"/>
                    <a:pt x="25249" y="49590"/>
                    <a:pt x="29464" y="55110"/>
                  </a:cubicBezTo>
                  <a:cubicBezTo>
                    <a:pt x="33479" y="60584"/>
                    <a:pt x="41691" y="66424"/>
                    <a:pt x="54100" y="72537"/>
                  </a:cubicBezTo>
                  <a:lnTo>
                    <a:pt x="82749" y="86770"/>
                  </a:lnTo>
                  <a:cubicBezTo>
                    <a:pt x="109269" y="100000"/>
                    <a:pt x="122517" y="117441"/>
                    <a:pt x="122485" y="139097"/>
                  </a:cubicBezTo>
                  <a:cubicBezTo>
                    <a:pt x="122991" y="154718"/>
                    <a:pt x="116134" y="169668"/>
                    <a:pt x="103963" y="179471"/>
                  </a:cubicBezTo>
                  <a:cubicBezTo>
                    <a:pt x="92462" y="189389"/>
                    <a:pt x="77772" y="194832"/>
                    <a:pt x="62585" y="194800"/>
                  </a:cubicBezTo>
                  <a:cubicBezTo>
                    <a:pt x="49834" y="194526"/>
                    <a:pt x="37183" y="192487"/>
                    <a:pt x="24994" y="188732"/>
                  </a:cubicBezTo>
                  <a:cubicBezTo>
                    <a:pt x="21586" y="187533"/>
                    <a:pt x="18018" y="186839"/>
                    <a:pt x="14410" y="186679"/>
                  </a:cubicBezTo>
                  <a:cubicBezTo>
                    <a:pt x="11175" y="186862"/>
                    <a:pt x="8374" y="188993"/>
                    <a:pt x="7338" y="192063"/>
                  </a:cubicBezTo>
                  <a:lnTo>
                    <a:pt x="860" y="192063"/>
                  </a:lnTo>
                  <a:lnTo>
                    <a:pt x="860" y="126369"/>
                  </a:lnTo>
                  <a:lnTo>
                    <a:pt x="7338" y="126369"/>
                  </a:lnTo>
                  <a:cubicBezTo>
                    <a:pt x="10988" y="145165"/>
                    <a:pt x="17968" y="159261"/>
                    <a:pt x="28278" y="168796"/>
                  </a:cubicBezTo>
                  <a:cubicBezTo>
                    <a:pt x="37544" y="177847"/>
                    <a:pt x="49953" y="182961"/>
                    <a:pt x="62904" y="183076"/>
                  </a:cubicBezTo>
                  <a:cubicBezTo>
                    <a:pt x="71034" y="183399"/>
                    <a:pt x="78963" y="180480"/>
                    <a:pt x="84939" y="174955"/>
                  </a:cubicBezTo>
                  <a:cubicBezTo>
                    <a:pt x="90423" y="169937"/>
                    <a:pt x="93507" y="162815"/>
                    <a:pt x="93425" y="155384"/>
                  </a:cubicBezTo>
                  <a:cubicBezTo>
                    <a:pt x="93625" y="146656"/>
                    <a:pt x="90204" y="138235"/>
                    <a:pt x="83981" y="132117"/>
                  </a:cubicBezTo>
                  <a:cubicBezTo>
                    <a:pt x="77626" y="125821"/>
                    <a:pt x="64989" y="117884"/>
                    <a:pt x="46070" y="108303"/>
                  </a:cubicBezTo>
                  <a:cubicBezTo>
                    <a:pt x="27152" y="98723"/>
                    <a:pt x="14743" y="90055"/>
                    <a:pt x="8844" y="82299"/>
                  </a:cubicBezTo>
                  <a:cubicBezTo>
                    <a:pt x="2717" y="73951"/>
                    <a:pt x="-390" y="63768"/>
                    <a:pt x="39" y="53422"/>
                  </a:cubicBezTo>
                  <a:cubicBezTo>
                    <a:pt x="-335" y="39220"/>
                    <a:pt x="5162" y="25488"/>
                    <a:pt x="15231" y="15465"/>
                  </a:cubicBezTo>
                  <a:cubicBezTo>
                    <a:pt x="25632" y="5169"/>
                    <a:pt x="39839" y="-347"/>
                    <a:pt x="54465" y="228"/>
                  </a:cubicBezTo>
                  <a:cubicBezTo>
                    <a:pt x="63187" y="488"/>
                    <a:pt x="71828" y="2026"/>
                    <a:pt x="80103" y="4790"/>
                  </a:cubicBezTo>
                  <a:cubicBezTo>
                    <a:pt x="84415" y="6309"/>
                    <a:pt x="88881" y="7336"/>
                    <a:pt x="93425" y="7847"/>
                  </a:cubicBezTo>
                  <a:cubicBezTo>
                    <a:pt x="95163" y="7938"/>
                    <a:pt x="96883" y="7441"/>
                    <a:pt x="98306" y="6432"/>
                  </a:cubicBezTo>
                  <a:cubicBezTo>
                    <a:pt x="100071" y="4621"/>
                    <a:pt x="101467" y="2482"/>
                    <a:pt x="102412" y="137"/>
                  </a:cubicBezTo>
                  <a:close/>
                </a:path>
              </a:pathLst>
            </a:custGeom>
            <a:grpFill/>
            <a:ln w="45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E9BDD159-DC9A-CECF-B4BD-755C737B9356}"/>
                </a:ext>
              </a:extLst>
            </p:cNvPr>
            <p:cNvSpPr/>
            <p:nvPr/>
          </p:nvSpPr>
          <p:spPr>
            <a:xfrm>
              <a:off x="5039531" y="2216032"/>
              <a:ext cx="196488" cy="189279"/>
            </a:xfrm>
            <a:custGeom>
              <a:avLst/>
              <a:gdLst>
                <a:gd name="connsiteX0" fmla="*/ 62957 w 196488"/>
                <a:gd name="connsiteY0" fmla="*/ 38960 h 189279"/>
                <a:gd name="connsiteX1" fmla="*/ 122993 w 196488"/>
                <a:gd name="connsiteY1" fmla="*/ 137 h 189279"/>
                <a:gd name="connsiteX2" fmla="*/ 148176 w 196488"/>
                <a:gd name="connsiteY2" fmla="*/ 7664 h 189279"/>
                <a:gd name="connsiteX3" fmla="*/ 165010 w 196488"/>
                <a:gd name="connsiteY3" fmla="*/ 32391 h 189279"/>
                <a:gd name="connsiteX4" fmla="*/ 169298 w 196488"/>
                <a:gd name="connsiteY4" fmla="*/ 69298 h 189279"/>
                <a:gd name="connsiteX5" fmla="*/ 169298 w 196488"/>
                <a:gd name="connsiteY5" fmla="*/ 147674 h 189279"/>
                <a:gd name="connsiteX6" fmla="*/ 172035 w 196488"/>
                <a:gd name="connsiteY6" fmla="*/ 171305 h 189279"/>
                <a:gd name="connsiteX7" fmla="*/ 178970 w 196488"/>
                <a:gd name="connsiteY7" fmla="*/ 179107 h 189279"/>
                <a:gd name="connsiteX8" fmla="*/ 196488 w 196488"/>
                <a:gd name="connsiteY8" fmla="*/ 181981 h 189279"/>
                <a:gd name="connsiteX9" fmla="*/ 196488 w 196488"/>
                <a:gd name="connsiteY9" fmla="*/ 189280 h 189279"/>
                <a:gd name="connsiteX10" fmla="*/ 107665 w 196488"/>
                <a:gd name="connsiteY10" fmla="*/ 189280 h 189279"/>
                <a:gd name="connsiteX11" fmla="*/ 107665 w 196488"/>
                <a:gd name="connsiteY11" fmla="*/ 181981 h 189279"/>
                <a:gd name="connsiteX12" fmla="*/ 111406 w 196488"/>
                <a:gd name="connsiteY12" fmla="*/ 181981 h 189279"/>
                <a:gd name="connsiteX13" fmla="*/ 128970 w 196488"/>
                <a:gd name="connsiteY13" fmla="*/ 178103 h 189279"/>
                <a:gd name="connsiteX14" fmla="*/ 135950 w 196488"/>
                <a:gd name="connsiteY14" fmla="*/ 166607 h 189279"/>
                <a:gd name="connsiteX15" fmla="*/ 136725 w 196488"/>
                <a:gd name="connsiteY15" fmla="*/ 147765 h 189279"/>
                <a:gd name="connsiteX16" fmla="*/ 136725 w 196488"/>
                <a:gd name="connsiteY16" fmla="*/ 72491 h 189279"/>
                <a:gd name="connsiteX17" fmla="*/ 130384 w 196488"/>
                <a:gd name="connsiteY17" fmla="*/ 35995 h 189279"/>
                <a:gd name="connsiteX18" fmla="*/ 109079 w 196488"/>
                <a:gd name="connsiteY18" fmla="*/ 24681 h 189279"/>
                <a:gd name="connsiteX19" fmla="*/ 62957 w 196488"/>
                <a:gd name="connsiteY19" fmla="*/ 50730 h 189279"/>
                <a:gd name="connsiteX20" fmla="*/ 62957 w 196488"/>
                <a:gd name="connsiteY20" fmla="*/ 147628 h 189279"/>
                <a:gd name="connsiteX21" fmla="*/ 65101 w 196488"/>
                <a:gd name="connsiteY21" fmla="*/ 170439 h 189279"/>
                <a:gd name="connsiteX22" fmla="*/ 72674 w 196488"/>
                <a:gd name="connsiteY22" fmla="*/ 178924 h 189279"/>
                <a:gd name="connsiteX23" fmla="*/ 92199 w 196488"/>
                <a:gd name="connsiteY23" fmla="*/ 181616 h 189279"/>
                <a:gd name="connsiteX24" fmla="*/ 92199 w 196488"/>
                <a:gd name="connsiteY24" fmla="*/ 188915 h 189279"/>
                <a:gd name="connsiteX25" fmla="*/ 3193 w 196488"/>
                <a:gd name="connsiteY25" fmla="*/ 188915 h 189279"/>
                <a:gd name="connsiteX26" fmla="*/ 3193 w 196488"/>
                <a:gd name="connsiteY26" fmla="*/ 181981 h 189279"/>
                <a:gd name="connsiteX27" fmla="*/ 7117 w 196488"/>
                <a:gd name="connsiteY27" fmla="*/ 181981 h 189279"/>
                <a:gd name="connsiteX28" fmla="*/ 25365 w 196488"/>
                <a:gd name="connsiteY28" fmla="*/ 174910 h 189279"/>
                <a:gd name="connsiteX29" fmla="*/ 30155 w 196488"/>
                <a:gd name="connsiteY29" fmla="*/ 147765 h 189279"/>
                <a:gd name="connsiteX30" fmla="*/ 30155 w 196488"/>
                <a:gd name="connsiteY30" fmla="*/ 79334 h 189279"/>
                <a:gd name="connsiteX31" fmla="*/ 28695 w 196488"/>
                <a:gd name="connsiteY31" fmla="*/ 39097 h 189279"/>
                <a:gd name="connsiteX32" fmla="*/ 24133 w 196488"/>
                <a:gd name="connsiteY32" fmla="*/ 29334 h 189279"/>
                <a:gd name="connsiteX33" fmla="*/ 16013 w 196488"/>
                <a:gd name="connsiteY33" fmla="*/ 26734 h 189279"/>
                <a:gd name="connsiteX34" fmla="*/ 2920 w 196488"/>
                <a:gd name="connsiteY34" fmla="*/ 29699 h 189279"/>
                <a:gd name="connsiteX35" fmla="*/ 0 w 196488"/>
                <a:gd name="connsiteY35" fmla="*/ 22445 h 189279"/>
                <a:gd name="connsiteX36" fmla="*/ 54243 w 196488"/>
                <a:gd name="connsiteY36" fmla="*/ 0 h 189279"/>
                <a:gd name="connsiteX37" fmla="*/ 62683 w 196488"/>
                <a:gd name="connsiteY37" fmla="*/ 0 h 1892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</a:cxnLst>
              <a:rect l="l" t="t" r="r" b="b"/>
              <a:pathLst>
                <a:path w="196488" h="189279">
                  <a:moveTo>
                    <a:pt x="62957" y="38960"/>
                  </a:moveTo>
                  <a:cubicBezTo>
                    <a:pt x="83942" y="13107"/>
                    <a:pt x="103956" y="169"/>
                    <a:pt x="122993" y="137"/>
                  </a:cubicBezTo>
                  <a:cubicBezTo>
                    <a:pt x="131976" y="-100"/>
                    <a:pt x="140799" y="2537"/>
                    <a:pt x="148176" y="7664"/>
                  </a:cubicBezTo>
                  <a:cubicBezTo>
                    <a:pt x="156168" y="14006"/>
                    <a:pt x="162045" y="22628"/>
                    <a:pt x="165010" y="32391"/>
                  </a:cubicBezTo>
                  <a:cubicBezTo>
                    <a:pt x="168390" y="44389"/>
                    <a:pt x="169836" y="56848"/>
                    <a:pt x="169298" y="69298"/>
                  </a:cubicBezTo>
                  <a:lnTo>
                    <a:pt x="169298" y="147674"/>
                  </a:lnTo>
                  <a:cubicBezTo>
                    <a:pt x="168805" y="155653"/>
                    <a:pt x="169732" y="163650"/>
                    <a:pt x="172035" y="171305"/>
                  </a:cubicBezTo>
                  <a:cubicBezTo>
                    <a:pt x="173440" y="174590"/>
                    <a:pt x="175872" y="177327"/>
                    <a:pt x="178970" y="179107"/>
                  </a:cubicBezTo>
                  <a:cubicBezTo>
                    <a:pt x="184508" y="181410"/>
                    <a:pt x="190503" y="182396"/>
                    <a:pt x="196488" y="181981"/>
                  </a:cubicBezTo>
                  <a:lnTo>
                    <a:pt x="196488" y="189280"/>
                  </a:lnTo>
                  <a:lnTo>
                    <a:pt x="107665" y="189280"/>
                  </a:lnTo>
                  <a:lnTo>
                    <a:pt x="107665" y="181981"/>
                  </a:lnTo>
                  <a:lnTo>
                    <a:pt x="111406" y="181981"/>
                  </a:lnTo>
                  <a:cubicBezTo>
                    <a:pt x="117523" y="182546"/>
                    <a:pt x="123659" y="181192"/>
                    <a:pt x="128970" y="178103"/>
                  </a:cubicBezTo>
                  <a:cubicBezTo>
                    <a:pt x="132514" y="175160"/>
                    <a:pt x="134973" y="171109"/>
                    <a:pt x="135950" y="166607"/>
                  </a:cubicBezTo>
                  <a:cubicBezTo>
                    <a:pt x="136689" y="160357"/>
                    <a:pt x="136949" y="154056"/>
                    <a:pt x="136725" y="147765"/>
                  </a:cubicBezTo>
                  <a:lnTo>
                    <a:pt x="136725" y="72491"/>
                  </a:lnTo>
                  <a:cubicBezTo>
                    <a:pt x="136725" y="55794"/>
                    <a:pt x="134613" y="43627"/>
                    <a:pt x="130384" y="35995"/>
                  </a:cubicBezTo>
                  <a:cubicBezTo>
                    <a:pt x="126086" y="28403"/>
                    <a:pt x="117774" y="23992"/>
                    <a:pt x="109079" y="24681"/>
                  </a:cubicBezTo>
                  <a:cubicBezTo>
                    <a:pt x="93659" y="24681"/>
                    <a:pt x="78239" y="33349"/>
                    <a:pt x="62957" y="50730"/>
                  </a:cubicBezTo>
                  <a:lnTo>
                    <a:pt x="62957" y="147628"/>
                  </a:lnTo>
                  <a:cubicBezTo>
                    <a:pt x="62957" y="160037"/>
                    <a:pt x="63686" y="167701"/>
                    <a:pt x="65101" y="170439"/>
                  </a:cubicBezTo>
                  <a:cubicBezTo>
                    <a:pt x="66656" y="174002"/>
                    <a:pt x="69311" y="176976"/>
                    <a:pt x="72674" y="178924"/>
                  </a:cubicBezTo>
                  <a:cubicBezTo>
                    <a:pt x="78910" y="181233"/>
                    <a:pt x="85571" y="182154"/>
                    <a:pt x="92199" y="181616"/>
                  </a:cubicBezTo>
                  <a:lnTo>
                    <a:pt x="92199" y="188915"/>
                  </a:lnTo>
                  <a:lnTo>
                    <a:pt x="3193" y="188915"/>
                  </a:lnTo>
                  <a:lnTo>
                    <a:pt x="3193" y="181981"/>
                  </a:lnTo>
                  <a:lnTo>
                    <a:pt x="7117" y="181981"/>
                  </a:lnTo>
                  <a:cubicBezTo>
                    <a:pt x="16241" y="181981"/>
                    <a:pt x="22400" y="179608"/>
                    <a:pt x="25365" y="174910"/>
                  </a:cubicBezTo>
                  <a:cubicBezTo>
                    <a:pt x="28331" y="170210"/>
                    <a:pt x="30155" y="161223"/>
                    <a:pt x="30155" y="147765"/>
                  </a:cubicBezTo>
                  <a:lnTo>
                    <a:pt x="30155" y="79334"/>
                  </a:lnTo>
                  <a:cubicBezTo>
                    <a:pt x="30575" y="65904"/>
                    <a:pt x="30087" y="52459"/>
                    <a:pt x="28695" y="39097"/>
                  </a:cubicBezTo>
                  <a:cubicBezTo>
                    <a:pt x="28257" y="35438"/>
                    <a:pt x="26656" y="32017"/>
                    <a:pt x="24133" y="29334"/>
                  </a:cubicBezTo>
                  <a:cubicBezTo>
                    <a:pt x="21834" y="27505"/>
                    <a:pt x="18946" y="26583"/>
                    <a:pt x="16013" y="26734"/>
                  </a:cubicBezTo>
                  <a:cubicBezTo>
                    <a:pt x="11501" y="26902"/>
                    <a:pt x="7062" y="27911"/>
                    <a:pt x="2920" y="29699"/>
                  </a:cubicBezTo>
                  <a:lnTo>
                    <a:pt x="0" y="22445"/>
                  </a:lnTo>
                  <a:lnTo>
                    <a:pt x="54243" y="0"/>
                  </a:lnTo>
                  <a:lnTo>
                    <a:pt x="62683" y="0"/>
                  </a:lnTo>
                  <a:close/>
                </a:path>
              </a:pathLst>
            </a:custGeom>
            <a:grpFill/>
            <a:ln w="45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519D5DED-3EF9-AF86-EB61-9CD3E816C78F}"/>
                </a:ext>
              </a:extLst>
            </p:cNvPr>
            <p:cNvSpPr/>
            <p:nvPr/>
          </p:nvSpPr>
          <p:spPr>
            <a:xfrm>
              <a:off x="5251388" y="2216137"/>
              <a:ext cx="173326" cy="194631"/>
            </a:xfrm>
            <a:custGeom>
              <a:avLst/>
              <a:gdLst>
                <a:gd name="connsiteX0" fmla="*/ 86912 w 173326"/>
                <a:gd name="connsiteY0" fmla="*/ 32 h 194631"/>
                <a:gd name="connsiteX1" fmla="*/ 152332 w 173326"/>
                <a:gd name="connsiteY1" fmla="*/ 31693 h 194631"/>
                <a:gd name="connsiteX2" fmla="*/ 173318 w 173326"/>
                <a:gd name="connsiteY2" fmla="*/ 93828 h 194631"/>
                <a:gd name="connsiteX3" fmla="*/ 161730 w 173326"/>
                <a:gd name="connsiteY3" fmla="*/ 143737 h 194631"/>
                <a:gd name="connsiteX4" fmla="*/ 129796 w 173326"/>
                <a:gd name="connsiteY4" fmla="*/ 181784 h 194631"/>
                <a:gd name="connsiteX5" fmla="*/ 84631 w 173326"/>
                <a:gd name="connsiteY5" fmla="*/ 194604 h 194631"/>
                <a:gd name="connsiteX6" fmla="*/ 20169 w 173326"/>
                <a:gd name="connsiteY6" fmla="*/ 161574 h 194631"/>
                <a:gd name="connsiteX7" fmla="*/ 5 w 173326"/>
                <a:gd name="connsiteY7" fmla="*/ 99029 h 194631"/>
                <a:gd name="connsiteX8" fmla="*/ 12231 w 173326"/>
                <a:gd name="connsiteY8" fmla="*/ 48846 h 194631"/>
                <a:gd name="connsiteX9" fmla="*/ 44485 w 173326"/>
                <a:gd name="connsiteY9" fmla="*/ 11939 h 194631"/>
                <a:gd name="connsiteX10" fmla="*/ 86821 w 173326"/>
                <a:gd name="connsiteY10" fmla="*/ 32 h 194631"/>
                <a:gd name="connsiteX11" fmla="*/ 80799 w 173326"/>
                <a:gd name="connsiteY11" fmla="*/ 13079 h 194631"/>
                <a:gd name="connsiteX12" fmla="*/ 59905 w 173326"/>
                <a:gd name="connsiteY12" fmla="*/ 19375 h 194631"/>
                <a:gd name="connsiteX13" fmla="*/ 42934 w 173326"/>
                <a:gd name="connsiteY13" fmla="*/ 41501 h 194631"/>
                <a:gd name="connsiteX14" fmla="*/ 36456 w 173326"/>
                <a:gd name="connsiteY14" fmla="*/ 82149 h 194631"/>
                <a:gd name="connsiteX15" fmla="*/ 52058 w 173326"/>
                <a:gd name="connsiteY15" fmla="*/ 151264 h 194631"/>
                <a:gd name="connsiteX16" fmla="*/ 93117 w 173326"/>
                <a:gd name="connsiteY16" fmla="*/ 180279 h 194631"/>
                <a:gd name="connsiteX17" fmla="*/ 124549 w 173326"/>
                <a:gd name="connsiteY17" fmla="*/ 164266 h 194631"/>
                <a:gd name="connsiteX18" fmla="*/ 136912 w 173326"/>
                <a:gd name="connsiteY18" fmla="*/ 109202 h 194631"/>
                <a:gd name="connsiteX19" fmla="*/ 116292 w 173326"/>
                <a:gd name="connsiteY19" fmla="*/ 32286 h 194631"/>
                <a:gd name="connsiteX20" fmla="*/ 80753 w 173326"/>
                <a:gd name="connsiteY20" fmla="*/ 13079 h 1946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73326" h="194631">
                  <a:moveTo>
                    <a:pt x="86912" y="32"/>
                  </a:moveTo>
                  <a:cubicBezTo>
                    <a:pt x="112574" y="-698"/>
                    <a:pt x="136981" y="11118"/>
                    <a:pt x="152332" y="31693"/>
                  </a:cubicBezTo>
                  <a:cubicBezTo>
                    <a:pt x="166224" y="49398"/>
                    <a:pt x="173628" y="71328"/>
                    <a:pt x="173318" y="93828"/>
                  </a:cubicBezTo>
                  <a:cubicBezTo>
                    <a:pt x="173117" y="111109"/>
                    <a:pt x="169162" y="128134"/>
                    <a:pt x="161730" y="143737"/>
                  </a:cubicBezTo>
                  <a:cubicBezTo>
                    <a:pt x="155092" y="159303"/>
                    <a:pt x="143975" y="172546"/>
                    <a:pt x="129796" y="181784"/>
                  </a:cubicBezTo>
                  <a:cubicBezTo>
                    <a:pt x="116301" y="190343"/>
                    <a:pt x="100612" y="194800"/>
                    <a:pt x="84631" y="194604"/>
                  </a:cubicBezTo>
                  <a:cubicBezTo>
                    <a:pt x="58919" y="195302"/>
                    <a:pt x="34622" y="182852"/>
                    <a:pt x="20169" y="161574"/>
                  </a:cubicBezTo>
                  <a:cubicBezTo>
                    <a:pt x="6862" y="143454"/>
                    <a:pt x="-214" y="121510"/>
                    <a:pt x="5" y="99029"/>
                  </a:cubicBezTo>
                  <a:cubicBezTo>
                    <a:pt x="142" y="81579"/>
                    <a:pt x="4330" y="64403"/>
                    <a:pt x="12231" y="48846"/>
                  </a:cubicBezTo>
                  <a:cubicBezTo>
                    <a:pt x="19134" y="33650"/>
                    <a:pt x="30352" y="20817"/>
                    <a:pt x="44485" y="11939"/>
                  </a:cubicBezTo>
                  <a:cubicBezTo>
                    <a:pt x="57236" y="4156"/>
                    <a:pt x="71885" y="36"/>
                    <a:pt x="86821" y="32"/>
                  </a:cubicBezTo>
                  <a:moveTo>
                    <a:pt x="80799" y="13079"/>
                  </a:moveTo>
                  <a:cubicBezTo>
                    <a:pt x="73390" y="13216"/>
                    <a:pt x="66159" y="15397"/>
                    <a:pt x="59905" y="19375"/>
                  </a:cubicBezTo>
                  <a:cubicBezTo>
                    <a:pt x="51985" y="24704"/>
                    <a:pt x="46027" y="32473"/>
                    <a:pt x="42934" y="41501"/>
                  </a:cubicBezTo>
                  <a:cubicBezTo>
                    <a:pt x="38194" y="54512"/>
                    <a:pt x="35995" y="68312"/>
                    <a:pt x="36456" y="82149"/>
                  </a:cubicBezTo>
                  <a:cubicBezTo>
                    <a:pt x="35817" y="106127"/>
                    <a:pt x="41182" y="129886"/>
                    <a:pt x="52058" y="151264"/>
                  </a:cubicBezTo>
                  <a:cubicBezTo>
                    <a:pt x="62460" y="170607"/>
                    <a:pt x="76146" y="180279"/>
                    <a:pt x="93117" y="180279"/>
                  </a:cubicBezTo>
                  <a:cubicBezTo>
                    <a:pt x="105580" y="180398"/>
                    <a:pt x="117318" y="174421"/>
                    <a:pt x="124549" y="164266"/>
                  </a:cubicBezTo>
                  <a:cubicBezTo>
                    <a:pt x="132761" y="153591"/>
                    <a:pt x="136880" y="135238"/>
                    <a:pt x="136912" y="109202"/>
                  </a:cubicBezTo>
                  <a:cubicBezTo>
                    <a:pt x="136912" y="76629"/>
                    <a:pt x="130037" y="50990"/>
                    <a:pt x="116292" y="32286"/>
                  </a:cubicBezTo>
                  <a:cubicBezTo>
                    <a:pt x="108468" y="20274"/>
                    <a:pt x="95087" y="13043"/>
                    <a:pt x="80753" y="13079"/>
                  </a:cubicBezTo>
                </a:path>
              </a:pathLst>
            </a:custGeom>
            <a:grpFill/>
            <a:ln w="45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2EF4E4A4-7E69-F563-3842-24536A42E614}"/>
                </a:ext>
              </a:extLst>
            </p:cNvPr>
            <p:cNvSpPr/>
            <p:nvPr/>
          </p:nvSpPr>
          <p:spPr>
            <a:xfrm>
              <a:off x="5553456" y="2127023"/>
              <a:ext cx="239088" cy="284304"/>
            </a:xfrm>
            <a:custGeom>
              <a:avLst/>
              <a:gdLst>
                <a:gd name="connsiteX0" fmla="*/ 226863 w 239088"/>
                <a:gd name="connsiteY0" fmla="*/ 185 h 284304"/>
                <a:gd name="connsiteX1" fmla="*/ 232930 w 239088"/>
                <a:gd name="connsiteY1" fmla="*/ 92567 h 284304"/>
                <a:gd name="connsiteX2" fmla="*/ 226863 w 239088"/>
                <a:gd name="connsiteY2" fmla="*/ 92567 h 284304"/>
                <a:gd name="connsiteX3" fmla="*/ 192282 w 239088"/>
                <a:gd name="connsiteY3" fmla="*/ 32758 h 284304"/>
                <a:gd name="connsiteX4" fmla="*/ 138313 w 239088"/>
                <a:gd name="connsiteY4" fmla="*/ 14510 h 284304"/>
                <a:gd name="connsiteX5" fmla="*/ 90594 w 239088"/>
                <a:gd name="connsiteY5" fmla="*/ 28196 h 284304"/>
                <a:gd name="connsiteX6" fmla="*/ 57108 w 239088"/>
                <a:gd name="connsiteY6" fmla="*/ 71992 h 284304"/>
                <a:gd name="connsiteX7" fmla="*/ 44882 w 239088"/>
                <a:gd name="connsiteY7" fmla="*/ 146719 h 284304"/>
                <a:gd name="connsiteX8" fmla="*/ 56424 w 239088"/>
                <a:gd name="connsiteY8" fmla="*/ 210588 h 284304"/>
                <a:gd name="connsiteX9" fmla="*/ 91096 w 239088"/>
                <a:gd name="connsiteY9" fmla="*/ 252057 h 284304"/>
                <a:gd name="connsiteX10" fmla="*/ 143970 w 239088"/>
                <a:gd name="connsiteY10" fmla="*/ 266519 h 284304"/>
                <a:gd name="connsiteX11" fmla="*/ 189591 w 239088"/>
                <a:gd name="connsiteY11" fmla="*/ 255204 h 284304"/>
                <a:gd name="connsiteX12" fmla="*/ 233021 w 239088"/>
                <a:gd name="connsiteY12" fmla="*/ 210268 h 284304"/>
                <a:gd name="connsiteX13" fmla="*/ 239089 w 239088"/>
                <a:gd name="connsiteY13" fmla="*/ 214329 h 284304"/>
                <a:gd name="connsiteX14" fmla="*/ 192465 w 239088"/>
                <a:gd name="connsiteY14" fmla="*/ 267431 h 284304"/>
                <a:gd name="connsiteX15" fmla="*/ 129234 w 239088"/>
                <a:gd name="connsiteY15" fmla="*/ 284265 h 284304"/>
                <a:gd name="connsiteX16" fmla="*/ 27044 w 239088"/>
                <a:gd name="connsiteY16" fmla="*/ 234082 h 284304"/>
                <a:gd name="connsiteX17" fmla="*/ 37 w 239088"/>
                <a:gd name="connsiteY17" fmla="*/ 146308 h 284304"/>
                <a:gd name="connsiteX18" fmla="*/ 17875 w 239088"/>
                <a:gd name="connsiteY18" fmla="*/ 71536 h 284304"/>
                <a:gd name="connsiteX19" fmla="*/ 135120 w 239088"/>
                <a:gd name="connsiteY19" fmla="*/ 3 h 284304"/>
                <a:gd name="connsiteX20" fmla="*/ 191872 w 239088"/>
                <a:gd name="connsiteY20" fmla="*/ 14419 h 284304"/>
                <a:gd name="connsiteX21" fmla="*/ 203642 w 239088"/>
                <a:gd name="connsiteY21" fmla="*/ 18981 h 284304"/>
                <a:gd name="connsiteX22" fmla="*/ 212766 w 239088"/>
                <a:gd name="connsiteY22" fmla="*/ 15194 h 284304"/>
                <a:gd name="connsiteX23" fmla="*/ 220019 w 239088"/>
                <a:gd name="connsiteY23" fmla="*/ 185 h 2843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239088" h="284304">
                  <a:moveTo>
                    <a:pt x="226863" y="185"/>
                  </a:moveTo>
                  <a:lnTo>
                    <a:pt x="232930" y="92567"/>
                  </a:lnTo>
                  <a:lnTo>
                    <a:pt x="226863" y="92567"/>
                  </a:lnTo>
                  <a:cubicBezTo>
                    <a:pt x="218802" y="64862"/>
                    <a:pt x="207278" y="44925"/>
                    <a:pt x="192282" y="32758"/>
                  </a:cubicBezTo>
                  <a:cubicBezTo>
                    <a:pt x="177013" y="20491"/>
                    <a:pt x="157893" y="14027"/>
                    <a:pt x="138313" y="14510"/>
                  </a:cubicBezTo>
                  <a:cubicBezTo>
                    <a:pt x="121406" y="14291"/>
                    <a:pt x="104814" y="19049"/>
                    <a:pt x="90594" y="28196"/>
                  </a:cubicBezTo>
                  <a:cubicBezTo>
                    <a:pt x="76406" y="37321"/>
                    <a:pt x="65229" y="51965"/>
                    <a:pt x="57108" y="71992"/>
                  </a:cubicBezTo>
                  <a:cubicBezTo>
                    <a:pt x="48988" y="92020"/>
                    <a:pt x="44882" y="116929"/>
                    <a:pt x="44882" y="146719"/>
                  </a:cubicBezTo>
                  <a:cubicBezTo>
                    <a:pt x="44380" y="168571"/>
                    <a:pt x="48308" y="190296"/>
                    <a:pt x="56424" y="210588"/>
                  </a:cubicBezTo>
                  <a:cubicBezTo>
                    <a:pt x="63345" y="227705"/>
                    <a:pt x="75475" y="242212"/>
                    <a:pt x="91096" y="252057"/>
                  </a:cubicBezTo>
                  <a:cubicBezTo>
                    <a:pt x="106981" y="261815"/>
                    <a:pt x="125329" y="266833"/>
                    <a:pt x="143970" y="266519"/>
                  </a:cubicBezTo>
                  <a:cubicBezTo>
                    <a:pt x="159910" y="266856"/>
                    <a:pt x="175653" y="262951"/>
                    <a:pt x="189591" y="255204"/>
                  </a:cubicBezTo>
                  <a:cubicBezTo>
                    <a:pt x="202761" y="247632"/>
                    <a:pt x="217237" y="232654"/>
                    <a:pt x="233021" y="210268"/>
                  </a:cubicBezTo>
                  <a:lnTo>
                    <a:pt x="239089" y="214329"/>
                  </a:lnTo>
                  <a:cubicBezTo>
                    <a:pt x="225768" y="238507"/>
                    <a:pt x="210225" y="256208"/>
                    <a:pt x="192465" y="267431"/>
                  </a:cubicBezTo>
                  <a:cubicBezTo>
                    <a:pt x="173445" y="279000"/>
                    <a:pt x="151493" y="284849"/>
                    <a:pt x="129234" y="284265"/>
                  </a:cubicBezTo>
                  <a:cubicBezTo>
                    <a:pt x="85256" y="284265"/>
                    <a:pt x="51191" y="267536"/>
                    <a:pt x="27044" y="234082"/>
                  </a:cubicBezTo>
                  <a:cubicBezTo>
                    <a:pt x="8805" y="208507"/>
                    <a:pt x="-670" y="177713"/>
                    <a:pt x="37" y="146308"/>
                  </a:cubicBezTo>
                  <a:cubicBezTo>
                    <a:pt x="-241" y="120300"/>
                    <a:pt x="5886" y="94620"/>
                    <a:pt x="17875" y="71536"/>
                  </a:cubicBezTo>
                  <a:cubicBezTo>
                    <a:pt x="40220" y="27380"/>
                    <a:pt x="85630" y="-326"/>
                    <a:pt x="135120" y="3"/>
                  </a:cubicBezTo>
                  <a:cubicBezTo>
                    <a:pt x="154923" y="153"/>
                    <a:pt x="174399" y="5099"/>
                    <a:pt x="191872" y="14419"/>
                  </a:cubicBezTo>
                  <a:cubicBezTo>
                    <a:pt x="195435" y="16746"/>
                    <a:pt x="199440" y="18301"/>
                    <a:pt x="203642" y="18981"/>
                  </a:cubicBezTo>
                  <a:cubicBezTo>
                    <a:pt x="207072" y="19008"/>
                    <a:pt x="210366" y="17644"/>
                    <a:pt x="212766" y="15194"/>
                  </a:cubicBezTo>
                  <a:cubicBezTo>
                    <a:pt x="216502" y="10943"/>
                    <a:pt x="219011" y="5756"/>
                    <a:pt x="220019" y="185"/>
                  </a:cubicBezTo>
                  <a:close/>
                </a:path>
              </a:pathLst>
            </a:custGeom>
            <a:grpFill/>
            <a:ln w="45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6B2DAFA1-CC4A-1850-5E4F-AC454EEBD689}"/>
                </a:ext>
              </a:extLst>
            </p:cNvPr>
            <p:cNvSpPr/>
            <p:nvPr/>
          </p:nvSpPr>
          <p:spPr>
            <a:xfrm>
              <a:off x="5818275" y="2120133"/>
              <a:ext cx="89826" cy="284996"/>
            </a:xfrm>
            <a:custGeom>
              <a:avLst/>
              <a:gdLst>
                <a:gd name="connsiteX0" fmla="*/ 62683 w 89826"/>
                <a:gd name="connsiteY0" fmla="*/ 96036 h 284996"/>
                <a:gd name="connsiteX1" fmla="*/ 62683 w 89826"/>
                <a:gd name="connsiteY1" fmla="*/ 243573 h 284996"/>
                <a:gd name="connsiteX2" fmla="*/ 65146 w 89826"/>
                <a:gd name="connsiteY2" fmla="*/ 266383 h 284996"/>
                <a:gd name="connsiteX3" fmla="*/ 72354 w 89826"/>
                <a:gd name="connsiteY3" fmla="*/ 274914 h 284996"/>
                <a:gd name="connsiteX4" fmla="*/ 89827 w 89826"/>
                <a:gd name="connsiteY4" fmla="*/ 277697 h 284996"/>
                <a:gd name="connsiteX5" fmla="*/ 89827 w 89826"/>
                <a:gd name="connsiteY5" fmla="*/ 284997 h 284996"/>
                <a:gd name="connsiteX6" fmla="*/ 2737 w 89826"/>
                <a:gd name="connsiteY6" fmla="*/ 284997 h 284996"/>
                <a:gd name="connsiteX7" fmla="*/ 2737 w 89826"/>
                <a:gd name="connsiteY7" fmla="*/ 277880 h 284996"/>
                <a:gd name="connsiteX8" fmla="*/ 20301 w 89826"/>
                <a:gd name="connsiteY8" fmla="*/ 275279 h 284996"/>
                <a:gd name="connsiteX9" fmla="*/ 27464 w 89826"/>
                <a:gd name="connsiteY9" fmla="*/ 266703 h 284996"/>
                <a:gd name="connsiteX10" fmla="*/ 30109 w 89826"/>
                <a:gd name="connsiteY10" fmla="*/ 243892 h 284996"/>
                <a:gd name="connsiteX11" fmla="*/ 30109 w 89826"/>
                <a:gd name="connsiteY11" fmla="*/ 172952 h 284996"/>
                <a:gd name="connsiteX12" fmla="*/ 28331 w 89826"/>
                <a:gd name="connsiteY12" fmla="*/ 134312 h 284996"/>
                <a:gd name="connsiteX13" fmla="*/ 24042 w 89826"/>
                <a:gd name="connsiteY13" fmla="*/ 125188 h 284996"/>
                <a:gd name="connsiteX14" fmla="*/ 16013 w 89826"/>
                <a:gd name="connsiteY14" fmla="*/ 122724 h 284996"/>
                <a:gd name="connsiteX15" fmla="*/ 2737 w 89826"/>
                <a:gd name="connsiteY15" fmla="*/ 125690 h 284996"/>
                <a:gd name="connsiteX16" fmla="*/ 0 w 89826"/>
                <a:gd name="connsiteY16" fmla="*/ 118436 h 284996"/>
                <a:gd name="connsiteX17" fmla="*/ 54060 w 89826"/>
                <a:gd name="connsiteY17" fmla="*/ 95990 h 284996"/>
                <a:gd name="connsiteX18" fmla="*/ 46487 w 89826"/>
                <a:gd name="connsiteY18" fmla="*/ 5 h 284996"/>
                <a:gd name="connsiteX19" fmla="*/ 60493 w 89826"/>
                <a:gd name="connsiteY19" fmla="*/ 5935 h 284996"/>
                <a:gd name="connsiteX20" fmla="*/ 66241 w 89826"/>
                <a:gd name="connsiteY20" fmla="*/ 20215 h 284996"/>
                <a:gd name="connsiteX21" fmla="*/ 60493 w 89826"/>
                <a:gd name="connsiteY21" fmla="*/ 34631 h 284996"/>
                <a:gd name="connsiteX22" fmla="*/ 46487 w 89826"/>
                <a:gd name="connsiteY22" fmla="*/ 40653 h 284996"/>
                <a:gd name="connsiteX23" fmla="*/ 32391 w 89826"/>
                <a:gd name="connsiteY23" fmla="*/ 34631 h 284996"/>
                <a:gd name="connsiteX24" fmla="*/ 26551 w 89826"/>
                <a:gd name="connsiteY24" fmla="*/ 20215 h 284996"/>
                <a:gd name="connsiteX25" fmla="*/ 32299 w 89826"/>
                <a:gd name="connsiteY25" fmla="*/ 5935 h 284996"/>
                <a:gd name="connsiteX26" fmla="*/ 46487 w 89826"/>
                <a:gd name="connsiteY26" fmla="*/ 5 h 2849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89826" h="284996">
                  <a:moveTo>
                    <a:pt x="62683" y="96036"/>
                  </a:moveTo>
                  <a:lnTo>
                    <a:pt x="62683" y="243573"/>
                  </a:lnTo>
                  <a:cubicBezTo>
                    <a:pt x="62213" y="251260"/>
                    <a:pt x="63048" y="258975"/>
                    <a:pt x="65146" y="266383"/>
                  </a:cubicBezTo>
                  <a:cubicBezTo>
                    <a:pt x="66533" y="269951"/>
                    <a:pt x="69070" y="272953"/>
                    <a:pt x="72354" y="274914"/>
                  </a:cubicBezTo>
                  <a:cubicBezTo>
                    <a:pt x="77879" y="277209"/>
                    <a:pt x="83864" y="278163"/>
                    <a:pt x="89827" y="277697"/>
                  </a:cubicBezTo>
                  <a:lnTo>
                    <a:pt x="89827" y="284997"/>
                  </a:lnTo>
                  <a:lnTo>
                    <a:pt x="2737" y="284997"/>
                  </a:lnTo>
                  <a:lnTo>
                    <a:pt x="2737" y="277880"/>
                  </a:lnTo>
                  <a:cubicBezTo>
                    <a:pt x="8713" y="278354"/>
                    <a:pt x="14717" y="277465"/>
                    <a:pt x="20301" y="275279"/>
                  </a:cubicBezTo>
                  <a:cubicBezTo>
                    <a:pt x="23545" y="273258"/>
                    <a:pt x="26054" y="270252"/>
                    <a:pt x="27464" y="266703"/>
                  </a:cubicBezTo>
                  <a:cubicBezTo>
                    <a:pt x="29653" y="259308"/>
                    <a:pt x="30552" y="251593"/>
                    <a:pt x="30109" y="243892"/>
                  </a:cubicBezTo>
                  <a:lnTo>
                    <a:pt x="30109" y="172952"/>
                  </a:lnTo>
                  <a:cubicBezTo>
                    <a:pt x="30507" y="160046"/>
                    <a:pt x="29909" y="147127"/>
                    <a:pt x="28331" y="134312"/>
                  </a:cubicBezTo>
                  <a:cubicBezTo>
                    <a:pt x="27929" y="130886"/>
                    <a:pt x="26423" y="127683"/>
                    <a:pt x="24042" y="125188"/>
                  </a:cubicBezTo>
                  <a:cubicBezTo>
                    <a:pt x="21747" y="123431"/>
                    <a:pt x="18896" y="122560"/>
                    <a:pt x="16013" y="122724"/>
                  </a:cubicBezTo>
                  <a:cubicBezTo>
                    <a:pt x="11446" y="122902"/>
                    <a:pt x="6948" y="123910"/>
                    <a:pt x="2737" y="125690"/>
                  </a:cubicBezTo>
                  <a:lnTo>
                    <a:pt x="0" y="118436"/>
                  </a:lnTo>
                  <a:lnTo>
                    <a:pt x="54060" y="95990"/>
                  </a:lnTo>
                  <a:close/>
                  <a:moveTo>
                    <a:pt x="46487" y="5"/>
                  </a:moveTo>
                  <a:cubicBezTo>
                    <a:pt x="51784" y="-73"/>
                    <a:pt x="56866" y="2080"/>
                    <a:pt x="60493" y="5935"/>
                  </a:cubicBezTo>
                  <a:cubicBezTo>
                    <a:pt x="64270" y="9717"/>
                    <a:pt x="66346" y="14872"/>
                    <a:pt x="66241" y="20215"/>
                  </a:cubicBezTo>
                  <a:cubicBezTo>
                    <a:pt x="66332" y="25593"/>
                    <a:pt x="64261" y="30790"/>
                    <a:pt x="60493" y="34631"/>
                  </a:cubicBezTo>
                  <a:cubicBezTo>
                    <a:pt x="56889" y="38531"/>
                    <a:pt x="51798" y="40721"/>
                    <a:pt x="46487" y="40653"/>
                  </a:cubicBezTo>
                  <a:cubicBezTo>
                    <a:pt x="41150" y="40712"/>
                    <a:pt x="36036" y="38527"/>
                    <a:pt x="32391" y="34631"/>
                  </a:cubicBezTo>
                  <a:cubicBezTo>
                    <a:pt x="28581" y="30808"/>
                    <a:pt x="26474" y="25612"/>
                    <a:pt x="26551" y="20215"/>
                  </a:cubicBezTo>
                  <a:cubicBezTo>
                    <a:pt x="26446" y="14872"/>
                    <a:pt x="28522" y="9717"/>
                    <a:pt x="32299" y="5935"/>
                  </a:cubicBezTo>
                  <a:cubicBezTo>
                    <a:pt x="35976" y="2039"/>
                    <a:pt x="41132" y="-114"/>
                    <a:pt x="46487" y="5"/>
                  </a:cubicBezTo>
                </a:path>
              </a:pathLst>
            </a:custGeom>
            <a:grpFill/>
            <a:ln w="45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EE5C8E78-CE94-DB29-587C-3136C70F4E76}"/>
                </a:ext>
              </a:extLst>
            </p:cNvPr>
            <p:cNvSpPr/>
            <p:nvPr/>
          </p:nvSpPr>
          <p:spPr>
            <a:xfrm>
              <a:off x="5921606" y="2161196"/>
              <a:ext cx="108257" cy="246989"/>
            </a:xfrm>
            <a:custGeom>
              <a:avLst/>
              <a:gdLst>
                <a:gd name="connsiteX0" fmla="*/ 61223 w 108257"/>
                <a:gd name="connsiteY0" fmla="*/ 0 h 246989"/>
                <a:gd name="connsiteX1" fmla="*/ 61223 w 108257"/>
                <a:gd name="connsiteY1" fmla="*/ 60310 h 246989"/>
                <a:gd name="connsiteX2" fmla="*/ 103102 w 108257"/>
                <a:gd name="connsiteY2" fmla="*/ 60310 h 246989"/>
                <a:gd name="connsiteX3" fmla="*/ 103102 w 108257"/>
                <a:gd name="connsiteY3" fmla="*/ 74407 h 246989"/>
                <a:gd name="connsiteX4" fmla="*/ 61223 w 108257"/>
                <a:gd name="connsiteY4" fmla="*/ 74407 h 246989"/>
                <a:gd name="connsiteX5" fmla="*/ 61223 w 108257"/>
                <a:gd name="connsiteY5" fmla="*/ 193431 h 246989"/>
                <a:gd name="connsiteX6" fmla="*/ 66150 w 108257"/>
                <a:gd name="connsiteY6" fmla="*/ 217474 h 246989"/>
                <a:gd name="connsiteX7" fmla="*/ 78924 w 108257"/>
                <a:gd name="connsiteY7" fmla="*/ 223678 h 246989"/>
                <a:gd name="connsiteX8" fmla="*/ 91378 w 108257"/>
                <a:gd name="connsiteY8" fmla="*/ 219572 h 246989"/>
                <a:gd name="connsiteX9" fmla="*/ 100502 w 108257"/>
                <a:gd name="connsiteY9" fmla="*/ 207437 h 246989"/>
                <a:gd name="connsiteX10" fmla="*/ 108258 w 108257"/>
                <a:gd name="connsiteY10" fmla="*/ 207437 h 246989"/>
                <a:gd name="connsiteX11" fmla="*/ 88823 w 108257"/>
                <a:gd name="connsiteY11" fmla="*/ 237045 h 246989"/>
                <a:gd name="connsiteX12" fmla="*/ 62956 w 108257"/>
                <a:gd name="connsiteY12" fmla="*/ 246990 h 246989"/>
                <a:gd name="connsiteX13" fmla="*/ 45301 w 108257"/>
                <a:gd name="connsiteY13" fmla="*/ 241880 h 246989"/>
                <a:gd name="connsiteX14" fmla="*/ 32527 w 108257"/>
                <a:gd name="connsiteY14" fmla="*/ 227282 h 246989"/>
                <a:gd name="connsiteX15" fmla="*/ 28422 w 108257"/>
                <a:gd name="connsiteY15" fmla="*/ 197902 h 246989"/>
                <a:gd name="connsiteX16" fmla="*/ 28422 w 108257"/>
                <a:gd name="connsiteY16" fmla="*/ 74407 h 246989"/>
                <a:gd name="connsiteX17" fmla="*/ 0 w 108257"/>
                <a:gd name="connsiteY17" fmla="*/ 74407 h 246989"/>
                <a:gd name="connsiteX18" fmla="*/ 0 w 108257"/>
                <a:gd name="connsiteY18" fmla="*/ 68020 h 246989"/>
                <a:gd name="connsiteX19" fmla="*/ 22080 w 108257"/>
                <a:gd name="connsiteY19" fmla="*/ 53057 h 246989"/>
                <a:gd name="connsiteX20" fmla="*/ 42290 w 108257"/>
                <a:gd name="connsiteY20" fmla="*/ 28102 h 246989"/>
                <a:gd name="connsiteX21" fmla="*/ 54973 w 108257"/>
                <a:gd name="connsiteY21" fmla="*/ 228 h 2469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108257" h="246989">
                  <a:moveTo>
                    <a:pt x="61223" y="0"/>
                  </a:moveTo>
                  <a:lnTo>
                    <a:pt x="61223" y="60310"/>
                  </a:lnTo>
                  <a:lnTo>
                    <a:pt x="103102" y="60310"/>
                  </a:lnTo>
                  <a:lnTo>
                    <a:pt x="103102" y="74407"/>
                  </a:lnTo>
                  <a:lnTo>
                    <a:pt x="61223" y="74407"/>
                  </a:lnTo>
                  <a:lnTo>
                    <a:pt x="61223" y="193431"/>
                  </a:lnTo>
                  <a:cubicBezTo>
                    <a:pt x="61223" y="205338"/>
                    <a:pt x="62865" y="213322"/>
                    <a:pt x="66150" y="217474"/>
                  </a:cubicBezTo>
                  <a:cubicBezTo>
                    <a:pt x="69165" y="221470"/>
                    <a:pt x="73919" y="223778"/>
                    <a:pt x="78924" y="223678"/>
                  </a:cubicBezTo>
                  <a:cubicBezTo>
                    <a:pt x="83394" y="223605"/>
                    <a:pt x="87738" y="222172"/>
                    <a:pt x="91378" y="219572"/>
                  </a:cubicBezTo>
                  <a:cubicBezTo>
                    <a:pt x="95548" y="216515"/>
                    <a:pt x="98723" y="212291"/>
                    <a:pt x="100502" y="207437"/>
                  </a:cubicBezTo>
                  <a:lnTo>
                    <a:pt x="108258" y="207437"/>
                  </a:lnTo>
                  <a:cubicBezTo>
                    <a:pt x="104731" y="218956"/>
                    <a:pt x="97988" y="229225"/>
                    <a:pt x="88823" y="237045"/>
                  </a:cubicBezTo>
                  <a:cubicBezTo>
                    <a:pt x="81615" y="243258"/>
                    <a:pt x="72473" y="246771"/>
                    <a:pt x="62956" y="246990"/>
                  </a:cubicBezTo>
                  <a:cubicBezTo>
                    <a:pt x="56715" y="246935"/>
                    <a:pt x="50607" y="245170"/>
                    <a:pt x="45301" y="241880"/>
                  </a:cubicBezTo>
                  <a:cubicBezTo>
                    <a:pt x="39571" y="238532"/>
                    <a:pt x="35087" y="233409"/>
                    <a:pt x="32527" y="227282"/>
                  </a:cubicBezTo>
                  <a:cubicBezTo>
                    <a:pt x="29311" y="217839"/>
                    <a:pt x="27920" y="207866"/>
                    <a:pt x="28422" y="197902"/>
                  </a:cubicBezTo>
                  <a:lnTo>
                    <a:pt x="28422" y="74407"/>
                  </a:lnTo>
                  <a:lnTo>
                    <a:pt x="0" y="74407"/>
                  </a:lnTo>
                  <a:lnTo>
                    <a:pt x="0" y="68020"/>
                  </a:lnTo>
                  <a:cubicBezTo>
                    <a:pt x="8198" y="64398"/>
                    <a:pt x="15675" y="59330"/>
                    <a:pt x="22080" y="53057"/>
                  </a:cubicBezTo>
                  <a:cubicBezTo>
                    <a:pt x="29895" y="45671"/>
                    <a:pt x="36693" y="37281"/>
                    <a:pt x="42290" y="28102"/>
                  </a:cubicBezTo>
                  <a:cubicBezTo>
                    <a:pt x="47121" y="19097"/>
                    <a:pt x="51360" y="9786"/>
                    <a:pt x="54973" y="228"/>
                  </a:cubicBezTo>
                  <a:close/>
                </a:path>
              </a:pathLst>
            </a:custGeom>
            <a:grpFill/>
            <a:ln w="45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882FE560-55AF-791C-CF8A-410455028AF7}"/>
                </a:ext>
              </a:extLst>
            </p:cNvPr>
            <p:cNvSpPr/>
            <p:nvPr/>
          </p:nvSpPr>
          <p:spPr>
            <a:xfrm>
              <a:off x="6031186" y="2221506"/>
              <a:ext cx="195940" cy="272599"/>
            </a:xfrm>
            <a:custGeom>
              <a:avLst/>
              <a:gdLst>
                <a:gd name="connsiteX0" fmla="*/ 228 w 195940"/>
                <a:gd name="connsiteY0" fmla="*/ 0 h 272599"/>
                <a:gd name="connsiteX1" fmla="*/ 83988 w 195940"/>
                <a:gd name="connsiteY1" fmla="*/ 0 h 272599"/>
                <a:gd name="connsiteX2" fmla="*/ 83988 w 195940"/>
                <a:gd name="connsiteY2" fmla="*/ 7254 h 272599"/>
                <a:gd name="connsiteX3" fmla="*/ 79882 w 195940"/>
                <a:gd name="connsiteY3" fmla="*/ 7254 h 272599"/>
                <a:gd name="connsiteX4" fmla="*/ 66652 w 195940"/>
                <a:gd name="connsiteY4" fmla="*/ 11223 h 272599"/>
                <a:gd name="connsiteX5" fmla="*/ 62090 w 195940"/>
                <a:gd name="connsiteY5" fmla="*/ 20986 h 272599"/>
                <a:gd name="connsiteX6" fmla="*/ 68568 w 195940"/>
                <a:gd name="connsiteY6" fmla="*/ 42746 h 272599"/>
                <a:gd name="connsiteX7" fmla="*/ 112364 w 195940"/>
                <a:gd name="connsiteY7" fmla="*/ 135813 h 272599"/>
                <a:gd name="connsiteX8" fmla="*/ 152327 w 195940"/>
                <a:gd name="connsiteY8" fmla="*/ 33896 h 272599"/>
                <a:gd name="connsiteX9" fmla="*/ 155658 w 195940"/>
                <a:gd name="connsiteY9" fmla="*/ 17564 h 272599"/>
                <a:gd name="connsiteX10" fmla="*/ 154289 w 195940"/>
                <a:gd name="connsiteY10" fmla="*/ 12135 h 272599"/>
                <a:gd name="connsiteX11" fmla="*/ 149408 w 195940"/>
                <a:gd name="connsiteY11" fmla="*/ 8577 h 272599"/>
                <a:gd name="connsiteX12" fmla="*/ 137637 w 195940"/>
                <a:gd name="connsiteY12" fmla="*/ 7254 h 272599"/>
                <a:gd name="connsiteX13" fmla="*/ 137637 w 195940"/>
                <a:gd name="connsiteY13" fmla="*/ 0 h 272599"/>
                <a:gd name="connsiteX14" fmla="*/ 195941 w 195940"/>
                <a:gd name="connsiteY14" fmla="*/ 0 h 272599"/>
                <a:gd name="connsiteX15" fmla="*/ 195941 w 195940"/>
                <a:gd name="connsiteY15" fmla="*/ 7254 h 272599"/>
                <a:gd name="connsiteX16" fmla="*/ 184763 w 195940"/>
                <a:gd name="connsiteY16" fmla="*/ 10493 h 272599"/>
                <a:gd name="connsiteX17" fmla="*/ 176141 w 195940"/>
                <a:gd name="connsiteY17" fmla="*/ 19617 h 272599"/>
                <a:gd name="connsiteX18" fmla="*/ 169481 w 195940"/>
                <a:gd name="connsiteY18" fmla="*/ 35128 h 272599"/>
                <a:gd name="connsiteX19" fmla="*/ 96488 w 195940"/>
                <a:gd name="connsiteY19" fmla="*/ 218660 h 272599"/>
                <a:gd name="connsiteX20" fmla="*/ 68796 w 195940"/>
                <a:gd name="connsiteY20" fmla="*/ 258897 h 272599"/>
                <a:gd name="connsiteX21" fmla="*/ 35812 w 195940"/>
                <a:gd name="connsiteY21" fmla="*/ 272583 h 272599"/>
                <a:gd name="connsiteX22" fmla="*/ 16788 w 195940"/>
                <a:gd name="connsiteY22" fmla="*/ 265786 h 272599"/>
                <a:gd name="connsiteX23" fmla="*/ 9352 w 195940"/>
                <a:gd name="connsiteY23" fmla="*/ 250138 h 272599"/>
                <a:gd name="connsiteX24" fmla="*/ 14736 w 195940"/>
                <a:gd name="connsiteY24" fmla="*/ 236452 h 272599"/>
                <a:gd name="connsiteX25" fmla="*/ 29517 w 195940"/>
                <a:gd name="connsiteY25" fmla="*/ 231342 h 272599"/>
                <a:gd name="connsiteX26" fmla="*/ 47172 w 195940"/>
                <a:gd name="connsiteY26" fmla="*/ 235904 h 272599"/>
                <a:gd name="connsiteX27" fmla="*/ 56935 w 195940"/>
                <a:gd name="connsiteY27" fmla="*/ 238961 h 272599"/>
                <a:gd name="connsiteX28" fmla="*/ 69754 w 195940"/>
                <a:gd name="connsiteY28" fmla="*/ 232711 h 272599"/>
                <a:gd name="connsiteX29" fmla="*/ 83759 w 195940"/>
                <a:gd name="connsiteY29" fmla="*/ 208623 h 272599"/>
                <a:gd name="connsiteX30" fmla="*/ 96396 w 195940"/>
                <a:gd name="connsiteY30" fmla="*/ 176689 h 272599"/>
                <a:gd name="connsiteX31" fmla="*/ 31934 w 195940"/>
                <a:gd name="connsiteY31" fmla="*/ 38367 h 272599"/>
                <a:gd name="connsiteX32" fmla="*/ 22537 w 195940"/>
                <a:gd name="connsiteY32" fmla="*/ 22765 h 272599"/>
                <a:gd name="connsiteX33" fmla="*/ 14462 w 195940"/>
                <a:gd name="connsiteY33" fmla="*/ 13276 h 272599"/>
                <a:gd name="connsiteX34" fmla="*/ 0 w 195940"/>
                <a:gd name="connsiteY34" fmla="*/ 7573 h 2725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</a:cxnLst>
              <a:rect l="l" t="t" r="r" b="b"/>
              <a:pathLst>
                <a:path w="195940" h="272599">
                  <a:moveTo>
                    <a:pt x="228" y="0"/>
                  </a:moveTo>
                  <a:lnTo>
                    <a:pt x="83988" y="0"/>
                  </a:lnTo>
                  <a:lnTo>
                    <a:pt x="83988" y="7254"/>
                  </a:lnTo>
                  <a:lnTo>
                    <a:pt x="79882" y="7254"/>
                  </a:lnTo>
                  <a:cubicBezTo>
                    <a:pt x="75133" y="6893"/>
                    <a:pt x="70420" y="8308"/>
                    <a:pt x="66652" y="11223"/>
                  </a:cubicBezTo>
                  <a:cubicBezTo>
                    <a:pt x="63737" y="13622"/>
                    <a:pt x="62058" y="17208"/>
                    <a:pt x="62090" y="20986"/>
                  </a:cubicBezTo>
                  <a:cubicBezTo>
                    <a:pt x="62742" y="28604"/>
                    <a:pt x="64950" y="36008"/>
                    <a:pt x="68568" y="42746"/>
                  </a:cubicBezTo>
                  <a:lnTo>
                    <a:pt x="112364" y="135813"/>
                  </a:lnTo>
                  <a:lnTo>
                    <a:pt x="152327" y="33896"/>
                  </a:lnTo>
                  <a:cubicBezTo>
                    <a:pt x="154490" y="28723"/>
                    <a:pt x="155621" y="23171"/>
                    <a:pt x="155658" y="17564"/>
                  </a:cubicBezTo>
                  <a:cubicBezTo>
                    <a:pt x="155781" y="15657"/>
                    <a:pt x="155302" y="13755"/>
                    <a:pt x="154289" y="12135"/>
                  </a:cubicBezTo>
                  <a:cubicBezTo>
                    <a:pt x="153048" y="10493"/>
                    <a:pt x="151351" y="9252"/>
                    <a:pt x="149408" y="8577"/>
                  </a:cubicBezTo>
                  <a:cubicBezTo>
                    <a:pt x="145580" y="7495"/>
                    <a:pt x="141607" y="7053"/>
                    <a:pt x="137637" y="7254"/>
                  </a:cubicBezTo>
                  <a:lnTo>
                    <a:pt x="137637" y="0"/>
                  </a:lnTo>
                  <a:lnTo>
                    <a:pt x="195941" y="0"/>
                  </a:lnTo>
                  <a:lnTo>
                    <a:pt x="195941" y="7254"/>
                  </a:lnTo>
                  <a:cubicBezTo>
                    <a:pt x="192026" y="7527"/>
                    <a:pt x="188217" y="8631"/>
                    <a:pt x="184763" y="10493"/>
                  </a:cubicBezTo>
                  <a:cubicBezTo>
                    <a:pt x="181333" y="12956"/>
                    <a:pt x="178404" y="16049"/>
                    <a:pt x="176141" y="19617"/>
                  </a:cubicBezTo>
                  <a:cubicBezTo>
                    <a:pt x="173596" y="24640"/>
                    <a:pt x="171374" y="29822"/>
                    <a:pt x="169481" y="35128"/>
                  </a:cubicBezTo>
                  <a:lnTo>
                    <a:pt x="96488" y="218660"/>
                  </a:lnTo>
                  <a:cubicBezTo>
                    <a:pt x="90945" y="234266"/>
                    <a:pt x="81392" y="248144"/>
                    <a:pt x="68796" y="258897"/>
                  </a:cubicBezTo>
                  <a:cubicBezTo>
                    <a:pt x="57391" y="268021"/>
                    <a:pt x="46396" y="272583"/>
                    <a:pt x="35812" y="272583"/>
                  </a:cubicBezTo>
                  <a:cubicBezTo>
                    <a:pt x="28837" y="272825"/>
                    <a:pt x="22030" y="270393"/>
                    <a:pt x="16788" y="265786"/>
                  </a:cubicBezTo>
                  <a:cubicBezTo>
                    <a:pt x="12158" y="261894"/>
                    <a:pt x="9444" y="256187"/>
                    <a:pt x="9352" y="250138"/>
                  </a:cubicBezTo>
                  <a:cubicBezTo>
                    <a:pt x="9101" y="245015"/>
                    <a:pt x="11063" y="240028"/>
                    <a:pt x="14736" y="236452"/>
                  </a:cubicBezTo>
                  <a:cubicBezTo>
                    <a:pt x="18800" y="232870"/>
                    <a:pt x="24111" y="231032"/>
                    <a:pt x="29517" y="231342"/>
                  </a:cubicBezTo>
                  <a:cubicBezTo>
                    <a:pt x="35625" y="231794"/>
                    <a:pt x="41606" y="233340"/>
                    <a:pt x="47172" y="235904"/>
                  </a:cubicBezTo>
                  <a:cubicBezTo>
                    <a:pt x="50283" y="237337"/>
                    <a:pt x="53563" y="238363"/>
                    <a:pt x="56935" y="238961"/>
                  </a:cubicBezTo>
                  <a:cubicBezTo>
                    <a:pt x="61830" y="238514"/>
                    <a:pt x="66387" y="236287"/>
                    <a:pt x="69754" y="232711"/>
                  </a:cubicBezTo>
                  <a:cubicBezTo>
                    <a:pt x="76091" y="225776"/>
                    <a:pt x="80867" y="217560"/>
                    <a:pt x="83759" y="208623"/>
                  </a:cubicBezTo>
                  <a:lnTo>
                    <a:pt x="96396" y="176689"/>
                  </a:lnTo>
                  <a:lnTo>
                    <a:pt x="31934" y="38367"/>
                  </a:lnTo>
                  <a:cubicBezTo>
                    <a:pt x="29225" y="32924"/>
                    <a:pt x="26081" y="27705"/>
                    <a:pt x="22537" y="22765"/>
                  </a:cubicBezTo>
                  <a:cubicBezTo>
                    <a:pt x="20297" y="19243"/>
                    <a:pt x="17578" y="16049"/>
                    <a:pt x="14462" y="13276"/>
                  </a:cubicBezTo>
                  <a:cubicBezTo>
                    <a:pt x="10032" y="10502"/>
                    <a:pt x="5128" y="8568"/>
                    <a:pt x="0" y="7573"/>
                  </a:cubicBezTo>
                  <a:close/>
                </a:path>
              </a:pathLst>
            </a:custGeom>
            <a:grpFill/>
            <a:ln w="45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74FA22E4-5909-9CFC-550C-0DF99FF7FC49}"/>
                </a:ext>
              </a:extLst>
            </p:cNvPr>
            <p:cNvSpPr/>
            <p:nvPr/>
          </p:nvSpPr>
          <p:spPr>
            <a:xfrm>
              <a:off x="6344882" y="2127024"/>
              <a:ext cx="239043" cy="284304"/>
            </a:xfrm>
            <a:custGeom>
              <a:avLst/>
              <a:gdLst>
                <a:gd name="connsiteX0" fmla="*/ 226862 w 239043"/>
                <a:gd name="connsiteY0" fmla="*/ 185 h 284304"/>
                <a:gd name="connsiteX1" fmla="*/ 232930 w 239043"/>
                <a:gd name="connsiteY1" fmla="*/ 92567 h 284304"/>
                <a:gd name="connsiteX2" fmla="*/ 226862 w 239043"/>
                <a:gd name="connsiteY2" fmla="*/ 92567 h 284304"/>
                <a:gd name="connsiteX3" fmla="*/ 192237 w 239043"/>
                <a:gd name="connsiteY3" fmla="*/ 32758 h 284304"/>
                <a:gd name="connsiteX4" fmla="*/ 138313 w 239043"/>
                <a:gd name="connsiteY4" fmla="*/ 14510 h 284304"/>
                <a:gd name="connsiteX5" fmla="*/ 90594 w 239043"/>
                <a:gd name="connsiteY5" fmla="*/ 28196 h 284304"/>
                <a:gd name="connsiteX6" fmla="*/ 57063 w 239043"/>
                <a:gd name="connsiteY6" fmla="*/ 71992 h 284304"/>
                <a:gd name="connsiteX7" fmla="*/ 44836 w 239043"/>
                <a:gd name="connsiteY7" fmla="*/ 146718 h 284304"/>
                <a:gd name="connsiteX8" fmla="*/ 56378 w 239043"/>
                <a:gd name="connsiteY8" fmla="*/ 210587 h 284304"/>
                <a:gd name="connsiteX9" fmla="*/ 91096 w 239043"/>
                <a:gd name="connsiteY9" fmla="*/ 252056 h 284304"/>
                <a:gd name="connsiteX10" fmla="*/ 143970 w 239043"/>
                <a:gd name="connsiteY10" fmla="*/ 266518 h 284304"/>
                <a:gd name="connsiteX11" fmla="*/ 189590 w 239043"/>
                <a:gd name="connsiteY11" fmla="*/ 255204 h 284304"/>
                <a:gd name="connsiteX12" fmla="*/ 232976 w 239043"/>
                <a:gd name="connsiteY12" fmla="*/ 210268 h 284304"/>
                <a:gd name="connsiteX13" fmla="*/ 239043 w 239043"/>
                <a:gd name="connsiteY13" fmla="*/ 214328 h 284304"/>
                <a:gd name="connsiteX14" fmla="*/ 192465 w 239043"/>
                <a:gd name="connsiteY14" fmla="*/ 267430 h 284304"/>
                <a:gd name="connsiteX15" fmla="*/ 129235 w 239043"/>
                <a:gd name="connsiteY15" fmla="*/ 284264 h 284304"/>
                <a:gd name="connsiteX16" fmla="*/ 27044 w 239043"/>
                <a:gd name="connsiteY16" fmla="*/ 234082 h 284304"/>
                <a:gd name="connsiteX17" fmla="*/ 37 w 239043"/>
                <a:gd name="connsiteY17" fmla="*/ 146308 h 284304"/>
                <a:gd name="connsiteX18" fmla="*/ 17829 w 239043"/>
                <a:gd name="connsiteY18" fmla="*/ 71535 h 284304"/>
                <a:gd name="connsiteX19" fmla="*/ 135074 w 239043"/>
                <a:gd name="connsiteY19" fmla="*/ 2 h 284304"/>
                <a:gd name="connsiteX20" fmla="*/ 191872 w 239043"/>
                <a:gd name="connsiteY20" fmla="*/ 14418 h 284304"/>
                <a:gd name="connsiteX21" fmla="*/ 203596 w 239043"/>
                <a:gd name="connsiteY21" fmla="*/ 18981 h 284304"/>
                <a:gd name="connsiteX22" fmla="*/ 212720 w 239043"/>
                <a:gd name="connsiteY22" fmla="*/ 15194 h 284304"/>
                <a:gd name="connsiteX23" fmla="*/ 219928 w 239043"/>
                <a:gd name="connsiteY23" fmla="*/ 185 h 2843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239043" h="284304">
                  <a:moveTo>
                    <a:pt x="226862" y="185"/>
                  </a:moveTo>
                  <a:lnTo>
                    <a:pt x="232930" y="92567"/>
                  </a:lnTo>
                  <a:lnTo>
                    <a:pt x="226862" y="92567"/>
                  </a:lnTo>
                  <a:cubicBezTo>
                    <a:pt x="218742" y="64861"/>
                    <a:pt x="207200" y="44925"/>
                    <a:pt x="192237" y="32758"/>
                  </a:cubicBezTo>
                  <a:cubicBezTo>
                    <a:pt x="176986" y="20491"/>
                    <a:pt x="157880" y="14026"/>
                    <a:pt x="138313" y="14510"/>
                  </a:cubicBezTo>
                  <a:cubicBezTo>
                    <a:pt x="121406" y="14286"/>
                    <a:pt x="104809" y="19044"/>
                    <a:pt x="90594" y="28196"/>
                  </a:cubicBezTo>
                  <a:cubicBezTo>
                    <a:pt x="76406" y="37320"/>
                    <a:pt x="65229" y="51964"/>
                    <a:pt x="57063" y="71992"/>
                  </a:cubicBezTo>
                  <a:cubicBezTo>
                    <a:pt x="48897" y="92019"/>
                    <a:pt x="44836" y="116928"/>
                    <a:pt x="44836" y="146718"/>
                  </a:cubicBezTo>
                  <a:cubicBezTo>
                    <a:pt x="44357" y="168566"/>
                    <a:pt x="48281" y="190286"/>
                    <a:pt x="56378" y="210587"/>
                  </a:cubicBezTo>
                  <a:cubicBezTo>
                    <a:pt x="63317" y="227708"/>
                    <a:pt x="75462" y="242216"/>
                    <a:pt x="91096" y="252056"/>
                  </a:cubicBezTo>
                  <a:cubicBezTo>
                    <a:pt x="106981" y="261824"/>
                    <a:pt x="125325" y="266842"/>
                    <a:pt x="143970" y="266518"/>
                  </a:cubicBezTo>
                  <a:cubicBezTo>
                    <a:pt x="159910" y="266846"/>
                    <a:pt x="175653" y="262941"/>
                    <a:pt x="189590" y="255204"/>
                  </a:cubicBezTo>
                  <a:cubicBezTo>
                    <a:pt x="202761" y="247631"/>
                    <a:pt x="217223" y="232654"/>
                    <a:pt x="232976" y="210268"/>
                  </a:cubicBezTo>
                  <a:lnTo>
                    <a:pt x="239043" y="214328"/>
                  </a:lnTo>
                  <a:cubicBezTo>
                    <a:pt x="225722" y="238507"/>
                    <a:pt x="210197" y="256208"/>
                    <a:pt x="192465" y="267430"/>
                  </a:cubicBezTo>
                  <a:cubicBezTo>
                    <a:pt x="173445" y="279000"/>
                    <a:pt x="151493" y="284848"/>
                    <a:pt x="129235" y="284264"/>
                  </a:cubicBezTo>
                  <a:cubicBezTo>
                    <a:pt x="85256" y="284264"/>
                    <a:pt x="51191" y="267535"/>
                    <a:pt x="27044" y="234082"/>
                  </a:cubicBezTo>
                  <a:cubicBezTo>
                    <a:pt x="8805" y="208507"/>
                    <a:pt x="-670" y="177713"/>
                    <a:pt x="37" y="146308"/>
                  </a:cubicBezTo>
                  <a:cubicBezTo>
                    <a:pt x="-237" y="120304"/>
                    <a:pt x="5872" y="94629"/>
                    <a:pt x="17829" y="71535"/>
                  </a:cubicBezTo>
                  <a:cubicBezTo>
                    <a:pt x="40201" y="27402"/>
                    <a:pt x="85594" y="-294"/>
                    <a:pt x="135074" y="2"/>
                  </a:cubicBezTo>
                  <a:cubicBezTo>
                    <a:pt x="154891" y="148"/>
                    <a:pt x="174381" y="5094"/>
                    <a:pt x="191872" y="14418"/>
                  </a:cubicBezTo>
                  <a:cubicBezTo>
                    <a:pt x="195421" y="16736"/>
                    <a:pt x="199413" y="18292"/>
                    <a:pt x="203596" y="18981"/>
                  </a:cubicBezTo>
                  <a:cubicBezTo>
                    <a:pt x="207022" y="18999"/>
                    <a:pt x="210311" y="17635"/>
                    <a:pt x="212720" y="15194"/>
                  </a:cubicBezTo>
                  <a:cubicBezTo>
                    <a:pt x="216429" y="10928"/>
                    <a:pt x="218915" y="5746"/>
                    <a:pt x="219928" y="185"/>
                  </a:cubicBezTo>
                  <a:close/>
                </a:path>
              </a:pathLst>
            </a:custGeom>
            <a:grpFill/>
            <a:ln w="45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3F3FA0E1-3054-E30B-F974-F2373423682A}"/>
                </a:ext>
              </a:extLst>
            </p:cNvPr>
            <p:cNvSpPr/>
            <p:nvPr/>
          </p:nvSpPr>
          <p:spPr>
            <a:xfrm>
              <a:off x="6611248" y="2216137"/>
              <a:ext cx="173325" cy="194631"/>
            </a:xfrm>
            <a:custGeom>
              <a:avLst/>
              <a:gdLst>
                <a:gd name="connsiteX0" fmla="*/ 86911 w 173325"/>
                <a:gd name="connsiteY0" fmla="*/ 32 h 194631"/>
                <a:gd name="connsiteX1" fmla="*/ 152377 w 173325"/>
                <a:gd name="connsiteY1" fmla="*/ 31693 h 194631"/>
                <a:gd name="connsiteX2" fmla="*/ 173317 w 173325"/>
                <a:gd name="connsiteY2" fmla="*/ 93828 h 194631"/>
                <a:gd name="connsiteX3" fmla="*/ 161775 w 173325"/>
                <a:gd name="connsiteY3" fmla="*/ 143737 h 194631"/>
                <a:gd name="connsiteX4" fmla="*/ 129840 w 173325"/>
                <a:gd name="connsiteY4" fmla="*/ 181785 h 194631"/>
                <a:gd name="connsiteX5" fmla="*/ 84676 w 173325"/>
                <a:gd name="connsiteY5" fmla="*/ 194604 h 194631"/>
                <a:gd name="connsiteX6" fmla="*/ 20214 w 173325"/>
                <a:gd name="connsiteY6" fmla="*/ 161575 h 194631"/>
                <a:gd name="connsiteX7" fmla="*/ 4 w 173325"/>
                <a:gd name="connsiteY7" fmla="*/ 99029 h 194631"/>
                <a:gd name="connsiteX8" fmla="*/ 12276 w 173325"/>
                <a:gd name="connsiteY8" fmla="*/ 48846 h 194631"/>
                <a:gd name="connsiteX9" fmla="*/ 44484 w 173325"/>
                <a:gd name="connsiteY9" fmla="*/ 11939 h 194631"/>
                <a:gd name="connsiteX10" fmla="*/ 86820 w 173325"/>
                <a:gd name="connsiteY10" fmla="*/ 32 h 194631"/>
                <a:gd name="connsiteX11" fmla="*/ 80844 w 173325"/>
                <a:gd name="connsiteY11" fmla="*/ 13080 h 194631"/>
                <a:gd name="connsiteX12" fmla="*/ 59904 w 173325"/>
                <a:gd name="connsiteY12" fmla="*/ 19375 h 194631"/>
                <a:gd name="connsiteX13" fmla="*/ 42933 w 173325"/>
                <a:gd name="connsiteY13" fmla="*/ 41501 h 194631"/>
                <a:gd name="connsiteX14" fmla="*/ 36455 w 173325"/>
                <a:gd name="connsiteY14" fmla="*/ 82149 h 194631"/>
                <a:gd name="connsiteX15" fmla="*/ 52057 w 173325"/>
                <a:gd name="connsiteY15" fmla="*/ 151265 h 194631"/>
                <a:gd name="connsiteX16" fmla="*/ 93116 w 173325"/>
                <a:gd name="connsiteY16" fmla="*/ 180279 h 194631"/>
                <a:gd name="connsiteX17" fmla="*/ 124503 w 173325"/>
                <a:gd name="connsiteY17" fmla="*/ 164267 h 194631"/>
                <a:gd name="connsiteX18" fmla="*/ 136866 w 173325"/>
                <a:gd name="connsiteY18" fmla="*/ 109202 h 194631"/>
                <a:gd name="connsiteX19" fmla="*/ 116245 w 173325"/>
                <a:gd name="connsiteY19" fmla="*/ 32286 h 194631"/>
                <a:gd name="connsiteX20" fmla="*/ 80753 w 173325"/>
                <a:gd name="connsiteY20" fmla="*/ 13080 h 1946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73325" h="194631">
                  <a:moveTo>
                    <a:pt x="86911" y="32"/>
                  </a:moveTo>
                  <a:cubicBezTo>
                    <a:pt x="112587" y="-702"/>
                    <a:pt x="137012" y="11109"/>
                    <a:pt x="152377" y="31693"/>
                  </a:cubicBezTo>
                  <a:cubicBezTo>
                    <a:pt x="166236" y="49412"/>
                    <a:pt x="173623" y="71337"/>
                    <a:pt x="173317" y="93828"/>
                  </a:cubicBezTo>
                  <a:cubicBezTo>
                    <a:pt x="173134" y="111105"/>
                    <a:pt x="169193" y="128135"/>
                    <a:pt x="161775" y="143737"/>
                  </a:cubicBezTo>
                  <a:cubicBezTo>
                    <a:pt x="155119" y="159294"/>
                    <a:pt x="144010" y="172533"/>
                    <a:pt x="129840" y="181785"/>
                  </a:cubicBezTo>
                  <a:cubicBezTo>
                    <a:pt x="116341" y="190334"/>
                    <a:pt x="100652" y="194787"/>
                    <a:pt x="84676" y="194604"/>
                  </a:cubicBezTo>
                  <a:cubicBezTo>
                    <a:pt x="58964" y="195302"/>
                    <a:pt x="34667" y="182852"/>
                    <a:pt x="20214" y="161575"/>
                  </a:cubicBezTo>
                  <a:cubicBezTo>
                    <a:pt x="6893" y="143459"/>
                    <a:pt x="-197" y="121515"/>
                    <a:pt x="4" y="99029"/>
                  </a:cubicBezTo>
                  <a:cubicBezTo>
                    <a:pt x="159" y="81579"/>
                    <a:pt x="4361" y="64398"/>
                    <a:pt x="12276" y="48846"/>
                  </a:cubicBezTo>
                  <a:cubicBezTo>
                    <a:pt x="19160" y="33655"/>
                    <a:pt x="30360" y="20817"/>
                    <a:pt x="44484" y="11939"/>
                  </a:cubicBezTo>
                  <a:cubicBezTo>
                    <a:pt x="57235" y="4156"/>
                    <a:pt x="71884" y="37"/>
                    <a:pt x="86820" y="32"/>
                  </a:cubicBezTo>
                  <a:moveTo>
                    <a:pt x="80844" y="13080"/>
                  </a:moveTo>
                  <a:cubicBezTo>
                    <a:pt x="73421" y="13226"/>
                    <a:pt x="66177" y="15402"/>
                    <a:pt x="59904" y="19375"/>
                  </a:cubicBezTo>
                  <a:cubicBezTo>
                    <a:pt x="52011" y="24731"/>
                    <a:pt x="46058" y="32491"/>
                    <a:pt x="42933" y="41501"/>
                  </a:cubicBezTo>
                  <a:cubicBezTo>
                    <a:pt x="38193" y="54512"/>
                    <a:pt x="35994" y="68313"/>
                    <a:pt x="36455" y="82149"/>
                  </a:cubicBezTo>
                  <a:cubicBezTo>
                    <a:pt x="35816" y="106128"/>
                    <a:pt x="41181" y="129887"/>
                    <a:pt x="52057" y="151265"/>
                  </a:cubicBezTo>
                  <a:cubicBezTo>
                    <a:pt x="62459" y="170608"/>
                    <a:pt x="76145" y="180279"/>
                    <a:pt x="93116" y="180279"/>
                  </a:cubicBezTo>
                  <a:cubicBezTo>
                    <a:pt x="105566" y="180393"/>
                    <a:pt x="117286" y="174413"/>
                    <a:pt x="124503" y="164267"/>
                  </a:cubicBezTo>
                  <a:cubicBezTo>
                    <a:pt x="132774" y="153591"/>
                    <a:pt x="136898" y="135238"/>
                    <a:pt x="136866" y="109202"/>
                  </a:cubicBezTo>
                  <a:cubicBezTo>
                    <a:pt x="136866" y="76629"/>
                    <a:pt x="129991" y="50990"/>
                    <a:pt x="116245" y="32286"/>
                  </a:cubicBezTo>
                  <a:cubicBezTo>
                    <a:pt x="108449" y="20270"/>
                    <a:pt x="95077" y="13034"/>
                    <a:pt x="80753" y="13080"/>
                  </a:cubicBezTo>
                </a:path>
              </a:pathLst>
            </a:custGeom>
            <a:grpFill/>
            <a:ln w="45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2AA0948F-C7F0-344B-8FBA-3F08EAAC389D}"/>
                </a:ext>
              </a:extLst>
            </p:cNvPr>
            <p:cNvSpPr/>
            <p:nvPr/>
          </p:nvSpPr>
          <p:spPr>
            <a:xfrm>
              <a:off x="6810341" y="2120137"/>
              <a:ext cx="91651" cy="285083"/>
            </a:xfrm>
            <a:custGeom>
              <a:avLst/>
              <a:gdLst>
                <a:gd name="connsiteX0" fmla="*/ 62637 w 91651"/>
                <a:gd name="connsiteY0" fmla="*/ 0 h 285083"/>
                <a:gd name="connsiteX1" fmla="*/ 62637 w 91651"/>
                <a:gd name="connsiteY1" fmla="*/ 243568 h 285083"/>
                <a:gd name="connsiteX2" fmla="*/ 65055 w 91651"/>
                <a:gd name="connsiteY2" fmla="*/ 266379 h 285083"/>
                <a:gd name="connsiteX3" fmla="*/ 72628 w 91651"/>
                <a:gd name="connsiteY3" fmla="*/ 274910 h 285083"/>
                <a:gd name="connsiteX4" fmla="*/ 91652 w 91651"/>
                <a:gd name="connsiteY4" fmla="*/ 277784 h 285083"/>
                <a:gd name="connsiteX5" fmla="*/ 91652 w 91651"/>
                <a:gd name="connsiteY5" fmla="*/ 285083 h 285083"/>
                <a:gd name="connsiteX6" fmla="*/ 3285 w 91651"/>
                <a:gd name="connsiteY6" fmla="*/ 285083 h 285083"/>
                <a:gd name="connsiteX7" fmla="*/ 3285 w 91651"/>
                <a:gd name="connsiteY7" fmla="*/ 277875 h 285083"/>
                <a:gd name="connsiteX8" fmla="*/ 20301 w 91651"/>
                <a:gd name="connsiteY8" fmla="*/ 275275 h 285083"/>
                <a:gd name="connsiteX9" fmla="*/ 27463 w 91651"/>
                <a:gd name="connsiteY9" fmla="*/ 266698 h 285083"/>
                <a:gd name="connsiteX10" fmla="*/ 30018 w 91651"/>
                <a:gd name="connsiteY10" fmla="*/ 243888 h 285083"/>
                <a:gd name="connsiteX11" fmla="*/ 30018 w 91651"/>
                <a:gd name="connsiteY11" fmla="*/ 76780 h 285083"/>
                <a:gd name="connsiteX12" fmla="*/ 28650 w 91651"/>
                <a:gd name="connsiteY12" fmla="*/ 38823 h 285083"/>
                <a:gd name="connsiteX13" fmla="*/ 24088 w 91651"/>
                <a:gd name="connsiteY13" fmla="*/ 29106 h 285083"/>
                <a:gd name="connsiteX14" fmla="*/ 16332 w 91651"/>
                <a:gd name="connsiteY14" fmla="*/ 26506 h 285083"/>
                <a:gd name="connsiteX15" fmla="*/ 3330 w 91651"/>
                <a:gd name="connsiteY15" fmla="*/ 29745 h 285083"/>
                <a:gd name="connsiteX16" fmla="*/ 0 w 91651"/>
                <a:gd name="connsiteY16" fmla="*/ 22445 h 285083"/>
                <a:gd name="connsiteX17" fmla="*/ 53650 w 91651"/>
                <a:gd name="connsiteY17" fmla="*/ 0 h 2850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91651" h="285083">
                  <a:moveTo>
                    <a:pt x="62637" y="0"/>
                  </a:moveTo>
                  <a:lnTo>
                    <a:pt x="62637" y="243568"/>
                  </a:lnTo>
                  <a:cubicBezTo>
                    <a:pt x="62163" y="251255"/>
                    <a:pt x="62984" y="258965"/>
                    <a:pt x="65055" y="266379"/>
                  </a:cubicBezTo>
                  <a:cubicBezTo>
                    <a:pt x="66570" y="269978"/>
                    <a:pt x="69234" y="272976"/>
                    <a:pt x="72628" y="274910"/>
                  </a:cubicBezTo>
                  <a:cubicBezTo>
                    <a:pt x="78673" y="277287"/>
                    <a:pt x="85174" y="278272"/>
                    <a:pt x="91652" y="277784"/>
                  </a:cubicBezTo>
                  <a:lnTo>
                    <a:pt x="91652" y="285083"/>
                  </a:lnTo>
                  <a:lnTo>
                    <a:pt x="3285" y="285083"/>
                  </a:lnTo>
                  <a:lnTo>
                    <a:pt x="3285" y="277875"/>
                  </a:lnTo>
                  <a:cubicBezTo>
                    <a:pt x="9083" y="278322"/>
                    <a:pt x="14904" y="277433"/>
                    <a:pt x="20301" y="275275"/>
                  </a:cubicBezTo>
                  <a:cubicBezTo>
                    <a:pt x="23567" y="273281"/>
                    <a:pt x="26086" y="270266"/>
                    <a:pt x="27463" y="266698"/>
                  </a:cubicBezTo>
                  <a:cubicBezTo>
                    <a:pt x="29589" y="259294"/>
                    <a:pt x="30452" y="251580"/>
                    <a:pt x="30018" y="243888"/>
                  </a:cubicBezTo>
                  <a:lnTo>
                    <a:pt x="30018" y="76780"/>
                  </a:lnTo>
                  <a:cubicBezTo>
                    <a:pt x="30383" y="64111"/>
                    <a:pt x="29927" y="51433"/>
                    <a:pt x="28650" y="38823"/>
                  </a:cubicBezTo>
                  <a:cubicBezTo>
                    <a:pt x="28234" y="35173"/>
                    <a:pt x="26629" y="31757"/>
                    <a:pt x="24088" y="29106"/>
                  </a:cubicBezTo>
                  <a:cubicBezTo>
                    <a:pt x="21907" y="27322"/>
                    <a:pt x="19147" y="26396"/>
                    <a:pt x="16332" y="26506"/>
                  </a:cubicBezTo>
                  <a:cubicBezTo>
                    <a:pt x="11834" y="26766"/>
                    <a:pt x="7427" y="27865"/>
                    <a:pt x="3330" y="29745"/>
                  </a:cubicBezTo>
                  <a:lnTo>
                    <a:pt x="0" y="22445"/>
                  </a:lnTo>
                  <a:lnTo>
                    <a:pt x="53650" y="0"/>
                  </a:lnTo>
                  <a:close/>
                </a:path>
              </a:pathLst>
            </a:custGeom>
            <a:grpFill/>
            <a:ln w="45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6ADAAF86-E777-6606-9547-36B0E3A5AB12}"/>
                </a:ext>
              </a:extLst>
            </p:cNvPr>
            <p:cNvSpPr/>
            <p:nvPr/>
          </p:nvSpPr>
          <p:spPr>
            <a:xfrm>
              <a:off x="6921792" y="2120137"/>
              <a:ext cx="91651" cy="285083"/>
            </a:xfrm>
            <a:custGeom>
              <a:avLst/>
              <a:gdLst>
                <a:gd name="connsiteX0" fmla="*/ 62637 w 91651"/>
                <a:gd name="connsiteY0" fmla="*/ 0 h 285083"/>
                <a:gd name="connsiteX1" fmla="*/ 62637 w 91651"/>
                <a:gd name="connsiteY1" fmla="*/ 243568 h 285083"/>
                <a:gd name="connsiteX2" fmla="*/ 65100 w 91651"/>
                <a:gd name="connsiteY2" fmla="*/ 266379 h 285083"/>
                <a:gd name="connsiteX3" fmla="*/ 72628 w 91651"/>
                <a:gd name="connsiteY3" fmla="*/ 274910 h 285083"/>
                <a:gd name="connsiteX4" fmla="*/ 91652 w 91651"/>
                <a:gd name="connsiteY4" fmla="*/ 277784 h 285083"/>
                <a:gd name="connsiteX5" fmla="*/ 91652 w 91651"/>
                <a:gd name="connsiteY5" fmla="*/ 285083 h 285083"/>
                <a:gd name="connsiteX6" fmla="*/ 3285 w 91651"/>
                <a:gd name="connsiteY6" fmla="*/ 285083 h 285083"/>
                <a:gd name="connsiteX7" fmla="*/ 3285 w 91651"/>
                <a:gd name="connsiteY7" fmla="*/ 277875 h 285083"/>
                <a:gd name="connsiteX8" fmla="*/ 20301 w 91651"/>
                <a:gd name="connsiteY8" fmla="*/ 275275 h 285083"/>
                <a:gd name="connsiteX9" fmla="*/ 27463 w 91651"/>
                <a:gd name="connsiteY9" fmla="*/ 266698 h 285083"/>
                <a:gd name="connsiteX10" fmla="*/ 30018 w 91651"/>
                <a:gd name="connsiteY10" fmla="*/ 243888 h 285083"/>
                <a:gd name="connsiteX11" fmla="*/ 30018 w 91651"/>
                <a:gd name="connsiteY11" fmla="*/ 76780 h 285083"/>
                <a:gd name="connsiteX12" fmla="*/ 28650 w 91651"/>
                <a:gd name="connsiteY12" fmla="*/ 38823 h 285083"/>
                <a:gd name="connsiteX13" fmla="*/ 24088 w 91651"/>
                <a:gd name="connsiteY13" fmla="*/ 29106 h 285083"/>
                <a:gd name="connsiteX14" fmla="*/ 16332 w 91651"/>
                <a:gd name="connsiteY14" fmla="*/ 26506 h 285083"/>
                <a:gd name="connsiteX15" fmla="*/ 3376 w 91651"/>
                <a:gd name="connsiteY15" fmla="*/ 29745 h 285083"/>
                <a:gd name="connsiteX16" fmla="*/ 0 w 91651"/>
                <a:gd name="connsiteY16" fmla="*/ 22445 h 285083"/>
                <a:gd name="connsiteX17" fmla="*/ 53650 w 91651"/>
                <a:gd name="connsiteY17" fmla="*/ 0 h 2850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91651" h="285083">
                  <a:moveTo>
                    <a:pt x="62637" y="0"/>
                  </a:moveTo>
                  <a:lnTo>
                    <a:pt x="62637" y="243568"/>
                  </a:lnTo>
                  <a:cubicBezTo>
                    <a:pt x="62149" y="251255"/>
                    <a:pt x="62984" y="258970"/>
                    <a:pt x="65100" y="266379"/>
                  </a:cubicBezTo>
                  <a:cubicBezTo>
                    <a:pt x="66602" y="269974"/>
                    <a:pt x="69247" y="272976"/>
                    <a:pt x="72628" y="274910"/>
                  </a:cubicBezTo>
                  <a:cubicBezTo>
                    <a:pt x="78673" y="277287"/>
                    <a:pt x="85174" y="278272"/>
                    <a:pt x="91652" y="277784"/>
                  </a:cubicBezTo>
                  <a:lnTo>
                    <a:pt x="91652" y="285083"/>
                  </a:lnTo>
                  <a:lnTo>
                    <a:pt x="3285" y="285083"/>
                  </a:lnTo>
                  <a:lnTo>
                    <a:pt x="3285" y="277875"/>
                  </a:lnTo>
                  <a:cubicBezTo>
                    <a:pt x="9083" y="278322"/>
                    <a:pt x="14904" y="277433"/>
                    <a:pt x="20301" y="275275"/>
                  </a:cubicBezTo>
                  <a:cubicBezTo>
                    <a:pt x="23567" y="273281"/>
                    <a:pt x="26086" y="270266"/>
                    <a:pt x="27463" y="266698"/>
                  </a:cubicBezTo>
                  <a:cubicBezTo>
                    <a:pt x="29589" y="259294"/>
                    <a:pt x="30452" y="251580"/>
                    <a:pt x="30018" y="243888"/>
                  </a:cubicBezTo>
                  <a:lnTo>
                    <a:pt x="30018" y="76780"/>
                  </a:lnTo>
                  <a:cubicBezTo>
                    <a:pt x="30383" y="64111"/>
                    <a:pt x="29927" y="51433"/>
                    <a:pt x="28650" y="38823"/>
                  </a:cubicBezTo>
                  <a:cubicBezTo>
                    <a:pt x="28234" y="35173"/>
                    <a:pt x="26629" y="31757"/>
                    <a:pt x="24088" y="29106"/>
                  </a:cubicBezTo>
                  <a:cubicBezTo>
                    <a:pt x="21911" y="27313"/>
                    <a:pt x="19152" y="26387"/>
                    <a:pt x="16332" y="26506"/>
                  </a:cubicBezTo>
                  <a:cubicBezTo>
                    <a:pt x="11848" y="26761"/>
                    <a:pt x="7454" y="27860"/>
                    <a:pt x="3376" y="29745"/>
                  </a:cubicBezTo>
                  <a:lnTo>
                    <a:pt x="0" y="22445"/>
                  </a:lnTo>
                  <a:lnTo>
                    <a:pt x="53650" y="0"/>
                  </a:lnTo>
                  <a:close/>
                </a:path>
              </a:pathLst>
            </a:custGeom>
            <a:grpFill/>
            <a:ln w="45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CDEE901E-7A41-7C7F-DD7B-9D29A15C4950}"/>
                </a:ext>
              </a:extLst>
            </p:cNvPr>
            <p:cNvSpPr/>
            <p:nvPr/>
          </p:nvSpPr>
          <p:spPr>
            <a:xfrm>
              <a:off x="7036345" y="2216089"/>
              <a:ext cx="151916" cy="194661"/>
            </a:xfrm>
            <a:custGeom>
              <a:avLst/>
              <a:gdLst>
                <a:gd name="connsiteX0" fmla="*/ 27555 w 151916"/>
                <a:gd name="connsiteY0" fmla="*/ 74715 h 194661"/>
                <a:gd name="connsiteX1" fmla="*/ 46989 w 151916"/>
                <a:gd name="connsiteY1" fmla="*/ 138584 h 194661"/>
                <a:gd name="connsiteX2" fmla="*/ 93066 w 151916"/>
                <a:gd name="connsiteY2" fmla="*/ 161759 h 194661"/>
                <a:gd name="connsiteX3" fmla="*/ 123769 w 151916"/>
                <a:gd name="connsiteY3" fmla="*/ 151905 h 194661"/>
                <a:gd name="connsiteX4" fmla="*/ 145621 w 151916"/>
                <a:gd name="connsiteY4" fmla="*/ 117918 h 194661"/>
                <a:gd name="connsiteX5" fmla="*/ 151689 w 151916"/>
                <a:gd name="connsiteY5" fmla="*/ 121932 h 194661"/>
                <a:gd name="connsiteX6" fmla="*/ 127783 w 151916"/>
                <a:gd name="connsiteY6" fmla="*/ 172115 h 194661"/>
                <a:gd name="connsiteX7" fmla="*/ 78194 w 151916"/>
                <a:gd name="connsiteY7" fmla="*/ 194652 h 194661"/>
                <a:gd name="connsiteX8" fmla="*/ 22810 w 151916"/>
                <a:gd name="connsiteY8" fmla="*/ 168922 h 194661"/>
                <a:gd name="connsiteX9" fmla="*/ 0 w 151916"/>
                <a:gd name="connsiteY9" fmla="*/ 99715 h 194661"/>
                <a:gd name="connsiteX10" fmla="*/ 23631 w 151916"/>
                <a:gd name="connsiteY10" fmla="*/ 26357 h 194661"/>
                <a:gd name="connsiteX11" fmla="*/ 82938 w 151916"/>
                <a:gd name="connsiteY11" fmla="*/ 34 h 194661"/>
                <a:gd name="connsiteX12" fmla="*/ 132528 w 151916"/>
                <a:gd name="connsiteY12" fmla="*/ 20335 h 194661"/>
                <a:gd name="connsiteX13" fmla="*/ 151917 w 151916"/>
                <a:gd name="connsiteY13" fmla="*/ 74669 h 194661"/>
                <a:gd name="connsiteX14" fmla="*/ 27555 w 151916"/>
                <a:gd name="connsiteY14" fmla="*/ 63173 h 194661"/>
                <a:gd name="connsiteX15" fmla="*/ 111177 w 151916"/>
                <a:gd name="connsiteY15" fmla="*/ 63173 h 194661"/>
                <a:gd name="connsiteX16" fmla="*/ 107026 w 151916"/>
                <a:gd name="connsiteY16" fmla="*/ 38401 h 194661"/>
                <a:gd name="connsiteX17" fmla="*/ 92382 w 151916"/>
                <a:gd name="connsiteY17" fmla="*/ 20791 h 194661"/>
                <a:gd name="connsiteX18" fmla="*/ 72035 w 151916"/>
                <a:gd name="connsiteY18" fmla="*/ 14405 h 194661"/>
                <a:gd name="connsiteX19" fmla="*/ 42838 w 151916"/>
                <a:gd name="connsiteY19" fmla="*/ 27315 h 194661"/>
                <a:gd name="connsiteX20" fmla="*/ 27783 w 151916"/>
                <a:gd name="connsiteY20" fmla="*/ 63173 h 194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51916" h="194661">
                  <a:moveTo>
                    <a:pt x="27555" y="74715"/>
                  </a:moveTo>
                  <a:cubicBezTo>
                    <a:pt x="27555" y="101905"/>
                    <a:pt x="34033" y="123196"/>
                    <a:pt x="46989" y="138584"/>
                  </a:cubicBezTo>
                  <a:cubicBezTo>
                    <a:pt x="59946" y="153972"/>
                    <a:pt x="75306" y="161700"/>
                    <a:pt x="93066" y="161759"/>
                  </a:cubicBezTo>
                  <a:cubicBezTo>
                    <a:pt x="104111" y="161992"/>
                    <a:pt x="114918" y="158520"/>
                    <a:pt x="123769" y="151905"/>
                  </a:cubicBezTo>
                  <a:cubicBezTo>
                    <a:pt x="132436" y="145336"/>
                    <a:pt x="139722" y="134008"/>
                    <a:pt x="145621" y="117918"/>
                  </a:cubicBezTo>
                  <a:lnTo>
                    <a:pt x="151689" y="121932"/>
                  </a:lnTo>
                  <a:cubicBezTo>
                    <a:pt x="148837" y="140651"/>
                    <a:pt x="140521" y="158110"/>
                    <a:pt x="127783" y="172115"/>
                  </a:cubicBezTo>
                  <a:cubicBezTo>
                    <a:pt x="115489" y="186709"/>
                    <a:pt x="97272" y="194989"/>
                    <a:pt x="78194" y="194652"/>
                  </a:cubicBezTo>
                  <a:cubicBezTo>
                    <a:pt x="56825" y="194743"/>
                    <a:pt x="36524" y="185313"/>
                    <a:pt x="22810" y="168922"/>
                  </a:cubicBezTo>
                  <a:cubicBezTo>
                    <a:pt x="7605" y="151768"/>
                    <a:pt x="0" y="128698"/>
                    <a:pt x="0" y="99715"/>
                  </a:cubicBezTo>
                  <a:cubicBezTo>
                    <a:pt x="0" y="68360"/>
                    <a:pt x="7879" y="43908"/>
                    <a:pt x="23631" y="26357"/>
                  </a:cubicBezTo>
                  <a:cubicBezTo>
                    <a:pt x="38495" y="9186"/>
                    <a:pt x="60237" y="-463"/>
                    <a:pt x="82938" y="34"/>
                  </a:cubicBezTo>
                  <a:cubicBezTo>
                    <a:pt x="101606" y="-568"/>
                    <a:pt x="119640" y="6818"/>
                    <a:pt x="132528" y="20335"/>
                  </a:cubicBezTo>
                  <a:cubicBezTo>
                    <a:pt x="145452" y="33898"/>
                    <a:pt x="151917" y="52010"/>
                    <a:pt x="151917" y="74669"/>
                  </a:cubicBezTo>
                  <a:close/>
                  <a:moveTo>
                    <a:pt x="27555" y="63173"/>
                  </a:moveTo>
                  <a:lnTo>
                    <a:pt x="111177" y="63173"/>
                  </a:lnTo>
                  <a:cubicBezTo>
                    <a:pt x="111127" y="54747"/>
                    <a:pt x="109727" y="46385"/>
                    <a:pt x="107026" y="38401"/>
                  </a:cubicBezTo>
                  <a:cubicBezTo>
                    <a:pt x="104010" y="31202"/>
                    <a:pt x="98910" y="25071"/>
                    <a:pt x="92382" y="20791"/>
                  </a:cubicBezTo>
                  <a:cubicBezTo>
                    <a:pt x="86387" y="16686"/>
                    <a:pt x="79302" y="14459"/>
                    <a:pt x="72035" y="14405"/>
                  </a:cubicBezTo>
                  <a:cubicBezTo>
                    <a:pt x="60935" y="14491"/>
                    <a:pt x="50370" y="19167"/>
                    <a:pt x="42838" y="27315"/>
                  </a:cubicBezTo>
                  <a:cubicBezTo>
                    <a:pt x="33727" y="37105"/>
                    <a:pt x="28394" y="49815"/>
                    <a:pt x="27783" y="63173"/>
                  </a:cubicBezTo>
                </a:path>
              </a:pathLst>
            </a:custGeom>
            <a:grpFill/>
            <a:ln w="45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31F4C010-6487-1B56-B492-F585DC2F0D68}"/>
                </a:ext>
              </a:extLst>
            </p:cNvPr>
            <p:cNvSpPr/>
            <p:nvPr/>
          </p:nvSpPr>
          <p:spPr>
            <a:xfrm>
              <a:off x="7211391" y="2216256"/>
              <a:ext cx="181796" cy="277621"/>
            </a:xfrm>
            <a:custGeom>
              <a:avLst/>
              <a:gdLst>
                <a:gd name="connsiteX0" fmla="*/ 48586 w 181796"/>
                <a:gd name="connsiteY0" fmla="*/ 121948 h 277621"/>
                <a:gd name="connsiteX1" fmla="*/ 23312 w 181796"/>
                <a:gd name="connsiteY1" fmla="*/ 99137 h 277621"/>
                <a:gd name="connsiteX2" fmla="*/ 14507 w 181796"/>
                <a:gd name="connsiteY2" fmla="*/ 66564 h 277621"/>
                <a:gd name="connsiteX3" fmla="*/ 34626 w 181796"/>
                <a:gd name="connsiteY3" fmla="*/ 19666 h 277621"/>
                <a:gd name="connsiteX4" fmla="*/ 86132 w 181796"/>
                <a:gd name="connsiteY4" fmla="*/ 50 h 277621"/>
                <a:gd name="connsiteX5" fmla="*/ 130657 w 181796"/>
                <a:gd name="connsiteY5" fmla="*/ 12869 h 277621"/>
                <a:gd name="connsiteX6" fmla="*/ 168796 w 181796"/>
                <a:gd name="connsiteY6" fmla="*/ 12869 h 277621"/>
                <a:gd name="connsiteX7" fmla="*/ 178605 w 181796"/>
                <a:gd name="connsiteY7" fmla="*/ 13371 h 277621"/>
                <a:gd name="connsiteX8" fmla="*/ 180566 w 181796"/>
                <a:gd name="connsiteY8" fmla="*/ 15059 h 277621"/>
                <a:gd name="connsiteX9" fmla="*/ 181753 w 181796"/>
                <a:gd name="connsiteY9" fmla="*/ 21445 h 277621"/>
                <a:gd name="connsiteX10" fmla="*/ 180749 w 181796"/>
                <a:gd name="connsiteY10" fmla="*/ 28654 h 277621"/>
                <a:gd name="connsiteX11" fmla="*/ 178696 w 181796"/>
                <a:gd name="connsiteY11" fmla="*/ 30250 h 277621"/>
                <a:gd name="connsiteX12" fmla="*/ 168705 w 181796"/>
                <a:gd name="connsiteY12" fmla="*/ 30843 h 277621"/>
                <a:gd name="connsiteX13" fmla="*/ 145302 w 181796"/>
                <a:gd name="connsiteY13" fmla="*/ 30843 h 277621"/>
                <a:gd name="connsiteX14" fmla="*/ 156251 w 181796"/>
                <a:gd name="connsiteY14" fmla="*/ 67796 h 277621"/>
                <a:gd name="connsiteX15" fmla="*/ 137044 w 181796"/>
                <a:gd name="connsiteY15" fmla="*/ 111774 h 277621"/>
                <a:gd name="connsiteX16" fmla="*/ 85539 w 181796"/>
                <a:gd name="connsiteY16" fmla="*/ 130022 h 277621"/>
                <a:gd name="connsiteX17" fmla="*/ 58166 w 181796"/>
                <a:gd name="connsiteY17" fmla="*/ 125917 h 277621"/>
                <a:gd name="connsiteX18" fmla="*/ 46533 w 181796"/>
                <a:gd name="connsiteY18" fmla="*/ 139238 h 277621"/>
                <a:gd name="connsiteX19" fmla="*/ 43522 w 181796"/>
                <a:gd name="connsiteY19" fmla="*/ 148955 h 277621"/>
                <a:gd name="connsiteX20" fmla="*/ 46715 w 181796"/>
                <a:gd name="connsiteY20" fmla="*/ 155570 h 277621"/>
                <a:gd name="connsiteX21" fmla="*/ 59352 w 181796"/>
                <a:gd name="connsiteY21" fmla="*/ 160132 h 277621"/>
                <a:gd name="connsiteX22" fmla="*/ 86725 w 181796"/>
                <a:gd name="connsiteY22" fmla="*/ 161546 h 277621"/>
                <a:gd name="connsiteX23" fmla="*/ 138960 w 181796"/>
                <a:gd name="connsiteY23" fmla="*/ 164421 h 277621"/>
                <a:gd name="connsiteX24" fmla="*/ 168021 w 181796"/>
                <a:gd name="connsiteY24" fmla="*/ 178107 h 277621"/>
                <a:gd name="connsiteX25" fmla="*/ 178879 w 181796"/>
                <a:gd name="connsiteY25" fmla="*/ 205799 h 277621"/>
                <a:gd name="connsiteX26" fmla="*/ 158167 w 181796"/>
                <a:gd name="connsiteY26" fmla="*/ 248317 h 277621"/>
                <a:gd name="connsiteX27" fmla="*/ 78559 w 181796"/>
                <a:gd name="connsiteY27" fmla="*/ 277560 h 277621"/>
                <a:gd name="connsiteX28" fmla="*/ 14690 w 181796"/>
                <a:gd name="connsiteY28" fmla="*/ 260087 h 277621"/>
                <a:gd name="connsiteX29" fmla="*/ 0 w 181796"/>
                <a:gd name="connsiteY29" fmla="*/ 239193 h 277621"/>
                <a:gd name="connsiteX30" fmla="*/ 2144 w 181796"/>
                <a:gd name="connsiteY30" fmla="*/ 229567 h 277621"/>
                <a:gd name="connsiteX31" fmla="*/ 15830 w 181796"/>
                <a:gd name="connsiteY31" fmla="*/ 208901 h 277621"/>
                <a:gd name="connsiteX32" fmla="*/ 35767 w 181796"/>
                <a:gd name="connsiteY32" fmla="*/ 187185 h 277621"/>
                <a:gd name="connsiteX33" fmla="*/ 21350 w 181796"/>
                <a:gd name="connsiteY33" fmla="*/ 176054 h 277621"/>
                <a:gd name="connsiteX34" fmla="*/ 17108 w 181796"/>
                <a:gd name="connsiteY34" fmla="*/ 164922 h 277621"/>
                <a:gd name="connsiteX35" fmla="*/ 22719 w 181796"/>
                <a:gd name="connsiteY35" fmla="*/ 148499 h 277621"/>
                <a:gd name="connsiteX36" fmla="*/ 48495 w 181796"/>
                <a:gd name="connsiteY36" fmla="*/ 121811 h 277621"/>
                <a:gd name="connsiteX37" fmla="*/ 46533 w 181796"/>
                <a:gd name="connsiteY37" fmla="*/ 188827 h 277621"/>
                <a:gd name="connsiteX38" fmla="*/ 32847 w 181796"/>
                <a:gd name="connsiteY38" fmla="*/ 207851 h 277621"/>
                <a:gd name="connsiteX39" fmla="*/ 28285 w 181796"/>
                <a:gd name="connsiteY39" fmla="*/ 224092 h 277621"/>
                <a:gd name="connsiteX40" fmla="*/ 39644 w 181796"/>
                <a:gd name="connsiteY40" fmla="*/ 240972 h 277621"/>
                <a:gd name="connsiteX41" fmla="*/ 96214 w 181796"/>
                <a:gd name="connsiteY41" fmla="*/ 253381 h 277621"/>
                <a:gd name="connsiteX42" fmla="*/ 148176 w 181796"/>
                <a:gd name="connsiteY42" fmla="*/ 240652 h 277621"/>
                <a:gd name="connsiteX43" fmla="*/ 164919 w 181796"/>
                <a:gd name="connsiteY43" fmla="*/ 213554 h 277621"/>
                <a:gd name="connsiteX44" fmla="*/ 154928 w 181796"/>
                <a:gd name="connsiteY44" fmla="*/ 198727 h 277621"/>
                <a:gd name="connsiteX45" fmla="*/ 114553 w 181796"/>
                <a:gd name="connsiteY45" fmla="*/ 193527 h 277621"/>
                <a:gd name="connsiteX46" fmla="*/ 46807 w 181796"/>
                <a:gd name="connsiteY46" fmla="*/ 188964 h 277621"/>
                <a:gd name="connsiteX47" fmla="*/ 82893 w 181796"/>
                <a:gd name="connsiteY47" fmla="*/ 9539 h 277621"/>
                <a:gd name="connsiteX48" fmla="*/ 58531 w 181796"/>
                <a:gd name="connsiteY48" fmla="*/ 21354 h 277621"/>
                <a:gd name="connsiteX49" fmla="*/ 48723 w 181796"/>
                <a:gd name="connsiteY49" fmla="*/ 57577 h 277621"/>
                <a:gd name="connsiteX50" fmla="*/ 62090 w 181796"/>
                <a:gd name="connsiteY50" fmla="*/ 106665 h 277621"/>
                <a:gd name="connsiteX51" fmla="*/ 87957 w 181796"/>
                <a:gd name="connsiteY51" fmla="*/ 119895 h 277621"/>
                <a:gd name="connsiteX52" fmla="*/ 112455 w 181796"/>
                <a:gd name="connsiteY52" fmla="*/ 108444 h 277621"/>
                <a:gd name="connsiteX53" fmla="*/ 122081 w 181796"/>
                <a:gd name="connsiteY53" fmla="*/ 72586 h 277621"/>
                <a:gd name="connsiteX54" fmla="*/ 108395 w 181796"/>
                <a:gd name="connsiteY54" fmla="*/ 22768 h 277621"/>
                <a:gd name="connsiteX55" fmla="*/ 82756 w 181796"/>
                <a:gd name="connsiteY55" fmla="*/ 9539 h 2776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</a:cxnLst>
              <a:rect l="l" t="t" r="r" b="b"/>
              <a:pathLst>
                <a:path w="181796" h="277621">
                  <a:moveTo>
                    <a:pt x="48586" y="121948"/>
                  </a:moveTo>
                  <a:cubicBezTo>
                    <a:pt x="38134" y="116948"/>
                    <a:pt x="29357" y="109023"/>
                    <a:pt x="23312" y="99137"/>
                  </a:cubicBezTo>
                  <a:cubicBezTo>
                    <a:pt x="17432" y="89297"/>
                    <a:pt x="14389" y="78024"/>
                    <a:pt x="14507" y="66564"/>
                  </a:cubicBezTo>
                  <a:cubicBezTo>
                    <a:pt x="14334" y="48800"/>
                    <a:pt x="21633" y="31783"/>
                    <a:pt x="34626" y="19666"/>
                  </a:cubicBezTo>
                  <a:cubicBezTo>
                    <a:pt x="48422" y="6414"/>
                    <a:pt x="67012" y="-667"/>
                    <a:pt x="86132" y="50"/>
                  </a:cubicBezTo>
                  <a:cubicBezTo>
                    <a:pt x="101935" y="-316"/>
                    <a:pt x="117469" y="4160"/>
                    <a:pt x="130657" y="12869"/>
                  </a:cubicBezTo>
                  <a:lnTo>
                    <a:pt x="168796" y="12869"/>
                  </a:lnTo>
                  <a:cubicBezTo>
                    <a:pt x="172076" y="12714"/>
                    <a:pt x="175361" y="12883"/>
                    <a:pt x="178605" y="13371"/>
                  </a:cubicBezTo>
                  <a:cubicBezTo>
                    <a:pt x="179462" y="13640"/>
                    <a:pt x="180169" y="14251"/>
                    <a:pt x="180566" y="15059"/>
                  </a:cubicBezTo>
                  <a:cubicBezTo>
                    <a:pt x="181515" y="17048"/>
                    <a:pt x="181921" y="19251"/>
                    <a:pt x="181753" y="21445"/>
                  </a:cubicBezTo>
                  <a:cubicBezTo>
                    <a:pt x="181926" y="23891"/>
                    <a:pt x="181584" y="26345"/>
                    <a:pt x="180749" y="28654"/>
                  </a:cubicBezTo>
                  <a:cubicBezTo>
                    <a:pt x="180261" y="29397"/>
                    <a:pt x="179540" y="29958"/>
                    <a:pt x="178696" y="30250"/>
                  </a:cubicBezTo>
                  <a:cubicBezTo>
                    <a:pt x="175402" y="30834"/>
                    <a:pt x="172049" y="31035"/>
                    <a:pt x="168705" y="30843"/>
                  </a:cubicBezTo>
                  <a:lnTo>
                    <a:pt x="145302" y="30843"/>
                  </a:lnTo>
                  <a:cubicBezTo>
                    <a:pt x="152961" y="41601"/>
                    <a:pt x="156816" y="54603"/>
                    <a:pt x="156251" y="67796"/>
                  </a:cubicBezTo>
                  <a:cubicBezTo>
                    <a:pt x="156442" y="84530"/>
                    <a:pt x="149448" y="100543"/>
                    <a:pt x="137044" y="111774"/>
                  </a:cubicBezTo>
                  <a:cubicBezTo>
                    <a:pt x="124271" y="123941"/>
                    <a:pt x="107103" y="130022"/>
                    <a:pt x="85539" y="130022"/>
                  </a:cubicBezTo>
                  <a:cubicBezTo>
                    <a:pt x="76264" y="129986"/>
                    <a:pt x="67044" y="128604"/>
                    <a:pt x="58166" y="125917"/>
                  </a:cubicBezTo>
                  <a:cubicBezTo>
                    <a:pt x="53559" y="129662"/>
                    <a:pt x="49622" y="134165"/>
                    <a:pt x="46533" y="139238"/>
                  </a:cubicBezTo>
                  <a:cubicBezTo>
                    <a:pt x="44772" y="142190"/>
                    <a:pt x="43741" y="145524"/>
                    <a:pt x="43522" y="148955"/>
                  </a:cubicBezTo>
                  <a:cubicBezTo>
                    <a:pt x="43641" y="151505"/>
                    <a:pt x="44795" y="153891"/>
                    <a:pt x="46715" y="155570"/>
                  </a:cubicBezTo>
                  <a:cubicBezTo>
                    <a:pt x="50397" y="158284"/>
                    <a:pt x="54786" y="159872"/>
                    <a:pt x="59352" y="160132"/>
                  </a:cubicBezTo>
                  <a:cubicBezTo>
                    <a:pt x="63002" y="160680"/>
                    <a:pt x="72126" y="161149"/>
                    <a:pt x="86725" y="161546"/>
                  </a:cubicBezTo>
                  <a:cubicBezTo>
                    <a:pt x="113609" y="162245"/>
                    <a:pt x="131022" y="163202"/>
                    <a:pt x="138960" y="164421"/>
                  </a:cubicBezTo>
                  <a:cubicBezTo>
                    <a:pt x="149918" y="165547"/>
                    <a:pt x="160169" y="170374"/>
                    <a:pt x="168021" y="178107"/>
                  </a:cubicBezTo>
                  <a:cubicBezTo>
                    <a:pt x="175233" y="185488"/>
                    <a:pt x="179152" y="195479"/>
                    <a:pt x="178879" y="205799"/>
                  </a:cubicBezTo>
                  <a:cubicBezTo>
                    <a:pt x="178879" y="221004"/>
                    <a:pt x="171976" y="235178"/>
                    <a:pt x="158167" y="248317"/>
                  </a:cubicBezTo>
                  <a:cubicBezTo>
                    <a:pt x="137879" y="267810"/>
                    <a:pt x="111346" y="277560"/>
                    <a:pt x="78559" y="277560"/>
                  </a:cubicBezTo>
                  <a:cubicBezTo>
                    <a:pt x="55995" y="278312"/>
                    <a:pt x="33727" y="272222"/>
                    <a:pt x="14690" y="260087"/>
                  </a:cubicBezTo>
                  <a:cubicBezTo>
                    <a:pt x="4881" y="253381"/>
                    <a:pt x="0" y="246401"/>
                    <a:pt x="0" y="239193"/>
                  </a:cubicBezTo>
                  <a:cubicBezTo>
                    <a:pt x="14" y="235867"/>
                    <a:pt x="748" y="232582"/>
                    <a:pt x="2144" y="229567"/>
                  </a:cubicBezTo>
                  <a:cubicBezTo>
                    <a:pt x="5899" y="222176"/>
                    <a:pt x="10493" y="215242"/>
                    <a:pt x="15830" y="208901"/>
                  </a:cubicBezTo>
                  <a:cubicBezTo>
                    <a:pt x="16743" y="207669"/>
                    <a:pt x="23358" y="200461"/>
                    <a:pt x="35767" y="187185"/>
                  </a:cubicBezTo>
                  <a:cubicBezTo>
                    <a:pt x="30424" y="184224"/>
                    <a:pt x="25566" y="180474"/>
                    <a:pt x="21350" y="176054"/>
                  </a:cubicBezTo>
                  <a:cubicBezTo>
                    <a:pt x="18600" y="173002"/>
                    <a:pt x="17089" y="169033"/>
                    <a:pt x="17108" y="164922"/>
                  </a:cubicBezTo>
                  <a:cubicBezTo>
                    <a:pt x="17496" y="159046"/>
                    <a:pt x="19434" y="153380"/>
                    <a:pt x="22719" y="148499"/>
                  </a:cubicBezTo>
                  <a:cubicBezTo>
                    <a:pt x="26414" y="142203"/>
                    <a:pt x="35037" y="133307"/>
                    <a:pt x="48495" y="121811"/>
                  </a:cubicBezTo>
                  <a:moveTo>
                    <a:pt x="46533" y="188827"/>
                  </a:moveTo>
                  <a:cubicBezTo>
                    <a:pt x="41223" y="194594"/>
                    <a:pt x="36624" y="200981"/>
                    <a:pt x="32847" y="207851"/>
                  </a:cubicBezTo>
                  <a:cubicBezTo>
                    <a:pt x="30037" y="212815"/>
                    <a:pt x="28472" y="218390"/>
                    <a:pt x="28285" y="224092"/>
                  </a:cubicBezTo>
                  <a:cubicBezTo>
                    <a:pt x="28285" y="230538"/>
                    <a:pt x="32071" y="236168"/>
                    <a:pt x="39644" y="240972"/>
                  </a:cubicBezTo>
                  <a:cubicBezTo>
                    <a:pt x="52692" y="249243"/>
                    <a:pt x="71547" y="253381"/>
                    <a:pt x="96214" y="253381"/>
                  </a:cubicBezTo>
                  <a:cubicBezTo>
                    <a:pt x="119722" y="253381"/>
                    <a:pt x="137044" y="249138"/>
                    <a:pt x="148176" y="240652"/>
                  </a:cubicBezTo>
                  <a:cubicBezTo>
                    <a:pt x="159353" y="232213"/>
                    <a:pt x="164919" y="223134"/>
                    <a:pt x="164919" y="213554"/>
                  </a:cubicBezTo>
                  <a:cubicBezTo>
                    <a:pt x="165170" y="206962"/>
                    <a:pt x="161132" y="200967"/>
                    <a:pt x="154928" y="198727"/>
                  </a:cubicBezTo>
                  <a:cubicBezTo>
                    <a:pt x="148116" y="195684"/>
                    <a:pt x="134658" y="193951"/>
                    <a:pt x="114553" y="193527"/>
                  </a:cubicBezTo>
                  <a:cubicBezTo>
                    <a:pt x="91907" y="193230"/>
                    <a:pt x="69289" y="191706"/>
                    <a:pt x="46807" y="188964"/>
                  </a:cubicBezTo>
                  <a:moveTo>
                    <a:pt x="82893" y="9539"/>
                  </a:moveTo>
                  <a:cubicBezTo>
                    <a:pt x="73372" y="9447"/>
                    <a:pt x="64357" y="13822"/>
                    <a:pt x="58531" y="21354"/>
                  </a:cubicBezTo>
                  <a:cubicBezTo>
                    <a:pt x="52008" y="29247"/>
                    <a:pt x="48723" y="41290"/>
                    <a:pt x="48723" y="57577"/>
                  </a:cubicBezTo>
                  <a:cubicBezTo>
                    <a:pt x="48723" y="78713"/>
                    <a:pt x="53180" y="95077"/>
                    <a:pt x="62090" y="106665"/>
                  </a:cubicBezTo>
                  <a:cubicBezTo>
                    <a:pt x="68029" y="115041"/>
                    <a:pt x="77687" y="119981"/>
                    <a:pt x="87957" y="119895"/>
                  </a:cubicBezTo>
                  <a:cubicBezTo>
                    <a:pt x="97459" y="120096"/>
                    <a:pt x="106515" y="115862"/>
                    <a:pt x="112455" y="108444"/>
                  </a:cubicBezTo>
                  <a:cubicBezTo>
                    <a:pt x="118874" y="100871"/>
                    <a:pt x="122081" y="88918"/>
                    <a:pt x="122081" y="72586"/>
                  </a:cubicBezTo>
                  <a:cubicBezTo>
                    <a:pt x="122081" y="51295"/>
                    <a:pt x="117519" y="34689"/>
                    <a:pt x="108395" y="22768"/>
                  </a:cubicBezTo>
                  <a:cubicBezTo>
                    <a:pt x="102583" y="14370"/>
                    <a:pt x="92970" y="9406"/>
                    <a:pt x="82756" y="9539"/>
                  </a:cubicBezTo>
                </a:path>
              </a:pathLst>
            </a:custGeom>
            <a:grpFill/>
            <a:ln w="45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4A188572-6908-5846-7F7A-EA9130A2071E}"/>
                </a:ext>
              </a:extLst>
            </p:cNvPr>
            <p:cNvSpPr/>
            <p:nvPr/>
          </p:nvSpPr>
          <p:spPr>
            <a:xfrm>
              <a:off x="7414996" y="2216089"/>
              <a:ext cx="151916" cy="194662"/>
            </a:xfrm>
            <a:custGeom>
              <a:avLst/>
              <a:gdLst>
                <a:gd name="connsiteX0" fmla="*/ 27600 w 151916"/>
                <a:gd name="connsiteY0" fmla="*/ 74715 h 194662"/>
                <a:gd name="connsiteX1" fmla="*/ 46989 w 151916"/>
                <a:gd name="connsiteY1" fmla="*/ 138584 h 194662"/>
                <a:gd name="connsiteX2" fmla="*/ 93066 w 151916"/>
                <a:gd name="connsiteY2" fmla="*/ 161759 h 194662"/>
                <a:gd name="connsiteX3" fmla="*/ 123769 w 151916"/>
                <a:gd name="connsiteY3" fmla="*/ 151905 h 194662"/>
                <a:gd name="connsiteX4" fmla="*/ 145621 w 151916"/>
                <a:gd name="connsiteY4" fmla="*/ 117918 h 194662"/>
                <a:gd name="connsiteX5" fmla="*/ 151689 w 151916"/>
                <a:gd name="connsiteY5" fmla="*/ 121932 h 194662"/>
                <a:gd name="connsiteX6" fmla="*/ 127783 w 151916"/>
                <a:gd name="connsiteY6" fmla="*/ 172115 h 194662"/>
                <a:gd name="connsiteX7" fmla="*/ 78194 w 151916"/>
                <a:gd name="connsiteY7" fmla="*/ 194652 h 194662"/>
                <a:gd name="connsiteX8" fmla="*/ 22810 w 151916"/>
                <a:gd name="connsiteY8" fmla="*/ 168922 h 194662"/>
                <a:gd name="connsiteX9" fmla="*/ 0 w 151916"/>
                <a:gd name="connsiteY9" fmla="*/ 99715 h 194662"/>
                <a:gd name="connsiteX10" fmla="*/ 23631 w 151916"/>
                <a:gd name="connsiteY10" fmla="*/ 26357 h 194662"/>
                <a:gd name="connsiteX11" fmla="*/ 82938 w 151916"/>
                <a:gd name="connsiteY11" fmla="*/ 34 h 194662"/>
                <a:gd name="connsiteX12" fmla="*/ 132528 w 151916"/>
                <a:gd name="connsiteY12" fmla="*/ 20335 h 194662"/>
                <a:gd name="connsiteX13" fmla="*/ 151917 w 151916"/>
                <a:gd name="connsiteY13" fmla="*/ 74669 h 194662"/>
                <a:gd name="connsiteX14" fmla="*/ 27600 w 151916"/>
                <a:gd name="connsiteY14" fmla="*/ 63173 h 194662"/>
                <a:gd name="connsiteX15" fmla="*/ 111177 w 151916"/>
                <a:gd name="connsiteY15" fmla="*/ 63173 h 194662"/>
                <a:gd name="connsiteX16" fmla="*/ 107071 w 151916"/>
                <a:gd name="connsiteY16" fmla="*/ 38401 h 194662"/>
                <a:gd name="connsiteX17" fmla="*/ 92382 w 151916"/>
                <a:gd name="connsiteY17" fmla="*/ 20791 h 194662"/>
                <a:gd name="connsiteX18" fmla="*/ 72035 w 151916"/>
                <a:gd name="connsiteY18" fmla="*/ 14405 h 194662"/>
                <a:gd name="connsiteX19" fmla="*/ 42838 w 151916"/>
                <a:gd name="connsiteY19" fmla="*/ 27315 h 194662"/>
                <a:gd name="connsiteX20" fmla="*/ 27828 w 151916"/>
                <a:gd name="connsiteY20" fmla="*/ 63173 h 1946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51916" h="194662">
                  <a:moveTo>
                    <a:pt x="27600" y="74715"/>
                  </a:moveTo>
                  <a:cubicBezTo>
                    <a:pt x="27600" y="101905"/>
                    <a:pt x="34065" y="123196"/>
                    <a:pt x="46989" y="138584"/>
                  </a:cubicBezTo>
                  <a:cubicBezTo>
                    <a:pt x="59914" y="153972"/>
                    <a:pt x="75274" y="161700"/>
                    <a:pt x="93066" y="161759"/>
                  </a:cubicBezTo>
                  <a:cubicBezTo>
                    <a:pt x="104111" y="161992"/>
                    <a:pt x="114918" y="158520"/>
                    <a:pt x="123769" y="151905"/>
                  </a:cubicBezTo>
                  <a:cubicBezTo>
                    <a:pt x="132436" y="145336"/>
                    <a:pt x="139722" y="134008"/>
                    <a:pt x="145621" y="117918"/>
                  </a:cubicBezTo>
                  <a:lnTo>
                    <a:pt x="151689" y="121932"/>
                  </a:lnTo>
                  <a:cubicBezTo>
                    <a:pt x="148837" y="140651"/>
                    <a:pt x="140521" y="158110"/>
                    <a:pt x="127783" y="172115"/>
                  </a:cubicBezTo>
                  <a:cubicBezTo>
                    <a:pt x="115493" y="186718"/>
                    <a:pt x="97277" y="194999"/>
                    <a:pt x="78194" y="194652"/>
                  </a:cubicBezTo>
                  <a:cubicBezTo>
                    <a:pt x="56825" y="194743"/>
                    <a:pt x="36524" y="185313"/>
                    <a:pt x="22810" y="168922"/>
                  </a:cubicBezTo>
                  <a:cubicBezTo>
                    <a:pt x="7605" y="151768"/>
                    <a:pt x="0" y="128698"/>
                    <a:pt x="0" y="99715"/>
                  </a:cubicBezTo>
                  <a:cubicBezTo>
                    <a:pt x="0" y="68360"/>
                    <a:pt x="7879" y="43908"/>
                    <a:pt x="23631" y="26357"/>
                  </a:cubicBezTo>
                  <a:cubicBezTo>
                    <a:pt x="38495" y="9195"/>
                    <a:pt x="60237" y="-459"/>
                    <a:pt x="82938" y="34"/>
                  </a:cubicBezTo>
                  <a:cubicBezTo>
                    <a:pt x="101606" y="-568"/>
                    <a:pt x="119640" y="6818"/>
                    <a:pt x="132528" y="20335"/>
                  </a:cubicBezTo>
                  <a:cubicBezTo>
                    <a:pt x="145452" y="33898"/>
                    <a:pt x="151917" y="52010"/>
                    <a:pt x="151917" y="74669"/>
                  </a:cubicBezTo>
                  <a:close/>
                  <a:moveTo>
                    <a:pt x="27600" y="63173"/>
                  </a:moveTo>
                  <a:lnTo>
                    <a:pt x="111177" y="63173"/>
                  </a:lnTo>
                  <a:cubicBezTo>
                    <a:pt x="111114" y="54751"/>
                    <a:pt x="109731" y="46394"/>
                    <a:pt x="107071" y="38401"/>
                  </a:cubicBezTo>
                  <a:cubicBezTo>
                    <a:pt x="104024" y="31207"/>
                    <a:pt x="98910" y="25080"/>
                    <a:pt x="92382" y="20791"/>
                  </a:cubicBezTo>
                  <a:cubicBezTo>
                    <a:pt x="86387" y="16686"/>
                    <a:pt x="79302" y="14459"/>
                    <a:pt x="72035" y="14405"/>
                  </a:cubicBezTo>
                  <a:cubicBezTo>
                    <a:pt x="60935" y="14491"/>
                    <a:pt x="50370" y="19167"/>
                    <a:pt x="42838" y="27315"/>
                  </a:cubicBezTo>
                  <a:cubicBezTo>
                    <a:pt x="33727" y="37101"/>
                    <a:pt x="28403" y="49815"/>
                    <a:pt x="27828" y="63173"/>
                  </a:cubicBezTo>
                </a:path>
              </a:pathLst>
            </a:custGeom>
            <a:grpFill/>
            <a:ln w="45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078178-09A5-760C-4B2B-FE5DCFDCDA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24B865D-5DA3-6C23-2A19-B874111D57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4067" y="306073"/>
            <a:ext cx="8421512" cy="707886"/>
          </a:xfrm>
        </p:spPr>
        <p:txBody>
          <a:bodyPr/>
          <a:lstStyle/>
          <a:p>
            <a:endParaRPr lang="en-US" sz="4000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661649CD-26F3-FDAC-6641-475A24C14B0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sz="2800" dirty="0"/>
              <a:t>Chemical Equilibrium</a:t>
            </a:r>
          </a:p>
          <a:p>
            <a:pPr marL="0" indent="0">
              <a:buNone/>
            </a:pPr>
            <a:r>
              <a:rPr lang="en-US" sz="2800" dirty="0"/>
              <a:t>Collision Theory</a:t>
            </a:r>
          </a:p>
          <a:p>
            <a:pPr marL="0" indent="0">
              <a:buNone/>
            </a:pPr>
            <a:r>
              <a:rPr lang="en-US" sz="2800" dirty="0"/>
              <a:t>Reaction Rates</a:t>
            </a:r>
          </a:p>
          <a:p>
            <a:pPr marL="0" indent="0">
              <a:buNone/>
            </a:pPr>
            <a:r>
              <a:rPr lang="en-US" sz="2800" dirty="0"/>
              <a:t>Dynamic Equilibrium</a:t>
            </a:r>
          </a:p>
          <a:p>
            <a:pPr marL="0" indent="0">
              <a:buNone/>
            </a:pPr>
            <a:r>
              <a:rPr lang="en-US" sz="2800" dirty="0"/>
              <a:t>The Equilibrium Constant</a:t>
            </a:r>
          </a:p>
          <a:p>
            <a:pPr marL="0" indent="0">
              <a:buNone/>
            </a:pPr>
            <a:r>
              <a:rPr lang="en-US" sz="2800" dirty="0"/>
              <a:t>Le Chatelier’s Principle</a:t>
            </a:r>
          </a:p>
          <a:p>
            <a:pPr marL="0" indent="0">
              <a:buNone/>
            </a:pPr>
            <a:r>
              <a:rPr lang="en-US" sz="2800" dirty="0"/>
              <a:t>Special Types </a:t>
            </a:r>
            <a:r>
              <a:rPr lang="en-US" sz="2800"/>
              <a:t>of Equilibria</a:t>
            </a:r>
            <a:endParaRPr lang="en-US" sz="2800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3978444-5E0F-8849-2BC2-7C3F86144D6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E0D52F3-54CA-4E42-BFA9-4F0301781925}" type="slidenum">
              <a:rPr lang="en-US" smtClean="0"/>
              <a:pPr/>
              <a:t>2</a:t>
            </a:fld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426939069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54CED1-1CF7-4F0E-879A-956C58EDD3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CAB6B920-E637-A599-060A-72F75BD13B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4067" y="244518"/>
            <a:ext cx="8421512" cy="830997"/>
          </a:xfrm>
        </p:spPr>
        <p:txBody>
          <a:bodyPr/>
          <a:lstStyle/>
          <a:p>
            <a:r>
              <a:rPr lang="en-US" dirty="0"/>
              <a:t>Collision Theory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0F5AC574-450E-5A76-E50D-047D2F27C73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2533" y="1075516"/>
            <a:ext cx="8387645" cy="5472040"/>
          </a:xfrm>
        </p:spPr>
        <p:txBody>
          <a:bodyPr/>
          <a:lstStyle/>
          <a:p>
            <a:pPr marL="0" indent="0">
              <a:buNone/>
            </a:pPr>
            <a:r>
              <a:rPr lang="en-US" b="1" dirty="0">
                <a:solidFill>
                  <a:srgbClr val="00FF00"/>
                </a:solidFill>
              </a:rPr>
              <a:t>Collision Theory</a:t>
            </a:r>
            <a:r>
              <a:rPr lang="en-US" dirty="0"/>
              <a:t>: proposes that reactant particles colliding with each other form products but under two condition</a:t>
            </a:r>
          </a:p>
          <a:p>
            <a:pPr marL="514350" indent="-514350">
              <a:buFont typeface="+mj-lt"/>
              <a:buAutoNum type="romanLcPeriod"/>
            </a:pPr>
            <a:r>
              <a:rPr lang="en-US" dirty="0"/>
              <a:t>That there is enough </a:t>
            </a:r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kinetic energ</a:t>
            </a:r>
            <a:r>
              <a:rPr lang="en-US" dirty="0"/>
              <a:t>y to cause a reaction</a:t>
            </a:r>
          </a:p>
          <a:p>
            <a:pPr marL="514350" indent="-514350">
              <a:buFont typeface="+mj-lt"/>
              <a:buAutoNum type="romanLcPeriod"/>
            </a:pPr>
            <a:r>
              <a:rPr lang="en-US" dirty="0"/>
              <a:t>That particles are in a proper orientation for a reaction to occur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F4104A0-844F-89A6-DE44-DD6F51B9992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05940" y="4031456"/>
            <a:ext cx="4920829" cy="2726926"/>
          </a:xfrm>
          <a:prstGeom prst="rect">
            <a:avLst/>
          </a:prstGeom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2B01E5B5-9789-6F40-A32E-E95BAE0D3D1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E0D52F3-54CA-4E42-BFA9-4F0301781925}" type="slidenum">
              <a:rPr lang="en-US" smtClean="0"/>
              <a:pPr/>
              <a:t>3</a:t>
            </a:fld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218178735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4B3041-C214-3907-E9BB-BAE0408730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2D26CF96-7052-8C91-7D42-F981DF22A9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4067" y="244518"/>
            <a:ext cx="8421512" cy="830997"/>
          </a:xfrm>
        </p:spPr>
        <p:txBody>
          <a:bodyPr/>
          <a:lstStyle/>
          <a:p>
            <a:r>
              <a:rPr lang="en-US" dirty="0"/>
              <a:t>Potential Energy Diagrams 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F89EAA17-8C63-4E4D-0DA4-F65256F33D8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2533" y="1075516"/>
            <a:ext cx="8387645" cy="5472040"/>
          </a:xfrm>
        </p:spPr>
        <p:txBody>
          <a:bodyPr/>
          <a:lstStyle/>
          <a:p>
            <a:r>
              <a:rPr lang="en-US" sz="2000" dirty="0"/>
              <a:t>Also called </a:t>
            </a:r>
            <a:r>
              <a:rPr lang="en-US" sz="2000" b="1" dirty="0">
                <a:solidFill>
                  <a:srgbClr val="00FF00"/>
                </a:solidFill>
              </a:rPr>
              <a:t>reaction progress curve</a:t>
            </a:r>
          </a:p>
          <a:p>
            <a:r>
              <a:rPr lang="en-US" sz="20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Potential energy diagrams</a:t>
            </a:r>
            <a:r>
              <a:rPr lang="en-US" sz="2000" dirty="0"/>
              <a:t> show change in potential energy of a system as the </a:t>
            </a:r>
            <a:r>
              <a:rPr lang="en-US" sz="2000" dirty="0">
                <a:solidFill>
                  <a:srgbClr val="FFFF00"/>
                </a:solidFill>
              </a:rPr>
              <a:t>reactants</a:t>
            </a:r>
            <a:r>
              <a:rPr lang="en-US" sz="2000" dirty="0"/>
              <a:t> become </a:t>
            </a:r>
            <a:r>
              <a:rPr lang="en-US" sz="2000" dirty="0">
                <a:solidFill>
                  <a:srgbClr val="FFFF00"/>
                </a:solidFill>
              </a:rPr>
              <a:t>products</a:t>
            </a:r>
          </a:p>
          <a:p>
            <a:r>
              <a:rPr lang="en-US" sz="2000" dirty="0"/>
              <a:t>The energy change is shown by change in </a:t>
            </a:r>
            <a:r>
              <a:rPr lang="en-US" sz="20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enthalpy </a:t>
            </a:r>
            <a:r>
              <a:rPr lang="en-US" sz="2000" dirty="0">
                <a:solidFill>
                  <a:schemeClr val="accent1">
                    <a:lumMod val="60000"/>
                    <a:lumOff val="40000"/>
                  </a:schemeClr>
                </a:solidFill>
                <a:latin typeface="Symbol" panose="05050102010706020507" pitchFamily="18" charset="2"/>
              </a:rPr>
              <a:t>D</a:t>
            </a:r>
            <a:r>
              <a:rPr lang="en-US" sz="2000" i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H</a:t>
            </a:r>
            <a:endParaRPr lang="en-US" sz="2000" dirty="0">
              <a:solidFill>
                <a:schemeClr val="accent1">
                  <a:lumMod val="60000"/>
                  <a:lumOff val="40000"/>
                </a:schemeClr>
              </a:solidFill>
            </a:endParaRPr>
          </a:p>
          <a:p>
            <a:r>
              <a:rPr lang="en-US" sz="2000" dirty="0"/>
              <a:t>If </a:t>
            </a:r>
            <a:r>
              <a:rPr lang="en-US" sz="2000" dirty="0">
                <a:latin typeface="Symbol" panose="05050102010706020507" pitchFamily="18" charset="2"/>
              </a:rPr>
              <a:t>D</a:t>
            </a:r>
            <a:r>
              <a:rPr lang="en-US" sz="2000" i="1" dirty="0"/>
              <a:t>H</a:t>
            </a:r>
            <a:r>
              <a:rPr lang="en-US" sz="2000" dirty="0"/>
              <a:t> &gt; 0 (</a:t>
            </a:r>
            <a:r>
              <a:rPr lang="en-US" sz="2000" dirty="0">
                <a:solidFill>
                  <a:srgbClr val="FFFF00"/>
                </a:solidFill>
              </a:rPr>
              <a:t>products</a:t>
            </a:r>
            <a:r>
              <a:rPr lang="en-US" sz="2000" dirty="0"/>
              <a:t> higher than </a:t>
            </a:r>
            <a:r>
              <a:rPr lang="en-US" sz="2000" dirty="0">
                <a:solidFill>
                  <a:srgbClr val="FFFF00"/>
                </a:solidFill>
              </a:rPr>
              <a:t>reactants</a:t>
            </a:r>
            <a:r>
              <a:rPr lang="en-US" sz="2000" dirty="0"/>
              <a:t>), the reaction is </a:t>
            </a:r>
            <a:r>
              <a:rPr lang="en-US" sz="20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endothermic</a:t>
            </a:r>
            <a:r>
              <a:rPr lang="en-US" sz="2000" dirty="0"/>
              <a:t>. If </a:t>
            </a:r>
            <a:r>
              <a:rPr lang="en-US" sz="2000" dirty="0">
                <a:latin typeface="Symbol" panose="05050102010706020507" pitchFamily="18" charset="2"/>
              </a:rPr>
              <a:t>D</a:t>
            </a:r>
            <a:r>
              <a:rPr lang="en-US" sz="2000" i="1" dirty="0"/>
              <a:t>H</a:t>
            </a:r>
            <a:r>
              <a:rPr lang="en-US" sz="2000" dirty="0"/>
              <a:t> &lt; 0, the reaction is </a:t>
            </a:r>
            <a:r>
              <a:rPr lang="en-US" sz="20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exothermic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48B6222-C349-BF09-1961-C25A6395721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35837" y="3262064"/>
            <a:ext cx="6461643" cy="3449072"/>
          </a:xfrm>
          <a:prstGeom prst="rect">
            <a:avLst/>
          </a:prstGeom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AFA039E-0B35-D11D-9F67-1564F0AAAC8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E0D52F3-54CA-4E42-BFA9-4F0301781925}" type="slidenum">
              <a:rPr lang="en-US" smtClean="0"/>
              <a:pPr/>
              <a:t>4</a:t>
            </a:fld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125480811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0C8BC5-E8D8-E610-2BBE-D1CF26ECD6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3C573907-09E9-6D22-B27F-1B4F6E2AE3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2533" y="189178"/>
            <a:ext cx="8421512" cy="830997"/>
          </a:xfrm>
        </p:spPr>
        <p:txBody>
          <a:bodyPr/>
          <a:lstStyle/>
          <a:p>
            <a:r>
              <a:rPr lang="en-US" dirty="0"/>
              <a:t>Activation Energy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506588EE-FAEB-CA61-D4B2-230CB3597DF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2533" y="1075516"/>
            <a:ext cx="8387645" cy="5472040"/>
          </a:xfrm>
        </p:spPr>
        <p:txBody>
          <a:bodyPr/>
          <a:lstStyle/>
          <a:p>
            <a:r>
              <a:rPr lang="en-US" sz="2000" dirty="0"/>
              <a:t>Reactant particles will collide, but not all collisions result in the chemical reaction</a:t>
            </a:r>
          </a:p>
          <a:p>
            <a:r>
              <a:rPr lang="en-US" sz="2000" dirty="0"/>
              <a:t>But when collisions happen that have enough energy—</a:t>
            </a:r>
            <a:r>
              <a:rPr lang="en-US" sz="2000" b="1" dirty="0">
                <a:solidFill>
                  <a:srgbClr val="00FF00"/>
                </a:solidFill>
              </a:rPr>
              <a:t>activation energy</a:t>
            </a:r>
            <a:r>
              <a:rPr lang="en-US" sz="2000" dirty="0"/>
              <a:t>—to occur, reactants will become products by forming an activated complex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DDCF948-5891-3385-9D7A-2B1C79A3CC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57755" y="3143722"/>
            <a:ext cx="5418361" cy="3298389"/>
          </a:xfrm>
          <a:prstGeom prst="rect">
            <a:avLst/>
          </a:prstGeom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D374D8C0-6DEC-BB1B-336C-6F65A7B9967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E0D52F3-54CA-4E42-BFA9-4F0301781925}" type="slidenum">
              <a:rPr lang="en-US" smtClean="0"/>
              <a:pPr/>
              <a:t>5</a:t>
            </a:fld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425103390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7365E7-A2D0-6979-202A-5F05389B3D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6DE1275A-34D1-A242-E91B-8F87CB24D2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2533" y="189178"/>
            <a:ext cx="8421512" cy="830997"/>
          </a:xfrm>
        </p:spPr>
        <p:txBody>
          <a:bodyPr/>
          <a:lstStyle/>
          <a:p>
            <a:r>
              <a:rPr lang="en-US" i="1" dirty="0" err="1"/>
              <a:t>E</a:t>
            </a:r>
            <a:r>
              <a:rPr lang="en-US" baseline="-25000" dirty="0" err="1"/>
              <a:t>a</a:t>
            </a:r>
            <a:r>
              <a:rPr lang="en-US" dirty="0"/>
              <a:t> for Fast or Slow Reactions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F65D435-87F0-D4A3-187B-0FF90DBF61B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2533" y="1075516"/>
            <a:ext cx="8387645" cy="5472040"/>
          </a:xfrm>
        </p:spPr>
        <p:txBody>
          <a:bodyPr/>
          <a:lstStyle/>
          <a:p>
            <a:r>
              <a:rPr lang="en-US" sz="2000" dirty="0"/>
              <a:t>The </a:t>
            </a:r>
            <a:r>
              <a:rPr lang="en-US" sz="20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activation energy</a:t>
            </a:r>
            <a:r>
              <a:rPr lang="en-US" sz="2000" dirty="0"/>
              <a:t> is symbolized as </a:t>
            </a:r>
            <a:r>
              <a:rPr lang="en-US" sz="2000" b="1" i="1" dirty="0" err="1">
                <a:solidFill>
                  <a:srgbClr val="00FF00"/>
                </a:solidFill>
              </a:rPr>
              <a:t>E</a:t>
            </a:r>
            <a:r>
              <a:rPr lang="en-US" sz="2000" b="1" baseline="-25000" dirty="0" err="1">
                <a:solidFill>
                  <a:srgbClr val="00FF00"/>
                </a:solidFill>
              </a:rPr>
              <a:t>a</a:t>
            </a:r>
            <a:endParaRPr lang="en-US" sz="2000" dirty="0"/>
          </a:p>
          <a:p>
            <a:r>
              <a:rPr lang="en-US" sz="2000" dirty="0"/>
              <a:t>On the </a:t>
            </a:r>
            <a:r>
              <a:rPr lang="en-US" sz="2000" dirty="0">
                <a:solidFill>
                  <a:srgbClr val="FFFF00"/>
                </a:solidFill>
              </a:rPr>
              <a:t>reaction progress curve</a:t>
            </a:r>
            <a:r>
              <a:rPr lang="en-US" sz="2000" dirty="0"/>
              <a:t>, it is a “hump” in the curve representing the increase in energy above the PE of the reactants, whether the reaction is endo- or exothermic</a:t>
            </a:r>
          </a:p>
          <a:p>
            <a:r>
              <a:rPr lang="en-US" sz="2000" dirty="0"/>
              <a:t>If the hump is small, the reaction is likely to be fast. If hump is large, the reaction is likely to be slow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51426D6-29DE-3721-22B7-00ED14F76D7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8962" y="3304716"/>
            <a:ext cx="5185341" cy="3156540"/>
          </a:xfrm>
          <a:prstGeom prst="rect">
            <a:avLst/>
          </a:prstGeom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46230E3-C440-E7DB-4845-B6CC5583AF2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E0D52F3-54CA-4E42-BFA9-4F0301781925}" type="slidenum">
              <a:rPr lang="en-US" smtClean="0"/>
              <a:pPr/>
              <a:t>6</a:t>
            </a:fld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368476381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ABB594-DC69-D2AA-A118-495A7AC963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90543E9-4456-3DD7-6B06-B62AC95566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2533" y="189178"/>
            <a:ext cx="8421512" cy="830997"/>
          </a:xfrm>
        </p:spPr>
        <p:txBody>
          <a:bodyPr/>
          <a:lstStyle/>
          <a:p>
            <a:r>
              <a:rPr lang="en-US" dirty="0"/>
              <a:t>The Activated Complex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7E94DDC-36EC-69D8-2AE2-1BF19E4301C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2533" y="1075516"/>
            <a:ext cx="8387645" cy="5472040"/>
          </a:xfrm>
        </p:spPr>
        <p:txBody>
          <a:bodyPr/>
          <a:lstStyle/>
          <a:p>
            <a:r>
              <a:rPr lang="en-US" sz="2000" dirty="0"/>
              <a:t>When collisions lead to reactions, an </a:t>
            </a:r>
            <a:r>
              <a:rPr lang="en-US" sz="2000" b="1" dirty="0">
                <a:solidFill>
                  <a:srgbClr val="00FF00"/>
                </a:solidFill>
              </a:rPr>
              <a:t>activated complex </a:t>
            </a:r>
            <a:r>
              <a:rPr lang="en-US" sz="2000" dirty="0"/>
              <a:t>forms as unstable arrangement of atoms that exists momentarily at the peak of the activation energy barrier</a:t>
            </a:r>
          </a:p>
          <a:p>
            <a:r>
              <a:rPr lang="en-US" sz="2000" dirty="0"/>
              <a:t>The momentary part cannot be imagined how fast it is:</a:t>
            </a:r>
            <a:br>
              <a:rPr lang="en-US" sz="2000" dirty="0"/>
            </a:br>
            <a:r>
              <a:rPr lang="en-US" sz="2000" b="1" dirty="0">
                <a:solidFill>
                  <a:srgbClr val="FFC000"/>
                </a:solidFill>
              </a:rPr>
              <a:t>10</a:t>
            </a:r>
            <a:r>
              <a:rPr lang="en-US" sz="2000" b="1" baseline="30000" dirty="0">
                <a:solidFill>
                  <a:srgbClr val="FFC000"/>
                </a:solidFill>
              </a:rPr>
              <a:t>–13 </a:t>
            </a:r>
            <a:r>
              <a:rPr lang="en-US" sz="2000" b="1" dirty="0">
                <a:solidFill>
                  <a:srgbClr val="FFC000"/>
                </a:solidFill>
              </a:rPr>
              <a:t>s</a:t>
            </a:r>
            <a:r>
              <a:rPr lang="en-US" sz="2000" dirty="0"/>
              <a:t> (one-tenth of a picosecond). An eye blink is one tenth of a second, so the reaction in one trillion times faster</a:t>
            </a:r>
            <a:br>
              <a:rPr lang="en-US" sz="2000" dirty="0"/>
            </a:br>
            <a:r>
              <a:rPr lang="en-US" sz="1600" dirty="0"/>
              <a:t>(lasers can be used to determine time)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124F11A-2F29-2C40-8237-A14E76D0B68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42231" y="3428999"/>
            <a:ext cx="5018417" cy="3054927"/>
          </a:xfrm>
          <a:prstGeom prst="rect">
            <a:avLst/>
          </a:prstGeom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34F84D8-FAE2-9C01-FA5B-28B89C89F23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E0D52F3-54CA-4E42-BFA9-4F0301781925}" type="slidenum">
              <a:rPr lang="en-US" smtClean="0"/>
              <a:pPr/>
              <a:t>7</a:t>
            </a:fld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191229496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EF9FF2-2C95-6EF4-429D-53FE87CB84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2C0D0A2F-D87C-184D-C74E-023B853EF4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4067" y="244518"/>
            <a:ext cx="8421512" cy="830997"/>
          </a:xfrm>
        </p:spPr>
        <p:txBody>
          <a:bodyPr/>
          <a:lstStyle/>
          <a:p>
            <a:r>
              <a:rPr lang="en-US" dirty="0"/>
              <a:t>Activation Complex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53ED4345-DCF4-59F6-890A-6C9BB18BC3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2533" y="1075516"/>
            <a:ext cx="8387645" cy="5472040"/>
          </a:xfrm>
        </p:spPr>
        <p:txBody>
          <a:bodyPr/>
          <a:lstStyle/>
          <a:p>
            <a:pPr marL="0" indent="0">
              <a:buNone/>
            </a:pPr>
            <a:r>
              <a:rPr lang="en-US" sz="2000" dirty="0"/>
              <a:t>A note about the provided text: </a:t>
            </a:r>
          </a:p>
          <a:p>
            <a:pPr marL="0" indent="0">
              <a:buNone/>
            </a:pPr>
            <a:r>
              <a:rPr lang="en-US" sz="2000" dirty="0"/>
              <a:t>Book shows this visual of a reaction of 2 H</a:t>
            </a:r>
            <a:r>
              <a:rPr lang="en-US" sz="2000" baseline="-25000" dirty="0"/>
              <a:t>2</a:t>
            </a:r>
            <a:r>
              <a:rPr lang="en-US" sz="2000" dirty="0"/>
              <a:t> + O</a:t>
            </a:r>
            <a:r>
              <a:rPr lang="en-US" sz="2000" baseline="-25000" dirty="0"/>
              <a:t>2</a:t>
            </a:r>
            <a:r>
              <a:rPr lang="en-US" sz="2000" dirty="0"/>
              <a:t> </a:t>
            </a:r>
            <a:r>
              <a:rPr lang="en-US" sz="2000" dirty="0">
                <a:sym typeface="Wingdings" panose="05000000000000000000" pitchFamily="2" charset="2"/>
              </a:rPr>
              <a:t> 2 H</a:t>
            </a:r>
            <a:r>
              <a:rPr lang="en-US" sz="2000" baseline="-25000" dirty="0">
                <a:sym typeface="Wingdings" panose="05000000000000000000" pitchFamily="2" charset="2"/>
              </a:rPr>
              <a:t>2</a:t>
            </a:r>
            <a:r>
              <a:rPr lang="en-US" sz="2000" dirty="0">
                <a:sym typeface="Wingdings" panose="05000000000000000000" pitchFamily="2" charset="2"/>
              </a:rPr>
              <a:t>O but that is absolutely not considered to be the mechanism of how this happens. The reaction is in fact a multi-step mechanism. The details are beyond scope of Chem 3A.</a:t>
            </a:r>
            <a:endParaRPr lang="en-US" sz="20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7C2383B-E452-4A09-117C-1BB4AF630D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1875" y="2957277"/>
            <a:ext cx="8668960" cy="3486637"/>
          </a:xfrm>
          <a:prstGeom prst="rect">
            <a:avLst/>
          </a:prstGeom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274D6FDD-D404-41C3-27BB-02967050121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E0D52F3-54CA-4E42-BFA9-4F0301781925}" type="slidenum">
              <a:rPr lang="en-US" smtClean="0"/>
              <a:pPr/>
              <a:t>8</a:t>
            </a:fld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202796185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82867B-0F21-9C7A-9550-D849596B3E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3C7D1D01-50C5-2CC2-B66D-9B9C096B89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1244" y="253724"/>
            <a:ext cx="8421512" cy="646331"/>
          </a:xfrm>
        </p:spPr>
        <p:txBody>
          <a:bodyPr/>
          <a:lstStyle/>
          <a:p>
            <a:r>
              <a:rPr lang="en-US" sz="3600" dirty="0"/>
              <a:t>Reaction Rates Factors: Temperature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0D387530-928C-9D76-0D81-27DA087909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2533" y="1013960"/>
            <a:ext cx="8387645" cy="5533596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(</a:t>
            </a:r>
            <a:r>
              <a:rPr lang="en-US" dirty="0" err="1"/>
              <a:t>i</a:t>
            </a:r>
            <a:r>
              <a:rPr lang="en-US" dirty="0"/>
              <a:t>) </a:t>
            </a:r>
            <a:r>
              <a:rPr lang="en-US" dirty="0">
                <a:solidFill>
                  <a:srgbClr val="00FF00"/>
                </a:solidFill>
              </a:rPr>
              <a:t>Collision frequency</a:t>
            </a:r>
            <a:r>
              <a:rPr lang="en-US" dirty="0"/>
              <a:t>, (ii) </a:t>
            </a:r>
            <a:r>
              <a:rPr lang="en-US" dirty="0">
                <a:solidFill>
                  <a:srgbClr val="00FF00"/>
                </a:solidFill>
              </a:rPr>
              <a:t>collision energy</a:t>
            </a:r>
            <a:r>
              <a:rPr lang="en-US" dirty="0"/>
              <a:t>, and (iii) </a:t>
            </a:r>
            <a:r>
              <a:rPr lang="en-US" dirty="0">
                <a:solidFill>
                  <a:srgbClr val="00FF00"/>
                </a:solidFill>
              </a:rPr>
              <a:t>geometric orientation</a:t>
            </a:r>
            <a:r>
              <a:rPr lang="en-US" dirty="0"/>
              <a:t> are factors in a successful reaction</a:t>
            </a:r>
          </a:p>
          <a:p>
            <a:r>
              <a:rPr lang="en-US" dirty="0">
                <a:solidFill>
                  <a:srgbClr val="00FF00"/>
                </a:solidFill>
              </a:rPr>
              <a:t>Temperature</a:t>
            </a:r>
            <a:r>
              <a:rPr lang="en-US" dirty="0"/>
              <a:t> affects </a:t>
            </a:r>
            <a:r>
              <a:rPr lang="en-US" dirty="0">
                <a:solidFill>
                  <a:srgbClr val="FFFF00"/>
                </a:solidFill>
              </a:rPr>
              <a:t>collision frequency</a:t>
            </a:r>
          </a:p>
          <a:p>
            <a:r>
              <a:rPr lang="en-US" dirty="0"/>
              <a:t>Temperature affects </a:t>
            </a:r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average velocity</a:t>
            </a:r>
            <a:r>
              <a:rPr lang="en-US" dirty="0"/>
              <a:t>, and velocity is a factor in </a:t>
            </a:r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kinetic energy</a:t>
            </a:r>
            <a:r>
              <a:rPr lang="en-US" dirty="0"/>
              <a:t>. Particles collide more frequently</a:t>
            </a:r>
          </a:p>
          <a:p>
            <a:r>
              <a:rPr lang="en-US" dirty="0"/>
              <a:t>But </a:t>
            </a:r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temperature</a:t>
            </a:r>
            <a:r>
              <a:rPr lang="en-US" dirty="0"/>
              <a:t> directly affects activation energy </a:t>
            </a:r>
            <a:r>
              <a:rPr lang="en-US" i="1" dirty="0" err="1"/>
              <a:t>E</a:t>
            </a:r>
            <a:r>
              <a:rPr lang="en-US" baseline="-25000" dirty="0" err="1"/>
              <a:t>a</a:t>
            </a:r>
            <a:endParaRPr lang="en-US" baseline="-25000" dirty="0"/>
          </a:p>
          <a:p>
            <a:r>
              <a:rPr lang="en-US" dirty="0"/>
              <a:t>Keeping environments cold versus warm versus hot is understood to control chemical reactions that, for example, might lead to preservation or spoilage of food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48A2FD9-6E6D-A19A-7759-F4C4781065C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E0D52F3-54CA-4E42-BFA9-4F0301781925}" type="slidenum">
              <a:rPr lang="en-US" smtClean="0"/>
              <a:pPr/>
              <a:t>9</a:t>
            </a:fld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213795421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CB9842-CA4C-72DF-2790-831AEFB20D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8E087907-0FC7-F78B-2D15-4512DC8667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1244" y="161391"/>
            <a:ext cx="8421512" cy="830997"/>
          </a:xfrm>
        </p:spPr>
        <p:txBody>
          <a:bodyPr/>
          <a:lstStyle/>
          <a:p>
            <a:r>
              <a:rPr lang="en-US" dirty="0"/>
              <a:t>Concentration as a Factor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BB52F8CB-77FD-C4CF-A21A-E0580622DE5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2533" y="1013960"/>
            <a:ext cx="8387645" cy="5533596"/>
          </a:xfrm>
        </p:spPr>
        <p:txBody>
          <a:bodyPr/>
          <a:lstStyle/>
          <a:p>
            <a:r>
              <a:rPr lang="en-US" dirty="0"/>
              <a:t>Reactions are also affected by </a:t>
            </a:r>
            <a:r>
              <a:rPr lang="en-US" dirty="0">
                <a:solidFill>
                  <a:srgbClr val="00FF00"/>
                </a:solidFill>
              </a:rPr>
              <a:t>concentration</a:t>
            </a:r>
          </a:p>
          <a:p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Higher</a:t>
            </a:r>
            <a:r>
              <a:rPr lang="en-US" dirty="0"/>
              <a:t> </a:t>
            </a:r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concentrations</a:t>
            </a:r>
            <a:r>
              <a:rPr lang="en-US" dirty="0"/>
              <a:t> imply particles (molecules, </a:t>
            </a:r>
            <a:r>
              <a:rPr lang="en-US" dirty="0" err="1"/>
              <a:t>etc</a:t>
            </a:r>
            <a:r>
              <a:rPr lang="en-US" dirty="0"/>
              <a:t>) are closer together, more densely arranged, with a </a:t>
            </a:r>
            <a:r>
              <a:rPr lang="en-US" dirty="0">
                <a:solidFill>
                  <a:srgbClr val="FFFF00"/>
                </a:solidFill>
              </a:rPr>
              <a:t>higher probability </a:t>
            </a:r>
            <a:r>
              <a:rPr lang="en-US" dirty="0"/>
              <a:t>of </a:t>
            </a:r>
            <a:r>
              <a:rPr lang="en-US" dirty="0">
                <a:solidFill>
                  <a:srgbClr val="FFFF00"/>
                </a:solidFill>
              </a:rPr>
              <a:t>collisions</a:t>
            </a:r>
          </a:p>
          <a:p>
            <a:r>
              <a:rPr lang="en-US" dirty="0"/>
              <a:t>If a </a:t>
            </a:r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concentration</a:t>
            </a:r>
            <a:r>
              <a:rPr lang="en-US" dirty="0"/>
              <a:t> </a:t>
            </a:r>
            <a:r>
              <a:rPr lang="en-US" dirty="0">
                <a:solidFill>
                  <a:srgbClr val="FFFF00"/>
                </a:solidFill>
              </a:rPr>
              <a:t>doubles</a:t>
            </a:r>
            <a:r>
              <a:rPr lang="en-US" dirty="0"/>
              <a:t>, so would the </a:t>
            </a:r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reaction rate</a:t>
            </a:r>
            <a:r>
              <a:rPr lang="en-US" dirty="0"/>
              <a:t> also </a:t>
            </a:r>
            <a:r>
              <a:rPr lang="en-US" dirty="0">
                <a:solidFill>
                  <a:srgbClr val="FFFF00"/>
                </a:solidFill>
              </a:rPr>
              <a:t>double</a:t>
            </a:r>
          </a:p>
          <a:p>
            <a:r>
              <a:rPr lang="en-US" sz="1800" dirty="0"/>
              <a:t>Combustion involves a flammable</a:t>
            </a:r>
            <a:br>
              <a:rPr lang="en-US" sz="1800" dirty="0"/>
            </a:br>
            <a:r>
              <a:rPr lang="en-US" sz="1800" dirty="0"/>
              <a:t>substance and oxygen. If splint</a:t>
            </a:r>
            <a:br>
              <a:rPr lang="en-US" sz="1800" dirty="0"/>
            </a:br>
            <a:r>
              <a:rPr lang="en-US" sz="1800" dirty="0"/>
              <a:t>of wood set on fire and fire blown</a:t>
            </a:r>
            <a:br>
              <a:rPr lang="en-US" sz="1800" dirty="0"/>
            </a:br>
            <a:r>
              <a:rPr lang="en-US" sz="1800" dirty="0"/>
              <a:t>out, the splint continues to glow.</a:t>
            </a:r>
            <a:br>
              <a:rPr lang="en-US" sz="1800" dirty="0"/>
            </a:br>
            <a:r>
              <a:rPr lang="en-US" sz="1800" dirty="0"/>
              <a:t>If splint put in chamber with no</a:t>
            </a:r>
            <a:br>
              <a:rPr lang="en-US" sz="1800" dirty="0"/>
            </a:br>
            <a:r>
              <a:rPr lang="en-US" sz="1800" dirty="0"/>
              <a:t>O</a:t>
            </a:r>
            <a:r>
              <a:rPr lang="en-US" sz="1800" baseline="-25000" dirty="0"/>
              <a:t>2</a:t>
            </a:r>
            <a:r>
              <a:rPr lang="en-US" sz="1800" dirty="0"/>
              <a:t>, the wood stops burning </a:t>
            </a:r>
            <a:br>
              <a:rPr lang="en-US" sz="1800" dirty="0"/>
            </a:br>
            <a:r>
              <a:rPr lang="en-US" sz="1800" dirty="0"/>
              <a:t>(glows dissipates). But if put</a:t>
            </a:r>
            <a:br>
              <a:rPr lang="en-US" sz="1800" dirty="0"/>
            </a:br>
            <a:r>
              <a:rPr lang="en-US" sz="1800" dirty="0"/>
              <a:t>in 100% O</a:t>
            </a:r>
            <a:r>
              <a:rPr lang="en-US" sz="1800" baseline="-25000" dirty="0"/>
              <a:t>2</a:t>
            </a:r>
            <a:r>
              <a:rPr lang="en-US" sz="1800" dirty="0"/>
              <a:t> chamber, it burns</a:t>
            </a:r>
            <a:br>
              <a:rPr lang="en-US" sz="1800" dirty="0"/>
            </a:br>
            <a:r>
              <a:rPr lang="en-US" sz="1800" dirty="0"/>
              <a:t>brighter and hotter. This affects</a:t>
            </a:r>
            <a:br>
              <a:rPr lang="en-US" sz="1800" dirty="0"/>
            </a:br>
            <a:r>
              <a:rPr lang="en-US" sz="1800" dirty="0"/>
              <a:t>shows concentration or reactants.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2000097-0E3F-4AB3-5541-0C2B80C5F84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95409" y="3325090"/>
            <a:ext cx="4225744" cy="2753929"/>
          </a:xfrm>
          <a:prstGeom prst="rect">
            <a:avLst/>
          </a:prstGeom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19D1CF97-8CD5-F2F7-D050-1FB857BC47B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E0D52F3-54CA-4E42-BFA9-4F0301781925}" type="slidenum">
              <a:rPr lang="en-US" smtClean="0"/>
              <a:pPr/>
              <a:t>10</a:t>
            </a:fld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408930685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F894AA-624B-EBF9-3221-B4D6E4477B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B71F2F67-83D9-D2F3-57FF-D09023E4BE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2533" y="103087"/>
            <a:ext cx="8421512" cy="830997"/>
          </a:xfrm>
        </p:spPr>
        <p:txBody>
          <a:bodyPr/>
          <a:lstStyle/>
          <a:p>
            <a:r>
              <a:rPr lang="en-US" dirty="0"/>
              <a:t>Catalysis and Catalysts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6FBC38B7-E72E-EE0A-D1FF-846602722E3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2533" y="959662"/>
            <a:ext cx="8387645" cy="5587894"/>
          </a:xfrm>
        </p:spPr>
        <p:txBody>
          <a:bodyPr/>
          <a:lstStyle/>
          <a:p>
            <a:r>
              <a:rPr lang="en-US" sz="2000" b="1" dirty="0">
                <a:solidFill>
                  <a:srgbClr val="00FF00"/>
                </a:solidFill>
              </a:rPr>
              <a:t>Catalysis</a:t>
            </a:r>
            <a:r>
              <a:rPr lang="en-US" sz="2000" dirty="0"/>
              <a:t> is the process by which rate of chemical reaction is changed (usually increased) through the action of a </a:t>
            </a:r>
            <a:r>
              <a:rPr lang="en-US" sz="20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catalyst</a:t>
            </a:r>
          </a:p>
          <a:p>
            <a:r>
              <a:rPr lang="en-US" sz="2000" dirty="0"/>
              <a:t>A </a:t>
            </a:r>
            <a:r>
              <a:rPr lang="en-US" sz="2000" b="1" dirty="0">
                <a:solidFill>
                  <a:srgbClr val="00FF00"/>
                </a:solidFill>
              </a:rPr>
              <a:t>catalyst</a:t>
            </a:r>
            <a:r>
              <a:rPr lang="en-US" sz="2000" dirty="0"/>
              <a:t> is a substance that increases rate of a chemical reaction without being consumed or permanently altered in the overall reaction</a:t>
            </a:r>
          </a:p>
          <a:p>
            <a:r>
              <a:rPr lang="en-US" sz="2000" dirty="0"/>
              <a:t>The effect of catalysis is seen in the reaction progress curve as a lowering of the activation energy </a:t>
            </a:r>
            <a:r>
              <a:rPr lang="en-US" sz="2000" dirty="0" err="1"/>
              <a:t>Ea</a:t>
            </a:r>
            <a:r>
              <a:rPr lang="en-US" sz="2000" dirty="0"/>
              <a:t>, which enables reactants to get over</a:t>
            </a:r>
            <a:br>
              <a:rPr lang="en-US" sz="2000" dirty="0"/>
            </a:br>
            <a:r>
              <a:rPr lang="en-US" sz="2000" dirty="0"/>
              <a:t>the energy barrier in</a:t>
            </a:r>
            <a:br>
              <a:rPr lang="en-US" sz="2000" dirty="0"/>
            </a:br>
            <a:r>
              <a:rPr lang="en-US" sz="2000" dirty="0"/>
              <a:t>the reaction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7DECAC9-A88F-C686-8079-E8A71947D3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10500" y="3527242"/>
            <a:ext cx="4977232" cy="2910415"/>
          </a:xfrm>
          <a:prstGeom prst="rect">
            <a:avLst/>
          </a:prstGeom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FD27A01-03BD-32B0-C7FB-C500CD4F413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E0D52F3-54CA-4E42-BFA9-4F0301781925}" type="slidenum">
              <a:rPr lang="en-US" smtClean="0"/>
              <a:pPr/>
              <a:t>11</a:t>
            </a:fld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423732324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5FCA72-7026-7515-997E-E3EF444046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AC7373B-560D-0EAB-721F-8AD66C4E0B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2533" y="103087"/>
            <a:ext cx="8421512" cy="830997"/>
          </a:xfrm>
        </p:spPr>
        <p:txBody>
          <a:bodyPr/>
          <a:lstStyle/>
          <a:p>
            <a:r>
              <a:rPr lang="en-US" dirty="0"/>
              <a:t>Catalysis Example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9B288798-FFEB-59E5-838B-90778B674E7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2533" y="959662"/>
            <a:ext cx="8387645" cy="5587894"/>
          </a:xfrm>
        </p:spPr>
        <p:txBody>
          <a:bodyPr/>
          <a:lstStyle/>
          <a:p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Hydrogen peroxide </a:t>
            </a:r>
            <a:r>
              <a:rPr lang="en-US" dirty="0"/>
              <a:t>(</a:t>
            </a:r>
            <a:r>
              <a:rPr lang="en-US" b="1" dirty="0">
                <a:solidFill>
                  <a:srgbClr val="FFC000"/>
                </a:solidFill>
              </a:rPr>
              <a:t>H</a:t>
            </a:r>
            <a:r>
              <a:rPr lang="en-US" b="1" baseline="-25000" dirty="0">
                <a:solidFill>
                  <a:srgbClr val="FFC000"/>
                </a:solidFill>
              </a:rPr>
              <a:t>2</a:t>
            </a:r>
            <a:r>
              <a:rPr lang="en-US" b="1" dirty="0">
                <a:solidFill>
                  <a:srgbClr val="FFC000"/>
                </a:solidFill>
              </a:rPr>
              <a:t>O</a:t>
            </a:r>
            <a:r>
              <a:rPr lang="en-US" b="1" baseline="-25000" dirty="0">
                <a:solidFill>
                  <a:srgbClr val="FFC000"/>
                </a:solidFill>
              </a:rPr>
              <a:t>2</a:t>
            </a:r>
            <a:r>
              <a:rPr lang="en-US" dirty="0"/>
              <a:t>) is a well-known effective disinfectant. A 3% solution stores well for a few years, but it eventually degrades to water and oxygen products</a:t>
            </a:r>
          </a:p>
          <a:p>
            <a:r>
              <a:rPr lang="en-US" dirty="0"/>
              <a:t>Just a small amount of </a:t>
            </a:r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manganese(IV) oxide </a:t>
            </a:r>
            <a:r>
              <a:rPr lang="en-US" dirty="0"/>
              <a:t>(</a:t>
            </a:r>
            <a:r>
              <a:rPr lang="en-US" b="1" dirty="0">
                <a:solidFill>
                  <a:srgbClr val="FFC000"/>
                </a:solidFill>
              </a:rPr>
              <a:t>MnO</a:t>
            </a:r>
            <a:r>
              <a:rPr lang="en-US" b="1" baseline="-25000" dirty="0">
                <a:solidFill>
                  <a:srgbClr val="FFC000"/>
                </a:solidFill>
              </a:rPr>
              <a:t>2</a:t>
            </a:r>
            <a:r>
              <a:rPr lang="en-US" dirty="0"/>
              <a:t>) will accelerate the reaction to where it degrades within minutes</a:t>
            </a:r>
          </a:p>
          <a:p>
            <a:endParaRPr lang="en-US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F943DE7A-80FD-F77B-C021-4033F84FBD5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E0D52F3-54CA-4E42-BFA9-4F0301781925}" type="slidenum">
              <a:rPr lang="en-US" smtClean="0"/>
              <a:pPr/>
              <a:t>12</a:t>
            </a:fld>
            <a:endParaRPr lang="en-US" sz="1400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FB5FC902-6D4C-2D6F-856A-AA436A5877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7507" y="3912410"/>
            <a:ext cx="6368469" cy="20388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2734902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7C87DC-DD36-4B88-0717-3070AAA220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82DBCFC-D394-3715-1F88-5C2A42FB59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4067" y="306073"/>
            <a:ext cx="8421512" cy="707886"/>
          </a:xfrm>
        </p:spPr>
        <p:txBody>
          <a:bodyPr/>
          <a:lstStyle/>
          <a:p>
            <a:r>
              <a:rPr lang="en-US" sz="4000" dirty="0"/>
              <a:t>Chemical Equilibrium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6F1D10E-5D25-EF1E-2F04-1F273824D8E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2533" y="1095770"/>
            <a:ext cx="8387645" cy="5451786"/>
          </a:xfrm>
        </p:spPr>
        <p:txBody>
          <a:bodyPr/>
          <a:lstStyle/>
          <a:p>
            <a:r>
              <a:rPr lang="en-US" dirty="0"/>
              <a:t>Chemical reaction rates (kinetics) were addressed in the previous slides</a:t>
            </a:r>
          </a:p>
          <a:p>
            <a:r>
              <a:rPr lang="en-US" dirty="0"/>
              <a:t>This addresses the concept of chemical equilibrium, of reactants in initial conditions with no products, and of reactions showing products now becoming reactants in a reverse of the direction of the reaction</a:t>
            </a:r>
          </a:p>
          <a:p>
            <a:endParaRPr lang="en-US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B9C3469-7903-A746-7F96-E2B62BE896D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E0D52F3-54CA-4E42-BFA9-4F0301781925}" type="slidenum">
              <a:rPr lang="en-US" smtClean="0"/>
              <a:pPr/>
              <a:t>13</a:t>
            </a:fld>
            <a:endParaRPr lang="en-US" sz="1400" dirty="0"/>
          </a:p>
        </p:txBody>
      </p:sp>
      <p:pic>
        <p:nvPicPr>
          <p:cNvPr id="6" name="Online Media 5" title="Unit 12 Segment 3: Equilibrium Demonstration">
            <a:hlinkClick r:id="" action="ppaction://media"/>
            <a:extLst>
              <a:ext uri="{FF2B5EF4-FFF2-40B4-BE49-F238E27FC236}">
                <a16:creationId xmlns:a16="http://schemas.microsoft.com/office/drawing/2014/main" id="{81D4A348-57F8-710D-77F9-F14866BA3401}"/>
              </a:ext>
            </a:extLst>
          </p:cNvPr>
          <p:cNvPicPr>
            <a:picLocks noRot="1" noChangeAspect="1"/>
          </p:cNvPicPr>
          <p:nvPr>
            <a:videoFile r:link="rId1"/>
          </p:nvPr>
        </p:nvPicPr>
        <p:blipFill>
          <a:blip r:embed="rId3"/>
          <a:stretch>
            <a:fillRect/>
          </a:stretch>
        </p:blipFill>
        <p:spPr>
          <a:xfrm>
            <a:off x="2503287" y="3848112"/>
            <a:ext cx="3599259" cy="26994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952263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6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"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7C87DC-DD36-4B88-0717-3070AAA220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82DBCFC-D394-3715-1F88-5C2A42FB59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4067" y="306073"/>
            <a:ext cx="8421512" cy="707886"/>
          </a:xfrm>
        </p:spPr>
        <p:txBody>
          <a:bodyPr/>
          <a:lstStyle/>
          <a:p>
            <a:r>
              <a:rPr lang="en-US" sz="4000" dirty="0"/>
              <a:t>Reversible Reactions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36F1D10E-5D25-EF1E-2F04-1F273824D8E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372533" y="1110884"/>
                <a:ext cx="8387645" cy="5451786"/>
              </a:xfrm>
            </p:spPr>
            <p:txBody>
              <a:bodyPr/>
              <a:lstStyle/>
              <a:p>
                <a:r>
                  <a:rPr lang="en-US" dirty="0"/>
                  <a:t>The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  <a:sym typeface="Wingdings" panose="05000000000000000000" pitchFamily="2" charset="2"/>
                      </a:rPr>
                      <m:t>⇌</m:t>
                    </m:r>
                  </m:oMath>
                </a14:m>
                <a:r>
                  <a:rPr lang="en-US" dirty="0"/>
                  <a:t> symbol/character was previously to indicate the state of </a:t>
                </a:r>
                <a:r>
                  <a:rPr lang="en-US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rPr>
                  <a:t>equilibrium</a:t>
                </a:r>
                <a:r>
                  <a:rPr lang="en-US" dirty="0"/>
                  <a:t>, the concept that </a:t>
                </a:r>
                <a:r>
                  <a:rPr lang="en-US" dirty="0">
                    <a:solidFill>
                      <a:srgbClr val="FFFF00"/>
                    </a:solidFill>
                  </a:rPr>
                  <a:t>chemical reactions </a:t>
                </a:r>
                <a:r>
                  <a:rPr lang="en-US" dirty="0"/>
                  <a:t>often have a </a:t>
                </a:r>
                <a:r>
                  <a:rPr lang="en-US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rPr>
                  <a:t>forward</a:t>
                </a:r>
                <a:r>
                  <a:rPr lang="en-US" dirty="0"/>
                  <a:t> and </a:t>
                </a:r>
                <a:r>
                  <a:rPr lang="en-US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rPr>
                  <a:t>reverse</a:t>
                </a:r>
                <a:r>
                  <a:rPr lang="en-US" dirty="0"/>
                  <a:t> of the reaction</a:t>
                </a:r>
              </a:p>
              <a:p>
                <a:r>
                  <a:rPr lang="en-US" dirty="0"/>
                  <a:t>The formation and decomposition of hydroiodic acid (hydrogen iodide) [HI] is an example of the reaction going both ways</a:t>
                </a:r>
              </a:p>
              <a:p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2800" b="0" i="0" smtClean="0">
                          <a:solidFill>
                            <a:srgbClr val="FFC000"/>
                          </a:solidFill>
                          <a:latin typeface="Cambria Math" panose="02040503050406030204" pitchFamily="18" charset="0"/>
                        </a:rPr>
                        <m:t>H</m:t>
                      </m:r>
                      <m:r>
                        <a:rPr lang="en-US" sz="2800" b="0" i="0" baseline="-25000" smtClean="0">
                          <a:solidFill>
                            <a:srgbClr val="FFC000"/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US" sz="2800" b="0" i="0" smtClean="0">
                          <a:solidFill>
                            <a:srgbClr val="FFC0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m:rPr>
                          <m:sty m:val="p"/>
                        </m:rPr>
                        <a:rPr lang="en-US" sz="2800" b="0" i="0" smtClean="0">
                          <a:solidFill>
                            <a:srgbClr val="FFC000"/>
                          </a:solidFill>
                          <a:latin typeface="Cambria Math" panose="02040503050406030204" pitchFamily="18" charset="0"/>
                        </a:rPr>
                        <m:t>I</m:t>
                      </m:r>
                      <m:r>
                        <a:rPr lang="en-US" sz="2800" b="0" i="0" baseline="-25000" smtClean="0">
                          <a:solidFill>
                            <a:srgbClr val="FFC000"/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US" sz="2800" i="1" smtClean="0">
                          <a:solidFill>
                            <a:srgbClr val="FFC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  <a:sym typeface="Wingdings" panose="05000000000000000000" pitchFamily="2" charset="2"/>
                        </a:rPr>
                        <m:t>→</m:t>
                      </m:r>
                      <m:r>
                        <a:rPr lang="en-US" sz="2800" b="0" i="0" smtClean="0">
                          <a:solidFill>
                            <a:srgbClr val="FFC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  <a:sym typeface="Wingdings" panose="05000000000000000000" pitchFamily="2" charset="2"/>
                        </a:rPr>
                        <m:t>2 </m:t>
                      </m:r>
                      <m:r>
                        <m:rPr>
                          <m:sty m:val="p"/>
                        </m:rPr>
                        <a:rPr lang="en-US" sz="2800" b="0" i="0" smtClean="0">
                          <a:solidFill>
                            <a:srgbClr val="FFC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  <a:sym typeface="Wingdings" panose="05000000000000000000" pitchFamily="2" charset="2"/>
                        </a:rPr>
                        <m:t>HI</m:t>
                      </m:r>
                      <m:r>
                        <a:rPr lang="en-US" sz="2800" b="0" i="0" smtClean="0">
                          <a:solidFill>
                            <a:srgbClr val="FFC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  <a:sym typeface="Wingdings" panose="05000000000000000000" pitchFamily="2" charset="2"/>
                        </a:rPr>
                        <m:t>   (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sym typeface="Wingdings" panose="05000000000000000000" pitchFamily="2" charset="2"/>
                        </a:rPr>
                        <m:t>𝑓𝑜𝑟𝑤𝑎𝑟𝑑</m:t>
                      </m:r>
                      <m:r>
                        <a:rPr lang="en-US" sz="28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sym typeface="Wingdings" panose="05000000000000000000" pitchFamily="2" charset="2"/>
                        </a:rPr>
                        <m:t>)</m:t>
                      </m:r>
                    </m:oMath>
                    <m:oMath xmlns:m="http://schemas.openxmlformats.org/officeDocument/2006/math">
                      <m:r>
                        <a:rPr lang="en-US" sz="2800" smtClean="0">
                          <a:solidFill>
                            <a:srgbClr val="FFC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  <a:sym typeface="Wingdings" panose="05000000000000000000" pitchFamily="2" charset="2"/>
                        </a:rPr>
                        <m:t>2 </m:t>
                      </m:r>
                      <m:r>
                        <m:rPr>
                          <m:sty m:val="p"/>
                        </m:rPr>
                        <a:rPr lang="en-US" sz="2800" smtClean="0">
                          <a:solidFill>
                            <a:srgbClr val="FFC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  <a:sym typeface="Wingdings" panose="05000000000000000000" pitchFamily="2" charset="2"/>
                        </a:rPr>
                        <m:t>HI</m:t>
                      </m:r>
                      <m:r>
                        <a:rPr lang="en-US" sz="2800" i="1" smtClean="0">
                          <a:solidFill>
                            <a:srgbClr val="FFC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  <a:sym typeface="Wingdings" panose="05000000000000000000" pitchFamily="2" charset="2"/>
                        </a:rPr>
                        <m:t>→</m:t>
                      </m:r>
                      <m:r>
                        <m:rPr>
                          <m:sty m:val="p"/>
                        </m:rPr>
                        <a:rPr lang="en-US" sz="2800">
                          <a:solidFill>
                            <a:srgbClr val="FFC000"/>
                          </a:solidFill>
                          <a:latin typeface="Cambria Math" panose="02040503050406030204" pitchFamily="18" charset="0"/>
                        </a:rPr>
                        <m:t>H</m:t>
                      </m:r>
                      <m:r>
                        <a:rPr lang="en-US" sz="2800" baseline="-25000">
                          <a:solidFill>
                            <a:srgbClr val="FFC000"/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US" sz="2800">
                          <a:solidFill>
                            <a:srgbClr val="FFC0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m:rPr>
                          <m:sty m:val="p"/>
                        </m:rPr>
                        <a:rPr lang="en-US" sz="2800">
                          <a:solidFill>
                            <a:srgbClr val="FFC000"/>
                          </a:solidFill>
                          <a:latin typeface="Cambria Math" panose="02040503050406030204" pitchFamily="18" charset="0"/>
                        </a:rPr>
                        <m:t>I</m:t>
                      </m:r>
                      <m:r>
                        <a:rPr lang="en-US" sz="2800" baseline="-25000">
                          <a:solidFill>
                            <a:srgbClr val="FFC000"/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US" sz="2800" b="0" i="0" baseline="-25000" smtClean="0">
                          <a:solidFill>
                            <a:srgbClr val="FFC000"/>
                          </a:solidFill>
                          <a:latin typeface="Cambria Math" panose="02040503050406030204" pitchFamily="18" charset="0"/>
                        </a:rPr>
                        <m:t>      </m:t>
                      </m:r>
                      <m:r>
                        <a:rPr lang="en-US" sz="2800" b="0" i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𝑟𝑒𝑣𝑒𝑟𝑠𝑒</m:t>
                      </m:r>
                      <m:r>
                        <a:rPr lang="en-US" sz="2800" b="0" i="0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br>
                  <a:rPr lang="en-US" baseline="-25000" dirty="0"/>
                </a:br>
                <a:br>
                  <a:rPr lang="en-US" dirty="0">
                    <a:ea typeface="Cambria Math" panose="02040503050406030204" pitchFamily="18" charset="0"/>
                    <a:sym typeface="Wingdings" panose="05000000000000000000" pitchFamily="2" charset="2"/>
                  </a:rPr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2800" smtClean="0">
                          <a:solidFill>
                            <a:srgbClr val="FFC000"/>
                          </a:solidFill>
                          <a:latin typeface="Cambria Math" panose="02040503050406030204" pitchFamily="18" charset="0"/>
                        </a:rPr>
                        <m:t>H</m:t>
                      </m:r>
                      <m:r>
                        <a:rPr lang="en-US" sz="2800" baseline="-25000">
                          <a:solidFill>
                            <a:srgbClr val="FFC000"/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US" sz="2800">
                          <a:solidFill>
                            <a:srgbClr val="FFC0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m:rPr>
                          <m:sty m:val="p"/>
                        </m:rPr>
                        <a:rPr lang="en-US" sz="2800">
                          <a:solidFill>
                            <a:srgbClr val="FFC000"/>
                          </a:solidFill>
                          <a:latin typeface="Cambria Math" panose="02040503050406030204" pitchFamily="18" charset="0"/>
                        </a:rPr>
                        <m:t>I</m:t>
                      </m:r>
                      <m:r>
                        <a:rPr lang="en-US" sz="2800" baseline="-25000">
                          <a:solidFill>
                            <a:srgbClr val="FFC000"/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US" sz="2800">
                          <a:solidFill>
                            <a:srgbClr val="FFC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  <a:sym typeface="Wingdings" panose="05000000000000000000" pitchFamily="2" charset="2"/>
                        </a:rPr>
                        <m:t>⇌2 </m:t>
                      </m:r>
                      <m:r>
                        <m:rPr>
                          <m:sty m:val="p"/>
                        </m:rPr>
                        <a:rPr lang="en-US" sz="2800">
                          <a:solidFill>
                            <a:srgbClr val="FFC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  <a:sym typeface="Wingdings" panose="05000000000000000000" pitchFamily="2" charset="2"/>
                        </a:rPr>
                        <m:t>HI</m:t>
                      </m:r>
                    </m:oMath>
                  </m:oMathPara>
                </a14:m>
                <a:br>
                  <a:rPr lang="en-US" dirty="0">
                    <a:ea typeface="Cambria Math" panose="02040503050406030204" pitchFamily="18" charset="0"/>
                    <a:sym typeface="Wingdings" panose="05000000000000000000" pitchFamily="2" charset="2"/>
                  </a:rPr>
                </a:br>
                <a:endParaRPr lang="en-US" dirty="0"/>
              </a:p>
              <a:p>
                <a:pPr marL="0" indent="0">
                  <a:buNone/>
                </a:pPr>
                <a:br>
                  <a:rPr lang="en-US" b="0" dirty="0">
                    <a:ea typeface="Cambria Math" panose="02040503050406030204" pitchFamily="18" charset="0"/>
                    <a:sym typeface="Wingdings" panose="05000000000000000000" pitchFamily="2" charset="2"/>
                  </a:rPr>
                </a:br>
                <a:endParaRPr lang="en-US" dirty="0"/>
              </a:p>
            </p:txBody>
          </p:sp>
        </mc:Choice>
        <mc:Fallback xmlns="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36F1D10E-5D25-EF1E-2F04-1F273824D8E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72533" y="1110884"/>
                <a:ext cx="8387645" cy="5451786"/>
              </a:xfrm>
              <a:blipFill>
                <a:blip r:embed="rId2"/>
                <a:stretch>
                  <a:fillRect l="-1090" t="-1006" r="-94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B9C3469-7903-A746-7F96-E2B62BE896D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E0D52F3-54CA-4E42-BFA9-4F0301781925}" type="slidenum">
              <a:rPr lang="en-US" smtClean="0"/>
              <a:pPr/>
              <a:t>14</a:t>
            </a:fld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10888996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DA949B-B80E-3F34-1A02-E147398009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5283C4C9-11A3-DD2E-6D8B-BE59EDFF68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2533" y="248889"/>
            <a:ext cx="8421512" cy="830997"/>
          </a:xfrm>
        </p:spPr>
        <p:txBody>
          <a:bodyPr/>
          <a:lstStyle/>
          <a:p>
            <a:r>
              <a:rPr lang="en-US" dirty="0"/>
              <a:t>Dynamic Equilibrium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BC22BA23-8F23-91EF-B3EA-BC7349CFC01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372533" y="1079888"/>
                <a:ext cx="8387645" cy="5467668"/>
              </a:xfrm>
            </p:spPr>
            <p:txBody>
              <a:bodyPr/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en-US" sz="28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2800" b="0" i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colorless</m:t>
                          </m:r>
                        </m:e>
                      </m:d>
                      <m:r>
                        <a:rPr lang="en-US" sz="2800" b="0" i="0" smtClean="0">
                          <a:solidFill>
                            <a:srgbClr val="FFC000"/>
                          </a:solidFill>
                          <a:latin typeface="Cambria Math" panose="02040503050406030204" pitchFamily="18" charset="0"/>
                        </a:rPr>
                        <m:t>   </m:t>
                      </m:r>
                      <m:r>
                        <m:rPr>
                          <m:sty m:val="p"/>
                        </m:rPr>
                        <a:rPr lang="en-US" sz="2800" b="0" i="0" smtClean="0">
                          <a:solidFill>
                            <a:srgbClr val="FFC000"/>
                          </a:solidFill>
                          <a:latin typeface="Cambria Math" panose="02040503050406030204" pitchFamily="18" charset="0"/>
                        </a:rPr>
                        <m:t>N</m:t>
                      </m:r>
                      <m:r>
                        <a:rPr lang="en-US" sz="2800" b="0" i="0" baseline="-25000" smtClean="0">
                          <a:solidFill>
                            <a:srgbClr val="FFC000"/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  <m:r>
                        <m:rPr>
                          <m:sty m:val="p"/>
                        </m:rPr>
                        <a:rPr lang="en-US" sz="2800" b="0" i="0" smtClean="0">
                          <a:solidFill>
                            <a:srgbClr val="FFC000"/>
                          </a:solidFill>
                          <a:latin typeface="Cambria Math" panose="02040503050406030204" pitchFamily="18" charset="0"/>
                        </a:rPr>
                        <m:t>O</m:t>
                      </m:r>
                      <m:r>
                        <a:rPr lang="en-US" sz="2800" b="0" i="0" baseline="-25000" smtClean="0">
                          <a:solidFill>
                            <a:srgbClr val="FFC000"/>
                          </a:solidFill>
                          <a:latin typeface="Cambria Math" panose="02040503050406030204" pitchFamily="18" charset="0"/>
                        </a:rPr>
                        <m:t>4</m:t>
                      </m:r>
                      <m:r>
                        <a:rPr lang="en-US" sz="2800" b="0" i="0" smtClean="0">
                          <a:solidFill>
                            <a:srgbClr val="FFC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d>
                        <m:dPr>
                          <m:ctrlPr>
                            <a:rPr lang="en-US" sz="2800" b="0" i="1" smtClean="0">
                              <a:solidFill>
                                <a:srgbClr val="FFC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b="0" i="1" smtClean="0">
                              <a:solidFill>
                                <a:srgbClr val="FFC000"/>
                              </a:solidFill>
                              <a:latin typeface="Cambria Math" panose="02040503050406030204" pitchFamily="18" charset="0"/>
                            </a:rPr>
                            <m:t>𝑔</m:t>
                          </m:r>
                        </m:e>
                      </m:d>
                      <m:r>
                        <a:rPr lang="en-US" sz="2800">
                          <a:solidFill>
                            <a:srgbClr val="FFC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  <a:sym typeface="Wingdings" panose="05000000000000000000" pitchFamily="2" charset="2"/>
                        </a:rPr>
                        <m:t>⇌</m:t>
                      </m:r>
                      <m:r>
                        <a:rPr lang="en-US" sz="2800" b="0" i="0" smtClean="0">
                          <a:solidFill>
                            <a:srgbClr val="FFC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  <a:sym typeface="Wingdings" panose="05000000000000000000" pitchFamily="2" charset="2"/>
                        </a:rPr>
                        <m:t>2  </m:t>
                      </m:r>
                      <m:r>
                        <m:rPr>
                          <m:sty m:val="p"/>
                        </m:rPr>
                        <a:rPr lang="en-US" sz="2800" b="0" i="0" smtClean="0">
                          <a:solidFill>
                            <a:srgbClr val="FFC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  <a:sym typeface="Wingdings" panose="05000000000000000000" pitchFamily="2" charset="2"/>
                        </a:rPr>
                        <m:t>NO</m:t>
                      </m:r>
                      <m:r>
                        <a:rPr lang="en-US" sz="2800" b="0" i="0" baseline="-25000" smtClean="0">
                          <a:solidFill>
                            <a:srgbClr val="FFC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  <a:sym typeface="Wingdings" panose="05000000000000000000" pitchFamily="2" charset="2"/>
                        </a:rPr>
                        <m:t>2</m:t>
                      </m:r>
                      <m:r>
                        <a:rPr lang="en-US" sz="2800" b="0" i="0" smtClean="0">
                          <a:solidFill>
                            <a:srgbClr val="FFC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  <a:sym typeface="Wingdings" panose="05000000000000000000" pitchFamily="2" charset="2"/>
                        </a:rPr>
                        <m:t> </m:t>
                      </m:r>
                      <m:d>
                        <m:dPr>
                          <m:ctrlPr>
                            <a:rPr lang="en-US" sz="2800" b="0" i="1" smtClean="0">
                              <a:solidFill>
                                <a:srgbClr val="FFC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sym typeface="Wingdings" panose="05000000000000000000" pitchFamily="2" charset="2"/>
                            </a:rPr>
                          </m:ctrlPr>
                        </m:dPr>
                        <m:e>
                          <m:r>
                            <a:rPr lang="en-US" sz="2800" b="0" i="1" smtClean="0">
                              <a:solidFill>
                                <a:srgbClr val="FFC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sym typeface="Wingdings" panose="05000000000000000000" pitchFamily="2" charset="2"/>
                            </a:rPr>
                            <m:t>𝑔</m:t>
                          </m:r>
                        </m:e>
                      </m:d>
                      <m:r>
                        <m:rPr>
                          <m:nor/>
                        </m:rPr>
                        <a:rPr lang="en-US" sz="2800" b="0" i="0" smtClean="0">
                          <a:solidFill>
                            <a:srgbClr val="FFC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  <a:sym typeface="Wingdings" panose="05000000000000000000" pitchFamily="2" charset="2"/>
                        </a:rPr>
                        <m:t>   </m:t>
                      </m:r>
                      <m:r>
                        <m:rPr>
                          <m:nor/>
                        </m:rPr>
                        <a:rPr lang="en-US" sz="2800" b="0" i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  <a:sym typeface="Wingdings" panose="05000000000000000000" pitchFamily="2" charset="2"/>
                        </a:rPr>
                        <m:t>[</m:t>
                      </m:r>
                      <m:r>
                        <m:rPr>
                          <m:nor/>
                        </m:rPr>
                        <a:rPr lang="en-US" sz="2800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red</m:t>
                      </m:r>
                      <m:r>
                        <m:rPr>
                          <m:nor/>
                        </m:rPr>
                        <a:rPr lang="en-US" sz="2800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r>
                        <m:rPr>
                          <m:nor/>
                        </m:rPr>
                        <a:rPr lang="en-US" sz="2800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brown</m:t>
                      </m:r>
                      <m:r>
                        <m:rPr>
                          <m:nor/>
                        </m:rPr>
                        <a:rPr lang="en-US" sz="2800" b="0" i="0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en-US" sz="2800" dirty="0">
                  <a:solidFill>
                    <a:schemeClr val="bg1"/>
                  </a:solidFill>
                  <a:latin typeface="Cambria Math" panose="02040503050406030204" pitchFamily="18" charset="0"/>
                </a:endParaRPr>
              </a:p>
              <a:p>
                <a:r>
                  <a:rPr lang="en-US" sz="2000" dirty="0"/>
                  <a:t>The forward and reverse directions of the reaction are shown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2800" smtClean="0">
                          <a:solidFill>
                            <a:srgbClr val="FFC000"/>
                          </a:solidFill>
                          <a:latin typeface="Cambria Math" panose="02040503050406030204" pitchFamily="18" charset="0"/>
                        </a:rPr>
                        <m:t>N</m:t>
                      </m:r>
                      <m:r>
                        <a:rPr lang="en-US" sz="2800" baseline="-25000">
                          <a:solidFill>
                            <a:srgbClr val="FFC000"/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  <m:r>
                        <m:rPr>
                          <m:sty m:val="p"/>
                        </m:rPr>
                        <a:rPr lang="en-US" sz="2800" b="0" i="0" smtClean="0">
                          <a:solidFill>
                            <a:srgbClr val="FFC000"/>
                          </a:solidFill>
                          <a:latin typeface="Cambria Math" panose="02040503050406030204" pitchFamily="18" charset="0"/>
                        </a:rPr>
                        <m:t>O</m:t>
                      </m:r>
                      <m:r>
                        <a:rPr lang="en-US" sz="2800" b="0" i="0" baseline="-25000" smtClean="0">
                          <a:solidFill>
                            <a:srgbClr val="FFC000"/>
                          </a:solidFill>
                          <a:latin typeface="Cambria Math" panose="02040503050406030204" pitchFamily="18" charset="0"/>
                        </a:rPr>
                        <m:t>4 </m:t>
                      </m:r>
                      <m:d>
                        <m:dPr>
                          <m:ctrlPr>
                            <a:rPr lang="en-US" sz="2800" b="0" i="1" smtClean="0">
                              <a:solidFill>
                                <a:srgbClr val="FFC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b="0" i="1" smtClean="0">
                              <a:solidFill>
                                <a:srgbClr val="FFC000"/>
                              </a:solidFill>
                              <a:latin typeface="Cambria Math" panose="02040503050406030204" pitchFamily="18" charset="0"/>
                            </a:rPr>
                            <m:t>𝑔</m:t>
                          </m:r>
                        </m:e>
                      </m:d>
                      <m:r>
                        <a:rPr lang="en-US" sz="2800" i="1">
                          <a:solidFill>
                            <a:srgbClr val="FFC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  <a:sym typeface="Wingdings" panose="05000000000000000000" pitchFamily="2" charset="2"/>
                        </a:rPr>
                        <m:t>→</m:t>
                      </m:r>
                      <m:r>
                        <a:rPr lang="en-US" sz="2800" b="0" i="0" smtClean="0">
                          <a:solidFill>
                            <a:srgbClr val="FFC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  <a:sym typeface="Wingdings" panose="05000000000000000000" pitchFamily="2" charset="2"/>
                        </a:rPr>
                        <m:t>2 </m:t>
                      </m:r>
                      <m:r>
                        <m:rPr>
                          <m:sty m:val="p"/>
                        </m:rPr>
                        <a:rPr lang="en-US" sz="2800">
                          <a:solidFill>
                            <a:srgbClr val="FFC000"/>
                          </a:solidFill>
                          <a:latin typeface="Cambria Math" panose="02040503050406030204" pitchFamily="18" charset="0"/>
                        </a:rPr>
                        <m:t>NO</m:t>
                      </m:r>
                      <m:r>
                        <a:rPr lang="en-US" sz="2800" b="0" i="0" baseline="-25000" smtClean="0">
                          <a:solidFill>
                            <a:srgbClr val="FFC000"/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US" sz="2800" baseline="-25000">
                          <a:solidFill>
                            <a:srgbClr val="FFC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2800">
                          <a:solidFill>
                            <a:srgbClr val="FFC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800" i="1">
                          <a:solidFill>
                            <a:srgbClr val="FFC000"/>
                          </a:solidFill>
                          <a:latin typeface="Cambria Math" panose="02040503050406030204" pitchFamily="18" charset="0"/>
                        </a:rPr>
                        <m:t>𝑔</m:t>
                      </m:r>
                      <m:r>
                        <a:rPr lang="en-US" sz="2800">
                          <a:solidFill>
                            <a:srgbClr val="FFC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br>
                  <a:rPr lang="en-US" sz="2800" dirty="0">
                    <a:latin typeface="Cambria Math" panose="02040503050406030204" pitchFamily="18" charset="0"/>
                    <a:ea typeface="Cambria Math" panose="02040503050406030204" pitchFamily="18" charset="0"/>
                    <a:sym typeface="Wingdings" panose="05000000000000000000" pitchFamily="2" charset="2"/>
                  </a:rPr>
                </a:br>
                <a14:m>
                  <m:oMath xmlns:m="http://schemas.openxmlformats.org/officeDocument/2006/math">
                    <m:r>
                      <a:rPr lang="en-US" sz="2800">
                        <a:solidFill>
                          <a:srgbClr val="FFC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sym typeface="Wingdings" panose="05000000000000000000" pitchFamily="2" charset="2"/>
                      </a:rPr>
                      <m:t>2 </m:t>
                    </m:r>
                    <m:r>
                      <m:rPr>
                        <m:sty m:val="p"/>
                      </m:rPr>
                      <a:rPr lang="en-US" sz="2800">
                        <a:solidFill>
                          <a:srgbClr val="FFC000"/>
                        </a:solidFill>
                        <a:latin typeface="Cambria Math" panose="02040503050406030204" pitchFamily="18" charset="0"/>
                      </a:rPr>
                      <m:t>NO</m:t>
                    </m:r>
                    <m:r>
                      <a:rPr lang="en-US" sz="2800" baseline="-25000">
                        <a:solidFill>
                          <a:srgbClr val="FFC000"/>
                        </a:solidFill>
                        <a:latin typeface="Cambria Math" panose="02040503050406030204" pitchFamily="18" charset="0"/>
                      </a:rPr>
                      <m:t>2 </m:t>
                    </m:r>
                    <m:r>
                      <a:rPr lang="en-US" sz="2800">
                        <a:solidFill>
                          <a:srgbClr val="FFC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800" i="1">
                        <a:solidFill>
                          <a:srgbClr val="FFC000"/>
                        </a:solidFill>
                        <a:latin typeface="Cambria Math" panose="02040503050406030204" pitchFamily="18" charset="0"/>
                      </a:rPr>
                      <m:t>𝑔</m:t>
                    </m:r>
                    <m:r>
                      <a:rPr lang="en-US" sz="2800">
                        <a:solidFill>
                          <a:srgbClr val="FFC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800" dirty="0">
                    <a:latin typeface="Cambria Math" panose="02040503050406030204" pitchFamily="18" charset="0"/>
                    <a:ea typeface="Cambria Math" panose="02040503050406030204" pitchFamily="18" charset="0"/>
                    <a:sym typeface="Wingdings" panose="05000000000000000000" pitchFamily="2" charset="2"/>
                  </a:rPr>
                  <a:t> </a:t>
                </a:r>
                <a14:m>
                  <m:oMath xmlns:m="http://schemas.openxmlformats.org/officeDocument/2006/math">
                    <m:r>
                      <a:rPr lang="en-US" sz="2800" i="1">
                        <a:solidFill>
                          <a:srgbClr val="FFC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sym typeface="Wingdings" panose="05000000000000000000" pitchFamily="2" charset="2"/>
                      </a:rPr>
                      <m:t>→</m:t>
                    </m:r>
                    <m:r>
                      <m:rPr>
                        <m:sty m:val="p"/>
                      </m:rPr>
                      <a:rPr lang="en-US" sz="2800">
                        <a:solidFill>
                          <a:srgbClr val="FFC000"/>
                        </a:solidFill>
                        <a:latin typeface="Cambria Math" panose="02040503050406030204" pitchFamily="18" charset="0"/>
                      </a:rPr>
                      <m:t>N</m:t>
                    </m:r>
                    <m:r>
                      <a:rPr lang="en-US" sz="2800" baseline="-25000">
                        <a:solidFill>
                          <a:srgbClr val="FFC000"/>
                        </a:solidFill>
                        <a:latin typeface="Cambria Math" panose="02040503050406030204" pitchFamily="18" charset="0"/>
                      </a:rPr>
                      <m:t>2</m:t>
                    </m:r>
                    <m:r>
                      <m:rPr>
                        <m:sty m:val="p"/>
                      </m:rPr>
                      <a:rPr lang="en-US" sz="2800">
                        <a:solidFill>
                          <a:srgbClr val="FFC000"/>
                        </a:solidFill>
                        <a:latin typeface="Cambria Math" panose="02040503050406030204" pitchFamily="18" charset="0"/>
                      </a:rPr>
                      <m:t>O</m:t>
                    </m:r>
                    <m:r>
                      <a:rPr lang="en-US" sz="2800" baseline="-25000">
                        <a:solidFill>
                          <a:srgbClr val="FFC000"/>
                        </a:solidFill>
                        <a:latin typeface="Cambria Math" panose="02040503050406030204" pitchFamily="18" charset="0"/>
                      </a:rPr>
                      <m:t>4 </m:t>
                    </m:r>
                    <m:d>
                      <m:dPr>
                        <m:ctrlPr>
                          <a:rPr lang="en-US" sz="2800" i="1">
                            <a:solidFill>
                              <a:srgbClr val="FFC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800" i="1">
                            <a:solidFill>
                              <a:srgbClr val="FFC000"/>
                            </a:solidFill>
                            <a:latin typeface="Cambria Math" panose="02040503050406030204" pitchFamily="18" charset="0"/>
                          </a:rPr>
                          <m:t>𝑔</m:t>
                        </m:r>
                      </m:e>
                    </m:d>
                  </m:oMath>
                </a14:m>
                <a:endParaRPr lang="en-US" sz="2800" dirty="0"/>
              </a:p>
              <a:p>
                <a:r>
                  <a:rPr lang="en-US" dirty="0"/>
                  <a:t>N</a:t>
                </a:r>
                <a:r>
                  <a:rPr lang="en-US" baseline="-25000" dirty="0"/>
                  <a:t>2</a:t>
                </a:r>
                <a:r>
                  <a:rPr lang="en-US" dirty="0"/>
                  <a:t>O</a:t>
                </a:r>
                <a:r>
                  <a:rPr lang="en-US" baseline="-25000" dirty="0"/>
                  <a:t>4</a:t>
                </a:r>
                <a:r>
                  <a:rPr lang="en-US" dirty="0"/>
                  <a:t> is colorless and NO</a:t>
                </a:r>
                <a:r>
                  <a:rPr lang="en-US" baseline="-25000" dirty="0"/>
                  <a:t>2</a:t>
                </a:r>
                <a:r>
                  <a:rPr lang="en-US" dirty="0"/>
                  <a:t> is reddish-brown so a reaction can be monitored visually</a:t>
                </a:r>
              </a:p>
            </p:txBody>
          </p:sp>
        </mc:Choice>
        <mc:Fallback xmlns="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BC22BA23-8F23-91EF-B3EA-BC7349CFC01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72533" y="1079888"/>
                <a:ext cx="8387645" cy="5467668"/>
              </a:xfrm>
              <a:blipFill>
                <a:blip r:embed="rId2"/>
                <a:stretch>
                  <a:fillRect l="-109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" name="Picture 2">
            <a:extLst>
              <a:ext uri="{FF2B5EF4-FFF2-40B4-BE49-F238E27FC236}">
                <a16:creationId xmlns:a16="http://schemas.microsoft.com/office/drawing/2014/main" id="{B35F956F-11EA-43A8-0293-53D42EEC3FC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62262" y="3933661"/>
            <a:ext cx="3077910" cy="2675450"/>
          </a:xfrm>
          <a:prstGeom prst="rect">
            <a:avLst/>
          </a:prstGeom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8566EF7-1B59-12CC-9333-9B322FA8168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E0D52F3-54CA-4E42-BFA9-4F0301781925}" type="slidenum">
              <a:rPr lang="en-US" smtClean="0"/>
              <a:pPr/>
              <a:t>15</a:t>
            </a:fld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368225914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DC9BF6-4876-9D19-E9CB-F858D72504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CAA6641-3BBC-8597-EC6F-653F22784C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2533" y="280215"/>
            <a:ext cx="8421512" cy="707886"/>
          </a:xfrm>
        </p:spPr>
        <p:txBody>
          <a:bodyPr/>
          <a:lstStyle/>
          <a:p>
            <a:r>
              <a:rPr lang="en-US" sz="4000" dirty="0"/>
              <a:t>Example of Dynamic Equilibrium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C6796A22-F409-C483-527B-C4DBC3A7FE0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2533" y="1065540"/>
            <a:ext cx="8387645" cy="5482015"/>
          </a:xfrm>
        </p:spPr>
        <p:txBody>
          <a:bodyPr/>
          <a:lstStyle/>
          <a:p>
            <a:r>
              <a:rPr lang="en-US" sz="2200" dirty="0"/>
              <a:t>Equilibrium is shown as the change in concentration of reactant and/or product over time</a:t>
            </a:r>
          </a:p>
          <a:p>
            <a:r>
              <a:rPr lang="en-US" sz="2200" dirty="0"/>
              <a:t>One can start with no (zero) concentration of product (for forward reaction) or of reactant (for reverse direction this become</a:t>
            </a:r>
            <a:br>
              <a:rPr lang="en-US" sz="2200" dirty="0"/>
            </a:br>
            <a:r>
              <a:rPr lang="en-US" sz="2200" dirty="0"/>
              <a:t>the product) and follow</a:t>
            </a:r>
            <a:br>
              <a:rPr lang="en-US" sz="2200" dirty="0"/>
            </a:br>
            <a:r>
              <a:rPr lang="en-US" sz="2200" dirty="0"/>
              <a:t>change in amount or</a:t>
            </a:r>
            <a:br>
              <a:rPr lang="en-US" sz="2200" dirty="0"/>
            </a:br>
            <a:r>
              <a:rPr lang="en-US" sz="2200" dirty="0"/>
              <a:t>concentration over</a:t>
            </a:r>
            <a:br>
              <a:rPr lang="en-US" sz="2200" dirty="0"/>
            </a:br>
            <a:r>
              <a:rPr lang="en-US" sz="2200" dirty="0"/>
              <a:t>time</a:t>
            </a:r>
          </a:p>
          <a:p>
            <a:r>
              <a:rPr lang="en-US" sz="2200" dirty="0"/>
              <a:t>Eventually a plateau is</a:t>
            </a:r>
            <a:br>
              <a:rPr lang="en-US" sz="2200" dirty="0"/>
            </a:br>
            <a:r>
              <a:rPr lang="en-US" sz="2200" dirty="0"/>
              <a:t>reached where</a:t>
            </a:r>
            <a:br>
              <a:rPr lang="en-US" sz="2200" dirty="0"/>
            </a:br>
            <a:r>
              <a:rPr lang="en-US" sz="2200" dirty="0"/>
              <a:t>concentration of</a:t>
            </a:r>
            <a:br>
              <a:rPr lang="en-US" sz="2200" dirty="0"/>
            </a:br>
            <a:r>
              <a:rPr lang="en-US" sz="2200" dirty="0"/>
              <a:t>neither reactant or</a:t>
            </a:r>
            <a:br>
              <a:rPr lang="en-US" sz="2200" dirty="0"/>
            </a:br>
            <a:r>
              <a:rPr lang="en-US" sz="2200" dirty="0"/>
              <a:t>product changes</a:t>
            </a:r>
          </a:p>
          <a:p>
            <a:r>
              <a:rPr lang="en-US" sz="2200" dirty="0"/>
              <a:t>This is equilibrium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E55C200-4286-015A-0835-D666E572EB7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2289" y="2735512"/>
            <a:ext cx="4378762" cy="3755024"/>
          </a:xfrm>
          <a:prstGeom prst="rect">
            <a:avLst/>
          </a:prstGeom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1A4D5F3-EAA4-C2E6-D617-F1F29BB8B5A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E0D52F3-54CA-4E42-BFA9-4F0301781925}" type="slidenum">
              <a:rPr lang="en-US" smtClean="0"/>
              <a:pPr/>
              <a:t>16</a:t>
            </a:fld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73519212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DE188C-BAB6-B247-DACA-9A6FBD3AEF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7B84F6A9-3324-0266-3DF8-3CFE6A0A18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1244" y="238060"/>
            <a:ext cx="8421512" cy="707886"/>
          </a:xfrm>
        </p:spPr>
        <p:txBody>
          <a:bodyPr/>
          <a:lstStyle/>
          <a:p>
            <a:r>
              <a:rPr lang="en-US" sz="4000" dirty="0"/>
              <a:t>Change in Rate of Reaction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9A4C813E-E03D-1EA5-6EFF-5D3C2060B5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2533" y="1080655"/>
            <a:ext cx="8387645" cy="5466900"/>
          </a:xfrm>
        </p:spPr>
        <p:txBody>
          <a:bodyPr/>
          <a:lstStyle/>
          <a:p>
            <a:r>
              <a:rPr lang="en-US" dirty="0"/>
              <a:t>In the plot shown, it shows not amount or concentration, but rather the rate of the reaction versus time. A rate of reaction is the function of the concentration (molar, M) per unit time</a:t>
            </a:r>
          </a:p>
          <a:p>
            <a:r>
              <a:rPr lang="en-US" sz="2000" dirty="0"/>
              <a:t>Initially the sample is</a:t>
            </a:r>
            <a:br>
              <a:rPr lang="en-US" sz="2000" dirty="0"/>
            </a:br>
            <a:r>
              <a:rPr lang="en-US" sz="2000" dirty="0"/>
              <a:t>pure red-brown NO</a:t>
            </a:r>
            <a:r>
              <a:rPr lang="en-US" sz="2000" baseline="-25000" dirty="0"/>
              <a:t>2</a:t>
            </a:r>
            <a:br>
              <a:rPr lang="en-US" sz="2000" dirty="0"/>
            </a:br>
            <a:r>
              <a:rPr lang="en-US" sz="2000" dirty="0"/>
              <a:t>and will form colorless</a:t>
            </a:r>
            <a:br>
              <a:rPr lang="en-US" sz="2000" dirty="0"/>
            </a:br>
            <a:r>
              <a:rPr lang="en-US" sz="2000" dirty="0"/>
              <a:t>N</a:t>
            </a:r>
            <a:r>
              <a:rPr lang="en-US" sz="2000" baseline="-25000" dirty="0"/>
              <a:t>2</a:t>
            </a:r>
            <a:r>
              <a:rPr lang="en-US" sz="2000" dirty="0"/>
              <a:t>O</a:t>
            </a:r>
            <a:r>
              <a:rPr lang="en-US" sz="2000" baseline="-25000" dirty="0"/>
              <a:t>4</a:t>
            </a:r>
          </a:p>
          <a:p>
            <a:r>
              <a:rPr lang="en-US" sz="2000" dirty="0"/>
              <a:t>As N</a:t>
            </a:r>
            <a:r>
              <a:rPr lang="en-US" sz="2000" baseline="-25000" dirty="0"/>
              <a:t>2</a:t>
            </a:r>
            <a:r>
              <a:rPr lang="en-US" sz="2000" dirty="0"/>
              <a:t>O</a:t>
            </a:r>
            <a:r>
              <a:rPr lang="en-US" sz="2000" baseline="-25000" dirty="0"/>
              <a:t>4</a:t>
            </a:r>
            <a:r>
              <a:rPr lang="en-US" sz="2000" dirty="0"/>
              <a:t> product forms,</a:t>
            </a:r>
            <a:br>
              <a:rPr lang="en-US" sz="2000" dirty="0"/>
            </a:br>
            <a:r>
              <a:rPr lang="en-US" sz="2000" dirty="0"/>
              <a:t>the rate slows and</a:t>
            </a:r>
            <a:br>
              <a:rPr lang="en-US" sz="2000" dirty="0"/>
            </a:br>
            <a:r>
              <a:rPr lang="en-US" sz="2000" dirty="0"/>
              <a:t>eventually levels off to</a:t>
            </a:r>
            <a:br>
              <a:rPr lang="en-US" sz="2000" dirty="0"/>
            </a:br>
            <a:r>
              <a:rPr lang="en-US" sz="2000" dirty="0"/>
              <a:t>a constant rate while</a:t>
            </a:r>
            <a:br>
              <a:rPr lang="en-US" sz="2000" dirty="0"/>
            </a:br>
            <a:r>
              <a:rPr lang="en-US" sz="2000" dirty="0"/>
              <a:t>the reverse reaction</a:t>
            </a:r>
            <a:br>
              <a:rPr lang="en-US" sz="2000" dirty="0"/>
            </a:br>
            <a:r>
              <a:rPr lang="en-US" sz="2000" dirty="0"/>
              <a:t>increases to a level rate as</a:t>
            </a:r>
            <a:br>
              <a:rPr lang="en-US" sz="2000" dirty="0"/>
            </a:br>
            <a:r>
              <a:rPr lang="en-US" sz="2000" dirty="0"/>
              <a:t>well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F2D1275-E8E2-55A2-EE45-3FAE0B52324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66355" y="2818770"/>
            <a:ext cx="4107246" cy="3728784"/>
          </a:xfrm>
          <a:prstGeom prst="rect">
            <a:avLst/>
          </a:prstGeom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5EF6679A-1290-243A-4193-F9FB6BB1BBC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E0D52F3-54CA-4E42-BFA9-4F0301781925}" type="slidenum">
              <a:rPr lang="en-US" smtClean="0"/>
              <a:pPr/>
              <a:t>17</a:t>
            </a:fld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80409919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7C5FF6D8-9DBA-8E0F-5C42-39BCE1E024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6F94DD40-202D-5766-2F76-FDA46010C2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1244" y="238060"/>
            <a:ext cx="8421512" cy="707886"/>
          </a:xfrm>
        </p:spPr>
        <p:txBody>
          <a:bodyPr/>
          <a:lstStyle/>
          <a:p>
            <a:r>
              <a:rPr lang="en-US" sz="4000" dirty="0"/>
              <a:t>Rate of Reaction Equation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F0626594-A603-3455-C84C-69D404907BC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380090" y="1080655"/>
                <a:ext cx="8387645" cy="5466900"/>
              </a:xfrm>
            </p:spPr>
            <p:txBody>
              <a:bodyPr/>
              <a:lstStyle/>
              <a:p>
                <a:r>
                  <a:rPr lang="en-US" dirty="0"/>
                  <a:t>The (forward) reaction rate, which is the dimerization of NO</a:t>
                </a:r>
                <a:r>
                  <a:rPr lang="en-US" baseline="-25000" dirty="0"/>
                  <a:t>2</a:t>
                </a:r>
                <a:r>
                  <a:rPr lang="en-US" dirty="0"/>
                  <a:t>, has a mathematical expression: </a:t>
                </a:r>
                <a:br>
                  <a:rPr lang="en-US" b="0" i="0" dirty="0">
                    <a:latin typeface="Cambria Math" panose="02040503050406030204" pitchFamily="18" charset="0"/>
                  </a:rPr>
                </a:b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000" b="0" i="0" smtClean="0">
                        <a:latin typeface="Cambria Math" panose="02040503050406030204" pitchFamily="18" charset="0"/>
                      </a:rPr>
                      <m:t>forward</m:t>
                    </m:r>
                    <m:r>
                      <a:rPr lang="en-US" sz="2000" b="0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sz="2000" b="0" i="0" smtClean="0">
                        <a:latin typeface="Cambria Math" panose="02040503050406030204" pitchFamily="18" charset="0"/>
                      </a:rPr>
                      <m:t>rate</m:t>
                    </m:r>
                    <m:r>
                      <a:rPr lang="en-US" sz="2000" b="0" i="0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  <m:r>
                          <a:rPr lang="en-US" sz="2000" b="0" i="0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m:rPr>
                            <m:sty m:val="p"/>
                          </m:rPr>
                          <a:rPr lang="en-US" sz="2000" b="0" i="0" smtClean="0">
                            <a:latin typeface="Cambria Math" panose="02040503050406030204" pitchFamily="18" charset="0"/>
                          </a:rPr>
                          <m:t>NO</m:t>
                        </m:r>
                        <m:r>
                          <a:rPr lang="en-US" sz="2000" b="0" i="0" baseline="-25000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en-US" sz="2000" b="0" i="0" smtClean="0">
                            <a:latin typeface="Cambria Math" panose="02040503050406030204" pitchFamily="18" charset="0"/>
                          </a:rPr>
                          <m:t>]</m:t>
                        </m:r>
                      </m:num>
                      <m:den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𝑑𝑡</m:t>
                        </m:r>
                      </m:den>
                    </m:f>
                    <m:r>
                      <a:rPr lang="en-US" sz="2000" b="0" i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sz="2000" b="0" i="1" baseline="-25000" smtClean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begChr m:val="["/>
                        <m:endChr m:val="]"/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sz="2000" b="0" i="0" smtClean="0">
                            <a:latin typeface="Cambria Math" panose="02040503050406030204" pitchFamily="18" charset="0"/>
                          </a:rPr>
                          <m:t>NO</m:t>
                        </m:r>
                        <m:r>
                          <a:rPr lang="en-US" sz="2000" b="0" i="0" baseline="-25000" smtClean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</m:d>
                    <m:d>
                      <m:dPr>
                        <m:begChr m:val="["/>
                        <m:endChr m:val="]"/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sz="2000" b="0" i="0" smtClean="0">
                            <a:latin typeface="Cambria Math" panose="02040503050406030204" pitchFamily="18" charset="0"/>
                          </a:rPr>
                          <m:t>NO</m:t>
                        </m:r>
                        <m:r>
                          <a:rPr lang="en-US" sz="2000" b="0" i="0" baseline="-25000" smtClean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</m:d>
                    <m:r>
                      <a:rPr lang="en-US" sz="2000" b="0" i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sz="2000" b="0" i="1" baseline="-25000" smtClean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begChr m:val="["/>
                        <m:endChr m:val="]"/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sz="2000" b="0" i="0" smtClean="0">
                            <a:latin typeface="Cambria Math" panose="02040503050406030204" pitchFamily="18" charset="0"/>
                          </a:rPr>
                          <m:t>NO</m:t>
                        </m:r>
                        <m:r>
                          <a:rPr lang="en-US" sz="2000" b="0" i="0" baseline="-25000" smtClean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</m:d>
                    <m:r>
                      <a:rPr lang="en-US" sz="2000" b="0" i="0" baseline="30000" smtClean="0"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  <a:endParaRPr lang="en-US" sz="1800" baseline="30000" dirty="0"/>
              </a:p>
              <a:p>
                <a:endParaRPr lang="en-US" sz="1800" baseline="300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2000" b="0" i="0" smtClean="0">
                          <a:latin typeface="Cambria Math" panose="02040503050406030204" pitchFamily="18" charset="0"/>
                        </a:rPr>
                        <m:t>reverse</m:t>
                      </m:r>
                      <m:r>
                        <a:rPr lang="en-US" sz="200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sz="2000">
                          <a:latin typeface="Cambria Math" panose="02040503050406030204" pitchFamily="18" charset="0"/>
                        </a:rPr>
                        <m:t>rate</m:t>
                      </m:r>
                      <m:r>
                        <a:rPr lang="en-US" sz="200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en-US" sz="2000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m:rPr>
                              <m:sty m:val="p"/>
                            </m:rPr>
                            <a:rPr lang="en-US" sz="2000">
                              <a:latin typeface="Cambria Math" panose="02040503050406030204" pitchFamily="18" charset="0"/>
                            </a:rPr>
                            <m:t>N</m:t>
                          </m:r>
                          <m:r>
                            <a:rPr lang="en-US" sz="2000" b="0" i="0" baseline="-25000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m:rPr>
                              <m:sty m:val="p"/>
                            </m:rPr>
                            <a:rPr lang="en-US" sz="2000">
                              <a:latin typeface="Cambria Math" panose="02040503050406030204" pitchFamily="18" charset="0"/>
                            </a:rPr>
                            <m:t>O</m:t>
                          </m:r>
                          <m:r>
                            <a:rPr lang="en-US" sz="2000" b="0" i="0" baseline="-25000" smtClean="0">
                              <a:latin typeface="Cambria Math" panose="02040503050406030204" pitchFamily="18" charset="0"/>
                            </a:rPr>
                            <m:t>4</m:t>
                          </m:r>
                          <m:r>
                            <a:rPr lang="en-US" sz="2000">
                              <a:latin typeface="Cambria Math" panose="02040503050406030204" pitchFamily="18" charset="0"/>
                            </a:rPr>
                            <m:t>]</m:t>
                          </m:r>
                        </m:num>
                        <m:den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  <m:r>
                        <a:rPr lang="en-US" sz="200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000" i="1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US" sz="2000" b="0" i="1" baseline="-25000" smtClean="0">
                          <a:latin typeface="Cambria Math" panose="02040503050406030204" pitchFamily="18" charset="0"/>
                        </a:rPr>
                        <m:t>𝑟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2000">
                              <a:latin typeface="Cambria Math" panose="02040503050406030204" pitchFamily="18" charset="0"/>
                            </a:rPr>
                            <m:t>N</m:t>
                          </m:r>
                          <m:r>
                            <a:rPr lang="en-US" sz="2000" b="0" i="0" baseline="-25000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m:rPr>
                              <m:sty m:val="p"/>
                            </m:rPr>
                            <a:rPr lang="en-US" sz="2000">
                              <a:latin typeface="Cambria Math" panose="02040503050406030204" pitchFamily="18" charset="0"/>
                            </a:rPr>
                            <m:t>O</m:t>
                          </m:r>
                          <m:r>
                            <a:rPr lang="en-US" sz="2000" b="0" i="0" baseline="-25000" smtClean="0">
                              <a:latin typeface="Cambria Math" panose="02040503050406030204" pitchFamily="18" charset="0"/>
                            </a:rPr>
                            <m:t>4</m:t>
                          </m:r>
                        </m:e>
                      </m:d>
                    </m:oMath>
                  </m:oMathPara>
                </a14:m>
                <a:endParaRPr lang="en-US" sz="2000" baseline="30000" dirty="0"/>
              </a:p>
              <a:p>
                <a:pPr marL="0" indent="0">
                  <a:buNone/>
                </a:pPr>
                <a:endParaRPr lang="en-US" sz="2000" baseline="30000" dirty="0"/>
              </a:p>
              <a:p>
                <a:r>
                  <a:rPr lang="en-US" sz="1800" dirty="0"/>
                  <a:t>The details of rate equations are beyond</a:t>
                </a:r>
                <a:br>
                  <a:rPr lang="en-US" sz="1800" dirty="0"/>
                </a:br>
                <a:r>
                  <a:rPr lang="en-US" sz="1800" dirty="0"/>
                  <a:t>the scope of this course but are</a:t>
                </a:r>
                <a:br>
                  <a:rPr lang="en-US" sz="1800" dirty="0"/>
                </a:br>
                <a:r>
                  <a:rPr lang="en-US" sz="1800" dirty="0"/>
                  <a:t>mentioned here only because</a:t>
                </a:r>
                <a:br>
                  <a:rPr lang="en-US" sz="1800" dirty="0"/>
                </a:br>
                <a:r>
                  <a:rPr lang="en-US" sz="1800" dirty="0"/>
                  <a:t>the textbook references these equations</a:t>
                </a:r>
              </a:p>
            </p:txBody>
          </p:sp>
        </mc:Choice>
        <mc:Fallback xmlns="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F0626594-A603-3455-C84C-69D404907BC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80090" y="1080655"/>
                <a:ext cx="8387645" cy="5466900"/>
              </a:xfrm>
              <a:blipFill>
                <a:blip r:embed="rId2"/>
                <a:stretch>
                  <a:fillRect l="-1090" t="-89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" name="Picture 2">
            <a:extLst>
              <a:ext uri="{FF2B5EF4-FFF2-40B4-BE49-F238E27FC236}">
                <a16:creationId xmlns:a16="http://schemas.microsoft.com/office/drawing/2014/main" id="{09DECACA-3300-1B47-C93C-082C10F24CF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60038" y="3755840"/>
            <a:ext cx="3154798" cy="2864099"/>
          </a:xfrm>
          <a:prstGeom prst="rect">
            <a:avLst/>
          </a:prstGeom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8075480-2D83-61C6-ED15-BD68483247D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E0D52F3-54CA-4E42-BFA9-4F0301781925}" type="slidenum">
              <a:rPr lang="en-US" smtClean="0"/>
              <a:pPr/>
              <a:t>18</a:t>
            </a:fld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426786743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BF0042-7B0C-A390-9FD0-56DEDA8D6B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5DCDF2F3-AC15-DF48-30AC-D4130B50E4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1244" y="238060"/>
            <a:ext cx="8421512" cy="707886"/>
          </a:xfrm>
        </p:spPr>
        <p:txBody>
          <a:bodyPr/>
          <a:lstStyle/>
          <a:p>
            <a:r>
              <a:rPr lang="en-US" sz="4000" dirty="0"/>
              <a:t>Practice: Equilibrium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4337FD1C-CF8F-FD4B-3EA1-E599473C75F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372533" y="1080655"/>
                <a:ext cx="8387645" cy="5466900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In the illustrated three reaction systems, what is the relative time to reach chemical equilibrium where </a:t>
                </a:r>
                <a14:m>
                  <m:oMath xmlns:m="http://schemas.openxmlformats.org/officeDocument/2006/math">
                    <m:r>
                      <a:rPr lang="en-US" b="0" i="0" smtClean="0">
                        <a:solidFill>
                          <a:srgbClr val="FFC000"/>
                        </a:solidFill>
                        <a:latin typeface="Cambria Math" panose="02040503050406030204" pitchFamily="18" charset="0"/>
                      </a:rPr>
                      <m:t>2 </m:t>
                    </m:r>
                    <m:r>
                      <m:rPr>
                        <m:sty m:val="p"/>
                      </m:rPr>
                      <a:rPr lang="en-US" b="0" i="0" smtClean="0">
                        <a:solidFill>
                          <a:srgbClr val="FFC000"/>
                        </a:solidFill>
                        <a:latin typeface="Cambria Math" panose="02040503050406030204" pitchFamily="18" charset="0"/>
                      </a:rPr>
                      <m:t>A</m:t>
                    </m:r>
                    <m:r>
                      <a:rPr lang="en-US">
                        <a:solidFill>
                          <a:srgbClr val="FFC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sym typeface="Wingdings" panose="05000000000000000000" pitchFamily="2" charset="2"/>
                      </a:rPr>
                      <m:t>⇌</m:t>
                    </m:r>
                    <m:r>
                      <a:rPr lang="en-US" b="0" i="1" smtClean="0">
                        <a:solidFill>
                          <a:srgbClr val="FFC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sym typeface="Wingdings" panose="05000000000000000000" pitchFamily="2" charset="2"/>
                      </a:rPr>
                      <m:t>𝐵</m:t>
                    </m:r>
                    <m:r>
                      <m:rPr>
                        <m:nor/>
                      </m:rPr>
                      <a:rPr lang="en-US">
                        <a:solidFill>
                          <a:srgbClr val="FFC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sym typeface="Wingdings" panose="05000000000000000000" pitchFamily="2" charset="2"/>
                      </a:rPr>
                      <m:t> </m:t>
                    </m:r>
                  </m:oMath>
                </a14:m>
                <a:r>
                  <a:rPr lang="en-US" dirty="0"/>
                  <a:t>?  A=small blue dot, B = large purple dot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r>
                  <a:rPr lang="en-US" dirty="0"/>
                  <a:t>Systems 1 and 3 show </a:t>
                </a:r>
                <a:r>
                  <a:rPr lang="en-US" b="1" i="1" dirty="0"/>
                  <a:t>A</a:t>
                </a:r>
                <a:r>
                  <a:rPr lang="en-US" dirty="0"/>
                  <a:t> decrease from </a:t>
                </a:r>
                <a:r>
                  <a:rPr lang="en-US" i="1" dirty="0"/>
                  <a:t>t</a:t>
                </a:r>
                <a:r>
                  <a:rPr lang="en-US" baseline="-25000" dirty="0"/>
                  <a:t>0</a:t>
                </a:r>
                <a:r>
                  <a:rPr lang="en-US" dirty="0"/>
                  <a:t> to </a:t>
                </a:r>
                <a:r>
                  <a:rPr lang="en-US" i="1" dirty="0"/>
                  <a:t>t</a:t>
                </a:r>
                <a:r>
                  <a:rPr lang="en-US" baseline="-25000" dirty="0"/>
                  <a:t>2</a:t>
                </a:r>
                <a:r>
                  <a:rPr lang="en-US" dirty="0"/>
                  <a:t>, with </a:t>
                </a:r>
                <a:r>
                  <a:rPr lang="en-US" i="1" dirty="0"/>
                  <a:t>t</a:t>
                </a:r>
                <a:r>
                  <a:rPr lang="en-US" baseline="-25000" dirty="0"/>
                  <a:t>2</a:t>
                </a:r>
                <a:r>
                  <a:rPr lang="en-US" dirty="0"/>
                  <a:t> and </a:t>
                </a:r>
                <a:r>
                  <a:rPr lang="en-US" i="1" dirty="0"/>
                  <a:t>t</a:t>
                </a:r>
                <a:r>
                  <a:rPr lang="en-US" baseline="-25000" dirty="0"/>
                  <a:t>3</a:t>
                </a:r>
                <a:r>
                  <a:rPr lang="en-US" dirty="0"/>
                  <a:t> having no change; thus at equilibrium by </a:t>
                </a:r>
                <a:r>
                  <a:rPr lang="en-US" i="1" dirty="0"/>
                  <a:t>t</a:t>
                </a:r>
                <a:r>
                  <a:rPr lang="en-US" baseline="-25000" dirty="0"/>
                  <a:t>3</a:t>
                </a:r>
              </a:p>
              <a:p>
                <a:r>
                  <a:rPr lang="en-US" dirty="0"/>
                  <a:t>System 2: </a:t>
                </a:r>
                <a:r>
                  <a:rPr lang="en-US" b="1" i="1" dirty="0"/>
                  <a:t>A</a:t>
                </a:r>
                <a:r>
                  <a:rPr lang="en-US" dirty="0"/>
                  <a:t> and </a:t>
                </a:r>
                <a:r>
                  <a:rPr lang="en-US" b="1" i="1" dirty="0"/>
                  <a:t>B</a:t>
                </a:r>
                <a:r>
                  <a:rPr lang="en-US" dirty="0"/>
                  <a:t> still changing between </a:t>
                </a:r>
                <a:r>
                  <a:rPr lang="en-US" i="1" dirty="0"/>
                  <a:t>t</a:t>
                </a:r>
                <a:r>
                  <a:rPr lang="en-US" baseline="-25000" dirty="0"/>
                  <a:t>2</a:t>
                </a:r>
                <a:r>
                  <a:rPr lang="en-US" dirty="0"/>
                  <a:t> and </a:t>
                </a:r>
                <a:r>
                  <a:rPr lang="en-US" i="1" dirty="0"/>
                  <a:t>t</a:t>
                </a:r>
                <a:r>
                  <a:rPr lang="en-US" baseline="-25000" dirty="0"/>
                  <a:t>3</a:t>
                </a:r>
                <a:r>
                  <a:rPr lang="en-US" dirty="0"/>
                  <a:t>, and this system may not have reached equilibrium</a:t>
                </a:r>
              </a:p>
            </p:txBody>
          </p:sp>
        </mc:Choice>
        <mc:Fallback xmlns="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4337FD1C-CF8F-FD4B-3EA1-E599473C75F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72533" y="1080655"/>
                <a:ext cx="8387645" cy="5466900"/>
              </a:xfrm>
              <a:blipFill>
                <a:blip r:embed="rId2"/>
                <a:stretch>
                  <a:fillRect l="-1090" t="-892" r="-123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DE75B440-CBD3-E64C-3FBF-DF79B91A344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E0D52F3-54CA-4E42-BFA9-4F0301781925}" type="slidenum">
              <a:rPr lang="en-US" smtClean="0"/>
              <a:pPr/>
              <a:t>19</a:t>
            </a:fld>
            <a:endParaRPr lang="en-US" sz="1400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CD06E2A-CF2B-AE9E-C233-DDEFB447097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922" y="2303400"/>
            <a:ext cx="9030960" cy="14194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547234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CA4429-4CFB-0E58-B597-E3C6DC70A8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538F0E9F-26FE-C3C5-019A-DF194E1CBF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1244" y="238060"/>
            <a:ext cx="8421512" cy="707886"/>
          </a:xfrm>
        </p:spPr>
        <p:txBody>
          <a:bodyPr/>
          <a:lstStyle/>
          <a:p>
            <a:r>
              <a:rPr lang="en-US" sz="4000" dirty="0"/>
              <a:t>Practice: Equilibrium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95FD7A83-56D1-3F7A-FE9E-CF8DDB60184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372533" y="1080655"/>
                <a:ext cx="8387645" cy="5466900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Another three reaction systems shown, where</a:t>
                </a:r>
                <a:br>
                  <a:rPr lang="en-US" dirty="0"/>
                </a:b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FFC000"/>
                        </a:solidFill>
                        <a:latin typeface="Cambria Math" panose="02040503050406030204" pitchFamily="18" charset="0"/>
                      </a:rPr>
                      <m:t>𝑨</m:t>
                    </m:r>
                    <m:r>
                      <a:rPr lang="en-US" b="1" i="1" smtClean="0">
                        <a:solidFill>
                          <a:srgbClr val="FFC000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1" i="1" smtClean="0">
                        <a:solidFill>
                          <a:srgbClr val="FFC000"/>
                        </a:solidFill>
                        <a:latin typeface="Cambria Math" panose="02040503050406030204" pitchFamily="18" charset="0"/>
                      </a:rPr>
                      <m:t>𝑩</m:t>
                    </m:r>
                    <m:r>
                      <a:rPr lang="en-US" b="1" i="1">
                        <a:solidFill>
                          <a:srgbClr val="FFC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sym typeface="Wingdings" panose="05000000000000000000" pitchFamily="2" charset="2"/>
                      </a:rPr>
                      <m:t>⇌</m:t>
                    </m:r>
                    <m:r>
                      <a:rPr lang="en-US" b="1" i="1" smtClean="0">
                        <a:solidFill>
                          <a:srgbClr val="FFC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sym typeface="Wingdings" panose="05000000000000000000" pitchFamily="2" charset="2"/>
                      </a:rPr>
                      <m:t>𝑪</m:t>
                    </m:r>
                    <m:r>
                      <m:rPr>
                        <m:nor/>
                      </m:rPr>
                      <a:rPr lang="en-US">
                        <a:solidFill>
                          <a:srgbClr val="FFC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sym typeface="Wingdings" panose="05000000000000000000" pitchFamily="2" charset="2"/>
                      </a:rPr>
                      <m:t> </m:t>
                    </m:r>
                  </m:oMath>
                </a14:m>
                <a:r>
                  <a:rPr lang="en-US" dirty="0"/>
                  <a:t> which system(s) has reached equilibrium?</a:t>
                </a:r>
                <a:br>
                  <a:rPr lang="en-US" dirty="0"/>
                </a:br>
                <a:r>
                  <a:rPr lang="en-US" sz="1800" dirty="0"/>
                  <a:t>A=blue circles, B = purple squares, C=orange ovals</a:t>
                </a:r>
              </a:p>
              <a:p>
                <a:pPr marL="0" indent="0">
                  <a:buNone/>
                </a:pPr>
                <a:endParaRPr lang="en-US" sz="1800" dirty="0"/>
              </a:p>
              <a:p>
                <a:pPr marL="0" indent="0">
                  <a:buNone/>
                </a:pPr>
                <a:endParaRPr lang="en-US" sz="1800" dirty="0"/>
              </a:p>
              <a:p>
                <a:pPr marL="0" indent="0">
                  <a:buNone/>
                </a:pPr>
                <a:endParaRPr lang="en-US" sz="1800" dirty="0"/>
              </a:p>
              <a:p>
                <a:pPr marL="0" indent="0">
                  <a:buNone/>
                </a:pPr>
                <a:endParaRPr lang="en-US" sz="1800" dirty="0"/>
              </a:p>
              <a:p>
                <a:pPr marL="0" indent="0">
                  <a:buNone/>
                </a:pPr>
                <a:endParaRPr lang="en-US" sz="1800" dirty="0"/>
              </a:p>
              <a:p>
                <a:pPr marL="0" indent="0">
                  <a:buNone/>
                </a:pPr>
                <a:endParaRPr lang="en-US" sz="1800" dirty="0"/>
              </a:p>
              <a:p>
                <a:pPr marL="0" indent="0">
                  <a:buNone/>
                </a:pPr>
                <a:r>
                  <a:rPr lang="en-US" sz="1800" dirty="0"/>
                  <a:t>System 2: the </a:t>
                </a:r>
                <a:r>
                  <a:rPr lang="en-US" sz="1800" i="1" dirty="0"/>
                  <a:t>t</a:t>
                </a:r>
                <a:r>
                  <a:rPr lang="en-US" sz="1800" baseline="-25000" dirty="0"/>
                  <a:t>2</a:t>
                </a:r>
                <a:r>
                  <a:rPr lang="en-US" sz="1800" dirty="0"/>
                  <a:t> and </a:t>
                </a:r>
                <a:r>
                  <a:rPr lang="en-US" sz="1800" i="1" dirty="0"/>
                  <a:t>t</a:t>
                </a:r>
                <a:r>
                  <a:rPr lang="en-US" sz="1800" baseline="-25000" dirty="0"/>
                  <a:t>3</a:t>
                </a:r>
                <a:r>
                  <a:rPr lang="en-US" sz="1800" dirty="0"/>
                  <a:t> time frames have 4 orange ovals and the count of the reactants should be same</a:t>
                </a:r>
              </a:p>
              <a:p>
                <a:pPr marL="0" indent="0">
                  <a:buNone/>
                </a:pPr>
                <a:endParaRPr lang="en-US" sz="1800" dirty="0"/>
              </a:p>
              <a:p>
                <a:pPr marL="0" indent="0">
                  <a:buNone/>
                </a:pPr>
                <a:r>
                  <a:rPr lang="en-US" sz="1800" dirty="0"/>
                  <a:t>The other systems would need to reflect no changes between the last two time frames to demonstrate equilibrium, and they do not.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95FD7A83-56D1-3F7A-FE9E-CF8DDB60184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72533" y="1080655"/>
                <a:ext cx="8387645" cy="5466900"/>
              </a:xfrm>
              <a:blipFill>
                <a:blip r:embed="rId2"/>
                <a:stretch>
                  <a:fillRect l="-1090" t="-89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29CC72C-BBF8-11B3-8537-5345CBB9BB1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E0D52F3-54CA-4E42-BFA9-4F0301781925}" type="slidenum">
              <a:rPr lang="en-US" smtClean="0"/>
              <a:pPr/>
              <a:t>20</a:t>
            </a:fld>
            <a:endParaRPr lang="en-US" sz="14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B062AE8-0B14-5B43-300B-0EEAB6CED3C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111" y="2417045"/>
            <a:ext cx="9040487" cy="12384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527299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9AD619-4AF1-FE65-BE04-5CB3ECF43D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6D7D4027-0C77-D7AE-F013-52B1969755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2533" y="127883"/>
            <a:ext cx="8421512" cy="769441"/>
          </a:xfrm>
        </p:spPr>
        <p:txBody>
          <a:bodyPr/>
          <a:lstStyle/>
          <a:p>
            <a:r>
              <a:rPr lang="en-US" sz="4400" dirty="0"/>
              <a:t>Equilibrium Constant Equation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4F5BFD8A-92E3-A5B7-AE8F-127EA2EDF42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372533" y="879749"/>
                <a:ext cx="8387645" cy="5502819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sz="2000" dirty="0"/>
                  <a:t>Studies of chemical reactions with forward and reverse directions showed this pattern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solidFill>
                            <a:srgbClr val="FFC000"/>
                          </a:solidFill>
                          <a:latin typeface="Cambria Math" panose="02040503050406030204" pitchFamily="18" charset="0"/>
                        </a:rPr>
                        <m:t>𝒂</m:t>
                      </m:r>
                      <m:r>
                        <a:rPr lang="en-US" b="1" i="1">
                          <a:solidFill>
                            <a:srgbClr val="FFC000"/>
                          </a:solidFill>
                          <a:latin typeface="Cambria Math" panose="02040503050406030204" pitchFamily="18" charset="0"/>
                        </a:rPr>
                        <m:t>𝑨</m:t>
                      </m:r>
                      <m:r>
                        <a:rPr lang="en-US" b="1" i="1">
                          <a:solidFill>
                            <a:srgbClr val="FFC0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1" i="1" smtClean="0">
                          <a:solidFill>
                            <a:srgbClr val="FFC000"/>
                          </a:solidFill>
                          <a:latin typeface="Cambria Math" panose="02040503050406030204" pitchFamily="18" charset="0"/>
                        </a:rPr>
                        <m:t>𝒃</m:t>
                      </m:r>
                      <m:r>
                        <a:rPr lang="en-US" b="1" i="1">
                          <a:solidFill>
                            <a:srgbClr val="FFC000"/>
                          </a:solidFill>
                          <a:latin typeface="Cambria Math" panose="02040503050406030204" pitchFamily="18" charset="0"/>
                        </a:rPr>
                        <m:t>𝑩</m:t>
                      </m:r>
                      <m:r>
                        <a:rPr lang="en-US" b="1" i="1">
                          <a:solidFill>
                            <a:srgbClr val="FFC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  <a:sym typeface="Wingdings" panose="05000000000000000000" pitchFamily="2" charset="2"/>
                        </a:rPr>
                        <m:t>⇌</m:t>
                      </m:r>
                      <m:r>
                        <a:rPr lang="en-US" b="1" i="1" smtClean="0">
                          <a:solidFill>
                            <a:srgbClr val="FFC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  <a:sym typeface="Wingdings" panose="05000000000000000000" pitchFamily="2" charset="2"/>
                        </a:rPr>
                        <m:t>𝒄</m:t>
                      </m:r>
                      <m:r>
                        <a:rPr lang="en-US" b="1" i="1">
                          <a:solidFill>
                            <a:srgbClr val="FFC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  <a:sym typeface="Wingdings" panose="05000000000000000000" pitchFamily="2" charset="2"/>
                        </a:rPr>
                        <m:t>𝑪</m:t>
                      </m:r>
                      <m:r>
                        <a:rPr lang="en-US" b="1" i="1" smtClean="0">
                          <a:solidFill>
                            <a:srgbClr val="FFC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  <a:sym typeface="Wingdings" panose="05000000000000000000" pitchFamily="2" charset="2"/>
                        </a:rPr>
                        <m:t>+</m:t>
                      </m:r>
                      <m:r>
                        <a:rPr lang="en-US" b="1" i="1" smtClean="0">
                          <a:solidFill>
                            <a:srgbClr val="FFC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  <a:sym typeface="Wingdings" panose="05000000000000000000" pitchFamily="2" charset="2"/>
                        </a:rPr>
                        <m:t>𝒅𝑫</m:t>
                      </m:r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r>
                  <a:rPr lang="en-US" sz="2200" dirty="0"/>
                  <a:t>The equilibrium can be expressed as a constant in this equation, known as the </a:t>
                </a:r>
                <a:r>
                  <a:rPr lang="en-US" sz="2200" b="1" dirty="0">
                    <a:solidFill>
                      <a:srgbClr val="00FF00"/>
                    </a:solidFill>
                  </a:rPr>
                  <a:t>law of mass action</a:t>
                </a:r>
                <a:r>
                  <a:rPr lang="en-US" sz="2200" dirty="0"/>
                  <a:t>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solidFill>
                            <a:srgbClr val="FFC000"/>
                          </a:solidFill>
                          <a:latin typeface="Cambria Math" panose="02040503050406030204" pitchFamily="18" charset="0"/>
                        </a:rPr>
                        <m:t>𝑲</m:t>
                      </m:r>
                      <m:r>
                        <a:rPr lang="en-US" b="1" i="1" smtClean="0">
                          <a:solidFill>
                            <a:srgbClr val="FFC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1" i="1" smtClean="0">
                              <a:solidFill>
                                <a:srgbClr val="FFC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d>
                            <m:dPr>
                              <m:begChr m:val="["/>
                              <m:endChr m:val="]"/>
                              <m:ctrlPr>
                                <a:rPr lang="en-US" b="1" i="1" smtClean="0">
                                  <a:solidFill>
                                    <a:srgbClr val="FFC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1" i="1" smtClean="0">
                                  <a:solidFill>
                                    <a:srgbClr val="FFC000"/>
                                  </a:solidFill>
                                  <a:latin typeface="Cambria Math" panose="02040503050406030204" pitchFamily="18" charset="0"/>
                                </a:rPr>
                                <m:t>𝑪</m:t>
                              </m:r>
                            </m:e>
                          </m:d>
                          <m:r>
                            <a:rPr lang="en-US" b="1" i="1" baseline="30000" smtClean="0">
                              <a:solidFill>
                                <a:srgbClr val="FFC000"/>
                              </a:solidFill>
                              <a:latin typeface="Cambria Math" panose="02040503050406030204" pitchFamily="18" charset="0"/>
                            </a:rPr>
                            <m:t>𝒄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en-US" b="1" i="1">
                                  <a:solidFill>
                                    <a:srgbClr val="FFC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1" i="1" smtClean="0">
                                  <a:solidFill>
                                    <a:srgbClr val="FFC000"/>
                                  </a:solidFill>
                                  <a:latin typeface="Cambria Math" panose="02040503050406030204" pitchFamily="18" charset="0"/>
                                </a:rPr>
                                <m:t>𝑫</m:t>
                              </m:r>
                            </m:e>
                          </m:d>
                          <m:r>
                            <a:rPr lang="en-US" b="1" i="1" baseline="30000" smtClean="0">
                              <a:solidFill>
                                <a:srgbClr val="FFC000"/>
                              </a:solidFill>
                              <a:latin typeface="Cambria Math" panose="02040503050406030204" pitchFamily="18" charset="0"/>
                            </a:rPr>
                            <m:t>𝒅</m:t>
                          </m:r>
                        </m:num>
                        <m:den>
                          <m:d>
                            <m:dPr>
                              <m:begChr m:val="["/>
                              <m:endChr m:val="]"/>
                              <m:ctrlPr>
                                <a:rPr lang="en-US" b="1" i="1">
                                  <a:solidFill>
                                    <a:srgbClr val="FFC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1" i="1" smtClean="0">
                                  <a:solidFill>
                                    <a:srgbClr val="FFC000"/>
                                  </a:solidFill>
                                  <a:latin typeface="Cambria Math" panose="02040503050406030204" pitchFamily="18" charset="0"/>
                                </a:rPr>
                                <m:t>𝑨</m:t>
                              </m:r>
                            </m:e>
                          </m:d>
                          <m:r>
                            <a:rPr lang="en-US" b="1" i="1" baseline="30000" smtClean="0">
                              <a:solidFill>
                                <a:srgbClr val="FFC000"/>
                              </a:solidFill>
                              <a:latin typeface="Cambria Math" panose="02040503050406030204" pitchFamily="18" charset="0"/>
                            </a:rPr>
                            <m:t>𝒂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en-US" b="1" i="1">
                                  <a:solidFill>
                                    <a:srgbClr val="FFC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1" i="1" smtClean="0">
                                  <a:solidFill>
                                    <a:srgbClr val="FFC000"/>
                                  </a:solidFill>
                                  <a:latin typeface="Cambria Math" panose="02040503050406030204" pitchFamily="18" charset="0"/>
                                </a:rPr>
                                <m:t>𝑩</m:t>
                              </m:r>
                            </m:e>
                          </m:d>
                          <m:r>
                            <a:rPr lang="en-US" b="1" i="1" baseline="30000" smtClean="0">
                              <a:solidFill>
                                <a:srgbClr val="FFC000"/>
                              </a:solidFill>
                              <a:latin typeface="Cambria Math" panose="02040503050406030204" pitchFamily="18" charset="0"/>
                            </a:rPr>
                            <m:t>𝒃</m:t>
                          </m:r>
                        </m:den>
                      </m:f>
                    </m:oMath>
                  </m:oMathPara>
                </a14:m>
                <a:endParaRPr lang="en-US" b="1" dirty="0">
                  <a:solidFill>
                    <a:srgbClr val="FFC000"/>
                  </a:solidFill>
                </a:endParaRPr>
              </a:p>
              <a:p>
                <a:pPr marL="0" indent="0">
                  <a:buNone/>
                </a:pPr>
                <a:r>
                  <a:rPr lang="en-US" b="1" i="1" dirty="0">
                    <a:solidFill>
                      <a:srgbClr val="CC99FF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Features of equation</a:t>
                </a:r>
              </a:p>
              <a:p>
                <a:r>
                  <a:rPr lang="en-US" sz="2000" b="1" i="1" dirty="0">
                    <a:solidFill>
                      <a:srgbClr val="00FF00"/>
                    </a:solidFill>
                  </a:rPr>
                  <a:t>K</a:t>
                </a:r>
                <a:r>
                  <a:rPr lang="en-US" sz="2000" dirty="0"/>
                  <a:t> is </a:t>
                </a:r>
                <a:r>
                  <a:rPr lang="en-US" sz="2000" dirty="0">
                    <a:solidFill>
                      <a:srgbClr val="FFFF00"/>
                    </a:solidFill>
                  </a:rPr>
                  <a:t>temperature-dependent</a:t>
                </a:r>
                <a:r>
                  <a:rPr lang="en-US" sz="2000" dirty="0"/>
                  <a:t>!</a:t>
                </a:r>
              </a:p>
              <a:p>
                <a:r>
                  <a:rPr lang="en-US" sz="2000" dirty="0">
                    <a:solidFill>
                      <a:srgbClr val="FFFF00"/>
                    </a:solidFill>
                  </a:rPr>
                  <a:t>Products</a:t>
                </a:r>
                <a:r>
                  <a:rPr lang="en-US" sz="2000" dirty="0"/>
                  <a:t> are in </a:t>
                </a:r>
                <a:r>
                  <a:rPr lang="en-US" sz="2000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rPr>
                  <a:t>numerator</a:t>
                </a:r>
                <a:r>
                  <a:rPr lang="en-US" sz="2000" dirty="0"/>
                  <a:t>, </a:t>
                </a:r>
                <a:r>
                  <a:rPr lang="en-US" sz="2000" dirty="0">
                    <a:solidFill>
                      <a:srgbClr val="FFFF00"/>
                    </a:solidFill>
                  </a:rPr>
                  <a:t>reactants</a:t>
                </a:r>
                <a:r>
                  <a:rPr lang="en-US" sz="2000" dirty="0"/>
                  <a:t> are in </a:t>
                </a:r>
                <a:r>
                  <a:rPr lang="en-US" sz="2000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rPr>
                  <a:t>denominator</a:t>
                </a:r>
              </a:p>
              <a:p>
                <a:r>
                  <a:rPr lang="en-US" sz="2000" dirty="0">
                    <a:solidFill>
                      <a:srgbClr val="FFFF00"/>
                    </a:solidFill>
                  </a:rPr>
                  <a:t>Brackets</a:t>
                </a:r>
                <a:r>
                  <a:rPr lang="en-US" sz="2000" dirty="0"/>
                  <a:t> express </a:t>
                </a:r>
                <a:r>
                  <a:rPr lang="en-US" sz="2000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rPr>
                  <a:t>concentration</a:t>
                </a:r>
                <a:r>
                  <a:rPr lang="en-US" sz="2000" dirty="0"/>
                  <a:t> in </a:t>
                </a:r>
                <a:r>
                  <a:rPr lang="en-US" sz="2000" dirty="0">
                    <a:solidFill>
                      <a:srgbClr val="FFFF00"/>
                    </a:solidFill>
                  </a:rPr>
                  <a:t>molarity</a:t>
                </a:r>
                <a:r>
                  <a:rPr lang="en-US" sz="2000" dirty="0"/>
                  <a:t> (</a:t>
                </a:r>
                <a:r>
                  <a:rPr lang="en-US" sz="2000" dirty="0">
                    <a:solidFill>
                      <a:srgbClr val="FFFF00"/>
                    </a:solidFill>
                  </a:rPr>
                  <a:t>units</a:t>
                </a:r>
                <a:r>
                  <a:rPr lang="en-US" sz="2000" dirty="0"/>
                  <a:t> = </a:t>
                </a:r>
                <a:r>
                  <a:rPr lang="en-US" sz="2000" dirty="0">
                    <a:solidFill>
                      <a:srgbClr val="FFFF00"/>
                    </a:solidFill>
                  </a:rPr>
                  <a:t>molar</a:t>
                </a:r>
                <a:r>
                  <a:rPr lang="en-US" sz="2000" dirty="0"/>
                  <a:t>)</a:t>
                </a:r>
              </a:p>
              <a:p>
                <a:r>
                  <a:rPr lang="en-US" sz="2000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rPr>
                  <a:t>Expression</a:t>
                </a:r>
                <a:r>
                  <a:rPr lang="en-US" sz="2000" dirty="0"/>
                  <a:t> is a </a:t>
                </a:r>
                <a:r>
                  <a:rPr lang="en-US" sz="2000" dirty="0">
                    <a:solidFill>
                      <a:srgbClr val="FFFF00"/>
                    </a:solidFill>
                  </a:rPr>
                  <a:t>quotient</a:t>
                </a:r>
                <a:r>
                  <a:rPr lang="en-US" sz="2000" dirty="0"/>
                  <a:t> of </a:t>
                </a:r>
                <a:r>
                  <a:rPr lang="en-US" sz="2000" dirty="0">
                    <a:solidFill>
                      <a:srgbClr val="FFFF00"/>
                    </a:solidFill>
                  </a:rPr>
                  <a:t>products</a:t>
                </a:r>
                <a:r>
                  <a:rPr lang="en-US" sz="2000" dirty="0"/>
                  <a:t> (multiplied factors)</a:t>
                </a:r>
              </a:p>
              <a:p>
                <a:r>
                  <a:rPr lang="en-US" sz="2000" dirty="0">
                    <a:solidFill>
                      <a:srgbClr val="FFFF00"/>
                    </a:solidFill>
                  </a:rPr>
                  <a:t>Coefficients</a:t>
                </a:r>
                <a:r>
                  <a:rPr lang="en-US" sz="2000" dirty="0"/>
                  <a:t> of reaction are </a:t>
                </a:r>
                <a:r>
                  <a:rPr lang="en-US" sz="2000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rPr>
                  <a:t>exponents</a:t>
                </a:r>
                <a:r>
                  <a:rPr lang="en-US" sz="2000" dirty="0"/>
                  <a:t> in the </a:t>
                </a:r>
                <a:r>
                  <a:rPr lang="en-US" sz="2000" dirty="0">
                    <a:solidFill>
                      <a:srgbClr val="FFFF00"/>
                    </a:solidFill>
                  </a:rPr>
                  <a:t>expression</a:t>
                </a:r>
                <a:br>
                  <a:rPr lang="en-US" sz="2000" dirty="0"/>
                </a:br>
                <a:r>
                  <a:rPr lang="en-US" sz="2000" dirty="0"/>
                  <a:t>(if coefficient = 1, no exponent needed)</a:t>
                </a:r>
              </a:p>
              <a:p>
                <a:r>
                  <a:rPr lang="en-US" sz="2000" dirty="0"/>
                  <a:t>Solids, liquids, solvents have value = 1, so they have no effect on equation</a:t>
                </a:r>
              </a:p>
            </p:txBody>
          </p:sp>
        </mc:Choice>
        <mc:Fallback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4F5BFD8A-92E3-A5B7-AE8F-127EA2EDF42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72533" y="879749"/>
                <a:ext cx="8387645" cy="5502819"/>
              </a:xfrm>
              <a:blipFill>
                <a:blip r:embed="rId2"/>
                <a:stretch>
                  <a:fillRect l="-1090" t="-554" b="-76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E76E9B1-8DA4-7180-E945-F28A6B60AD8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E0D52F3-54CA-4E42-BFA9-4F0301781925}" type="slidenum">
              <a:rPr lang="en-US" smtClean="0"/>
              <a:pPr/>
              <a:t>21</a:t>
            </a:fld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226118174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3E1A7B-40F9-DDC6-3F89-F8EF49EDC9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66D77716-9CA6-6C99-91E9-DF3BC38F7E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4067" y="272449"/>
            <a:ext cx="8421512" cy="707886"/>
          </a:xfrm>
        </p:spPr>
        <p:txBody>
          <a:bodyPr/>
          <a:lstStyle/>
          <a:p>
            <a:r>
              <a:rPr lang="en-US" sz="4000" dirty="0"/>
              <a:t>Meaning of Equilibrium Constant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57954D30-383C-673D-CC7E-F44ABB99DA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2533" y="1070708"/>
            <a:ext cx="8387645" cy="5476847"/>
          </a:xfrm>
        </p:spPr>
        <p:txBody>
          <a:bodyPr/>
          <a:lstStyle/>
          <a:p>
            <a:pPr marL="227013" indent="-227013"/>
            <a:r>
              <a:rPr lang="en-US" sz="2000" dirty="0"/>
              <a:t>Base on the definition</a:t>
            </a:r>
            <a:br>
              <a:rPr lang="en-US" sz="2000" dirty="0"/>
            </a:br>
            <a:r>
              <a:rPr lang="en-US" sz="2000" dirty="0"/>
              <a:t>of the equilibrium</a:t>
            </a:r>
            <a:br>
              <a:rPr lang="en-US" sz="2000" dirty="0"/>
            </a:br>
            <a:r>
              <a:rPr lang="en-US" sz="2000" dirty="0"/>
              <a:t>constant, it can be </a:t>
            </a:r>
            <a:br>
              <a:rPr lang="en-US" sz="2000" dirty="0"/>
            </a:br>
            <a:r>
              <a:rPr lang="en-US" sz="2000" dirty="0"/>
              <a:t>inferred that a </a:t>
            </a:r>
            <a:r>
              <a:rPr lang="en-US" sz="2000" i="1" dirty="0"/>
              <a:t>K</a:t>
            </a:r>
            <a:r>
              <a:rPr lang="en-US" sz="2000" dirty="0"/>
              <a:t> &gt; 10</a:t>
            </a:r>
            <a:r>
              <a:rPr lang="en-US" sz="2000" baseline="30000" dirty="0"/>
              <a:t>3</a:t>
            </a:r>
            <a:br>
              <a:rPr lang="en-US" sz="2000" baseline="30000" dirty="0"/>
            </a:br>
            <a:r>
              <a:rPr lang="en-US" sz="2000" dirty="0"/>
              <a:t>would indicate that the</a:t>
            </a:r>
            <a:br>
              <a:rPr lang="en-US" sz="2000" dirty="0"/>
            </a:br>
            <a:r>
              <a:rPr lang="en-US" sz="2000" dirty="0"/>
              <a:t>products are highly</a:t>
            </a:r>
            <a:br>
              <a:rPr lang="en-US" sz="2000" dirty="0"/>
            </a:br>
            <a:r>
              <a:rPr lang="en-US" sz="2000" dirty="0"/>
              <a:t>favored to the reactants</a:t>
            </a:r>
            <a:br>
              <a:rPr lang="en-US" sz="2000" dirty="0"/>
            </a:br>
            <a:r>
              <a:rPr lang="en-US" sz="2000" dirty="0"/>
              <a:t>in a reaction that is</a:t>
            </a:r>
            <a:br>
              <a:rPr lang="en-US" sz="2000" dirty="0"/>
            </a:br>
            <a:r>
              <a:rPr lang="en-US" sz="2000" dirty="0"/>
              <a:t>reversible</a:t>
            </a:r>
          </a:p>
          <a:p>
            <a:pPr marL="227013" indent="-227013"/>
            <a:r>
              <a:rPr lang="en-US" sz="2000" dirty="0"/>
              <a:t>The formation of HCl (</a:t>
            </a:r>
            <a:r>
              <a:rPr lang="en-US" sz="2000" i="1" dirty="0"/>
              <a:t>g</a:t>
            </a:r>
            <a:r>
              <a:rPr lang="en-US" sz="2000" dirty="0"/>
              <a:t>)</a:t>
            </a:r>
            <a:br>
              <a:rPr lang="en-US" sz="2000" dirty="0"/>
            </a:br>
            <a:r>
              <a:rPr lang="en-US" sz="2000" dirty="0"/>
              <a:t>from H</a:t>
            </a:r>
            <a:r>
              <a:rPr lang="en-US" sz="2000" baseline="-25000" dirty="0"/>
              <a:t>2</a:t>
            </a:r>
            <a:r>
              <a:rPr lang="en-US" sz="2000" dirty="0"/>
              <a:t> (</a:t>
            </a:r>
            <a:r>
              <a:rPr lang="en-US" sz="2000" i="1" dirty="0"/>
              <a:t>g</a:t>
            </a:r>
            <a:r>
              <a:rPr lang="en-US" sz="2000" dirty="0"/>
              <a:t>) + Cl</a:t>
            </a:r>
            <a:r>
              <a:rPr lang="en-US" sz="2000" baseline="-25000" dirty="0"/>
              <a:t>2</a:t>
            </a:r>
            <a:r>
              <a:rPr lang="en-US" sz="2000" dirty="0"/>
              <a:t> (</a:t>
            </a:r>
            <a:r>
              <a:rPr lang="en-US" sz="2000" i="1" dirty="0"/>
              <a:t>g</a:t>
            </a:r>
            <a:r>
              <a:rPr lang="en-US" sz="2000" dirty="0"/>
              <a:t>)</a:t>
            </a:r>
            <a:br>
              <a:rPr lang="en-US" sz="2000" dirty="0"/>
            </a:br>
            <a:r>
              <a:rPr lang="en-US" sz="2000" dirty="0"/>
              <a:t>has a K ~ 10</a:t>
            </a:r>
            <a:r>
              <a:rPr lang="en-US" sz="2000" baseline="30000" dirty="0"/>
              <a:t>33</a:t>
            </a:r>
            <a:r>
              <a:rPr lang="en-US" sz="2000" dirty="0"/>
              <a:t> at room</a:t>
            </a:r>
            <a:br>
              <a:rPr lang="en-US" sz="2000" dirty="0"/>
            </a:br>
            <a:r>
              <a:rPr lang="en-US" sz="2000" dirty="0"/>
              <a:t>temperature (300 K): </a:t>
            </a:r>
            <a:br>
              <a:rPr lang="en-US" sz="2000" dirty="0"/>
            </a:br>
            <a:r>
              <a:rPr lang="en-US" sz="2000" dirty="0"/>
              <a:t>Cl</a:t>
            </a:r>
            <a:r>
              <a:rPr lang="en-US" sz="2000" baseline="-25000" dirty="0"/>
              <a:t>2</a:t>
            </a:r>
            <a:r>
              <a:rPr lang="en-US" sz="2000" dirty="0"/>
              <a:t> is a very good</a:t>
            </a:r>
            <a:br>
              <a:rPr lang="en-US" sz="2000" dirty="0"/>
            </a:br>
            <a:r>
              <a:rPr lang="en-US" sz="2000" dirty="0"/>
              <a:t>oxidizer and H</a:t>
            </a:r>
            <a:r>
              <a:rPr lang="en-US" sz="2000" baseline="-25000" dirty="0"/>
              <a:t>2</a:t>
            </a:r>
            <a:r>
              <a:rPr lang="en-US" sz="2000" dirty="0"/>
              <a:t> a very good reducer</a:t>
            </a:r>
          </a:p>
          <a:p>
            <a:pPr marL="227013" indent="-227013"/>
            <a:r>
              <a:rPr lang="en-US" sz="2000" dirty="0"/>
              <a:t>By contrast with </a:t>
            </a:r>
            <a:r>
              <a:rPr lang="en-US" sz="2000" i="1" dirty="0"/>
              <a:t>K</a:t>
            </a:r>
            <a:r>
              <a:rPr lang="en-US" sz="2000" dirty="0"/>
              <a:t> &lt; 10</a:t>
            </a:r>
            <a:r>
              <a:rPr lang="en-US" sz="2000" baseline="30000" dirty="0"/>
              <a:t>–3</a:t>
            </a:r>
            <a:r>
              <a:rPr lang="en-US" sz="2000" dirty="0"/>
              <a:t>, the reactants are highly favored</a:t>
            </a:r>
          </a:p>
          <a:p>
            <a:pPr marL="0" indent="0">
              <a:buNone/>
            </a:pPr>
            <a:endParaRPr lang="en-US" sz="2000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A47EE72-1374-C0D6-6453-C9CC65DD2BB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60294" y="1390053"/>
            <a:ext cx="5060858" cy="3861885"/>
          </a:xfrm>
          <a:prstGeom prst="rect">
            <a:avLst/>
          </a:prstGeom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FB9ABDB-3F96-4377-04F2-A9A78B6EE27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E0D52F3-54CA-4E42-BFA9-4F0301781925}" type="slidenum">
              <a:rPr lang="en-US" smtClean="0"/>
              <a:pPr/>
              <a:t>22</a:t>
            </a:fld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143106515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A45C8C-776B-C371-11C8-3C7F9F76ED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F3233FD-2C47-DD02-3470-6BBC89BC48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4067" y="272449"/>
            <a:ext cx="8421512" cy="707886"/>
          </a:xfrm>
        </p:spPr>
        <p:txBody>
          <a:bodyPr/>
          <a:lstStyle/>
          <a:p>
            <a:r>
              <a:rPr lang="en-US" sz="4000" dirty="0"/>
              <a:t>Meaning of Equilibrium Constant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BD62F6B8-216B-D60B-63D6-E215A97F916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2533" y="1070708"/>
            <a:ext cx="8387645" cy="5476847"/>
          </a:xfrm>
        </p:spPr>
        <p:txBody>
          <a:bodyPr/>
          <a:lstStyle/>
          <a:p>
            <a:pPr marL="227013" indent="-227013"/>
            <a:r>
              <a:rPr lang="en-US" sz="2000" dirty="0"/>
              <a:t>For reactions with 1000 ≥ </a:t>
            </a:r>
            <a:r>
              <a:rPr lang="en-US" sz="2000" i="1" dirty="0"/>
              <a:t>K</a:t>
            </a:r>
            <a:r>
              <a:rPr lang="en-US" sz="2000" dirty="0"/>
              <a:t> ≥ 0.001 </a:t>
            </a:r>
            <a:br>
              <a:rPr lang="en-US" sz="2000" dirty="0"/>
            </a:br>
            <a:r>
              <a:rPr lang="en-US" sz="2000" dirty="0"/>
              <a:t>(10</a:t>
            </a:r>
            <a:r>
              <a:rPr lang="en-US" sz="2000" baseline="30000" dirty="0"/>
              <a:t>3</a:t>
            </a:r>
            <a:r>
              <a:rPr lang="en-US" sz="2000" dirty="0"/>
              <a:t> ≥ </a:t>
            </a:r>
            <a:r>
              <a:rPr lang="en-US" sz="2000" i="1" dirty="0"/>
              <a:t>K</a:t>
            </a:r>
            <a:r>
              <a:rPr lang="en-US" sz="2000" dirty="0"/>
              <a:t> ≥ 10</a:t>
            </a:r>
            <a:r>
              <a:rPr lang="en-US" sz="2000" baseline="30000" dirty="0"/>
              <a:t>-3</a:t>
            </a:r>
            <a:r>
              <a:rPr lang="en-US" sz="2000" dirty="0"/>
              <a:t>), these reactions will</a:t>
            </a:r>
            <a:br>
              <a:rPr lang="en-US" sz="2000" dirty="0"/>
            </a:br>
            <a:r>
              <a:rPr lang="en-US" sz="2000" dirty="0"/>
              <a:t>have significant amounts of both</a:t>
            </a:r>
            <a:br>
              <a:rPr lang="en-US" sz="2000" dirty="0"/>
            </a:br>
            <a:r>
              <a:rPr lang="en-US" sz="2000" dirty="0"/>
              <a:t>reactants and products</a:t>
            </a:r>
          </a:p>
          <a:p>
            <a:pPr marL="227013" indent="-227013"/>
            <a:r>
              <a:rPr lang="en-US" sz="2000" dirty="0"/>
              <a:t>Below is a visual summary of the</a:t>
            </a:r>
            <a:br>
              <a:rPr lang="en-US" sz="2000" dirty="0"/>
            </a:br>
            <a:r>
              <a:rPr lang="en-US" sz="2000" dirty="0"/>
              <a:t>meaning of equilibrium constant </a:t>
            </a:r>
            <a:r>
              <a:rPr lang="en-US" sz="2000" i="1" dirty="0"/>
              <a:t>K</a:t>
            </a:r>
          </a:p>
          <a:p>
            <a:pPr marL="0" indent="0">
              <a:buNone/>
            </a:pPr>
            <a:endParaRPr lang="en-US" sz="2000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870E6A4-7DD6-1E41-DC5F-4B80076B4E5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95815" y="1070708"/>
            <a:ext cx="3372229" cy="2573311"/>
          </a:xfrm>
          <a:prstGeom prst="rect">
            <a:avLst/>
          </a:prstGeom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FF5D56E1-3D02-C3C0-AC33-A351C73ED90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E0D52F3-54CA-4E42-BFA9-4F0301781925}" type="slidenum">
              <a:rPr lang="en-US" smtClean="0"/>
              <a:pPr/>
              <a:t>23</a:t>
            </a:fld>
            <a:endParaRPr lang="en-US" sz="1400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6A84965C-BDD4-17C9-89D0-5309292E5C0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77264" y="3701308"/>
            <a:ext cx="5853723" cy="30082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7122691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DA8ADF-E2F8-D28C-080D-9F5954A7FC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1EB874B0-9EE6-AE37-53DC-D89D1CE28B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4067" y="334005"/>
            <a:ext cx="8421512" cy="584775"/>
          </a:xfrm>
        </p:spPr>
        <p:txBody>
          <a:bodyPr/>
          <a:lstStyle/>
          <a:p>
            <a:r>
              <a:rPr lang="en-US" sz="3200" dirty="0"/>
              <a:t>Practice: Equilibrium Constant Expression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A2AB0947-8D8B-F4BA-EC5A-132404A6AEB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372533" y="1078523"/>
                <a:ext cx="8387645" cy="5476847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sz="2000" dirty="0"/>
                  <a:t>Write the equilibrium constant expression for the balanced reactions (chemical equations)</a:t>
                </a:r>
              </a:p>
              <a:p>
                <a:r>
                  <a:rPr lang="en-US" sz="2000" dirty="0">
                    <a:solidFill>
                      <a:srgbClr val="FFC000"/>
                    </a:solidFill>
                  </a:rPr>
                  <a:t>N</a:t>
                </a:r>
                <a:r>
                  <a:rPr lang="en-US" sz="2000" baseline="-25000" dirty="0">
                    <a:solidFill>
                      <a:srgbClr val="FFC000"/>
                    </a:solidFill>
                  </a:rPr>
                  <a:t>2</a:t>
                </a:r>
                <a:r>
                  <a:rPr lang="en-US" sz="2000" dirty="0">
                    <a:solidFill>
                      <a:srgbClr val="FFC000"/>
                    </a:solidFill>
                  </a:rPr>
                  <a:t> (</a:t>
                </a:r>
                <a:r>
                  <a:rPr lang="en-US" sz="2000" i="1" dirty="0">
                    <a:solidFill>
                      <a:srgbClr val="FFC000"/>
                    </a:solidFill>
                  </a:rPr>
                  <a:t>g</a:t>
                </a:r>
                <a:r>
                  <a:rPr lang="en-US" sz="2000" dirty="0">
                    <a:solidFill>
                      <a:srgbClr val="FFC000"/>
                    </a:solidFill>
                  </a:rPr>
                  <a:t>) + 3 H</a:t>
                </a:r>
                <a:r>
                  <a:rPr lang="en-US" sz="2000" baseline="-25000" dirty="0">
                    <a:solidFill>
                      <a:srgbClr val="FFC000"/>
                    </a:solidFill>
                  </a:rPr>
                  <a:t>2</a:t>
                </a:r>
                <a:r>
                  <a:rPr lang="en-US" sz="2000" dirty="0">
                    <a:solidFill>
                      <a:srgbClr val="FFC000"/>
                    </a:solidFill>
                  </a:rPr>
                  <a:t> (</a:t>
                </a:r>
                <a:r>
                  <a:rPr lang="en-US" sz="2000" i="1" dirty="0">
                    <a:solidFill>
                      <a:srgbClr val="FFC000"/>
                    </a:solidFill>
                  </a:rPr>
                  <a:t>g</a:t>
                </a:r>
                <a:r>
                  <a:rPr lang="en-US" sz="2000" dirty="0">
                    <a:solidFill>
                      <a:srgbClr val="FFC000"/>
                    </a:solidFill>
                  </a:rPr>
                  <a:t>) </a:t>
                </a:r>
                <a14:m>
                  <m:oMath xmlns:m="http://schemas.openxmlformats.org/officeDocument/2006/math">
                    <m:r>
                      <a:rPr lang="en-US" sz="2000" b="1" i="0">
                        <a:solidFill>
                          <a:srgbClr val="FFC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sym typeface="Wingdings" panose="05000000000000000000" pitchFamily="2" charset="2"/>
                      </a:rPr>
                      <m:t>⇌</m:t>
                    </m:r>
                  </m:oMath>
                </a14:m>
                <a:r>
                  <a:rPr lang="en-US" sz="2000" dirty="0">
                    <a:solidFill>
                      <a:srgbClr val="FFC000"/>
                    </a:solidFill>
                  </a:rPr>
                  <a:t> 2 NH</a:t>
                </a:r>
                <a:r>
                  <a:rPr lang="en-US" sz="2000" baseline="-25000" dirty="0">
                    <a:solidFill>
                      <a:srgbClr val="FFC000"/>
                    </a:solidFill>
                  </a:rPr>
                  <a:t>3</a:t>
                </a:r>
                <a:r>
                  <a:rPr lang="en-US" sz="2000" dirty="0">
                    <a:solidFill>
                      <a:srgbClr val="FFC000"/>
                    </a:solidFill>
                  </a:rPr>
                  <a:t> (</a:t>
                </a:r>
                <a:r>
                  <a:rPr lang="en-US" sz="2000" i="1" dirty="0">
                    <a:solidFill>
                      <a:srgbClr val="FFC000"/>
                    </a:solidFill>
                  </a:rPr>
                  <a:t>g</a:t>
                </a:r>
                <a:r>
                  <a:rPr lang="en-US" sz="2000" dirty="0">
                    <a:solidFill>
                      <a:srgbClr val="FFC000"/>
                    </a:solidFill>
                  </a:rPr>
                  <a:t>)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2000" b="0" i="0" smtClean="0">
                          <a:latin typeface="Cambria Math" panose="02040503050406030204" pitchFamily="18" charset="0"/>
                        </a:rPr>
                        <m:t>       </m:t>
                      </m:r>
                      <m:f>
                        <m:fPr>
                          <m:ctrlPr>
                            <a:rPr lang="en-US" sz="2000" b="0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d>
                            <m:dPr>
                              <m:begChr m:val="["/>
                              <m:endChr m:val="]"/>
                              <m:ctrlPr>
                                <a:rPr lang="en-US" sz="2000">
                                  <a:solidFill>
                                    <a:srgbClr val="FFFF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m:rPr>
                                  <m:sty m:val="p"/>
                                </m:rPr>
                                <a:rPr lang="en-US" sz="2000" i="0">
                                  <a:solidFill>
                                    <a:srgbClr val="FFFF00"/>
                                  </a:solidFill>
                                  <a:latin typeface="Cambria Math" panose="02040503050406030204" pitchFamily="18" charset="0"/>
                                </a:rPr>
                                <m:t>NH</m:t>
                              </m:r>
                              <m:r>
                                <a:rPr lang="en-US" sz="2000" i="0" baseline="-25000">
                                  <a:solidFill>
                                    <a:srgbClr val="FFFF00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e>
                          </m:d>
                          <m:r>
                            <a:rPr lang="en-US" sz="2000" i="0" baseline="3000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num>
                        <m:den>
                          <m:d>
                            <m:dPr>
                              <m:begChr m:val="["/>
                              <m:endChr m:val="]"/>
                              <m:ctrlPr>
                                <a:rPr lang="en-US" sz="2000">
                                  <a:solidFill>
                                    <a:srgbClr val="FFFF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m:rPr>
                                  <m:sty m:val="p"/>
                                </m:rPr>
                                <a:rPr lang="en-US" sz="2000" i="0">
                                  <a:solidFill>
                                    <a:srgbClr val="FFFF00"/>
                                  </a:solidFill>
                                  <a:latin typeface="Cambria Math" panose="02040503050406030204" pitchFamily="18" charset="0"/>
                                </a:rPr>
                                <m:t>N</m:t>
                              </m:r>
                              <m:r>
                                <a:rPr lang="en-US" sz="2000" i="0" baseline="-25000">
                                  <a:solidFill>
                                    <a:srgbClr val="FFFF0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d>
                          <m:d>
                            <m:dPr>
                              <m:begChr m:val="["/>
                              <m:endChr m:val="]"/>
                              <m:ctrlPr>
                                <a:rPr lang="en-US" sz="2000">
                                  <a:solidFill>
                                    <a:srgbClr val="FFFF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m:rPr>
                                  <m:sty m:val="p"/>
                                </m:rPr>
                                <a:rPr lang="en-US" sz="2000" i="0">
                                  <a:solidFill>
                                    <a:srgbClr val="FFFF00"/>
                                  </a:solidFill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  <m:r>
                                <a:rPr lang="en-US" sz="2000" i="0" baseline="-25000">
                                  <a:solidFill>
                                    <a:srgbClr val="FFFF0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d>
                          <m:r>
                            <a:rPr lang="en-US" sz="2000" i="0" baseline="3000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den>
                      </m:f>
                    </m:oMath>
                  </m:oMathPara>
                </a14:m>
                <a:endParaRPr lang="en-US" sz="2000" dirty="0"/>
              </a:p>
              <a:p>
                <a:pPr marL="0" indent="0">
                  <a:buNone/>
                </a:pPr>
                <a:endParaRPr lang="en-US" sz="2000" dirty="0"/>
              </a:p>
              <a:p>
                <a:r>
                  <a:rPr lang="en-US" sz="2000" dirty="0">
                    <a:solidFill>
                      <a:srgbClr val="FFC000"/>
                    </a:solidFill>
                  </a:rPr>
                  <a:t>CO (</a:t>
                </a:r>
                <a:r>
                  <a:rPr lang="en-US" sz="2000" i="1" dirty="0">
                    <a:solidFill>
                      <a:srgbClr val="FFC000"/>
                    </a:solidFill>
                  </a:rPr>
                  <a:t>g</a:t>
                </a:r>
                <a:r>
                  <a:rPr lang="en-US" sz="2000" dirty="0">
                    <a:solidFill>
                      <a:srgbClr val="FFC000"/>
                    </a:solidFill>
                  </a:rPr>
                  <a:t>) + 1/2 O</a:t>
                </a:r>
                <a:r>
                  <a:rPr lang="en-US" sz="2000" baseline="-25000" dirty="0">
                    <a:solidFill>
                      <a:srgbClr val="FFC000"/>
                    </a:solidFill>
                  </a:rPr>
                  <a:t>2</a:t>
                </a:r>
                <a:r>
                  <a:rPr lang="en-US" sz="2000" dirty="0">
                    <a:solidFill>
                      <a:srgbClr val="FFC000"/>
                    </a:solidFill>
                  </a:rPr>
                  <a:t> (</a:t>
                </a:r>
                <a:r>
                  <a:rPr lang="en-US" sz="2000" i="1" dirty="0">
                    <a:solidFill>
                      <a:srgbClr val="FFC000"/>
                    </a:solidFill>
                  </a:rPr>
                  <a:t>g</a:t>
                </a:r>
                <a:r>
                  <a:rPr lang="en-US" sz="2000" dirty="0">
                    <a:solidFill>
                      <a:srgbClr val="FFC000"/>
                    </a:solidFill>
                  </a:rPr>
                  <a:t>) </a:t>
                </a:r>
                <a14:m>
                  <m:oMath xmlns:m="http://schemas.openxmlformats.org/officeDocument/2006/math">
                    <m:r>
                      <a:rPr lang="en-US" sz="2000" b="1">
                        <a:solidFill>
                          <a:srgbClr val="FFC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sym typeface="Wingdings" panose="05000000000000000000" pitchFamily="2" charset="2"/>
                      </a:rPr>
                      <m:t>⇌</m:t>
                    </m:r>
                  </m:oMath>
                </a14:m>
                <a:r>
                  <a:rPr lang="en-US" sz="2000" dirty="0">
                    <a:solidFill>
                      <a:srgbClr val="FFC000"/>
                    </a:solidFill>
                  </a:rPr>
                  <a:t> CO</a:t>
                </a:r>
                <a:r>
                  <a:rPr lang="en-US" sz="2000" baseline="-25000" dirty="0">
                    <a:solidFill>
                      <a:srgbClr val="FFC000"/>
                    </a:solidFill>
                  </a:rPr>
                  <a:t>2</a:t>
                </a:r>
                <a:r>
                  <a:rPr lang="en-US" sz="2000" dirty="0">
                    <a:solidFill>
                      <a:srgbClr val="FFC000"/>
                    </a:solidFill>
                  </a:rPr>
                  <a:t> (</a:t>
                </a:r>
                <a:r>
                  <a:rPr lang="en-US" sz="2000" i="1" dirty="0">
                    <a:solidFill>
                      <a:srgbClr val="FFC000"/>
                    </a:solidFill>
                  </a:rPr>
                  <a:t>g</a:t>
                </a:r>
                <a:r>
                  <a:rPr lang="en-US" sz="2000" dirty="0">
                    <a:solidFill>
                      <a:srgbClr val="FFC000"/>
                    </a:solidFill>
                  </a:rPr>
                  <a:t>)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2000">
                          <a:latin typeface="Cambria Math" panose="02040503050406030204" pitchFamily="18" charset="0"/>
                        </a:rPr>
                        <m:t>       </m:t>
                      </m:r>
                      <m:f>
                        <m:fPr>
                          <m:ctrlPr>
                            <a:rPr lang="en-US" sz="2000" i="1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d>
                            <m:dPr>
                              <m:begChr m:val="["/>
                              <m:endChr m:val="]"/>
                              <m:ctrlPr>
                                <a:rPr lang="en-US" sz="2000" i="1">
                                  <a:solidFill>
                                    <a:srgbClr val="FFFF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m:rPr>
                                  <m:sty m:val="p"/>
                                </m:rPr>
                                <a:rPr lang="en-US" sz="2000" b="0" i="0" smtClean="0">
                                  <a:solidFill>
                                    <a:srgbClr val="FFFF00"/>
                                  </a:solidFill>
                                  <a:latin typeface="Cambria Math" panose="02040503050406030204" pitchFamily="18" charset="0"/>
                                </a:rPr>
                                <m:t>CO</m:t>
                              </m:r>
                              <m:r>
                                <a:rPr lang="en-US" sz="2000" b="0" i="0" baseline="-25000" smtClean="0">
                                  <a:solidFill>
                                    <a:srgbClr val="FFFF0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d>
                        </m:num>
                        <m:den>
                          <m:d>
                            <m:dPr>
                              <m:begChr m:val="["/>
                              <m:endChr m:val="]"/>
                              <m:ctrlPr>
                                <a:rPr lang="en-US" sz="2000" i="1">
                                  <a:solidFill>
                                    <a:srgbClr val="FFFF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m:rPr>
                                  <m:sty m:val="p"/>
                                </m:rPr>
                                <a:rPr lang="en-US" sz="2000" b="0" i="0" smtClean="0">
                                  <a:solidFill>
                                    <a:srgbClr val="FFFF00"/>
                                  </a:solidFill>
                                  <a:latin typeface="Cambria Math" panose="02040503050406030204" pitchFamily="18" charset="0"/>
                                </a:rPr>
                                <m:t>CO</m:t>
                              </m:r>
                            </m:e>
                          </m:d>
                          <m:d>
                            <m:dPr>
                              <m:begChr m:val="["/>
                              <m:endChr m:val="]"/>
                              <m:ctrlPr>
                                <a:rPr lang="en-US" sz="2000" i="1">
                                  <a:solidFill>
                                    <a:srgbClr val="FFFF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m:rPr>
                                  <m:sty m:val="p"/>
                                </m:rPr>
                                <a:rPr lang="en-US" sz="2000" b="0" i="0" smtClean="0">
                                  <a:solidFill>
                                    <a:srgbClr val="FFFF00"/>
                                  </a:solidFill>
                                  <a:latin typeface="Cambria Math" panose="02040503050406030204" pitchFamily="18" charset="0"/>
                                </a:rPr>
                                <m:t>O</m:t>
                              </m:r>
                              <m:r>
                                <a:rPr lang="en-US" sz="2000" b="0" i="0" baseline="-25000" smtClean="0">
                                  <a:solidFill>
                                    <a:srgbClr val="FFFF0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d>
                          <m:r>
                            <a:rPr lang="en-US" sz="2000" b="0" i="1" baseline="30000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1/2</m:t>
                          </m:r>
                        </m:den>
                      </m:f>
                    </m:oMath>
                  </m:oMathPara>
                </a14:m>
                <a:endParaRPr lang="en-US" sz="2000" dirty="0"/>
              </a:p>
              <a:p>
                <a:pPr marL="0" indent="0">
                  <a:buNone/>
                </a:pPr>
                <a:endParaRPr lang="en-US" sz="2000" dirty="0"/>
              </a:p>
              <a:p>
                <a:r>
                  <a:rPr lang="en-US" sz="2000" dirty="0">
                    <a:solidFill>
                      <a:srgbClr val="FFC000"/>
                    </a:solidFill>
                  </a:rPr>
                  <a:t>2 CO</a:t>
                </a:r>
                <a:r>
                  <a:rPr lang="en-US" sz="2000" baseline="-25000" dirty="0">
                    <a:solidFill>
                      <a:srgbClr val="FFC000"/>
                    </a:solidFill>
                  </a:rPr>
                  <a:t>2</a:t>
                </a:r>
                <a:r>
                  <a:rPr lang="en-US" sz="2000" dirty="0">
                    <a:solidFill>
                      <a:srgbClr val="FFC000"/>
                    </a:solidFill>
                  </a:rPr>
                  <a:t> (</a:t>
                </a:r>
                <a:r>
                  <a:rPr lang="en-US" sz="2000" i="1" dirty="0">
                    <a:solidFill>
                      <a:srgbClr val="FFC000"/>
                    </a:solidFill>
                  </a:rPr>
                  <a:t>g</a:t>
                </a:r>
                <a:r>
                  <a:rPr lang="en-US" sz="2000" dirty="0">
                    <a:solidFill>
                      <a:srgbClr val="FFC000"/>
                    </a:solidFill>
                  </a:rPr>
                  <a:t>) </a:t>
                </a:r>
                <a14:m>
                  <m:oMath xmlns:m="http://schemas.openxmlformats.org/officeDocument/2006/math">
                    <m:r>
                      <a:rPr lang="en-US" sz="2000" b="1">
                        <a:solidFill>
                          <a:srgbClr val="FFC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sym typeface="Wingdings" panose="05000000000000000000" pitchFamily="2" charset="2"/>
                      </a:rPr>
                      <m:t>⇌</m:t>
                    </m:r>
                  </m:oMath>
                </a14:m>
                <a:r>
                  <a:rPr lang="en-US" sz="2000" dirty="0">
                    <a:solidFill>
                      <a:srgbClr val="FFC000"/>
                    </a:solidFill>
                  </a:rPr>
                  <a:t> 2 CO (</a:t>
                </a:r>
                <a:r>
                  <a:rPr lang="en-US" sz="2000" i="1" dirty="0">
                    <a:solidFill>
                      <a:srgbClr val="FFC000"/>
                    </a:solidFill>
                  </a:rPr>
                  <a:t>g</a:t>
                </a:r>
                <a:r>
                  <a:rPr lang="en-US" sz="2000" dirty="0">
                    <a:solidFill>
                      <a:srgbClr val="FFC000"/>
                    </a:solidFill>
                  </a:rPr>
                  <a:t>) + O</a:t>
                </a:r>
                <a:r>
                  <a:rPr lang="en-US" sz="2000" baseline="-25000" dirty="0">
                    <a:solidFill>
                      <a:srgbClr val="FFC000"/>
                    </a:solidFill>
                  </a:rPr>
                  <a:t>2</a:t>
                </a:r>
                <a:r>
                  <a:rPr lang="en-US" sz="2000" dirty="0">
                    <a:solidFill>
                      <a:srgbClr val="FFC000"/>
                    </a:solidFill>
                  </a:rPr>
                  <a:t> (</a:t>
                </a:r>
                <a:r>
                  <a:rPr lang="en-US" sz="2000" i="1" dirty="0">
                    <a:solidFill>
                      <a:srgbClr val="FFC000"/>
                    </a:solidFill>
                  </a:rPr>
                  <a:t>g</a:t>
                </a:r>
                <a:r>
                  <a:rPr lang="en-US" sz="2000" dirty="0">
                    <a:solidFill>
                      <a:srgbClr val="FFC000"/>
                    </a:solidFill>
                  </a:rPr>
                  <a:t>)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2000" i="0">
                          <a:latin typeface="Cambria Math" panose="02040503050406030204" pitchFamily="18" charset="0"/>
                        </a:rPr>
                        <m:t>       </m:t>
                      </m:r>
                      <m:f>
                        <m:fPr>
                          <m:ctrlPr>
                            <a:rPr lang="en-US" sz="200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d>
                            <m:dPr>
                              <m:begChr m:val="["/>
                              <m:endChr m:val="]"/>
                              <m:ctrlPr>
                                <a:rPr lang="en-US" sz="2000">
                                  <a:solidFill>
                                    <a:srgbClr val="FFFF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m:rPr>
                                  <m:sty m:val="p"/>
                                </m:rPr>
                                <a:rPr lang="en-US" sz="2000" b="0" i="0" smtClean="0">
                                  <a:solidFill>
                                    <a:srgbClr val="FFFF00"/>
                                  </a:solidFill>
                                  <a:latin typeface="Cambria Math" panose="02040503050406030204" pitchFamily="18" charset="0"/>
                                </a:rPr>
                                <m:t>CO</m:t>
                              </m:r>
                            </m:e>
                          </m:d>
                          <m:r>
                            <a:rPr lang="en-US" sz="2000" i="0" baseline="3000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2000" b="0" i="0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m:rPr>
                              <m:sty m:val="p"/>
                            </m:rPr>
                            <a:rPr lang="en-US" sz="2000" b="0" i="0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O</m:t>
                          </m:r>
                          <m:r>
                            <a:rPr lang="en-US" sz="2000" b="0" i="0" baseline="-25000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2000" b="0" i="0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]</m:t>
                          </m:r>
                        </m:num>
                        <m:den>
                          <m:d>
                            <m:dPr>
                              <m:begChr m:val="["/>
                              <m:endChr m:val="]"/>
                              <m:ctrlPr>
                                <a:rPr lang="en-US" sz="2000">
                                  <a:solidFill>
                                    <a:srgbClr val="FFFF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m:rPr>
                                  <m:sty m:val="p"/>
                                </m:rPr>
                                <a:rPr lang="en-US" sz="2000" b="0" i="0" smtClean="0">
                                  <a:solidFill>
                                    <a:srgbClr val="FFFF00"/>
                                  </a:solidFill>
                                  <a:latin typeface="Cambria Math" panose="02040503050406030204" pitchFamily="18" charset="0"/>
                                </a:rPr>
                                <m:t>CO</m:t>
                              </m:r>
                              <m:r>
                                <a:rPr lang="en-US" sz="2000" b="0" i="0" baseline="-25000" smtClean="0">
                                  <a:solidFill>
                                    <a:srgbClr val="FFFF0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d>
                          <m:r>
                            <a:rPr lang="en-US" sz="2000" b="0" i="0" baseline="30000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</m:oMath>
                  </m:oMathPara>
                </a14:m>
                <a:endParaRPr lang="en-US" sz="2000" dirty="0"/>
              </a:p>
              <a:p>
                <a:pPr marL="0" indent="0">
                  <a:buNone/>
                </a:pPr>
                <a:endParaRPr lang="en-US" sz="2000" dirty="0"/>
              </a:p>
            </p:txBody>
          </p:sp>
        </mc:Choice>
        <mc:Fallback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A2AB0947-8D8B-F4BA-EC5A-132404A6AEB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72533" y="1078523"/>
                <a:ext cx="8387645" cy="5476847"/>
              </a:xfrm>
              <a:blipFill>
                <a:blip r:embed="rId2"/>
                <a:stretch>
                  <a:fillRect l="-799" t="-66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DD575DD-DCA7-0513-CF43-708F54D15D1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E0D52F3-54CA-4E42-BFA9-4F0301781925}" type="slidenum">
              <a:rPr lang="en-US" smtClean="0"/>
              <a:pPr/>
              <a:t>24</a:t>
            </a:fld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19622275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CE6866-8136-96E4-939B-45807B5FFB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81FECA7-529B-C6D9-C292-B695213EAE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4067" y="272450"/>
            <a:ext cx="8421512" cy="707886"/>
          </a:xfrm>
        </p:spPr>
        <p:txBody>
          <a:bodyPr/>
          <a:lstStyle/>
          <a:p>
            <a:r>
              <a:rPr lang="en-US" sz="4000" dirty="0"/>
              <a:t>Practice: Equilibrium Constant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CE3237AE-3645-1663-843B-18C97F80B96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372533" y="1101968"/>
                <a:ext cx="8387645" cy="5476847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sz="2000" dirty="0"/>
                  <a:t>Write the equilibrium constant (not the equilibrium constant expression) for the balanced reactions (chemical equations)</a:t>
                </a:r>
              </a:p>
              <a:p>
                <a:r>
                  <a:rPr lang="en-US" sz="2000" dirty="0">
                    <a:solidFill>
                      <a:srgbClr val="FFC000"/>
                    </a:solidFill>
                  </a:rPr>
                  <a:t>N</a:t>
                </a:r>
                <a:r>
                  <a:rPr lang="en-US" sz="2000" baseline="-25000" dirty="0">
                    <a:solidFill>
                      <a:srgbClr val="FFC000"/>
                    </a:solidFill>
                  </a:rPr>
                  <a:t>2</a:t>
                </a:r>
                <a:r>
                  <a:rPr lang="en-US" sz="2000" dirty="0">
                    <a:solidFill>
                      <a:srgbClr val="FFC000"/>
                    </a:solidFill>
                  </a:rPr>
                  <a:t>O (</a:t>
                </a:r>
                <a:r>
                  <a:rPr lang="en-US" sz="2000" i="1" dirty="0">
                    <a:solidFill>
                      <a:srgbClr val="FFC000"/>
                    </a:solidFill>
                  </a:rPr>
                  <a:t>g</a:t>
                </a:r>
                <a:r>
                  <a:rPr lang="en-US" sz="2000" dirty="0">
                    <a:solidFill>
                      <a:srgbClr val="FFC000"/>
                    </a:solidFill>
                  </a:rPr>
                  <a:t>) </a:t>
                </a:r>
                <a14:m>
                  <m:oMath xmlns:m="http://schemas.openxmlformats.org/officeDocument/2006/math">
                    <m:r>
                      <a:rPr lang="en-US" sz="2000" b="1">
                        <a:solidFill>
                          <a:srgbClr val="FFC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sym typeface="Wingdings" panose="05000000000000000000" pitchFamily="2" charset="2"/>
                      </a:rPr>
                      <m:t>⇌</m:t>
                    </m:r>
                  </m:oMath>
                </a14:m>
                <a:r>
                  <a:rPr lang="en-US" sz="2000" dirty="0">
                    <a:solidFill>
                      <a:srgbClr val="FFC000"/>
                    </a:solidFill>
                  </a:rPr>
                  <a:t> N</a:t>
                </a:r>
                <a:r>
                  <a:rPr lang="en-US" sz="2000" baseline="-25000" dirty="0">
                    <a:solidFill>
                      <a:srgbClr val="FFC000"/>
                    </a:solidFill>
                  </a:rPr>
                  <a:t>2</a:t>
                </a:r>
                <a:r>
                  <a:rPr lang="en-US" sz="2000" dirty="0">
                    <a:solidFill>
                      <a:srgbClr val="FFC000"/>
                    </a:solidFill>
                  </a:rPr>
                  <a:t> (</a:t>
                </a:r>
                <a:r>
                  <a:rPr lang="en-US" sz="2000" i="1" dirty="0">
                    <a:solidFill>
                      <a:srgbClr val="FFC000"/>
                    </a:solidFill>
                  </a:rPr>
                  <a:t>g</a:t>
                </a:r>
                <a:r>
                  <a:rPr lang="en-US" sz="2000" dirty="0">
                    <a:solidFill>
                      <a:srgbClr val="FFC000"/>
                    </a:solidFill>
                  </a:rPr>
                  <a:t>) + 1/2 O</a:t>
                </a:r>
                <a:r>
                  <a:rPr lang="en-US" sz="2000" baseline="-25000" dirty="0">
                    <a:solidFill>
                      <a:srgbClr val="FFC000"/>
                    </a:solidFill>
                  </a:rPr>
                  <a:t>2</a:t>
                </a:r>
                <a:r>
                  <a:rPr lang="en-US" sz="2000" dirty="0">
                    <a:solidFill>
                      <a:srgbClr val="FFC000"/>
                    </a:solidFill>
                  </a:rPr>
                  <a:t> (</a:t>
                </a:r>
                <a:r>
                  <a:rPr lang="en-US" sz="2000" i="1" dirty="0">
                    <a:solidFill>
                      <a:srgbClr val="FFC000"/>
                    </a:solidFill>
                  </a:rPr>
                  <a:t>g</a:t>
                </a:r>
                <a:r>
                  <a:rPr lang="en-US" sz="2000" dirty="0">
                    <a:solidFill>
                      <a:srgbClr val="FFC000"/>
                    </a:solidFill>
                  </a:rPr>
                  <a:t>)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2000">
                          <a:latin typeface="Cambria Math" panose="02040503050406030204" pitchFamily="18" charset="0"/>
                        </a:rPr>
                        <m:t>       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𝐾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00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d>
                            <m:dPr>
                              <m:begChr m:val="["/>
                              <m:endChr m:val="]"/>
                              <m:ctrlPr>
                                <a:rPr lang="en-US" sz="2000">
                                  <a:solidFill>
                                    <a:srgbClr val="FFFF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m:rPr>
                                  <m:sty m:val="p"/>
                                </m:rPr>
                                <a:rPr lang="en-US" sz="2000" b="0" i="0" smtClean="0">
                                  <a:solidFill>
                                    <a:srgbClr val="FFFF00"/>
                                  </a:solidFill>
                                  <a:latin typeface="Cambria Math" panose="02040503050406030204" pitchFamily="18" charset="0"/>
                                </a:rPr>
                                <m:t>N</m:t>
                              </m:r>
                              <m:r>
                                <a:rPr lang="en-US" sz="2000" i="0" baseline="-25000">
                                  <a:solidFill>
                                    <a:srgbClr val="FFFF0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d>
                          <m:sSup>
                            <m:sSupPr>
                              <m:ctrlPr>
                                <a:rPr lang="en-US" sz="2000" b="0" smtClean="0">
                                  <a:solidFill>
                                    <a:srgbClr val="FFFF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en-US" sz="2000">
                                      <a:solidFill>
                                        <a:srgbClr val="FFFF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sz="2000" i="0">
                                      <a:solidFill>
                                        <a:srgbClr val="FFFF00"/>
                                      </a:solidFill>
                                      <a:latin typeface="Cambria Math" panose="02040503050406030204" pitchFamily="18" charset="0"/>
                                    </a:rPr>
                                    <m:t>O</m:t>
                                  </m:r>
                                  <m:r>
                                    <a:rPr lang="en-US" sz="2000" i="0" baseline="-25000">
                                      <a:solidFill>
                                        <a:srgbClr val="FFFF00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e>
                              </m:d>
                            </m:e>
                            <m:sup>
                              <m:r>
                                <a:rPr lang="en-US" sz="2000" b="0" i="0" smtClean="0">
                                  <a:solidFill>
                                    <a:srgbClr val="FFFF00"/>
                                  </a:solidFill>
                                  <a:latin typeface="Cambria Math" panose="02040503050406030204" pitchFamily="18" charset="0"/>
                                </a:rPr>
                                <m:t>1/2</m:t>
                              </m:r>
                            </m:sup>
                          </m:sSup>
                        </m:num>
                        <m:den>
                          <m:d>
                            <m:dPr>
                              <m:begChr m:val="["/>
                              <m:endChr m:val="]"/>
                              <m:ctrlPr>
                                <a:rPr lang="en-US" sz="2000">
                                  <a:solidFill>
                                    <a:srgbClr val="FFFF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m:rPr>
                                  <m:sty m:val="p"/>
                                </m:rPr>
                                <a:rPr lang="en-US" sz="2000" b="0" i="0" smtClean="0">
                                  <a:solidFill>
                                    <a:srgbClr val="FFFF00"/>
                                  </a:solidFill>
                                  <a:latin typeface="Cambria Math" panose="02040503050406030204" pitchFamily="18" charset="0"/>
                                </a:rPr>
                                <m:t>N</m:t>
                              </m:r>
                              <m:r>
                                <a:rPr lang="en-US" sz="2000" b="0" i="0" baseline="-25000" smtClean="0">
                                  <a:solidFill>
                                    <a:srgbClr val="FFFF0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m:rPr>
                                  <m:sty m:val="p"/>
                                </m:rPr>
                                <a:rPr lang="en-US" sz="2000" b="0" i="0" smtClean="0">
                                  <a:solidFill>
                                    <a:srgbClr val="FFFF00"/>
                                  </a:solidFill>
                                  <a:latin typeface="Cambria Math" panose="02040503050406030204" pitchFamily="18" charset="0"/>
                                </a:rPr>
                                <m:t>O</m:t>
                              </m:r>
                            </m:e>
                          </m:d>
                        </m:den>
                      </m:f>
                    </m:oMath>
                  </m:oMathPara>
                </a14:m>
                <a:endParaRPr lang="en-US" sz="2000" dirty="0"/>
              </a:p>
              <a:p>
                <a:endParaRPr lang="en-US" sz="2000" dirty="0">
                  <a:solidFill>
                    <a:srgbClr val="FFC000"/>
                  </a:solidFill>
                </a:endParaRPr>
              </a:p>
              <a:p>
                <a:r>
                  <a:rPr lang="en-US" sz="2000" dirty="0">
                    <a:solidFill>
                      <a:srgbClr val="FFC000"/>
                    </a:solidFill>
                  </a:rPr>
                  <a:t>2 C</a:t>
                </a:r>
                <a:r>
                  <a:rPr lang="en-US" sz="2000" baseline="-25000" dirty="0">
                    <a:solidFill>
                      <a:srgbClr val="FFC000"/>
                    </a:solidFill>
                  </a:rPr>
                  <a:t>8</a:t>
                </a:r>
                <a:r>
                  <a:rPr lang="en-US" sz="2000" dirty="0">
                    <a:solidFill>
                      <a:srgbClr val="FFC000"/>
                    </a:solidFill>
                  </a:rPr>
                  <a:t>H</a:t>
                </a:r>
                <a:r>
                  <a:rPr lang="en-US" sz="2000" baseline="-25000" dirty="0">
                    <a:solidFill>
                      <a:srgbClr val="FFC000"/>
                    </a:solidFill>
                  </a:rPr>
                  <a:t>18</a:t>
                </a:r>
                <a:r>
                  <a:rPr lang="en-US" sz="2000" dirty="0">
                    <a:solidFill>
                      <a:srgbClr val="FFC000"/>
                    </a:solidFill>
                  </a:rPr>
                  <a:t> (</a:t>
                </a:r>
                <a:r>
                  <a:rPr lang="en-US" sz="2000" i="1" dirty="0">
                    <a:solidFill>
                      <a:srgbClr val="FFC000"/>
                    </a:solidFill>
                  </a:rPr>
                  <a:t>g</a:t>
                </a:r>
                <a:r>
                  <a:rPr lang="en-US" sz="2000" dirty="0">
                    <a:solidFill>
                      <a:srgbClr val="FFC000"/>
                    </a:solidFill>
                  </a:rPr>
                  <a:t>) + 25 O</a:t>
                </a:r>
                <a:r>
                  <a:rPr lang="en-US" sz="2000" baseline="-25000" dirty="0">
                    <a:solidFill>
                      <a:srgbClr val="FFC000"/>
                    </a:solidFill>
                  </a:rPr>
                  <a:t>2</a:t>
                </a:r>
                <a:r>
                  <a:rPr lang="en-US" sz="2000" dirty="0">
                    <a:solidFill>
                      <a:srgbClr val="FFC000"/>
                    </a:solidFill>
                  </a:rPr>
                  <a:t> (</a:t>
                </a:r>
                <a:r>
                  <a:rPr lang="en-US" sz="2000" i="1" dirty="0">
                    <a:solidFill>
                      <a:srgbClr val="FFC000"/>
                    </a:solidFill>
                  </a:rPr>
                  <a:t>g</a:t>
                </a:r>
                <a:r>
                  <a:rPr lang="en-US" sz="2000" dirty="0">
                    <a:solidFill>
                      <a:srgbClr val="FFC000"/>
                    </a:solidFill>
                  </a:rPr>
                  <a:t>) </a:t>
                </a:r>
                <a14:m>
                  <m:oMath xmlns:m="http://schemas.openxmlformats.org/officeDocument/2006/math">
                    <m:r>
                      <a:rPr lang="en-US" sz="2000" b="1" i="0">
                        <a:solidFill>
                          <a:srgbClr val="FFC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sym typeface="Wingdings" panose="05000000000000000000" pitchFamily="2" charset="2"/>
                      </a:rPr>
                      <m:t>⇌</m:t>
                    </m:r>
                  </m:oMath>
                </a14:m>
                <a:r>
                  <a:rPr lang="en-US" sz="2000" dirty="0">
                    <a:solidFill>
                      <a:srgbClr val="FFC000"/>
                    </a:solidFill>
                  </a:rPr>
                  <a:t> 16 CO</a:t>
                </a:r>
                <a:r>
                  <a:rPr lang="en-US" sz="2000" baseline="-25000" dirty="0">
                    <a:solidFill>
                      <a:srgbClr val="FFC000"/>
                    </a:solidFill>
                  </a:rPr>
                  <a:t>2</a:t>
                </a:r>
                <a:r>
                  <a:rPr lang="en-US" sz="2000" dirty="0">
                    <a:solidFill>
                      <a:srgbClr val="FFC000"/>
                    </a:solidFill>
                  </a:rPr>
                  <a:t> (</a:t>
                </a:r>
                <a:r>
                  <a:rPr lang="en-US" sz="2000" i="1" dirty="0">
                    <a:solidFill>
                      <a:srgbClr val="FFC000"/>
                    </a:solidFill>
                  </a:rPr>
                  <a:t>g</a:t>
                </a:r>
                <a:r>
                  <a:rPr lang="en-US" sz="2000" dirty="0">
                    <a:solidFill>
                      <a:srgbClr val="FFC000"/>
                    </a:solidFill>
                  </a:rPr>
                  <a:t>) + 18 H</a:t>
                </a:r>
                <a:r>
                  <a:rPr lang="en-US" sz="2000" baseline="-25000" dirty="0">
                    <a:solidFill>
                      <a:srgbClr val="FFC000"/>
                    </a:solidFill>
                  </a:rPr>
                  <a:t>2</a:t>
                </a:r>
                <a:r>
                  <a:rPr lang="en-US" sz="2000" dirty="0">
                    <a:solidFill>
                      <a:srgbClr val="FFC000"/>
                    </a:solidFill>
                  </a:rPr>
                  <a:t>O (</a:t>
                </a:r>
                <a:r>
                  <a:rPr lang="en-US" sz="2000" i="1" dirty="0">
                    <a:solidFill>
                      <a:srgbClr val="FFC000"/>
                    </a:solidFill>
                  </a:rPr>
                  <a:t>g</a:t>
                </a:r>
                <a:r>
                  <a:rPr lang="en-US" sz="2000" dirty="0">
                    <a:solidFill>
                      <a:srgbClr val="FFC000"/>
                    </a:solidFill>
                  </a:rPr>
                  <a:t>)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2000" b="0" i="0" smtClean="0">
                          <a:latin typeface="Cambria Math" panose="02040503050406030204" pitchFamily="18" charset="0"/>
                        </a:rPr>
                        <m:t>       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𝐾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000" b="0" i="1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d>
                            <m:dPr>
                              <m:begChr m:val="["/>
                              <m:endChr m:val="]"/>
                              <m:ctrlPr>
                                <a:rPr lang="en-US" sz="2000" i="1">
                                  <a:solidFill>
                                    <a:srgbClr val="FFFF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m:rPr>
                                  <m:sty m:val="p"/>
                                </m:rPr>
                                <a:rPr lang="en-US" sz="2000" b="0" i="0" smtClean="0">
                                  <a:solidFill>
                                    <a:srgbClr val="FFFF00"/>
                                  </a:solidFill>
                                  <a:latin typeface="Cambria Math" panose="02040503050406030204" pitchFamily="18" charset="0"/>
                                </a:rPr>
                                <m:t>CO</m:t>
                              </m:r>
                              <m:r>
                                <a:rPr lang="en-US" sz="2000" b="0" i="0" baseline="-25000" smtClean="0">
                                  <a:solidFill>
                                    <a:srgbClr val="FFFF0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d>
                          <m:r>
                            <a:rPr lang="en-US" sz="2000" b="0" i="0" baseline="30000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16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en-US" sz="2000" i="1">
                                  <a:solidFill>
                                    <a:srgbClr val="FFFF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m:rPr>
                                  <m:sty m:val="p"/>
                                </m:rPr>
                                <a:rPr lang="en-US" sz="2000" b="0" i="0" smtClean="0">
                                  <a:solidFill>
                                    <a:srgbClr val="FFFF00"/>
                                  </a:solidFill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  <m:r>
                                <a:rPr lang="en-US" sz="2000" b="0" i="0" baseline="-25000" smtClean="0">
                                  <a:solidFill>
                                    <a:srgbClr val="FFFF0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m:rPr>
                                  <m:sty m:val="p"/>
                                </m:rPr>
                                <a:rPr lang="en-US" sz="2000" b="0" i="0" smtClean="0">
                                  <a:solidFill>
                                    <a:srgbClr val="FFFF00"/>
                                  </a:solidFill>
                                  <a:latin typeface="Cambria Math" panose="02040503050406030204" pitchFamily="18" charset="0"/>
                                </a:rPr>
                                <m:t>O</m:t>
                              </m:r>
                            </m:e>
                          </m:d>
                          <m:r>
                            <a:rPr lang="en-US" sz="2000" baseline="3000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2000" b="0" i="0" baseline="30000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8</m:t>
                          </m:r>
                        </m:num>
                        <m:den>
                          <m:d>
                            <m:dPr>
                              <m:begChr m:val="["/>
                              <m:endChr m:val="]"/>
                              <m:ctrlPr>
                                <a:rPr lang="en-US" sz="2000">
                                  <a:solidFill>
                                    <a:srgbClr val="FFFF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m:rPr>
                                  <m:sty m:val="p"/>
                                </m:rPr>
                                <a:rPr lang="en-US" sz="2000" b="0" i="0" smtClean="0">
                                  <a:solidFill>
                                    <a:srgbClr val="FFFF00"/>
                                  </a:solidFill>
                                  <a:latin typeface="Cambria Math" panose="02040503050406030204" pitchFamily="18" charset="0"/>
                                </a:rPr>
                                <m:t>C</m:t>
                              </m:r>
                              <m:r>
                                <a:rPr lang="en-US" sz="2000" b="0" i="0" baseline="-25000" smtClean="0">
                                  <a:solidFill>
                                    <a:srgbClr val="FFFF00"/>
                                  </a:solidFill>
                                  <a:latin typeface="Cambria Math" panose="02040503050406030204" pitchFamily="18" charset="0"/>
                                </a:rPr>
                                <m:t>8</m:t>
                              </m:r>
                              <m:r>
                                <m:rPr>
                                  <m:sty m:val="p"/>
                                </m:rPr>
                                <a:rPr lang="en-US" sz="2000" b="0" i="0" smtClean="0">
                                  <a:solidFill>
                                    <a:srgbClr val="FFFF00"/>
                                  </a:solidFill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  <m:r>
                                <a:rPr lang="en-US" sz="2000" b="0" i="0" baseline="-25000" smtClean="0">
                                  <a:solidFill>
                                    <a:srgbClr val="FFFF00"/>
                                  </a:solidFill>
                                  <a:latin typeface="Cambria Math" panose="02040503050406030204" pitchFamily="18" charset="0"/>
                                </a:rPr>
                                <m:t>18</m:t>
                              </m:r>
                            </m:e>
                          </m:d>
                          <m:r>
                            <a:rPr lang="en-US" sz="2000" b="0" i="0" baseline="30000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en-US" sz="2000">
                                  <a:solidFill>
                                    <a:srgbClr val="FFFF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m:rPr>
                                  <m:sty m:val="p"/>
                                </m:rPr>
                                <a:rPr lang="en-US" sz="2000" b="0" i="0" smtClean="0">
                                  <a:solidFill>
                                    <a:srgbClr val="FFFF00"/>
                                  </a:solidFill>
                                  <a:latin typeface="Cambria Math" panose="02040503050406030204" pitchFamily="18" charset="0"/>
                                </a:rPr>
                                <m:t>O</m:t>
                              </m:r>
                              <m:r>
                                <a:rPr lang="en-US" sz="2000" b="0" i="0" baseline="-25000" smtClean="0">
                                  <a:solidFill>
                                    <a:srgbClr val="FFFF0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d>
                          <m:r>
                            <a:rPr lang="en-US" sz="2000" b="0" i="0" baseline="30000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25</m:t>
                          </m:r>
                        </m:den>
                      </m:f>
                    </m:oMath>
                  </m:oMathPara>
                </a14:m>
                <a:endParaRPr lang="en-US" sz="2000" dirty="0"/>
              </a:p>
              <a:p>
                <a:pPr marL="0" indent="0">
                  <a:buNone/>
                </a:pPr>
                <a:endParaRPr lang="en-US" sz="2000" dirty="0"/>
              </a:p>
              <a:p>
                <a:r>
                  <a:rPr lang="en-US" sz="2000" dirty="0">
                    <a:solidFill>
                      <a:srgbClr val="FFC000"/>
                    </a:solidFill>
                  </a:rPr>
                  <a:t>H</a:t>
                </a:r>
                <a:r>
                  <a:rPr lang="en-US" sz="2000" baseline="-25000" dirty="0">
                    <a:solidFill>
                      <a:srgbClr val="FFC000"/>
                    </a:solidFill>
                  </a:rPr>
                  <a:t>2</a:t>
                </a:r>
                <a:r>
                  <a:rPr lang="en-US" sz="2000" dirty="0">
                    <a:solidFill>
                      <a:srgbClr val="FFC000"/>
                    </a:solidFill>
                  </a:rPr>
                  <a:t> (</a:t>
                </a:r>
                <a:r>
                  <a:rPr lang="en-US" sz="2000" i="1" dirty="0">
                    <a:solidFill>
                      <a:srgbClr val="FFC000"/>
                    </a:solidFill>
                  </a:rPr>
                  <a:t>g</a:t>
                </a:r>
                <a:r>
                  <a:rPr lang="en-US" sz="2000" dirty="0">
                    <a:solidFill>
                      <a:srgbClr val="FFC000"/>
                    </a:solidFill>
                  </a:rPr>
                  <a:t>) + I</a:t>
                </a:r>
                <a:r>
                  <a:rPr lang="en-US" sz="2000" baseline="-25000" dirty="0">
                    <a:solidFill>
                      <a:srgbClr val="FFC000"/>
                    </a:solidFill>
                  </a:rPr>
                  <a:t>2</a:t>
                </a:r>
                <a:r>
                  <a:rPr lang="en-US" sz="2000" dirty="0">
                    <a:solidFill>
                      <a:srgbClr val="FFC000"/>
                    </a:solidFill>
                  </a:rPr>
                  <a:t> (</a:t>
                </a:r>
                <a:r>
                  <a:rPr lang="en-US" sz="2000" i="1" dirty="0">
                    <a:solidFill>
                      <a:srgbClr val="FFC000"/>
                    </a:solidFill>
                  </a:rPr>
                  <a:t>g</a:t>
                </a:r>
                <a:r>
                  <a:rPr lang="en-US" sz="2000" dirty="0">
                    <a:solidFill>
                      <a:srgbClr val="FFC000"/>
                    </a:solidFill>
                  </a:rPr>
                  <a:t>) </a:t>
                </a:r>
                <a14:m>
                  <m:oMath xmlns:m="http://schemas.openxmlformats.org/officeDocument/2006/math">
                    <m:r>
                      <a:rPr lang="en-US" sz="2000" b="1">
                        <a:solidFill>
                          <a:srgbClr val="FFC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sym typeface="Wingdings" panose="05000000000000000000" pitchFamily="2" charset="2"/>
                      </a:rPr>
                      <m:t>⇌</m:t>
                    </m:r>
                  </m:oMath>
                </a14:m>
                <a:r>
                  <a:rPr lang="en-US" sz="2000" dirty="0">
                    <a:solidFill>
                      <a:srgbClr val="FFC000"/>
                    </a:solidFill>
                  </a:rPr>
                  <a:t> 2 HI (</a:t>
                </a:r>
                <a:r>
                  <a:rPr lang="en-US" sz="2000" i="1" dirty="0">
                    <a:solidFill>
                      <a:srgbClr val="FFC000"/>
                    </a:solidFill>
                  </a:rPr>
                  <a:t>g</a:t>
                </a:r>
                <a:r>
                  <a:rPr lang="en-US" sz="2000" dirty="0">
                    <a:solidFill>
                      <a:srgbClr val="FFC000"/>
                    </a:solidFill>
                  </a:rPr>
                  <a:t>)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2000" b="0" i="1" smtClean="0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</a:rPr>
                        <m:t>        </m:t>
                      </m:r>
                      <m:r>
                        <a:rPr lang="en-US" sz="2000" b="0" i="1" smtClean="0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</a:rPr>
                        <m:t>𝐾</m:t>
                      </m:r>
                      <m:r>
                        <a:rPr lang="en-US" sz="2000" b="0" i="0" smtClean="0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00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d>
                            <m:dPr>
                              <m:begChr m:val="["/>
                              <m:endChr m:val="]"/>
                              <m:ctrlPr>
                                <a:rPr lang="en-US" sz="2000">
                                  <a:solidFill>
                                    <a:srgbClr val="FFFF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m:rPr>
                                  <m:sty m:val="p"/>
                                </m:rPr>
                                <a:rPr lang="en-US" sz="2000" b="0" i="0" smtClean="0">
                                  <a:solidFill>
                                    <a:srgbClr val="FFFF00"/>
                                  </a:solidFill>
                                  <a:latin typeface="Cambria Math" panose="02040503050406030204" pitchFamily="18" charset="0"/>
                                </a:rPr>
                                <m:t>HI</m:t>
                              </m:r>
                            </m:e>
                          </m:d>
                          <m:r>
                            <a:rPr lang="en-US" sz="2000" b="0" i="0" baseline="30000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num>
                        <m:den>
                          <m:d>
                            <m:dPr>
                              <m:begChr m:val="["/>
                              <m:endChr m:val="]"/>
                              <m:ctrlPr>
                                <a:rPr lang="en-US" sz="2000">
                                  <a:solidFill>
                                    <a:srgbClr val="FFFF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m:rPr>
                                  <m:sty m:val="p"/>
                                </m:rPr>
                                <a:rPr lang="en-US" sz="2000" b="0" i="0" smtClean="0">
                                  <a:solidFill>
                                    <a:srgbClr val="FFFF00"/>
                                  </a:solidFill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  <m:r>
                                <a:rPr lang="en-US" sz="2000" b="0" i="0" baseline="-25000" smtClean="0">
                                  <a:solidFill>
                                    <a:srgbClr val="FFFF0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d>
                          <m:d>
                            <m:dPr>
                              <m:begChr m:val="["/>
                              <m:endChr m:val="]"/>
                              <m:ctrlPr>
                                <a:rPr lang="en-US" sz="2000">
                                  <a:solidFill>
                                    <a:srgbClr val="FFFF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m:rPr>
                                  <m:sty m:val="p"/>
                                </m:rPr>
                                <a:rPr lang="en-US" sz="2000" b="0" i="0" smtClean="0">
                                  <a:solidFill>
                                    <a:srgbClr val="FFFF00"/>
                                  </a:solidFill>
                                  <a:latin typeface="Cambria Math" panose="02040503050406030204" pitchFamily="18" charset="0"/>
                                </a:rPr>
                                <m:t>I</m:t>
                              </m:r>
                              <m:r>
                                <a:rPr lang="en-US" sz="2000" i="0" baseline="-25000">
                                  <a:solidFill>
                                    <a:srgbClr val="FFFF0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d>
                        </m:den>
                      </m:f>
                    </m:oMath>
                  </m:oMathPara>
                </a14:m>
                <a:endParaRPr lang="en-US" sz="2000" dirty="0"/>
              </a:p>
            </p:txBody>
          </p:sp>
        </mc:Choice>
        <mc:Fallback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CE3237AE-3645-1663-843B-18C97F80B96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72533" y="1101968"/>
                <a:ext cx="8387645" cy="5476847"/>
              </a:xfrm>
              <a:blipFill>
                <a:blip r:embed="rId2"/>
                <a:stretch>
                  <a:fillRect l="-799" t="-66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6FE20B1-171C-A76B-DC8D-778F63CA80C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E0D52F3-54CA-4E42-BFA9-4F0301781925}" type="slidenum">
              <a:rPr lang="en-US" smtClean="0"/>
              <a:pPr/>
              <a:t>25</a:t>
            </a:fld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17651918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4EB333-E544-0A2C-0076-8FBD0AC708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7FE4023A-7FDE-9B73-724E-ACAC1DA93C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4067" y="303227"/>
            <a:ext cx="8421512" cy="646331"/>
          </a:xfrm>
        </p:spPr>
        <p:txBody>
          <a:bodyPr/>
          <a:lstStyle/>
          <a:p>
            <a:r>
              <a:rPr lang="en-US" sz="3600" dirty="0"/>
              <a:t>Practice: Predicting What Predominates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3943C2CD-B4BB-F4D5-041A-37C97BCF212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372533" y="1101968"/>
                <a:ext cx="8387645" cy="5476847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sz="2000" dirty="0"/>
                  <a:t>Predict if a system has only products, only reactants, or appreciable amounts of reactants and products</a:t>
                </a:r>
              </a:p>
              <a:p>
                <a:r>
                  <a:rPr lang="en-US" sz="2000" dirty="0">
                    <a:solidFill>
                      <a:srgbClr val="FFC000"/>
                    </a:solidFill>
                  </a:rPr>
                  <a:t>H</a:t>
                </a:r>
                <a:r>
                  <a:rPr lang="en-US" sz="2000" baseline="-25000" dirty="0">
                    <a:solidFill>
                      <a:srgbClr val="FFC000"/>
                    </a:solidFill>
                  </a:rPr>
                  <a:t>2</a:t>
                </a:r>
                <a:r>
                  <a:rPr lang="en-US" sz="2000" dirty="0">
                    <a:solidFill>
                      <a:srgbClr val="FFC000"/>
                    </a:solidFill>
                  </a:rPr>
                  <a:t> (</a:t>
                </a:r>
                <a:r>
                  <a:rPr lang="en-US" sz="2000" i="1" dirty="0">
                    <a:solidFill>
                      <a:srgbClr val="FFC000"/>
                    </a:solidFill>
                  </a:rPr>
                  <a:t>g</a:t>
                </a:r>
                <a:r>
                  <a:rPr lang="en-US" sz="2000" dirty="0">
                    <a:solidFill>
                      <a:srgbClr val="FFC000"/>
                    </a:solidFill>
                  </a:rPr>
                  <a:t>) + I</a:t>
                </a:r>
                <a:r>
                  <a:rPr lang="en-US" sz="2000" baseline="-25000" dirty="0">
                    <a:solidFill>
                      <a:srgbClr val="FFC000"/>
                    </a:solidFill>
                  </a:rPr>
                  <a:t>2</a:t>
                </a:r>
                <a:r>
                  <a:rPr lang="en-US" sz="2000" dirty="0">
                    <a:solidFill>
                      <a:srgbClr val="FFC000"/>
                    </a:solidFill>
                  </a:rPr>
                  <a:t> (</a:t>
                </a:r>
                <a:r>
                  <a:rPr lang="en-US" sz="2000" i="1" dirty="0">
                    <a:solidFill>
                      <a:srgbClr val="FFC000"/>
                    </a:solidFill>
                  </a:rPr>
                  <a:t>g</a:t>
                </a:r>
                <a:r>
                  <a:rPr lang="en-US" sz="2000" dirty="0">
                    <a:solidFill>
                      <a:srgbClr val="FFC000"/>
                    </a:solidFill>
                  </a:rPr>
                  <a:t>) </a:t>
                </a:r>
                <a14:m>
                  <m:oMath xmlns:m="http://schemas.openxmlformats.org/officeDocument/2006/math">
                    <m:r>
                      <a:rPr lang="en-US" sz="2000" b="1">
                        <a:solidFill>
                          <a:srgbClr val="FFC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sym typeface="Wingdings" panose="05000000000000000000" pitchFamily="2" charset="2"/>
                      </a:rPr>
                      <m:t>⇌</m:t>
                    </m:r>
                  </m:oMath>
                </a14:m>
                <a:r>
                  <a:rPr lang="en-US" sz="2000" dirty="0">
                    <a:solidFill>
                      <a:srgbClr val="FFC000"/>
                    </a:solidFill>
                  </a:rPr>
                  <a:t> 2 HI (</a:t>
                </a:r>
                <a:r>
                  <a:rPr lang="en-US" sz="2000" i="1" dirty="0">
                    <a:solidFill>
                      <a:srgbClr val="FFC000"/>
                    </a:solidFill>
                  </a:rPr>
                  <a:t>g</a:t>
                </a:r>
                <a:r>
                  <a:rPr lang="en-US" sz="2000" dirty="0">
                    <a:solidFill>
                      <a:srgbClr val="FFC000"/>
                    </a:solidFill>
                  </a:rPr>
                  <a:t>)     </a:t>
                </a:r>
                <a:r>
                  <a:rPr lang="en-US" sz="2000" i="1" dirty="0">
                    <a:solidFill>
                      <a:srgbClr val="FFC000"/>
                    </a:solidFill>
                  </a:rPr>
                  <a:t>K</a:t>
                </a:r>
                <a:r>
                  <a:rPr lang="en-US" sz="2000" dirty="0">
                    <a:solidFill>
                      <a:srgbClr val="FFC000"/>
                    </a:solidFill>
                  </a:rPr>
                  <a:t> = 54  </a:t>
                </a:r>
                <a:r>
                  <a:rPr lang="en-US" sz="1600" dirty="0"/>
                  <a:t>(at </a:t>
                </a:r>
                <a:r>
                  <a:rPr lang="en-US" sz="1600" i="1" dirty="0"/>
                  <a:t>T</a:t>
                </a:r>
                <a:r>
                  <a:rPr lang="en-US" sz="1600" dirty="0"/>
                  <a:t> = 700 K)</a:t>
                </a:r>
              </a:p>
              <a:p>
                <a:pPr marL="0" indent="0" algn="ctr">
                  <a:buNone/>
                </a:pPr>
                <a:r>
                  <a:rPr lang="en-US" sz="2000" dirty="0"/>
                  <a:t>Will substantially have mix of products and reactants</a:t>
                </a:r>
                <a:endParaRPr lang="en-US" sz="2800" dirty="0"/>
              </a:p>
              <a:p>
                <a:r>
                  <a:rPr lang="en-US" sz="2000" dirty="0">
                    <a:solidFill>
                      <a:srgbClr val="FFC000"/>
                    </a:solidFill>
                  </a:rPr>
                  <a:t>2 CO</a:t>
                </a:r>
                <a:r>
                  <a:rPr lang="en-US" sz="2000" baseline="-25000" dirty="0">
                    <a:solidFill>
                      <a:srgbClr val="FFC000"/>
                    </a:solidFill>
                  </a:rPr>
                  <a:t>2</a:t>
                </a:r>
                <a:r>
                  <a:rPr lang="en-US" sz="2000" dirty="0">
                    <a:solidFill>
                      <a:srgbClr val="FFC000"/>
                    </a:solidFill>
                  </a:rPr>
                  <a:t> (</a:t>
                </a:r>
                <a:r>
                  <a:rPr lang="en-US" sz="2000" i="1" dirty="0">
                    <a:solidFill>
                      <a:srgbClr val="FFC000"/>
                    </a:solidFill>
                  </a:rPr>
                  <a:t>g</a:t>
                </a:r>
                <a:r>
                  <a:rPr lang="en-US" sz="2000" dirty="0">
                    <a:solidFill>
                      <a:srgbClr val="FFC000"/>
                    </a:solidFill>
                  </a:rPr>
                  <a:t>) </a:t>
                </a:r>
                <a14:m>
                  <m:oMath xmlns:m="http://schemas.openxmlformats.org/officeDocument/2006/math">
                    <m:r>
                      <a:rPr lang="en-US" sz="2000" b="1">
                        <a:solidFill>
                          <a:srgbClr val="FFC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sym typeface="Wingdings" panose="05000000000000000000" pitchFamily="2" charset="2"/>
                      </a:rPr>
                      <m:t>⇌</m:t>
                    </m:r>
                  </m:oMath>
                </a14:m>
                <a:r>
                  <a:rPr lang="en-US" sz="2000" dirty="0">
                    <a:solidFill>
                      <a:srgbClr val="FFC000"/>
                    </a:solidFill>
                  </a:rPr>
                  <a:t> 2 CO (</a:t>
                </a:r>
                <a:r>
                  <a:rPr lang="en-US" sz="2000" i="1" dirty="0">
                    <a:solidFill>
                      <a:srgbClr val="FFC000"/>
                    </a:solidFill>
                  </a:rPr>
                  <a:t>g</a:t>
                </a:r>
                <a:r>
                  <a:rPr lang="en-US" sz="2000" dirty="0">
                    <a:solidFill>
                      <a:srgbClr val="FFC000"/>
                    </a:solidFill>
                  </a:rPr>
                  <a:t>) + O</a:t>
                </a:r>
                <a:r>
                  <a:rPr lang="en-US" sz="2000" baseline="-25000" dirty="0">
                    <a:solidFill>
                      <a:srgbClr val="FFC000"/>
                    </a:solidFill>
                  </a:rPr>
                  <a:t>2</a:t>
                </a:r>
                <a:r>
                  <a:rPr lang="en-US" sz="2000" dirty="0">
                    <a:solidFill>
                      <a:srgbClr val="FFC000"/>
                    </a:solidFill>
                  </a:rPr>
                  <a:t> (g)   </a:t>
                </a:r>
                <a:r>
                  <a:rPr lang="en-US" sz="2000" i="1" dirty="0">
                    <a:solidFill>
                      <a:srgbClr val="FFC000"/>
                    </a:solidFill>
                  </a:rPr>
                  <a:t>K</a:t>
                </a:r>
                <a:r>
                  <a:rPr lang="en-US" sz="2000" dirty="0">
                    <a:solidFill>
                      <a:srgbClr val="FFC000"/>
                    </a:solidFill>
                  </a:rPr>
                  <a:t> = 3.1 × 10</a:t>
                </a:r>
                <a:r>
                  <a:rPr lang="en-US" sz="2000" baseline="30000" dirty="0">
                    <a:solidFill>
                      <a:srgbClr val="FFC000"/>
                    </a:solidFill>
                  </a:rPr>
                  <a:t>-18</a:t>
                </a:r>
                <a:r>
                  <a:rPr lang="en-US" sz="2000" dirty="0">
                    <a:solidFill>
                      <a:srgbClr val="FFC000"/>
                    </a:solidFill>
                  </a:rPr>
                  <a:t>  </a:t>
                </a:r>
                <a:r>
                  <a:rPr lang="en-US" sz="1600" dirty="0"/>
                  <a:t>(at </a:t>
                </a:r>
                <a:r>
                  <a:rPr lang="en-US" sz="1600" i="1" dirty="0"/>
                  <a:t>T</a:t>
                </a:r>
                <a:r>
                  <a:rPr lang="en-US" sz="1600" dirty="0"/>
                  <a:t> = 1200K)</a:t>
                </a:r>
                <a:endParaRPr lang="en-US" sz="2000" dirty="0"/>
              </a:p>
              <a:p>
                <a:pPr marL="0" indent="0" algn="ctr">
                  <a:buNone/>
                </a:pPr>
                <a:r>
                  <a:rPr lang="en-US" sz="2000" dirty="0"/>
                  <a:t>Strongly favors reactant formation and little products</a:t>
                </a:r>
                <a:endParaRPr lang="en-US" sz="2800" dirty="0"/>
              </a:p>
              <a:p>
                <a:r>
                  <a:rPr lang="en-US" sz="2000" dirty="0">
                    <a:solidFill>
                      <a:srgbClr val="FFC000"/>
                    </a:solidFill>
                  </a:rPr>
                  <a:t>PCl</a:t>
                </a:r>
                <a:r>
                  <a:rPr lang="en-US" sz="2000" baseline="-25000" dirty="0">
                    <a:solidFill>
                      <a:srgbClr val="FFC000"/>
                    </a:solidFill>
                  </a:rPr>
                  <a:t>5</a:t>
                </a:r>
                <a:r>
                  <a:rPr lang="en-US" sz="2000" dirty="0">
                    <a:solidFill>
                      <a:srgbClr val="FFC000"/>
                    </a:solidFill>
                  </a:rPr>
                  <a:t> (</a:t>
                </a:r>
                <a:r>
                  <a:rPr lang="en-US" sz="2000" i="1" dirty="0">
                    <a:solidFill>
                      <a:srgbClr val="FFC000"/>
                    </a:solidFill>
                  </a:rPr>
                  <a:t>g</a:t>
                </a:r>
                <a:r>
                  <a:rPr lang="en-US" sz="2000" dirty="0">
                    <a:solidFill>
                      <a:srgbClr val="FFC000"/>
                    </a:solidFill>
                  </a:rPr>
                  <a:t>) </a:t>
                </a:r>
                <a14:m>
                  <m:oMath xmlns:m="http://schemas.openxmlformats.org/officeDocument/2006/math">
                    <m:r>
                      <a:rPr lang="en-US" sz="2000" b="1">
                        <a:solidFill>
                          <a:srgbClr val="FFC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sym typeface="Wingdings" panose="05000000000000000000" pitchFamily="2" charset="2"/>
                      </a:rPr>
                      <m:t>⇌</m:t>
                    </m:r>
                  </m:oMath>
                </a14:m>
                <a:r>
                  <a:rPr lang="en-US" sz="2000" dirty="0">
                    <a:solidFill>
                      <a:srgbClr val="FFC000"/>
                    </a:solidFill>
                  </a:rPr>
                  <a:t> PCl</a:t>
                </a:r>
                <a:r>
                  <a:rPr lang="en-US" sz="2000" baseline="-25000" dirty="0">
                    <a:solidFill>
                      <a:srgbClr val="FFC000"/>
                    </a:solidFill>
                  </a:rPr>
                  <a:t>3</a:t>
                </a:r>
                <a:r>
                  <a:rPr lang="en-US" sz="2000" dirty="0">
                    <a:solidFill>
                      <a:srgbClr val="FFC000"/>
                    </a:solidFill>
                  </a:rPr>
                  <a:t> (</a:t>
                </a:r>
                <a:r>
                  <a:rPr lang="en-US" sz="2000" i="1" dirty="0">
                    <a:solidFill>
                      <a:srgbClr val="FFC000"/>
                    </a:solidFill>
                  </a:rPr>
                  <a:t>g</a:t>
                </a:r>
                <a:r>
                  <a:rPr lang="en-US" sz="2000" dirty="0">
                    <a:solidFill>
                      <a:srgbClr val="FFC000"/>
                    </a:solidFill>
                  </a:rPr>
                  <a:t>) + Cl</a:t>
                </a:r>
                <a:r>
                  <a:rPr lang="en-US" sz="2000" baseline="-25000" dirty="0">
                    <a:solidFill>
                      <a:srgbClr val="FFC000"/>
                    </a:solidFill>
                  </a:rPr>
                  <a:t>2</a:t>
                </a:r>
                <a:r>
                  <a:rPr lang="en-US" sz="2000" dirty="0">
                    <a:solidFill>
                      <a:srgbClr val="FFC000"/>
                    </a:solidFill>
                  </a:rPr>
                  <a:t> (g)     </a:t>
                </a:r>
                <a:r>
                  <a:rPr lang="en-US" sz="2000" i="1" dirty="0">
                    <a:solidFill>
                      <a:srgbClr val="FFC000"/>
                    </a:solidFill>
                  </a:rPr>
                  <a:t>K</a:t>
                </a:r>
                <a:r>
                  <a:rPr lang="en-US" sz="2000" dirty="0">
                    <a:solidFill>
                      <a:srgbClr val="FFC000"/>
                    </a:solidFill>
                  </a:rPr>
                  <a:t> = 97  </a:t>
                </a:r>
                <a:r>
                  <a:rPr lang="en-US" sz="1600" dirty="0"/>
                  <a:t>(at </a:t>
                </a:r>
                <a:r>
                  <a:rPr lang="en-US" sz="1600" i="1" dirty="0"/>
                  <a:t>T</a:t>
                </a:r>
                <a:r>
                  <a:rPr lang="en-US" sz="1600" dirty="0"/>
                  <a:t> = 613 K)</a:t>
                </a:r>
                <a:endParaRPr lang="en-US" sz="2000" dirty="0"/>
              </a:p>
              <a:p>
                <a:pPr marL="0" indent="0" algn="ctr">
                  <a:buNone/>
                </a:pPr>
                <a:r>
                  <a:rPr lang="en-US" sz="2000" dirty="0"/>
                  <a:t>Substantial presence of both reactants and products</a:t>
                </a:r>
              </a:p>
              <a:p>
                <a:r>
                  <a:rPr lang="en-US" sz="2000" dirty="0">
                    <a:solidFill>
                      <a:srgbClr val="FFC000"/>
                    </a:solidFill>
                  </a:rPr>
                  <a:t>2 O</a:t>
                </a:r>
                <a:r>
                  <a:rPr lang="en-US" sz="2000" baseline="-25000" dirty="0">
                    <a:solidFill>
                      <a:srgbClr val="FFC000"/>
                    </a:solidFill>
                  </a:rPr>
                  <a:t>3</a:t>
                </a:r>
                <a:r>
                  <a:rPr lang="en-US" sz="2000" dirty="0">
                    <a:solidFill>
                      <a:srgbClr val="FFC000"/>
                    </a:solidFill>
                  </a:rPr>
                  <a:t> (</a:t>
                </a:r>
                <a:r>
                  <a:rPr lang="en-US" sz="2000" i="1" dirty="0">
                    <a:solidFill>
                      <a:srgbClr val="FFC000"/>
                    </a:solidFill>
                  </a:rPr>
                  <a:t>g</a:t>
                </a:r>
                <a:r>
                  <a:rPr lang="en-US" sz="2000" dirty="0">
                    <a:solidFill>
                      <a:srgbClr val="FFC000"/>
                    </a:solidFill>
                  </a:rPr>
                  <a:t>) </a:t>
                </a:r>
                <a14:m>
                  <m:oMath xmlns:m="http://schemas.openxmlformats.org/officeDocument/2006/math">
                    <m:r>
                      <a:rPr lang="en-US" sz="2000" b="1">
                        <a:solidFill>
                          <a:srgbClr val="FFC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sym typeface="Wingdings" panose="05000000000000000000" pitchFamily="2" charset="2"/>
                      </a:rPr>
                      <m:t>⇌</m:t>
                    </m:r>
                  </m:oMath>
                </a14:m>
                <a:r>
                  <a:rPr lang="en-US" sz="2000" dirty="0">
                    <a:solidFill>
                      <a:srgbClr val="FFC000"/>
                    </a:solidFill>
                  </a:rPr>
                  <a:t> 3 O</a:t>
                </a:r>
                <a:r>
                  <a:rPr lang="en-US" sz="2000" baseline="-25000" dirty="0">
                    <a:solidFill>
                      <a:srgbClr val="FFC000"/>
                    </a:solidFill>
                  </a:rPr>
                  <a:t>2</a:t>
                </a:r>
                <a:r>
                  <a:rPr lang="en-US" sz="2000" dirty="0">
                    <a:solidFill>
                      <a:srgbClr val="FFC000"/>
                    </a:solidFill>
                  </a:rPr>
                  <a:t> (</a:t>
                </a:r>
                <a:r>
                  <a:rPr lang="en-US" sz="2000" i="1" dirty="0">
                    <a:solidFill>
                      <a:srgbClr val="FFC000"/>
                    </a:solidFill>
                  </a:rPr>
                  <a:t>g</a:t>
                </a:r>
                <a:r>
                  <a:rPr lang="en-US" sz="2000" dirty="0">
                    <a:solidFill>
                      <a:srgbClr val="FFC000"/>
                    </a:solidFill>
                  </a:rPr>
                  <a:t>)     </a:t>
                </a:r>
                <a:r>
                  <a:rPr lang="en-US" sz="2000" i="1" dirty="0">
                    <a:solidFill>
                      <a:srgbClr val="FFC000"/>
                    </a:solidFill>
                  </a:rPr>
                  <a:t>K</a:t>
                </a:r>
                <a:r>
                  <a:rPr lang="en-US" sz="2000" dirty="0">
                    <a:solidFill>
                      <a:srgbClr val="FFC000"/>
                    </a:solidFill>
                  </a:rPr>
                  <a:t> = 5.9 × 10</a:t>
                </a:r>
                <a:r>
                  <a:rPr lang="en-US" sz="2000" baseline="30000" dirty="0">
                    <a:solidFill>
                      <a:srgbClr val="FFC000"/>
                    </a:solidFill>
                  </a:rPr>
                  <a:t>55</a:t>
                </a:r>
                <a:r>
                  <a:rPr lang="en-US" sz="2000" dirty="0">
                    <a:solidFill>
                      <a:srgbClr val="FFC000"/>
                    </a:solidFill>
                  </a:rPr>
                  <a:t>  </a:t>
                </a:r>
                <a:r>
                  <a:rPr lang="en-US" sz="1600" dirty="0"/>
                  <a:t>(at </a:t>
                </a:r>
                <a:r>
                  <a:rPr lang="en-US" sz="1600" i="1" dirty="0"/>
                  <a:t>T</a:t>
                </a:r>
                <a:r>
                  <a:rPr lang="en-US" sz="1600" dirty="0"/>
                  <a:t> = 298 K)</a:t>
                </a:r>
              </a:p>
              <a:p>
                <a:pPr marL="0" indent="0" algn="ctr">
                  <a:buNone/>
                </a:pPr>
                <a:r>
                  <a:rPr lang="en-US" sz="2000" dirty="0"/>
                  <a:t>Favors products, forward reaction to completion</a:t>
                </a:r>
              </a:p>
            </p:txBody>
          </p:sp>
        </mc:Choice>
        <mc:Fallback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3943C2CD-B4BB-F4D5-041A-37C97BCF212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72533" y="1101968"/>
                <a:ext cx="8387645" cy="5476847"/>
              </a:xfrm>
              <a:blipFill>
                <a:blip r:embed="rId2"/>
                <a:stretch>
                  <a:fillRect l="-799" t="-66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91E3A6F-4E2F-07A7-DF28-4BBA3DF7CF3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E0D52F3-54CA-4E42-BFA9-4F0301781925}" type="slidenum">
              <a:rPr lang="en-US" smtClean="0"/>
              <a:pPr/>
              <a:t>26</a:t>
            </a:fld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40165566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F0B9B5-6008-22EB-EBC5-6D89A017A0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2F83D30-C6F7-8DF3-A502-E967586621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4067" y="272450"/>
            <a:ext cx="8421512" cy="707886"/>
          </a:xfrm>
        </p:spPr>
        <p:txBody>
          <a:bodyPr/>
          <a:lstStyle/>
          <a:p>
            <a:r>
              <a:rPr lang="en-US" sz="4000" dirty="0"/>
              <a:t>Practice: Temperature and </a:t>
            </a:r>
            <a:r>
              <a:rPr lang="en-US" sz="4000" i="1" dirty="0"/>
              <a:t>K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1D9FB8EB-14BD-B6CE-3F0D-211A5056B67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372533" y="1101968"/>
                <a:ext cx="8387645" cy="5476847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sz="2000" dirty="0"/>
                  <a:t>At which temperature would you expect to find highest proportion of H</a:t>
                </a:r>
                <a:r>
                  <a:rPr lang="en-US" sz="2000" baseline="-25000" dirty="0"/>
                  <a:t>2</a:t>
                </a:r>
                <a:r>
                  <a:rPr lang="en-US" sz="2000" dirty="0"/>
                  <a:t> and N</a:t>
                </a:r>
                <a:r>
                  <a:rPr lang="en-US" sz="2000" baseline="-25000" dirty="0"/>
                  <a:t>2</a:t>
                </a:r>
                <a:r>
                  <a:rPr lang="en-US" sz="2000" dirty="0"/>
                  <a:t> at equilibrium? The balanced chemical equation is:</a:t>
                </a:r>
              </a:p>
              <a:p>
                <a:pPr marL="0" indent="0" algn="ctr">
                  <a:buNone/>
                </a:pPr>
                <a:r>
                  <a:rPr lang="en-US" sz="2000" dirty="0">
                    <a:solidFill>
                      <a:srgbClr val="FFC000"/>
                    </a:solidFill>
                  </a:rPr>
                  <a:t>3 H</a:t>
                </a:r>
                <a:r>
                  <a:rPr lang="en-US" sz="2000" baseline="-25000" dirty="0">
                    <a:solidFill>
                      <a:srgbClr val="FFC000"/>
                    </a:solidFill>
                  </a:rPr>
                  <a:t>2</a:t>
                </a:r>
                <a:r>
                  <a:rPr lang="en-US" sz="2000" dirty="0">
                    <a:solidFill>
                      <a:srgbClr val="FFC000"/>
                    </a:solidFill>
                  </a:rPr>
                  <a:t> (</a:t>
                </a:r>
                <a:r>
                  <a:rPr lang="en-US" sz="2000" i="1" dirty="0">
                    <a:solidFill>
                      <a:srgbClr val="FFC000"/>
                    </a:solidFill>
                  </a:rPr>
                  <a:t>g</a:t>
                </a:r>
                <a:r>
                  <a:rPr lang="en-US" sz="2000" dirty="0">
                    <a:solidFill>
                      <a:srgbClr val="FFC000"/>
                    </a:solidFill>
                  </a:rPr>
                  <a:t>) + N</a:t>
                </a:r>
                <a:r>
                  <a:rPr lang="en-US" sz="2000" baseline="-25000" dirty="0">
                    <a:solidFill>
                      <a:srgbClr val="FFC000"/>
                    </a:solidFill>
                  </a:rPr>
                  <a:t>2</a:t>
                </a:r>
                <a:r>
                  <a:rPr lang="en-US" sz="2000" dirty="0">
                    <a:solidFill>
                      <a:srgbClr val="FFC000"/>
                    </a:solidFill>
                  </a:rPr>
                  <a:t> (</a:t>
                </a:r>
                <a:r>
                  <a:rPr lang="en-US" sz="2000" i="1" dirty="0">
                    <a:solidFill>
                      <a:srgbClr val="FFC000"/>
                    </a:solidFill>
                  </a:rPr>
                  <a:t>g</a:t>
                </a:r>
                <a:r>
                  <a:rPr lang="en-US" sz="2000" dirty="0">
                    <a:solidFill>
                      <a:srgbClr val="FFC000"/>
                    </a:solidFill>
                  </a:rPr>
                  <a:t>) </a:t>
                </a:r>
                <a14:m>
                  <m:oMath xmlns:m="http://schemas.openxmlformats.org/officeDocument/2006/math">
                    <m:r>
                      <a:rPr lang="en-US" sz="2000" b="1">
                        <a:solidFill>
                          <a:srgbClr val="FFC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sym typeface="Wingdings" panose="05000000000000000000" pitchFamily="2" charset="2"/>
                      </a:rPr>
                      <m:t>⇌</m:t>
                    </m:r>
                  </m:oMath>
                </a14:m>
                <a:r>
                  <a:rPr lang="en-US" sz="2000" dirty="0">
                    <a:solidFill>
                      <a:srgbClr val="FFC000"/>
                    </a:solidFill>
                  </a:rPr>
                  <a:t> 2 NH</a:t>
                </a:r>
                <a:r>
                  <a:rPr lang="en-US" sz="2000" baseline="-25000" dirty="0">
                    <a:solidFill>
                      <a:srgbClr val="FFC000"/>
                    </a:solidFill>
                  </a:rPr>
                  <a:t>3</a:t>
                </a:r>
                <a:r>
                  <a:rPr lang="en-US" sz="2000" dirty="0">
                    <a:solidFill>
                      <a:srgbClr val="FFC000"/>
                    </a:solidFill>
                  </a:rPr>
                  <a:t> (</a:t>
                </a:r>
                <a:r>
                  <a:rPr lang="en-US" sz="2000" i="1" dirty="0">
                    <a:solidFill>
                      <a:srgbClr val="FFC000"/>
                    </a:solidFill>
                  </a:rPr>
                  <a:t>g</a:t>
                </a:r>
                <a:r>
                  <a:rPr lang="en-US" sz="2000" dirty="0">
                    <a:solidFill>
                      <a:srgbClr val="FFC000"/>
                    </a:solidFill>
                  </a:rPr>
                  <a:t>)</a:t>
                </a:r>
                <a:endParaRPr lang="en-US" sz="2000" dirty="0"/>
              </a:p>
              <a:p>
                <a:pPr marL="0" indent="0">
                  <a:buNone/>
                </a:pPr>
                <a:r>
                  <a:rPr lang="en-US" sz="2000" dirty="0"/>
                  <a:t>The equilibrium constants for this are shown at the different temperatures:</a:t>
                </a:r>
              </a:p>
              <a:p>
                <a:r>
                  <a:rPr lang="en-US" i="1" dirty="0">
                    <a:solidFill>
                      <a:srgbClr val="FFC000"/>
                    </a:solidFill>
                  </a:rPr>
                  <a:t>K</a:t>
                </a:r>
                <a:r>
                  <a:rPr lang="en-US" baseline="-25000" dirty="0">
                    <a:solidFill>
                      <a:srgbClr val="FFC000"/>
                    </a:solidFill>
                  </a:rPr>
                  <a:t>25°C</a:t>
                </a:r>
                <a:r>
                  <a:rPr lang="en-US" dirty="0">
                    <a:solidFill>
                      <a:srgbClr val="FFC000"/>
                    </a:solidFill>
                  </a:rPr>
                  <a:t> = 3.3 × 10</a:t>
                </a:r>
                <a:r>
                  <a:rPr lang="en-US" baseline="30000" dirty="0">
                    <a:solidFill>
                      <a:srgbClr val="FFC000"/>
                    </a:solidFill>
                  </a:rPr>
                  <a:t>8</a:t>
                </a:r>
              </a:p>
              <a:p>
                <a:r>
                  <a:rPr lang="en-US" i="1" dirty="0">
                    <a:solidFill>
                      <a:srgbClr val="FFC000"/>
                    </a:solidFill>
                  </a:rPr>
                  <a:t>K</a:t>
                </a:r>
                <a:r>
                  <a:rPr lang="en-US" baseline="-25000" dirty="0">
                    <a:solidFill>
                      <a:srgbClr val="FFC000"/>
                    </a:solidFill>
                  </a:rPr>
                  <a:t>177°C</a:t>
                </a:r>
                <a:r>
                  <a:rPr lang="en-US" dirty="0">
                    <a:solidFill>
                      <a:srgbClr val="FFC000"/>
                    </a:solidFill>
                  </a:rPr>
                  <a:t> = 2.6 × 10</a:t>
                </a:r>
                <a:r>
                  <a:rPr lang="en-US" baseline="30000" dirty="0">
                    <a:solidFill>
                      <a:srgbClr val="FFC000"/>
                    </a:solidFill>
                  </a:rPr>
                  <a:t>3</a:t>
                </a:r>
              </a:p>
              <a:p>
                <a:r>
                  <a:rPr lang="en-US" i="1" dirty="0">
                    <a:solidFill>
                      <a:srgbClr val="FFC000"/>
                    </a:solidFill>
                  </a:rPr>
                  <a:t>K</a:t>
                </a:r>
                <a:r>
                  <a:rPr lang="en-US" baseline="-25000" dirty="0">
                    <a:solidFill>
                      <a:srgbClr val="FFC000"/>
                    </a:solidFill>
                  </a:rPr>
                  <a:t>327°C</a:t>
                </a:r>
                <a:r>
                  <a:rPr lang="en-US" dirty="0">
                    <a:solidFill>
                      <a:srgbClr val="FFC000"/>
                    </a:solidFill>
                  </a:rPr>
                  <a:t> = 4.1</a:t>
                </a:r>
                <a:endParaRPr lang="en-US" baseline="30000" dirty="0">
                  <a:solidFill>
                    <a:srgbClr val="FFC000"/>
                  </a:solidFill>
                </a:endParaRPr>
              </a:p>
              <a:p>
                <a:pPr marL="0" indent="0">
                  <a:buNone/>
                </a:pPr>
                <a:r>
                  <a:rPr lang="en-US" sz="2200" dirty="0">
                    <a:solidFill>
                      <a:srgbClr val="FFFF00"/>
                    </a:solidFill>
                  </a:rPr>
                  <a:t>The question asks under what conditions the reactants would be favored and product formation is less favored. To favor reactants, </a:t>
                </a:r>
                <a:r>
                  <a:rPr lang="en-US" sz="2200" i="1" dirty="0">
                    <a:solidFill>
                      <a:srgbClr val="FFFF00"/>
                    </a:solidFill>
                  </a:rPr>
                  <a:t>K</a:t>
                </a:r>
                <a:r>
                  <a:rPr lang="en-US" sz="2200" dirty="0">
                    <a:solidFill>
                      <a:srgbClr val="FFFF00"/>
                    </a:solidFill>
                  </a:rPr>
                  <a:t> should decrease. From the series of </a:t>
                </a:r>
                <a:r>
                  <a:rPr lang="en-US" sz="2200" i="1" dirty="0">
                    <a:solidFill>
                      <a:srgbClr val="FFFF00"/>
                    </a:solidFill>
                  </a:rPr>
                  <a:t>K</a:t>
                </a:r>
                <a:r>
                  <a:rPr lang="en-US" sz="2200" dirty="0">
                    <a:solidFill>
                      <a:srgbClr val="FFFF00"/>
                    </a:solidFill>
                  </a:rPr>
                  <a:t> values, it is clear that as the temperature goes higher, </a:t>
                </a:r>
                <a:r>
                  <a:rPr lang="en-US" sz="2200" i="1" dirty="0">
                    <a:solidFill>
                      <a:srgbClr val="FFFF00"/>
                    </a:solidFill>
                  </a:rPr>
                  <a:t>K</a:t>
                </a:r>
                <a:r>
                  <a:rPr lang="en-US" sz="2200" dirty="0">
                    <a:solidFill>
                      <a:srgbClr val="FFFF00"/>
                    </a:solidFill>
                  </a:rPr>
                  <a:t> decreases. So a higher temperature would favor reactants. A temperature of 327°C is best.</a:t>
                </a:r>
              </a:p>
              <a:p>
                <a:endParaRPr lang="en-US" sz="1600" baseline="30000" dirty="0"/>
              </a:p>
            </p:txBody>
          </p:sp>
        </mc:Choice>
        <mc:Fallback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1D9FB8EB-14BD-B6CE-3F0D-211A5056B67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72533" y="1101968"/>
                <a:ext cx="8387645" cy="5476847"/>
              </a:xfrm>
              <a:blipFill>
                <a:blip r:embed="rId2"/>
                <a:stretch>
                  <a:fillRect l="-1090" t="-668" r="-727" b="-167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26191E7-605B-9785-0978-AAC7AE6EAD6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E0D52F3-54CA-4E42-BFA9-4F0301781925}" type="slidenum">
              <a:rPr lang="en-US" smtClean="0"/>
              <a:pPr/>
              <a:t>27</a:t>
            </a:fld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37831230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CABDC5-32F9-5417-AF7B-272020ACDF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B5251C46-167F-9025-04E9-90AA9821FA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4067" y="272450"/>
            <a:ext cx="8421512" cy="707886"/>
          </a:xfrm>
        </p:spPr>
        <p:txBody>
          <a:bodyPr/>
          <a:lstStyle/>
          <a:p>
            <a:r>
              <a:rPr lang="en-US" sz="4000" dirty="0"/>
              <a:t>Practice: Calculating </a:t>
            </a:r>
            <a:r>
              <a:rPr lang="en-US" sz="4000" i="1" dirty="0"/>
              <a:t>K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96A7771B-2BCD-1771-ADF5-1DB12A9A1A0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372533" y="1101968"/>
                <a:ext cx="8387645" cy="5476847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sz="2000" dirty="0"/>
                  <a:t>Given the following reaction</a:t>
                </a:r>
              </a:p>
              <a:p>
                <a:pPr marL="0" indent="0" algn="ctr">
                  <a:buNone/>
                </a:pPr>
                <a:r>
                  <a:rPr lang="en-US" sz="2000" dirty="0">
                    <a:solidFill>
                      <a:srgbClr val="FFC000"/>
                    </a:solidFill>
                  </a:rPr>
                  <a:t>SO</a:t>
                </a:r>
                <a:r>
                  <a:rPr lang="en-US" sz="2000" baseline="-25000" dirty="0">
                    <a:solidFill>
                      <a:srgbClr val="FFC000"/>
                    </a:solidFill>
                  </a:rPr>
                  <a:t>2</a:t>
                </a:r>
                <a:r>
                  <a:rPr lang="en-US" sz="2000" dirty="0">
                    <a:solidFill>
                      <a:srgbClr val="FFC000"/>
                    </a:solidFill>
                  </a:rPr>
                  <a:t> (</a:t>
                </a:r>
                <a:r>
                  <a:rPr lang="en-US" sz="2000" i="1" dirty="0">
                    <a:solidFill>
                      <a:srgbClr val="FFC000"/>
                    </a:solidFill>
                  </a:rPr>
                  <a:t>g</a:t>
                </a:r>
                <a:r>
                  <a:rPr lang="en-US" sz="2000" dirty="0">
                    <a:solidFill>
                      <a:srgbClr val="FFC000"/>
                    </a:solidFill>
                  </a:rPr>
                  <a:t>) + NO</a:t>
                </a:r>
                <a:r>
                  <a:rPr lang="en-US" sz="2000" baseline="-25000" dirty="0">
                    <a:solidFill>
                      <a:srgbClr val="FFC000"/>
                    </a:solidFill>
                  </a:rPr>
                  <a:t>2</a:t>
                </a:r>
                <a:r>
                  <a:rPr lang="en-US" sz="2000" dirty="0">
                    <a:solidFill>
                      <a:srgbClr val="FFC000"/>
                    </a:solidFill>
                  </a:rPr>
                  <a:t> (</a:t>
                </a:r>
                <a:r>
                  <a:rPr lang="en-US" sz="2000" i="1" dirty="0">
                    <a:solidFill>
                      <a:srgbClr val="FFC000"/>
                    </a:solidFill>
                  </a:rPr>
                  <a:t>g</a:t>
                </a:r>
                <a:r>
                  <a:rPr lang="en-US" sz="2000" dirty="0">
                    <a:solidFill>
                      <a:srgbClr val="FFC000"/>
                    </a:solidFill>
                  </a:rPr>
                  <a:t>) </a:t>
                </a:r>
                <a14:m>
                  <m:oMath xmlns:m="http://schemas.openxmlformats.org/officeDocument/2006/math">
                    <m:r>
                      <a:rPr lang="en-US" sz="2000" b="1">
                        <a:solidFill>
                          <a:srgbClr val="FFC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sym typeface="Wingdings" panose="05000000000000000000" pitchFamily="2" charset="2"/>
                      </a:rPr>
                      <m:t>⇌</m:t>
                    </m:r>
                  </m:oMath>
                </a14:m>
                <a:r>
                  <a:rPr lang="en-US" sz="2000" dirty="0">
                    <a:solidFill>
                      <a:srgbClr val="FFC000"/>
                    </a:solidFill>
                  </a:rPr>
                  <a:t> SO</a:t>
                </a:r>
                <a:r>
                  <a:rPr lang="en-US" sz="2000" baseline="-25000" dirty="0">
                    <a:solidFill>
                      <a:srgbClr val="FFC000"/>
                    </a:solidFill>
                  </a:rPr>
                  <a:t>3</a:t>
                </a:r>
                <a:r>
                  <a:rPr lang="en-US" sz="2000" dirty="0">
                    <a:solidFill>
                      <a:srgbClr val="FFC000"/>
                    </a:solidFill>
                  </a:rPr>
                  <a:t> (</a:t>
                </a:r>
                <a:r>
                  <a:rPr lang="en-US" sz="2000" i="1" dirty="0">
                    <a:solidFill>
                      <a:srgbClr val="FFC000"/>
                    </a:solidFill>
                  </a:rPr>
                  <a:t>g</a:t>
                </a:r>
                <a:r>
                  <a:rPr lang="en-US" sz="2000" dirty="0">
                    <a:solidFill>
                      <a:srgbClr val="FFC000"/>
                    </a:solidFill>
                  </a:rPr>
                  <a:t>) + NO (</a:t>
                </a:r>
                <a:r>
                  <a:rPr lang="en-US" sz="2000" i="1" dirty="0">
                    <a:solidFill>
                      <a:srgbClr val="FFC000"/>
                    </a:solidFill>
                  </a:rPr>
                  <a:t>g</a:t>
                </a:r>
                <a:r>
                  <a:rPr lang="en-US" sz="2000" dirty="0">
                    <a:solidFill>
                      <a:srgbClr val="FFC000"/>
                    </a:solidFill>
                  </a:rPr>
                  <a:t>)</a:t>
                </a:r>
              </a:p>
              <a:p>
                <a:pPr marL="0" indent="0">
                  <a:buNone/>
                </a:pPr>
                <a:r>
                  <a:rPr lang="en-US" sz="2000" dirty="0"/>
                  <a:t>The following concentrations were found at equilibrium:</a:t>
                </a:r>
              </a:p>
              <a:p>
                <a:r>
                  <a:rPr lang="en-US" sz="2000" dirty="0">
                    <a:solidFill>
                      <a:srgbClr val="FFC000"/>
                    </a:solidFill>
                  </a:rPr>
                  <a:t>[SO</a:t>
                </a:r>
                <a:r>
                  <a:rPr lang="en-US" sz="2000" baseline="-25000" dirty="0">
                    <a:solidFill>
                      <a:srgbClr val="FFC000"/>
                    </a:solidFill>
                  </a:rPr>
                  <a:t>2</a:t>
                </a:r>
                <a:r>
                  <a:rPr lang="en-US" sz="2000" dirty="0">
                    <a:solidFill>
                      <a:srgbClr val="FFC000"/>
                    </a:solidFill>
                  </a:rPr>
                  <a:t>] = 1.20 </a:t>
                </a:r>
                <a:r>
                  <a:rPr lang="en-US" sz="2000" i="1" dirty="0">
                    <a:solidFill>
                      <a:srgbClr val="FFC000"/>
                    </a:solidFill>
                  </a:rPr>
                  <a:t>M</a:t>
                </a:r>
              </a:p>
              <a:p>
                <a:r>
                  <a:rPr lang="en-US" sz="2000" dirty="0">
                    <a:solidFill>
                      <a:srgbClr val="FFC000"/>
                    </a:solidFill>
                  </a:rPr>
                  <a:t>[NO</a:t>
                </a:r>
                <a:r>
                  <a:rPr lang="en-US" sz="2000" baseline="-25000" dirty="0">
                    <a:solidFill>
                      <a:srgbClr val="FFC000"/>
                    </a:solidFill>
                  </a:rPr>
                  <a:t>2</a:t>
                </a:r>
                <a:r>
                  <a:rPr lang="en-US" sz="2000" dirty="0">
                    <a:solidFill>
                      <a:srgbClr val="FFC000"/>
                    </a:solidFill>
                  </a:rPr>
                  <a:t>] = 0.60 </a:t>
                </a:r>
                <a:r>
                  <a:rPr lang="en-US" sz="2000" i="1" dirty="0">
                    <a:solidFill>
                      <a:srgbClr val="FFC000"/>
                    </a:solidFill>
                  </a:rPr>
                  <a:t>M</a:t>
                </a:r>
              </a:p>
              <a:p>
                <a:r>
                  <a:rPr lang="en-US" sz="2000" dirty="0">
                    <a:solidFill>
                      <a:srgbClr val="FFC000"/>
                    </a:solidFill>
                  </a:rPr>
                  <a:t>[NO] = 1.6 </a:t>
                </a:r>
                <a:r>
                  <a:rPr lang="en-US" sz="2000" i="1" dirty="0">
                    <a:solidFill>
                      <a:srgbClr val="FFC000"/>
                    </a:solidFill>
                  </a:rPr>
                  <a:t>M</a:t>
                </a:r>
              </a:p>
              <a:p>
                <a:r>
                  <a:rPr lang="en-US" sz="2000" dirty="0">
                    <a:solidFill>
                      <a:srgbClr val="FFC000"/>
                    </a:solidFill>
                  </a:rPr>
                  <a:t>[SO</a:t>
                </a:r>
                <a:r>
                  <a:rPr lang="en-US" sz="2000" baseline="-25000" dirty="0">
                    <a:solidFill>
                      <a:srgbClr val="FFC000"/>
                    </a:solidFill>
                  </a:rPr>
                  <a:t>3</a:t>
                </a:r>
                <a:r>
                  <a:rPr lang="en-US" sz="2000" dirty="0">
                    <a:solidFill>
                      <a:srgbClr val="FFC000"/>
                    </a:solidFill>
                  </a:rPr>
                  <a:t>] = 2.2 </a:t>
                </a:r>
                <a:r>
                  <a:rPr lang="en-US" sz="2000" i="1" dirty="0">
                    <a:solidFill>
                      <a:srgbClr val="FFC000"/>
                    </a:solidFill>
                  </a:rPr>
                  <a:t>M</a:t>
                </a:r>
              </a:p>
              <a:p>
                <a:pPr marL="0" indent="0">
                  <a:buNone/>
                </a:pPr>
                <a:r>
                  <a:rPr lang="en-US" sz="2000" dirty="0"/>
                  <a:t>Calculate the value of </a:t>
                </a:r>
                <a:r>
                  <a:rPr lang="en-US" sz="2000" i="1" dirty="0"/>
                  <a:t>K</a:t>
                </a:r>
              </a:p>
              <a:p>
                <a:pPr marL="0" indent="0">
                  <a:buNone/>
                </a:pPr>
                <a:r>
                  <a:rPr lang="en-US" sz="2000" dirty="0">
                    <a:solidFill>
                      <a:srgbClr val="FFFF00"/>
                    </a:solidFill>
                  </a:rPr>
                  <a:t>To calculate, you first have to set up the equilibrium constant expression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</a:rPr>
                        <m:t>𝐾</m:t>
                      </m:r>
                      <m:r>
                        <a:rPr lang="en-US" sz="2000" b="0" i="1" smtClean="0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000" b="0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d>
                            <m:dPr>
                              <m:begChr m:val="["/>
                              <m:endChr m:val="]"/>
                              <m:ctrlPr>
                                <a:rPr lang="en-US" sz="2000" b="0" smtClean="0">
                                  <a:solidFill>
                                    <a:srgbClr val="FFFF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m:rPr>
                                  <m:sty m:val="p"/>
                                </m:rPr>
                                <a:rPr lang="en-US" sz="2000" b="0" i="0" smtClean="0">
                                  <a:solidFill>
                                    <a:srgbClr val="FFFF00"/>
                                  </a:solidFill>
                                  <a:latin typeface="Cambria Math" panose="02040503050406030204" pitchFamily="18" charset="0"/>
                                </a:rPr>
                                <m:t>SO</m:t>
                              </m:r>
                              <m:r>
                                <a:rPr lang="en-US" sz="2000" b="0" i="0" baseline="-25000" smtClean="0">
                                  <a:solidFill>
                                    <a:srgbClr val="FFFF00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e>
                          </m:d>
                          <m:r>
                            <a:rPr lang="en-US" sz="2000" b="0" i="0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m:rPr>
                              <m:sty m:val="p"/>
                            </m:rPr>
                            <a:rPr lang="en-US" sz="2000" b="0" i="0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NO</m:t>
                          </m:r>
                          <m:r>
                            <a:rPr lang="en-US" sz="2000" b="0" i="0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]</m:t>
                          </m:r>
                        </m:num>
                        <m:den>
                          <m:d>
                            <m:dPr>
                              <m:begChr m:val="["/>
                              <m:endChr m:val="]"/>
                              <m:ctrlPr>
                                <a:rPr lang="en-US" sz="2000" b="0" smtClean="0">
                                  <a:solidFill>
                                    <a:srgbClr val="FFFF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m:rPr>
                                  <m:sty m:val="p"/>
                                </m:rPr>
                                <a:rPr lang="en-US" sz="2000" b="0" i="0" smtClean="0">
                                  <a:solidFill>
                                    <a:srgbClr val="FFFF00"/>
                                  </a:solidFill>
                                  <a:latin typeface="Cambria Math" panose="02040503050406030204" pitchFamily="18" charset="0"/>
                                </a:rPr>
                                <m:t>SO</m:t>
                              </m:r>
                              <m:r>
                                <a:rPr lang="en-US" sz="2000" b="0" i="0" baseline="-25000" smtClean="0">
                                  <a:solidFill>
                                    <a:srgbClr val="FFFF0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d>
                          <m:r>
                            <a:rPr lang="en-US" sz="2000" b="0" i="0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m:rPr>
                              <m:sty m:val="p"/>
                            </m:rPr>
                            <a:rPr lang="en-US" sz="2000" b="0" i="0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NO</m:t>
                          </m:r>
                          <m:r>
                            <a:rPr lang="en-US" sz="2000" b="0" i="0" baseline="-25000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2000" b="0" i="0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]</m:t>
                          </m:r>
                        </m:den>
                      </m:f>
                    </m:oMath>
                  </m:oMathPara>
                </a14:m>
                <a:endParaRPr lang="en-US" sz="2000" dirty="0">
                  <a:solidFill>
                    <a:srgbClr val="FFFF00"/>
                  </a:solidFill>
                </a:endParaRPr>
              </a:p>
              <a:p>
                <a:pPr marL="0" indent="0">
                  <a:buNone/>
                </a:pPr>
                <a:r>
                  <a:rPr lang="en-US" sz="2000" dirty="0">
                    <a:solidFill>
                      <a:srgbClr val="FFFF00"/>
                    </a:solidFill>
                  </a:rPr>
                  <a:t>Then substitute the values and solve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</a:rPr>
                        <m:t>𝐾</m:t>
                      </m:r>
                      <m:r>
                        <a:rPr lang="en-US" sz="2000" i="1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000" i="1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000" b="0" i="1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(2.2)</m:t>
                          </m:r>
                          <m:r>
                            <a:rPr lang="en-US" sz="2000" b="0" i="0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(1.6)</m:t>
                          </m:r>
                        </m:num>
                        <m:den>
                          <m:r>
                            <a:rPr lang="en-US" sz="2000" b="0" i="1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(1.20)(0.60)</m:t>
                          </m:r>
                        </m:den>
                      </m:f>
                      <m:r>
                        <a:rPr lang="en-US" sz="2000" b="0" i="1" smtClean="0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</a:rPr>
                        <m:t>=4.9</m:t>
                      </m:r>
                    </m:oMath>
                  </m:oMathPara>
                </a14:m>
                <a:endParaRPr lang="en-US" sz="2000" dirty="0"/>
              </a:p>
            </p:txBody>
          </p:sp>
        </mc:Choice>
        <mc:Fallback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96A7771B-2BCD-1771-ADF5-1DB12A9A1A0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72533" y="1101968"/>
                <a:ext cx="8387645" cy="5476847"/>
              </a:xfrm>
              <a:blipFill>
                <a:blip r:embed="rId2"/>
                <a:stretch>
                  <a:fillRect l="-799" t="-66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9DA3BDF-50A7-2481-C95B-975FBF23D97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E0D52F3-54CA-4E42-BFA9-4F0301781925}" type="slidenum">
              <a:rPr lang="en-US" smtClean="0"/>
              <a:pPr/>
              <a:t>28</a:t>
            </a:fld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9152964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47DE94-D573-895A-A37D-AE829F60BE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3013EE7-062D-5B55-7DC3-492A20BAF2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4067" y="272450"/>
            <a:ext cx="8421512" cy="707886"/>
          </a:xfrm>
        </p:spPr>
        <p:txBody>
          <a:bodyPr/>
          <a:lstStyle/>
          <a:p>
            <a:r>
              <a:rPr lang="en-US" sz="4000" dirty="0"/>
              <a:t>Practice: Calculating </a:t>
            </a:r>
            <a:r>
              <a:rPr lang="en-US" sz="4000" i="1" dirty="0"/>
              <a:t>K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8465D287-A6A7-FAE2-6BCB-E5F27E4EDB3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372533" y="1101968"/>
                <a:ext cx="8387645" cy="5476847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sz="2000" dirty="0"/>
                  <a:t>Given the following reaction</a:t>
                </a:r>
              </a:p>
              <a:p>
                <a:pPr marL="0" indent="0" algn="ctr">
                  <a:buNone/>
                </a:pPr>
                <a:r>
                  <a:rPr lang="en-US" sz="2000" dirty="0">
                    <a:solidFill>
                      <a:srgbClr val="FFC000"/>
                    </a:solidFill>
                  </a:rPr>
                  <a:t>2 SO</a:t>
                </a:r>
                <a:r>
                  <a:rPr lang="en-US" sz="2000" baseline="-25000" dirty="0">
                    <a:solidFill>
                      <a:srgbClr val="FFC000"/>
                    </a:solidFill>
                  </a:rPr>
                  <a:t>2</a:t>
                </a:r>
                <a:r>
                  <a:rPr lang="en-US" sz="2000" dirty="0">
                    <a:solidFill>
                      <a:srgbClr val="FFC000"/>
                    </a:solidFill>
                  </a:rPr>
                  <a:t> (</a:t>
                </a:r>
                <a:r>
                  <a:rPr lang="en-US" sz="2000" i="1" dirty="0">
                    <a:solidFill>
                      <a:srgbClr val="FFC000"/>
                    </a:solidFill>
                  </a:rPr>
                  <a:t>g</a:t>
                </a:r>
                <a:r>
                  <a:rPr lang="en-US" sz="2000" dirty="0">
                    <a:solidFill>
                      <a:srgbClr val="FFC000"/>
                    </a:solidFill>
                  </a:rPr>
                  <a:t>) + O</a:t>
                </a:r>
                <a:r>
                  <a:rPr lang="en-US" sz="2000" baseline="-25000" dirty="0">
                    <a:solidFill>
                      <a:srgbClr val="FFC000"/>
                    </a:solidFill>
                  </a:rPr>
                  <a:t>2</a:t>
                </a:r>
                <a:r>
                  <a:rPr lang="en-US" sz="2000" dirty="0">
                    <a:solidFill>
                      <a:srgbClr val="FFC000"/>
                    </a:solidFill>
                  </a:rPr>
                  <a:t> (</a:t>
                </a:r>
                <a:r>
                  <a:rPr lang="en-US" sz="2000" i="1" dirty="0">
                    <a:solidFill>
                      <a:srgbClr val="FFC000"/>
                    </a:solidFill>
                  </a:rPr>
                  <a:t>g</a:t>
                </a:r>
                <a:r>
                  <a:rPr lang="en-US" sz="2000" dirty="0">
                    <a:solidFill>
                      <a:srgbClr val="FFC000"/>
                    </a:solidFill>
                  </a:rPr>
                  <a:t>) </a:t>
                </a:r>
                <a14:m>
                  <m:oMath xmlns:m="http://schemas.openxmlformats.org/officeDocument/2006/math">
                    <m:r>
                      <a:rPr lang="en-US" sz="2000" b="1">
                        <a:solidFill>
                          <a:srgbClr val="FFC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sym typeface="Wingdings" panose="05000000000000000000" pitchFamily="2" charset="2"/>
                      </a:rPr>
                      <m:t>⇌</m:t>
                    </m:r>
                  </m:oMath>
                </a14:m>
                <a:r>
                  <a:rPr lang="en-US" sz="2000" dirty="0">
                    <a:solidFill>
                      <a:srgbClr val="FFC000"/>
                    </a:solidFill>
                  </a:rPr>
                  <a:t> 2 SO</a:t>
                </a:r>
                <a:r>
                  <a:rPr lang="en-US" sz="2000" baseline="-25000" dirty="0">
                    <a:solidFill>
                      <a:srgbClr val="FFC000"/>
                    </a:solidFill>
                  </a:rPr>
                  <a:t>3</a:t>
                </a:r>
                <a:r>
                  <a:rPr lang="en-US" sz="2000" dirty="0">
                    <a:solidFill>
                      <a:srgbClr val="FFC000"/>
                    </a:solidFill>
                  </a:rPr>
                  <a:t> (</a:t>
                </a:r>
                <a:r>
                  <a:rPr lang="en-US" sz="2000" i="1" dirty="0">
                    <a:solidFill>
                      <a:srgbClr val="FFC000"/>
                    </a:solidFill>
                  </a:rPr>
                  <a:t>g</a:t>
                </a:r>
                <a:r>
                  <a:rPr lang="en-US" sz="2000" dirty="0">
                    <a:solidFill>
                      <a:srgbClr val="FFC000"/>
                    </a:solidFill>
                  </a:rPr>
                  <a:t>)</a:t>
                </a:r>
              </a:p>
              <a:p>
                <a:pPr marL="0" indent="0">
                  <a:buNone/>
                </a:pPr>
                <a:r>
                  <a:rPr lang="en-US" sz="2000" dirty="0"/>
                  <a:t>The following concentrations were found at equilibrium:</a:t>
                </a:r>
              </a:p>
              <a:p>
                <a:r>
                  <a:rPr lang="en-US" sz="2000" dirty="0">
                    <a:solidFill>
                      <a:srgbClr val="FFC000"/>
                    </a:solidFill>
                  </a:rPr>
                  <a:t>[SO</a:t>
                </a:r>
                <a:r>
                  <a:rPr lang="en-US" sz="2000" baseline="-25000" dirty="0">
                    <a:solidFill>
                      <a:srgbClr val="FFC000"/>
                    </a:solidFill>
                  </a:rPr>
                  <a:t>2</a:t>
                </a:r>
                <a:r>
                  <a:rPr lang="en-US" sz="2000" dirty="0">
                    <a:solidFill>
                      <a:srgbClr val="FFC000"/>
                    </a:solidFill>
                  </a:rPr>
                  <a:t>] = 0.90 </a:t>
                </a:r>
                <a:r>
                  <a:rPr lang="en-US" sz="2000" i="1" dirty="0">
                    <a:solidFill>
                      <a:srgbClr val="FFC000"/>
                    </a:solidFill>
                  </a:rPr>
                  <a:t>M</a:t>
                </a:r>
              </a:p>
              <a:p>
                <a:r>
                  <a:rPr lang="en-US" sz="2000" dirty="0">
                    <a:solidFill>
                      <a:srgbClr val="FFC000"/>
                    </a:solidFill>
                  </a:rPr>
                  <a:t>[O</a:t>
                </a:r>
                <a:r>
                  <a:rPr lang="en-US" sz="2000" baseline="-25000" dirty="0">
                    <a:solidFill>
                      <a:srgbClr val="FFC000"/>
                    </a:solidFill>
                  </a:rPr>
                  <a:t>2</a:t>
                </a:r>
                <a:r>
                  <a:rPr lang="en-US" sz="2000" dirty="0">
                    <a:solidFill>
                      <a:srgbClr val="FFC000"/>
                    </a:solidFill>
                  </a:rPr>
                  <a:t>] = 0.35 </a:t>
                </a:r>
                <a:r>
                  <a:rPr lang="en-US" sz="2000" i="1" dirty="0">
                    <a:solidFill>
                      <a:srgbClr val="FFC000"/>
                    </a:solidFill>
                  </a:rPr>
                  <a:t>M</a:t>
                </a:r>
              </a:p>
              <a:p>
                <a:r>
                  <a:rPr lang="en-US" sz="2000" dirty="0">
                    <a:solidFill>
                      <a:srgbClr val="FFC000"/>
                    </a:solidFill>
                  </a:rPr>
                  <a:t>[SO</a:t>
                </a:r>
                <a:r>
                  <a:rPr lang="en-US" sz="2000" baseline="-25000" dirty="0">
                    <a:solidFill>
                      <a:srgbClr val="FFC000"/>
                    </a:solidFill>
                  </a:rPr>
                  <a:t>3</a:t>
                </a:r>
                <a:r>
                  <a:rPr lang="en-US" sz="2000" dirty="0">
                    <a:solidFill>
                      <a:srgbClr val="FFC000"/>
                    </a:solidFill>
                  </a:rPr>
                  <a:t>] = 1.1 </a:t>
                </a:r>
                <a:r>
                  <a:rPr lang="en-US" sz="2000" i="1" dirty="0">
                    <a:solidFill>
                      <a:srgbClr val="FFC000"/>
                    </a:solidFill>
                  </a:rPr>
                  <a:t>M</a:t>
                </a:r>
              </a:p>
              <a:p>
                <a:pPr marL="0" indent="0">
                  <a:buNone/>
                </a:pPr>
                <a:r>
                  <a:rPr lang="en-US" sz="2000" dirty="0"/>
                  <a:t>Calculate the value of </a:t>
                </a:r>
                <a:r>
                  <a:rPr lang="en-US" sz="2000" i="1" dirty="0"/>
                  <a:t>K</a:t>
                </a:r>
              </a:p>
              <a:p>
                <a:pPr marL="0" indent="0">
                  <a:buNone/>
                </a:pPr>
                <a:r>
                  <a:rPr lang="en-US" sz="2000" dirty="0">
                    <a:solidFill>
                      <a:srgbClr val="FFFF00"/>
                    </a:solidFill>
                  </a:rPr>
                  <a:t>To calculate, you first have to set up the equilibrium constant expression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</a:rPr>
                        <m:t>𝐾</m:t>
                      </m:r>
                      <m:r>
                        <a:rPr lang="en-US" sz="2000" b="0" i="1" smtClean="0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000" b="0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d>
                            <m:dPr>
                              <m:begChr m:val="["/>
                              <m:endChr m:val="]"/>
                              <m:ctrlPr>
                                <a:rPr lang="en-US" sz="2000" b="0" smtClean="0">
                                  <a:solidFill>
                                    <a:srgbClr val="FFFF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m:rPr>
                                  <m:sty m:val="p"/>
                                </m:rPr>
                                <a:rPr lang="en-US" sz="2000" b="0" i="0" smtClean="0">
                                  <a:solidFill>
                                    <a:srgbClr val="FFFF00"/>
                                  </a:solidFill>
                                  <a:latin typeface="Cambria Math" panose="02040503050406030204" pitchFamily="18" charset="0"/>
                                </a:rPr>
                                <m:t>SO</m:t>
                              </m:r>
                              <m:r>
                                <a:rPr lang="en-US" sz="2000" b="0" i="0" baseline="-25000" smtClean="0">
                                  <a:solidFill>
                                    <a:srgbClr val="FFFF00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e>
                          </m:d>
                          <m:r>
                            <a:rPr lang="en-US" sz="2000" b="0" i="0" baseline="30000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num>
                        <m:den>
                          <m:d>
                            <m:dPr>
                              <m:begChr m:val="["/>
                              <m:endChr m:val="]"/>
                              <m:ctrlPr>
                                <a:rPr lang="en-US" sz="2000" b="0" smtClean="0">
                                  <a:solidFill>
                                    <a:srgbClr val="FFFF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m:rPr>
                                  <m:sty m:val="p"/>
                                </m:rPr>
                                <a:rPr lang="en-US" sz="2000" b="0" i="0" smtClean="0">
                                  <a:solidFill>
                                    <a:srgbClr val="FFFF00"/>
                                  </a:solidFill>
                                  <a:latin typeface="Cambria Math" panose="02040503050406030204" pitchFamily="18" charset="0"/>
                                </a:rPr>
                                <m:t>SO</m:t>
                              </m:r>
                              <m:r>
                                <a:rPr lang="en-US" sz="2000" b="0" i="0" baseline="-25000" smtClean="0">
                                  <a:solidFill>
                                    <a:srgbClr val="FFFF0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d>
                          <m:r>
                            <a:rPr lang="en-US" sz="2000" b="0" i="0" baseline="30000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2000" b="0" i="0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m:rPr>
                              <m:sty m:val="p"/>
                            </m:rPr>
                            <a:rPr lang="en-US" sz="2000" b="0" i="0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O</m:t>
                          </m:r>
                          <m:r>
                            <a:rPr lang="en-US" sz="2000" b="0" i="0" baseline="-25000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2000" b="0" i="0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]</m:t>
                          </m:r>
                        </m:den>
                      </m:f>
                    </m:oMath>
                  </m:oMathPara>
                </a14:m>
                <a:endParaRPr lang="en-US" sz="2000" dirty="0">
                  <a:solidFill>
                    <a:srgbClr val="FFFF00"/>
                  </a:solidFill>
                </a:endParaRPr>
              </a:p>
              <a:p>
                <a:pPr marL="0" indent="0">
                  <a:buNone/>
                </a:pPr>
                <a:r>
                  <a:rPr lang="en-US" sz="2000" dirty="0">
                    <a:solidFill>
                      <a:srgbClr val="FFFF00"/>
                    </a:solidFill>
                  </a:rPr>
                  <a:t>Then substitute the values and solve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</a:rPr>
                        <m:t>𝐾</m:t>
                      </m:r>
                      <m:r>
                        <a:rPr lang="en-US" sz="2000" i="1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000" i="1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000" b="0" i="1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(1.1</m:t>
                          </m:r>
                          <m:r>
                            <a:rPr lang="en-US" sz="2000" b="0" i="0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  <m:r>
                            <a:rPr lang="en-US" sz="2000" baseline="3000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num>
                        <m:den>
                          <m:r>
                            <a:rPr lang="en-US" sz="2000" b="0" i="1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(0.90)</m:t>
                          </m:r>
                          <m:r>
                            <a:rPr lang="en-US" sz="2000" baseline="3000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2000" b="0" i="0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(0.3</m:t>
                          </m:r>
                          <m:r>
                            <a:rPr lang="en-US" sz="2000" b="0" i="1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5)</m:t>
                          </m:r>
                        </m:den>
                      </m:f>
                      <m:r>
                        <a:rPr lang="en-US" sz="2000" b="0" i="1" smtClean="0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</a:rPr>
                        <m:t>~4.3</m:t>
                      </m:r>
                    </m:oMath>
                  </m:oMathPara>
                </a14:m>
                <a:endParaRPr lang="en-US" sz="2000" dirty="0">
                  <a:solidFill>
                    <a:srgbClr val="FFFF00"/>
                  </a:solidFill>
                </a:endParaRPr>
              </a:p>
            </p:txBody>
          </p:sp>
        </mc:Choice>
        <mc:Fallback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8465D287-A6A7-FAE2-6BCB-E5F27E4EDB3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72533" y="1101968"/>
                <a:ext cx="8387645" cy="5476847"/>
              </a:xfrm>
              <a:blipFill>
                <a:blip r:embed="rId2"/>
                <a:stretch>
                  <a:fillRect l="-799" t="-66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5A4CD6D-C772-B0E9-8218-84FB23D2FB1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E0D52F3-54CA-4E42-BFA9-4F0301781925}" type="slidenum">
              <a:rPr lang="en-US" smtClean="0"/>
              <a:pPr/>
              <a:t>29</a:t>
            </a:fld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1605567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C29AE5-178A-2126-96D8-84E7F56ED7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B210E2C9-8340-CF56-EAAB-E6082061CB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4067" y="334005"/>
            <a:ext cx="8421512" cy="584775"/>
          </a:xfrm>
        </p:spPr>
        <p:txBody>
          <a:bodyPr/>
          <a:lstStyle/>
          <a:p>
            <a:r>
              <a:rPr lang="en-US" sz="3200" dirty="0"/>
              <a:t>Notation of Temperature on </a:t>
            </a:r>
            <a:r>
              <a:rPr lang="en-US" sz="3200" i="1" dirty="0"/>
              <a:t>K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72D6754B-9E1D-53D9-8488-9618B639529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2533" y="1101968"/>
            <a:ext cx="8387645" cy="5476847"/>
          </a:xfrm>
        </p:spPr>
        <p:txBody>
          <a:bodyPr/>
          <a:lstStyle/>
          <a:p>
            <a:r>
              <a:rPr lang="en-US" dirty="0"/>
              <a:t>It should re-emphasized that </a:t>
            </a:r>
            <a:r>
              <a:rPr lang="en-US" i="1" dirty="0"/>
              <a:t>K</a:t>
            </a:r>
            <a:r>
              <a:rPr lang="en-US" dirty="0"/>
              <a:t> is temperature-dependent</a:t>
            </a:r>
          </a:p>
          <a:p>
            <a:r>
              <a:rPr lang="en-US" dirty="0"/>
              <a:t>Because of this, </a:t>
            </a:r>
            <a:r>
              <a:rPr lang="en-US" i="1" dirty="0"/>
              <a:t>K</a:t>
            </a:r>
            <a:r>
              <a:rPr lang="en-US" dirty="0"/>
              <a:t> is often specified with a temperature that can be in Kelvin or Celsius</a:t>
            </a:r>
          </a:p>
          <a:p>
            <a:r>
              <a:rPr lang="en-US" dirty="0"/>
              <a:t>It may be specified as a subscript or in parenthesis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sz="2600" i="1" dirty="0"/>
              <a:t>K</a:t>
            </a:r>
            <a:r>
              <a:rPr lang="en-US" sz="2600" baseline="-25000" dirty="0"/>
              <a:t>298K</a:t>
            </a:r>
          </a:p>
          <a:p>
            <a:pPr marL="0" indent="0">
              <a:buNone/>
            </a:pPr>
            <a:r>
              <a:rPr lang="en-US" sz="2600" i="1" dirty="0"/>
              <a:t>K</a:t>
            </a:r>
            <a:r>
              <a:rPr lang="en-US" sz="2600" dirty="0"/>
              <a:t>(700K)</a:t>
            </a:r>
          </a:p>
          <a:p>
            <a:pPr marL="0" indent="0">
              <a:buNone/>
            </a:pPr>
            <a:r>
              <a:rPr lang="en-US" sz="2600" i="1" dirty="0"/>
              <a:t>K</a:t>
            </a:r>
            <a:r>
              <a:rPr lang="en-US" sz="2600" baseline="-25000" dirty="0"/>
              <a:t>25°C</a:t>
            </a:r>
          </a:p>
          <a:p>
            <a:pPr marL="0" indent="0">
              <a:buNone/>
            </a:pPr>
            <a:r>
              <a:rPr lang="en-US" sz="2600" i="1" dirty="0"/>
              <a:t>K</a:t>
            </a:r>
            <a:r>
              <a:rPr lang="en-US" sz="2600" i="1" baseline="-25000" dirty="0"/>
              <a:t>c</a:t>
            </a:r>
            <a:r>
              <a:rPr lang="en-US" sz="2600" dirty="0"/>
              <a:t>(150°C) </a:t>
            </a:r>
            <a:r>
              <a:rPr lang="en-US" dirty="0"/>
              <a:t>equilibrium of concentrations</a:t>
            </a:r>
            <a:endParaRPr lang="en-US" sz="2600" dirty="0"/>
          </a:p>
          <a:p>
            <a:pPr marL="0" indent="0">
              <a:buNone/>
            </a:pPr>
            <a:r>
              <a:rPr lang="en-US" sz="2600" i="1" dirty="0" err="1"/>
              <a:t>K</a:t>
            </a:r>
            <a:r>
              <a:rPr lang="en-US" sz="2600" i="1" baseline="-25000" dirty="0" err="1"/>
              <a:t>p</a:t>
            </a:r>
            <a:r>
              <a:rPr lang="en-US" sz="2600" dirty="0"/>
              <a:t>(500K)  </a:t>
            </a:r>
            <a:r>
              <a:rPr lang="en-US" dirty="0"/>
              <a:t>equilibrium of partial pressures of gases</a:t>
            </a:r>
            <a:endParaRPr lang="en-US" sz="2600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D4B06315-88FF-9638-55B1-515991D389F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E0D52F3-54CA-4E42-BFA9-4F0301781925}" type="slidenum">
              <a:rPr lang="en-US" smtClean="0"/>
              <a:pPr/>
              <a:t>30</a:t>
            </a:fld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24923291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5D8FAA-339F-07AD-34A9-BFFB630815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1391733-499B-0443-5833-2D3B7CDC92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4067" y="306073"/>
            <a:ext cx="8421512" cy="707886"/>
          </a:xfrm>
        </p:spPr>
        <p:txBody>
          <a:bodyPr/>
          <a:lstStyle/>
          <a:p>
            <a:r>
              <a:rPr lang="en-US" sz="4000" dirty="0"/>
              <a:t>Equilibrium Constant Expression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C93FDB1-FA69-E37F-DE13-8F9CBE8E95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sz="2800" dirty="0"/>
              <a:t>Temperature</a:t>
            </a:r>
          </a:p>
          <a:p>
            <a:pPr marL="0" indent="0">
              <a:buNone/>
            </a:pPr>
            <a:r>
              <a:rPr lang="en-US" sz="2800" dirty="0"/>
              <a:t>Concentration</a:t>
            </a:r>
          </a:p>
          <a:p>
            <a:pPr marL="0" indent="0">
              <a:buNone/>
            </a:pPr>
            <a:r>
              <a:rPr lang="en-US" sz="2800" dirty="0"/>
              <a:t>Catalysts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E9A8C93-1E04-65F4-EAFF-320AF81C1F4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94916" y="1428471"/>
            <a:ext cx="6754168" cy="4001058"/>
          </a:xfrm>
          <a:prstGeom prst="rect">
            <a:avLst/>
          </a:prstGeom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DEC4C138-6593-C3E9-DDE3-8A769D28761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E0D52F3-54CA-4E42-BFA9-4F0301781925}" type="slidenum">
              <a:rPr lang="en-US" smtClean="0"/>
              <a:pPr/>
              <a:t>31</a:t>
            </a:fld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299534753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3317A3-1F61-86C0-FB05-72F95F12F9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86BC485-D5BA-4879-6B9C-B1E30B4B04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5599" y="197585"/>
            <a:ext cx="8421512" cy="707886"/>
          </a:xfrm>
        </p:spPr>
        <p:txBody>
          <a:bodyPr/>
          <a:lstStyle/>
          <a:p>
            <a:r>
              <a:rPr lang="en-US" sz="4000" dirty="0"/>
              <a:t>Le Chatelier’s Principle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336AF9B-6EBF-EACE-C6B3-6563D68160C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2533" y="1115878"/>
            <a:ext cx="8387645" cy="5431677"/>
          </a:xfrm>
        </p:spPr>
        <p:txBody>
          <a:bodyPr/>
          <a:lstStyle/>
          <a:p>
            <a:r>
              <a:rPr lang="en-US" dirty="0"/>
              <a:t>1884: Le Chatelier reports that when a system at equilibrium is disturbed/stressed, the system will respond/adjust to restore the equilibrium</a:t>
            </a:r>
          </a:p>
          <a:p>
            <a:r>
              <a:rPr lang="en-US" dirty="0"/>
              <a:t>Stresses/disturbances include</a:t>
            </a:r>
          </a:p>
          <a:p>
            <a:pPr lvl="1"/>
            <a:r>
              <a:rPr lang="en-US" dirty="0"/>
              <a:t>Changing concentrations of reactants and/or products such as adding more or removing some of a reactant or product</a:t>
            </a:r>
          </a:p>
          <a:p>
            <a:pPr lvl="1"/>
            <a:r>
              <a:rPr lang="en-US" dirty="0"/>
              <a:t>Changing the temperature of the</a:t>
            </a:r>
            <a:br>
              <a:rPr lang="en-US" dirty="0"/>
            </a:br>
            <a:r>
              <a:rPr lang="en-US" dirty="0"/>
              <a:t>system: this changes equilibrium</a:t>
            </a:r>
            <a:br>
              <a:rPr lang="en-US" dirty="0"/>
            </a:br>
            <a:r>
              <a:rPr lang="en-US" dirty="0"/>
              <a:t>constant K</a:t>
            </a:r>
          </a:p>
          <a:p>
            <a:pPr lvl="1"/>
            <a:r>
              <a:rPr lang="en-US" dirty="0"/>
              <a:t>Changing the pressure in the system:</a:t>
            </a:r>
            <a:br>
              <a:rPr lang="en-US" dirty="0"/>
            </a:br>
            <a:r>
              <a:rPr lang="en-US" dirty="0"/>
              <a:t>this can affect partial pressures of</a:t>
            </a:r>
            <a:br>
              <a:rPr lang="en-US" dirty="0"/>
            </a:br>
            <a:r>
              <a:rPr lang="en-US" dirty="0"/>
              <a:t>gases that are reactants and/or</a:t>
            </a:r>
            <a:br>
              <a:rPr lang="en-US" dirty="0"/>
            </a:br>
            <a:r>
              <a:rPr lang="en-US" dirty="0"/>
              <a:t>products. It can also effect the</a:t>
            </a:r>
            <a:br>
              <a:rPr lang="en-US" dirty="0"/>
            </a:br>
            <a:r>
              <a:rPr lang="en-US" dirty="0"/>
              <a:t>enthalpy DH that controls the</a:t>
            </a:r>
            <a:br>
              <a:rPr lang="en-US" dirty="0"/>
            </a:br>
            <a:r>
              <a:rPr lang="en-US" dirty="0"/>
              <a:t>PE vs reaction progress plot</a:t>
            </a:r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3A5406D-8CDF-A01F-60B9-EC06B49ACFA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84810" y="3429000"/>
            <a:ext cx="2829012" cy="2935992"/>
          </a:xfrm>
          <a:prstGeom prst="rect">
            <a:avLst/>
          </a:prstGeom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14B2FBDC-15E4-2BE2-474A-51DD9941BE8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E0D52F3-54CA-4E42-BFA9-4F0301781925}" type="slidenum">
              <a:rPr lang="en-US" smtClean="0"/>
              <a:pPr/>
              <a:t>32</a:t>
            </a:fld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185341856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049750-E71A-8C4B-721C-114E20C528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CD2B1180-841C-F8B8-A154-A21684158C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5599" y="256429"/>
            <a:ext cx="8421512" cy="707886"/>
          </a:xfrm>
        </p:spPr>
        <p:txBody>
          <a:bodyPr/>
          <a:lstStyle/>
          <a:p>
            <a:r>
              <a:rPr lang="en-US" sz="4000" dirty="0"/>
              <a:t>Concentration “Stress”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03026967-6BFF-F672-8F04-3DB1FD51063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372533" y="1084881"/>
                <a:ext cx="8387645" cy="5462675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Effective illustration is production of ammonia by Haber-Bosch process</a:t>
                </a:r>
              </a:p>
              <a:p>
                <a:pPr marL="0" indent="0" algn="ctr">
                  <a:buNone/>
                </a:pPr>
                <a:r>
                  <a:rPr lang="en-US" dirty="0">
                    <a:solidFill>
                      <a:srgbClr val="FFC000"/>
                    </a:solidFill>
                  </a:rPr>
                  <a:t>N</a:t>
                </a:r>
                <a:r>
                  <a:rPr lang="en-US" baseline="-25000" dirty="0">
                    <a:solidFill>
                      <a:srgbClr val="FFC000"/>
                    </a:solidFill>
                  </a:rPr>
                  <a:t>2</a:t>
                </a:r>
                <a:r>
                  <a:rPr lang="en-US" dirty="0">
                    <a:solidFill>
                      <a:srgbClr val="FFC000"/>
                    </a:solidFill>
                  </a:rPr>
                  <a:t> (</a:t>
                </a:r>
                <a:r>
                  <a:rPr lang="en-US" i="1" dirty="0">
                    <a:solidFill>
                      <a:srgbClr val="FFC000"/>
                    </a:solidFill>
                  </a:rPr>
                  <a:t>g</a:t>
                </a:r>
                <a:r>
                  <a:rPr lang="en-US" dirty="0">
                    <a:solidFill>
                      <a:srgbClr val="FFC000"/>
                    </a:solidFill>
                  </a:rPr>
                  <a:t>) + 3 H</a:t>
                </a:r>
                <a:r>
                  <a:rPr lang="en-US" baseline="-25000" dirty="0">
                    <a:solidFill>
                      <a:srgbClr val="FFC000"/>
                    </a:solidFill>
                  </a:rPr>
                  <a:t>2</a:t>
                </a:r>
                <a:r>
                  <a:rPr lang="en-US" dirty="0">
                    <a:solidFill>
                      <a:srgbClr val="FFC000"/>
                    </a:solidFill>
                  </a:rPr>
                  <a:t> (</a:t>
                </a:r>
                <a:r>
                  <a:rPr lang="en-US" i="1" dirty="0">
                    <a:solidFill>
                      <a:srgbClr val="FFC000"/>
                    </a:solidFill>
                  </a:rPr>
                  <a:t>g</a:t>
                </a:r>
                <a:r>
                  <a:rPr lang="en-US" dirty="0">
                    <a:solidFill>
                      <a:srgbClr val="FFC000"/>
                    </a:solidFill>
                  </a:rPr>
                  <a:t>) </a:t>
                </a:r>
                <a14:m>
                  <m:oMath xmlns:m="http://schemas.openxmlformats.org/officeDocument/2006/math">
                    <m:r>
                      <a:rPr lang="en-US" b="1">
                        <a:solidFill>
                          <a:srgbClr val="FFC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sym typeface="Wingdings" panose="05000000000000000000" pitchFamily="2" charset="2"/>
                      </a:rPr>
                      <m:t>⇌</m:t>
                    </m:r>
                  </m:oMath>
                </a14:m>
                <a:r>
                  <a:rPr lang="en-US" dirty="0">
                    <a:solidFill>
                      <a:srgbClr val="FFC000"/>
                    </a:solidFill>
                  </a:rPr>
                  <a:t> 2 NH</a:t>
                </a:r>
                <a:r>
                  <a:rPr lang="en-US" baseline="-25000" dirty="0">
                    <a:solidFill>
                      <a:srgbClr val="FFC000"/>
                    </a:solidFill>
                  </a:rPr>
                  <a:t>3</a:t>
                </a:r>
                <a:r>
                  <a:rPr lang="en-US" dirty="0">
                    <a:solidFill>
                      <a:srgbClr val="FFC000"/>
                    </a:solidFill>
                  </a:rPr>
                  <a:t> (</a:t>
                </a:r>
                <a:r>
                  <a:rPr lang="en-US" i="1" dirty="0">
                    <a:solidFill>
                      <a:srgbClr val="FFC000"/>
                    </a:solidFill>
                  </a:rPr>
                  <a:t>g</a:t>
                </a:r>
                <a:r>
                  <a:rPr lang="en-US" dirty="0">
                    <a:solidFill>
                      <a:srgbClr val="FFC000"/>
                    </a:solidFill>
                  </a:rPr>
                  <a:t>)</a:t>
                </a:r>
              </a:p>
              <a:p>
                <a:r>
                  <a:rPr lang="en-US" dirty="0"/>
                  <a:t>If more N</a:t>
                </a:r>
                <a:r>
                  <a:rPr lang="en-US" baseline="-25000" dirty="0"/>
                  <a:t>2</a:t>
                </a:r>
                <a:r>
                  <a:rPr lang="en-US" dirty="0"/>
                  <a:t> added, forward reaction favored</a:t>
                </a:r>
              </a:p>
              <a:p>
                <a:r>
                  <a:rPr lang="en-US" dirty="0"/>
                  <a:t>More product is formed, and the other reactant H2 is additionally consumed (see plot)</a:t>
                </a:r>
              </a:p>
            </p:txBody>
          </p:sp>
        </mc:Choice>
        <mc:Fallback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03026967-6BFF-F672-8F04-3DB1FD51063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72533" y="1084881"/>
                <a:ext cx="8387645" cy="5462675"/>
              </a:xfrm>
              <a:blipFill>
                <a:blip r:embed="rId2"/>
                <a:stretch>
                  <a:fillRect l="-1090" t="-893" r="-94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>
            <a:extLst>
              <a:ext uri="{FF2B5EF4-FFF2-40B4-BE49-F238E27FC236}">
                <a16:creationId xmlns:a16="http://schemas.microsoft.com/office/drawing/2014/main" id="{575ADAE2-A36F-C97F-7A79-0623C345A49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86750" y="3572132"/>
            <a:ext cx="4309578" cy="3029439"/>
          </a:xfrm>
          <a:prstGeom prst="rect">
            <a:avLst/>
          </a:prstGeom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B7AEAF9-1A52-2623-550C-3E45E0D1196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E0D52F3-54CA-4E42-BFA9-4F0301781925}" type="slidenum">
              <a:rPr lang="en-US" smtClean="0"/>
              <a:pPr/>
              <a:t>33</a:t>
            </a:fld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2686334856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1FDDFD-14A7-EEF6-BCA2-A5EDF08790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CF3B325A-5B33-1BCF-1392-ED8C2F4E3B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4067" y="306073"/>
            <a:ext cx="8421512" cy="707886"/>
          </a:xfrm>
        </p:spPr>
        <p:txBody>
          <a:bodyPr/>
          <a:lstStyle/>
          <a:p>
            <a:r>
              <a:rPr lang="en-US" sz="4000" dirty="0"/>
              <a:t>Concentration “Stress”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396E2A67-748B-FC2D-11E2-6A7529F5EB8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372533" y="1092632"/>
                <a:ext cx="8387645" cy="5454924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sz="2000" dirty="0"/>
                  <a:t>This principle makes it possibly to predict the shift of the reaction—forward or reverse—occurs to make an adjustment to restore equilibrium</a:t>
                </a:r>
              </a:p>
              <a:p>
                <a:pPr marL="0" indent="0">
                  <a:buNone/>
                </a:pPr>
                <a:endParaRPr lang="en-US" sz="2000" dirty="0"/>
              </a:p>
              <a:p>
                <a:pPr marL="0" indent="0">
                  <a:buNone/>
                </a:pPr>
                <a:endParaRPr lang="en-US" sz="2000" dirty="0"/>
              </a:p>
              <a:p>
                <a:pPr marL="0" indent="0">
                  <a:buNone/>
                </a:pPr>
                <a:endParaRPr lang="en-US" sz="2000" dirty="0"/>
              </a:p>
              <a:p>
                <a:pPr marL="0" indent="0">
                  <a:buNone/>
                </a:pPr>
                <a:endParaRPr lang="en-US" sz="2000" dirty="0"/>
              </a:p>
              <a:p>
                <a:pPr marL="0" indent="0">
                  <a:buNone/>
                </a:pPr>
                <a:endParaRPr lang="en-US" sz="2000" dirty="0"/>
              </a:p>
              <a:p>
                <a:pPr marL="0" indent="0">
                  <a:buNone/>
                </a:pPr>
                <a:r>
                  <a:rPr lang="en-US" sz="2000" dirty="0"/>
                  <a:t>Predict what happens with the </a:t>
                </a:r>
                <a:r>
                  <a:rPr lang="en-US" sz="2000" dirty="0">
                    <a:solidFill>
                      <a:srgbClr val="FFC000"/>
                    </a:solidFill>
                  </a:rPr>
                  <a:t>N</a:t>
                </a:r>
                <a:r>
                  <a:rPr lang="en-US" sz="2000" baseline="-25000" dirty="0">
                    <a:solidFill>
                      <a:srgbClr val="FFC000"/>
                    </a:solidFill>
                  </a:rPr>
                  <a:t>2</a:t>
                </a:r>
                <a:r>
                  <a:rPr lang="en-US" sz="2000" dirty="0">
                    <a:solidFill>
                      <a:srgbClr val="FFC000"/>
                    </a:solidFill>
                  </a:rPr>
                  <a:t> + 3 H</a:t>
                </a:r>
                <a:r>
                  <a:rPr lang="en-US" sz="2000" baseline="-25000" dirty="0">
                    <a:solidFill>
                      <a:srgbClr val="FFC000"/>
                    </a:solidFill>
                  </a:rPr>
                  <a:t>2</a:t>
                </a:r>
                <a:r>
                  <a:rPr lang="en-US" sz="2000" dirty="0">
                    <a:solidFill>
                      <a:srgbClr val="FFC000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US" sz="2000" b="1">
                        <a:solidFill>
                          <a:srgbClr val="FFC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sym typeface="Wingdings" panose="05000000000000000000" pitchFamily="2" charset="2"/>
                      </a:rPr>
                      <m:t>⇌</m:t>
                    </m:r>
                  </m:oMath>
                </a14:m>
                <a:r>
                  <a:rPr lang="en-US" sz="2000" dirty="0">
                    <a:solidFill>
                      <a:srgbClr val="FFC000"/>
                    </a:solidFill>
                  </a:rPr>
                  <a:t> 2 NH</a:t>
                </a:r>
                <a:r>
                  <a:rPr lang="en-US" sz="2000" baseline="-25000" dirty="0">
                    <a:solidFill>
                      <a:srgbClr val="FFC000"/>
                    </a:solidFill>
                  </a:rPr>
                  <a:t>3</a:t>
                </a:r>
                <a:r>
                  <a:rPr lang="en-US" sz="2000" dirty="0"/>
                  <a:t> </a:t>
                </a:r>
              </a:p>
              <a:p>
                <a:r>
                  <a:rPr lang="en-US" sz="2000" dirty="0">
                    <a:solidFill>
                      <a:srgbClr val="FFFF00"/>
                    </a:solidFill>
                  </a:rPr>
                  <a:t>H</a:t>
                </a:r>
                <a:r>
                  <a:rPr lang="en-US" sz="2000" baseline="-25000" dirty="0">
                    <a:solidFill>
                      <a:srgbClr val="FFFF00"/>
                    </a:solidFill>
                  </a:rPr>
                  <a:t>2</a:t>
                </a:r>
                <a:r>
                  <a:rPr lang="en-US" sz="2000" dirty="0">
                    <a:solidFill>
                      <a:srgbClr val="FFFF00"/>
                    </a:solidFill>
                  </a:rPr>
                  <a:t> is added</a:t>
                </a:r>
              </a:p>
              <a:p>
                <a:pPr marL="0" indent="0" algn="ctr">
                  <a:buNone/>
                </a:pPr>
                <a:r>
                  <a:rPr lang="en-US" sz="2000" dirty="0"/>
                  <a:t>More H</a:t>
                </a:r>
                <a:r>
                  <a:rPr lang="en-US" sz="2000" baseline="-25000" dirty="0"/>
                  <a:t>2</a:t>
                </a:r>
                <a:r>
                  <a:rPr lang="en-US" sz="2000" dirty="0"/>
                  <a:t> reactant, shift to right to products (forward reaction)</a:t>
                </a:r>
              </a:p>
              <a:p>
                <a:r>
                  <a:rPr lang="en-US" sz="2000" dirty="0">
                    <a:solidFill>
                      <a:srgbClr val="FFFF00"/>
                    </a:solidFill>
                  </a:rPr>
                  <a:t>NH</a:t>
                </a:r>
                <a:r>
                  <a:rPr lang="en-US" sz="2000" baseline="-25000" dirty="0">
                    <a:solidFill>
                      <a:srgbClr val="FFFF00"/>
                    </a:solidFill>
                  </a:rPr>
                  <a:t>3</a:t>
                </a:r>
                <a:r>
                  <a:rPr lang="en-US" sz="2000" dirty="0">
                    <a:solidFill>
                      <a:srgbClr val="FFFF00"/>
                    </a:solidFill>
                  </a:rPr>
                  <a:t> is added</a:t>
                </a:r>
              </a:p>
              <a:p>
                <a:pPr marL="0" indent="0" algn="ctr">
                  <a:buNone/>
                </a:pPr>
                <a:r>
                  <a:rPr lang="en-US" sz="2000" dirty="0"/>
                  <a:t>More NH</a:t>
                </a:r>
                <a:r>
                  <a:rPr lang="en-US" sz="2000" baseline="-25000" dirty="0"/>
                  <a:t>3</a:t>
                </a:r>
                <a:r>
                  <a:rPr lang="en-US" sz="2000" dirty="0"/>
                  <a:t> product, shift to left to reactants (reverse reaction)</a:t>
                </a:r>
              </a:p>
              <a:p>
                <a:r>
                  <a:rPr lang="en-US" sz="2000" dirty="0">
                    <a:solidFill>
                      <a:srgbClr val="FFFF00"/>
                    </a:solidFill>
                  </a:rPr>
                  <a:t>NH</a:t>
                </a:r>
                <a:r>
                  <a:rPr lang="en-US" sz="2000" baseline="-25000" dirty="0">
                    <a:solidFill>
                      <a:srgbClr val="FFFF00"/>
                    </a:solidFill>
                  </a:rPr>
                  <a:t>3</a:t>
                </a:r>
                <a:r>
                  <a:rPr lang="en-US" sz="2000" dirty="0">
                    <a:solidFill>
                      <a:srgbClr val="FFFF00"/>
                    </a:solidFill>
                  </a:rPr>
                  <a:t> is removed</a:t>
                </a:r>
              </a:p>
              <a:p>
                <a:pPr marL="0" indent="0" algn="ctr">
                  <a:buNone/>
                </a:pPr>
                <a:r>
                  <a:rPr lang="en-US" sz="2000" dirty="0"/>
                  <a:t>Less NH</a:t>
                </a:r>
                <a:r>
                  <a:rPr lang="en-US" sz="2000" baseline="-25000" dirty="0"/>
                  <a:t>3</a:t>
                </a:r>
                <a:r>
                  <a:rPr lang="en-US" sz="2000" dirty="0"/>
                  <a:t> product, shift to right to products (forward reaction)</a:t>
                </a:r>
              </a:p>
              <a:p>
                <a:pPr marL="0" indent="0">
                  <a:buNone/>
                </a:pPr>
                <a:endParaRPr lang="en-US" sz="2000" dirty="0"/>
              </a:p>
            </p:txBody>
          </p:sp>
        </mc:Choice>
        <mc:Fallback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396E2A67-748B-FC2D-11E2-6A7529F5EB8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72533" y="1092632"/>
                <a:ext cx="8387645" cy="5454924"/>
              </a:xfrm>
              <a:blipFill>
                <a:blip r:embed="rId2"/>
                <a:stretch>
                  <a:fillRect l="-799" t="-559" r="-1017" b="-89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" name="Picture 2">
            <a:extLst>
              <a:ext uri="{FF2B5EF4-FFF2-40B4-BE49-F238E27FC236}">
                <a16:creationId xmlns:a16="http://schemas.microsoft.com/office/drawing/2014/main" id="{393A3E75-F508-1E54-15DC-69D001E63B4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48016" y="2101690"/>
            <a:ext cx="5436678" cy="1718404"/>
          </a:xfrm>
          <a:prstGeom prst="rect">
            <a:avLst/>
          </a:prstGeom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D9E11D5C-49B3-982A-54ED-E59858CF90F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E0D52F3-54CA-4E42-BFA9-4F0301781925}" type="slidenum">
              <a:rPr lang="en-US" smtClean="0"/>
              <a:pPr/>
              <a:t>34</a:t>
            </a:fld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7292067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1ECFEE-3938-671E-8DB7-4F4F3FEAAF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421E99F-ABA2-0A30-02F2-97FCDD6FFF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4067" y="306073"/>
            <a:ext cx="8421512" cy="707886"/>
          </a:xfrm>
        </p:spPr>
        <p:txBody>
          <a:bodyPr/>
          <a:lstStyle/>
          <a:p>
            <a:r>
              <a:rPr lang="en-US" sz="4000" dirty="0"/>
              <a:t>Practice: Concentration “Stress”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DF4E5A8C-B76A-6051-0889-9E275A3F466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372533" y="1092632"/>
                <a:ext cx="8387645" cy="5454924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Predict what happens with the following reaction</a:t>
                </a:r>
              </a:p>
              <a:p>
                <a:pPr marL="0" indent="0" algn="ctr">
                  <a:buNone/>
                </a:pPr>
                <a:r>
                  <a:rPr lang="en-US" dirty="0">
                    <a:solidFill>
                      <a:srgbClr val="FFC000"/>
                    </a:solidFill>
                  </a:rPr>
                  <a:t>CO (</a:t>
                </a:r>
                <a:r>
                  <a:rPr lang="en-US" i="1" dirty="0">
                    <a:solidFill>
                      <a:srgbClr val="FFC000"/>
                    </a:solidFill>
                  </a:rPr>
                  <a:t>g</a:t>
                </a:r>
                <a:r>
                  <a:rPr lang="en-US" dirty="0">
                    <a:solidFill>
                      <a:srgbClr val="FFC000"/>
                    </a:solidFill>
                  </a:rPr>
                  <a:t>) + Br</a:t>
                </a:r>
                <a:r>
                  <a:rPr lang="en-US" baseline="-25000" dirty="0">
                    <a:solidFill>
                      <a:srgbClr val="FFC000"/>
                    </a:solidFill>
                  </a:rPr>
                  <a:t>2 </a:t>
                </a:r>
                <a:r>
                  <a:rPr lang="en-US" dirty="0">
                    <a:solidFill>
                      <a:srgbClr val="FFC000"/>
                    </a:solidFill>
                  </a:rPr>
                  <a:t>(</a:t>
                </a:r>
                <a:r>
                  <a:rPr lang="en-US" i="1" dirty="0">
                    <a:solidFill>
                      <a:srgbClr val="FFC000"/>
                    </a:solidFill>
                  </a:rPr>
                  <a:t>g</a:t>
                </a:r>
                <a:r>
                  <a:rPr lang="en-US" dirty="0">
                    <a:solidFill>
                      <a:srgbClr val="FFC000"/>
                    </a:solidFill>
                  </a:rPr>
                  <a:t>) </a:t>
                </a:r>
                <a14:m>
                  <m:oMath xmlns:m="http://schemas.openxmlformats.org/officeDocument/2006/math">
                    <m:r>
                      <a:rPr lang="en-US" b="1">
                        <a:solidFill>
                          <a:srgbClr val="FFC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sym typeface="Wingdings" panose="05000000000000000000" pitchFamily="2" charset="2"/>
                      </a:rPr>
                      <m:t>⇌</m:t>
                    </m:r>
                  </m:oMath>
                </a14:m>
                <a:r>
                  <a:rPr lang="en-US" dirty="0">
                    <a:solidFill>
                      <a:srgbClr val="FFC000"/>
                    </a:solidFill>
                  </a:rPr>
                  <a:t> COBr</a:t>
                </a:r>
                <a:r>
                  <a:rPr lang="en-US" baseline="-25000" dirty="0">
                    <a:solidFill>
                      <a:srgbClr val="FFC000"/>
                    </a:solidFill>
                  </a:rPr>
                  <a:t>2 </a:t>
                </a:r>
                <a:r>
                  <a:rPr lang="en-US" dirty="0">
                    <a:solidFill>
                      <a:srgbClr val="FFC000"/>
                    </a:solidFill>
                  </a:rPr>
                  <a:t>(</a:t>
                </a:r>
                <a:r>
                  <a:rPr lang="en-US" i="1" dirty="0">
                    <a:solidFill>
                      <a:srgbClr val="FFC000"/>
                    </a:solidFill>
                  </a:rPr>
                  <a:t>g</a:t>
                </a:r>
                <a:r>
                  <a:rPr lang="en-US" dirty="0">
                    <a:solidFill>
                      <a:srgbClr val="FFC000"/>
                    </a:solidFill>
                  </a:rPr>
                  <a:t>)</a:t>
                </a:r>
                <a:r>
                  <a:rPr lang="en-US" dirty="0"/>
                  <a:t> </a:t>
                </a:r>
              </a:p>
              <a:p>
                <a:r>
                  <a:rPr lang="en-US" dirty="0">
                    <a:solidFill>
                      <a:srgbClr val="FFFF00"/>
                    </a:solidFill>
                  </a:rPr>
                  <a:t>Br</a:t>
                </a:r>
                <a:r>
                  <a:rPr lang="en-US" baseline="-25000" dirty="0">
                    <a:solidFill>
                      <a:srgbClr val="FFFF00"/>
                    </a:solidFill>
                  </a:rPr>
                  <a:t>2</a:t>
                </a:r>
                <a:r>
                  <a:rPr lang="en-US" dirty="0">
                    <a:solidFill>
                      <a:srgbClr val="FFFF00"/>
                    </a:solidFill>
                  </a:rPr>
                  <a:t> is removed</a:t>
                </a:r>
              </a:p>
              <a:p>
                <a:pPr marL="0" indent="0" algn="ctr">
                  <a:buNone/>
                </a:pPr>
                <a:r>
                  <a:rPr lang="en-US" dirty="0"/>
                  <a:t>Less Br</a:t>
                </a:r>
                <a:r>
                  <a:rPr lang="en-US" baseline="-25000" dirty="0"/>
                  <a:t>2</a:t>
                </a:r>
                <a:r>
                  <a:rPr lang="en-US" dirty="0"/>
                  <a:t> reactant,</a:t>
                </a:r>
                <a:br>
                  <a:rPr lang="en-US" dirty="0"/>
                </a:br>
                <a:r>
                  <a:rPr lang="en-US" dirty="0"/>
                  <a:t>shift to left to reactants (reverse reaction)</a:t>
                </a:r>
              </a:p>
              <a:p>
                <a:r>
                  <a:rPr lang="en-US" dirty="0">
                    <a:solidFill>
                      <a:srgbClr val="FFFF00"/>
                    </a:solidFill>
                  </a:rPr>
                  <a:t>COBr</a:t>
                </a:r>
                <a:r>
                  <a:rPr lang="en-US" baseline="-25000" dirty="0">
                    <a:solidFill>
                      <a:srgbClr val="FFFF00"/>
                    </a:solidFill>
                  </a:rPr>
                  <a:t>2</a:t>
                </a:r>
                <a:r>
                  <a:rPr lang="en-US" dirty="0">
                    <a:solidFill>
                      <a:srgbClr val="FFFF00"/>
                    </a:solidFill>
                  </a:rPr>
                  <a:t> is added</a:t>
                </a:r>
              </a:p>
              <a:p>
                <a:pPr marL="0" indent="0" algn="ctr">
                  <a:buNone/>
                </a:pPr>
                <a:r>
                  <a:rPr lang="en-US" dirty="0"/>
                  <a:t>More CoBr</a:t>
                </a:r>
                <a:r>
                  <a:rPr lang="en-US" baseline="-25000" dirty="0"/>
                  <a:t>2</a:t>
                </a:r>
                <a:r>
                  <a:rPr lang="en-US" dirty="0"/>
                  <a:t> product,</a:t>
                </a:r>
                <a:br>
                  <a:rPr lang="en-US" dirty="0"/>
                </a:br>
                <a:r>
                  <a:rPr lang="en-US" dirty="0"/>
                  <a:t>also shift to left to reactants (reverse reaction)</a:t>
                </a:r>
              </a:p>
            </p:txBody>
          </p:sp>
        </mc:Choice>
        <mc:Fallback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DF4E5A8C-B76A-6051-0889-9E275A3F466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72533" y="1092632"/>
                <a:ext cx="8387645" cy="5454924"/>
              </a:xfrm>
              <a:blipFill>
                <a:blip r:embed="rId2"/>
                <a:stretch>
                  <a:fillRect l="-1090" t="-89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2CEADDF-865A-53A9-91EC-3C9DEF50146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E0D52F3-54CA-4E42-BFA9-4F0301781925}" type="slidenum">
              <a:rPr lang="en-US" smtClean="0"/>
              <a:pPr/>
              <a:t>35</a:t>
            </a:fld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31400282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3D2DA4-6CCE-E15E-8158-BEAE2BBE6A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55F9A8F0-CC2F-65DF-B03F-E7B0CFA1EE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2533" y="227492"/>
            <a:ext cx="8421512" cy="707886"/>
          </a:xfrm>
        </p:spPr>
        <p:txBody>
          <a:bodyPr/>
          <a:lstStyle/>
          <a:p>
            <a:r>
              <a:rPr lang="en-US" sz="4000" dirty="0"/>
              <a:t>Temperature “Stress”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DCC37F21-C4FF-2116-B244-2F97B63A82D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372533" y="1000126"/>
                <a:ext cx="8387645" cy="5547430"/>
              </a:xfrm>
            </p:spPr>
            <p:txBody>
              <a:bodyPr/>
              <a:lstStyle/>
              <a:p>
                <a:r>
                  <a:rPr lang="en-US" dirty="0"/>
                  <a:t>Returning to the ammonia production, the </a:t>
                </a:r>
                <a:r>
                  <a:rPr lang="en-US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rPr>
                  <a:t>thermochemical equation </a:t>
                </a:r>
                <a:r>
                  <a:rPr lang="en-US" dirty="0"/>
                  <a:t>is shown</a:t>
                </a:r>
              </a:p>
              <a:p>
                <a:pPr lvl="1"/>
                <a:r>
                  <a:rPr lang="en-US" dirty="0"/>
                  <a:t>recall it includes a positive or negative energy value: if positive, heat is released (exothermic), if negative, heat/energy is required (endothermic)</a:t>
                </a:r>
              </a:p>
              <a:p>
                <a:pPr lvl="1"/>
                <a:r>
                  <a:rPr lang="en-US" dirty="0"/>
                  <a:t>The forward reaction is positive so heat released</a:t>
                </a:r>
              </a:p>
              <a:p>
                <a:pPr lvl="1"/>
                <a:r>
                  <a:rPr lang="en-US" dirty="0"/>
                  <a:t>The reverse reaction therefore requires energy</a:t>
                </a:r>
              </a:p>
              <a:p>
                <a:pPr marL="0" indent="0" algn="ctr">
                  <a:buNone/>
                </a:pPr>
                <a:r>
                  <a:rPr lang="en-US" dirty="0">
                    <a:solidFill>
                      <a:srgbClr val="FFC000"/>
                    </a:solidFill>
                  </a:rPr>
                  <a:t>N</a:t>
                </a:r>
                <a:r>
                  <a:rPr lang="en-US" baseline="-25000" dirty="0">
                    <a:solidFill>
                      <a:srgbClr val="FFC000"/>
                    </a:solidFill>
                  </a:rPr>
                  <a:t>2</a:t>
                </a:r>
                <a:r>
                  <a:rPr lang="en-US" dirty="0">
                    <a:solidFill>
                      <a:srgbClr val="FFC000"/>
                    </a:solidFill>
                  </a:rPr>
                  <a:t> (</a:t>
                </a:r>
                <a:r>
                  <a:rPr lang="en-US" i="1" dirty="0">
                    <a:solidFill>
                      <a:srgbClr val="FFC000"/>
                    </a:solidFill>
                  </a:rPr>
                  <a:t>g</a:t>
                </a:r>
                <a:r>
                  <a:rPr lang="en-US" dirty="0">
                    <a:solidFill>
                      <a:srgbClr val="FFC000"/>
                    </a:solidFill>
                  </a:rPr>
                  <a:t>) + 3 H</a:t>
                </a:r>
                <a:r>
                  <a:rPr lang="en-US" baseline="-25000" dirty="0">
                    <a:solidFill>
                      <a:srgbClr val="FFC000"/>
                    </a:solidFill>
                  </a:rPr>
                  <a:t>2</a:t>
                </a:r>
                <a:r>
                  <a:rPr lang="en-US" dirty="0">
                    <a:solidFill>
                      <a:srgbClr val="FFC000"/>
                    </a:solidFill>
                  </a:rPr>
                  <a:t> (</a:t>
                </a:r>
                <a:r>
                  <a:rPr lang="en-US" i="1" dirty="0">
                    <a:solidFill>
                      <a:srgbClr val="FFC000"/>
                    </a:solidFill>
                  </a:rPr>
                  <a:t>g</a:t>
                </a:r>
                <a:r>
                  <a:rPr lang="en-US" dirty="0">
                    <a:solidFill>
                      <a:srgbClr val="FFC000"/>
                    </a:solidFill>
                  </a:rPr>
                  <a:t>) </a:t>
                </a:r>
                <a14:m>
                  <m:oMath xmlns:m="http://schemas.openxmlformats.org/officeDocument/2006/math">
                    <m:r>
                      <a:rPr lang="en-US" b="1">
                        <a:solidFill>
                          <a:srgbClr val="FFC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sym typeface="Wingdings" panose="05000000000000000000" pitchFamily="2" charset="2"/>
                      </a:rPr>
                      <m:t>⇌</m:t>
                    </m:r>
                  </m:oMath>
                </a14:m>
                <a:r>
                  <a:rPr lang="en-US" dirty="0">
                    <a:solidFill>
                      <a:srgbClr val="FFC000"/>
                    </a:solidFill>
                  </a:rPr>
                  <a:t> 2 NH</a:t>
                </a:r>
                <a:r>
                  <a:rPr lang="en-US" baseline="-25000" dirty="0">
                    <a:solidFill>
                      <a:srgbClr val="FFC000"/>
                    </a:solidFill>
                  </a:rPr>
                  <a:t>3</a:t>
                </a:r>
                <a:r>
                  <a:rPr lang="en-US" dirty="0">
                    <a:solidFill>
                      <a:srgbClr val="FFC000"/>
                    </a:solidFill>
                  </a:rPr>
                  <a:t> (</a:t>
                </a:r>
                <a:r>
                  <a:rPr lang="en-US" i="1" dirty="0">
                    <a:solidFill>
                      <a:srgbClr val="FFC000"/>
                    </a:solidFill>
                  </a:rPr>
                  <a:t>g</a:t>
                </a:r>
                <a:r>
                  <a:rPr lang="en-US" dirty="0">
                    <a:solidFill>
                      <a:srgbClr val="FFC000"/>
                    </a:solidFill>
                  </a:rPr>
                  <a:t>) + 91 kJ</a:t>
                </a:r>
              </a:p>
              <a:p>
                <a:pPr marL="0" indent="0">
                  <a:buNone/>
                </a:pPr>
                <a:r>
                  <a:rPr lang="en-US" dirty="0"/>
                  <a:t>What effect temperature?</a:t>
                </a:r>
              </a:p>
              <a:p>
                <a:r>
                  <a:rPr lang="en-US" dirty="0"/>
                  <a:t>Reducing temperature has effect of removing energy/heat, which favors products</a:t>
                </a:r>
              </a:p>
              <a:p>
                <a:r>
                  <a:rPr lang="en-US" dirty="0"/>
                  <a:t>Adding heat (raising temperature) would favor going in reverse reaction, forming reactants</a:t>
                </a:r>
              </a:p>
              <a:p>
                <a:pPr marL="0" indent="0" algn="ctr">
                  <a:buNone/>
                </a:pPr>
                <a:endParaRPr lang="en-US" dirty="0"/>
              </a:p>
            </p:txBody>
          </p:sp>
        </mc:Choice>
        <mc:Fallback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DCC37F21-C4FF-2116-B244-2F97B63A82D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72533" y="1000126"/>
                <a:ext cx="8387645" cy="5547430"/>
              </a:xfrm>
              <a:blipFill>
                <a:blip r:embed="rId2"/>
                <a:stretch>
                  <a:fillRect l="-1090" t="-87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C212A16-2B94-A375-82A6-D850AF9BA0A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E0D52F3-54CA-4E42-BFA9-4F0301781925}" type="slidenum">
              <a:rPr lang="en-US" smtClean="0"/>
              <a:pPr/>
              <a:t>36</a:t>
            </a:fld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239331847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105223-7C08-5B3B-C86C-ED0D90ABB6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01E0269-FCD8-62C4-5CC3-D61865D4F8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2533" y="227492"/>
            <a:ext cx="8421512" cy="707886"/>
          </a:xfrm>
        </p:spPr>
        <p:txBody>
          <a:bodyPr/>
          <a:lstStyle/>
          <a:p>
            <a:r>
              <a:rPr lang="en-US" sz="4000" dirty="0"/>
              <a:t>Temperature “Stress”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69821D6-0A6C-BC24-3971-7ADA791827D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2533" y="1000126"/>
            <a:ext cx="8387645" cy="5547430"/>
          </a:xfrm>
        </p:spPr>
        <p:txBody>
          <a:bodyPr/>
          <a:lstStyle/>
          <a:p>
            <a:r>
              <a:rPr lang="en-US" dirty="0"/>
              <a:t>Raising temperature has effect of favoring the direction of the reaction that requires heat/energy to form the compounds</a:t>
            </a:r>
          </a:p>
          <a:p>
            <a:r>
              <a:rPr lang="en-US" dirty="0"/>
              <a:t>If the direction of a reaction is endothermic (requires heat/energy), raising temperature pushes the reaction in the endothermic direction</a:t>
            </a:r>
          </a:p>
          <a:p>
            <a:r>
              <a:rPr lang="en-US" dirty="0"/>
              <a:t>The logic applies that if a reaction is exothermic (releases heat/energy), then lowering temperature should favor the reaction towards the exothermic direction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5AFE6ACB-0C43-E7EC-97E7-D04CC642F22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E0D52F3-54CA-4E42-BFA9-4F0301781925}" type="slidenum">
              <a:rPr lang="en-US" smtClean="0"/>
              <a:pPr/>
              <a:t>37</a:t>
            </a:fld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2633562528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FE9B17-9F16-A702-5554-8D9F918337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B3D0598-C621-84DA-7608-6AA50875FA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2533" y="227492"/>
            <a:ext cx="8421512" cy="707886"/>
          </a:xfrm>
        </p:spPr>
        <p:txBody>
          <a:bodyPr/>
          <a:lstStyle/>
          <a:p>
            <a:r>
              <a:rPr lang="en-US" sz="4000" dirty="0"/>
              <a:t>Practice: Temperature “Stress”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092D3293-9843-0DD6-43B2-66BCEE9FEDB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372533" y="1000126"/>
                <a:ext cx="8387645" cy="5547430"/>
              </a:xfrm>
            </p:spPr>
            <p:txBody>
              <a:bodyPr/>
              <a:lstStyle/>
              <a:p>
                <a:r>
                  <a:rPr lang="en-US" dirty="0"/>
                  <a:t>Predict the effect to increasing temperature:</a:t>
                </a:r>
              </a:p>
              <a:p>
                <a:pPr marL="0" indent="0" algn="ctr">
                  <a:buNone/>
                </a:pPr>
                <a:r>
                  <a:rPr lang="en-US" dirty="0">
                    <a:solidFill>
                      <a:srgbClr val="FFC000"/>
                    </a:solidFill>
                  </a:rPr>
                  <a:t>PCl</a:t>
                </a:r>
                <a:r>
                  <a:rPr lang="en-US" baseline="-25000" dirty="0">
                    <a:solidFill>
                      <a:srgbClr val="FFC000"/>
                    </a:solidFill>
                  </a:rPr>
                  <a:t>3</a:t>
                </a:r>
                <a:r>
                  <a:rPr lang="en-US" dirty="0">
                    <a:solidFill>
                      <a:srgbClr val="FFC000"/>
                    </a:solidFill>
                  </a:rPr>
                  <a:t> + Cl</a:t>
                </a:r>
                <a:r>
                  <a:rPr lang="en-US" baseline="-25000" dirty="0">
                    <a:solidFill>
                      <a:srgbClr val="FFC000"/>
                    </a:solidFill>
                  </a:rPr>
                  <a:t>2</a:t>
                </a:r>
                <a:r>
                  <a:rPr lang="en-US" dirty="0">
                    <a:solidFill>
                      <a:srgbClr val="FFC000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US" b="1">
                        <a:solidFill>
                          <a:srgbClr val="FFC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sym typeface="Wingdings" panose="05000000000000000000" pitchFamily="2" charset="2"/>
                      </a:rPr>
                      <m:t>⇌</m:t>
                    </m:r>
                  </m:oMath>
                </a14:m>
                <a:r>
                  <a:rPr lang="en-US" dirty="0">
                    <a:solidFill>
                      <a:srgbClr val="FFC000"/>
                    </a:solidFill>
                  </a:rPr>
                  <a:t> PCl</a:t>
                </a:r>
                <a:r>
                  <a:rPr lang="en-US" baseline="-25000" dirty="0">
                    <a:solidFill>
                      <a:srgbClr val="FFC000"/>
                    </a:solidFill>
                  </a:rPr>
                  <a:t>5</a:t>
                </a:r>
                <a:r>
                  <a:rPr lang="en-US" dirty="0">
                    <a:solidFill>
                      <a:srgbClr val="FFC000"/>
                    </a:solidFill>
                  </a:rPr>
                  <a:t> + 60 kJ</a:t>
                </a:r>
              </a:p>
              <a:p>
                <a:pPr marL="0" indent="0">
                  <a:buNone/>
                </a:pPr>
                <a:r>
                  <a:rPr lang="en-US" sz="2000" dirty="0">
                    <a:solidFill>
                      <a:srgbClr val="FFFF00"/>
                    </a:solidFill>
                  </a:rPr>
                  <a:t>The reaction is exothermic, release heat/energy. Lowering temperature would promote the forward reaction. Increasing temperature would provide energy to promote the reverse reaction: so the reverse reaction is favored</a:t>
                </a:r>
              </a:p>
              <a:p>
                <a:r>
                  <a:rPr lang="en-US" dirty="0"/>
                  <a:t>Predict the effect to decreasing temperature:</a:t>
                </a:r>
              </a:p>
              <a:p>
                <a:pPr marL="0" indent="0" algn="ctr">
                  <a:buNone/>
                </a:pPr>
                <a:r>
                  <a:rPr lang="en-US" dirty="0">
                    <a:solidFill>
                      <a:srgbClr val="FFC000"/>
                    </a:solidFill>
                  </a:rPr>
                  <a:t>N</a:t>
                </a:r>
                <a:r>
                  <a:rPr lang="en-US" baseline="-25000" dirty="0">
                    <a:solidFill>
                      <a:srgbClr val="FFC000"/>
                    </a:solidFill>
                  </a:rPr>
                  <a:t>2</a:t>
                </a:r>
                <a:r>
                  <a:rPr lang="en-US" dirty="0">
                    <a:solidFill>
                      <a:srgbClr val="FFC000"/>
                    </a:solidFill>
                  </a:rPr>
                  <a:t>O</a:t>
                </a:r>
                <a:r>
                  <a:rPr lang="en-US" baseline="-25000" dirty="0">
                    <a:solidFill>
                      <a:srgbClr val="FFC000"/>
                    </a:solidFill>
                  </a:rPr>
                  <a:t>4</a:t>
                </a:r>
                <a:r>
                  <a:rPr lang="en-US" dirty="0">
                    <a:solidFill>
                      <a:srgbClr val="FFC000"/>
                    </a:solidFill>
                  </a:rPr>
                  <a:t> + 57 kJ </a:t>
                </a:r>
                <a14:m>
                  <m:oMath xmlns:m="http://schemas.openxmlformats.org/officeDocument/2006/math">
                    <m:r>
                      <a:rPr lang="en-US" b="1">
                        <a:solidFill>
                          <a:srgbClr val="FFC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sym typeface="Wingdings" panose="05000000000000000000" pitchFamily="2" charset="2"/>
                      </a:rPr>
                      <m:t>⇌</m:t>
                    </m:r>
                  </m:oMath>
                </a14:m>
                <a:r>
                  <a:rPr lang="en-US" dirty="0">
                    <a:solidFill>
                      <a:srgbClr val="FFC000"/>
                    </a:solidFill>
                  </a:rPr>
                  <a:t> 2 NO</a:t>
                </a:r>
                <a:r>
                  <a:rPr lang="en-US" baseline="-25000" dirty="0">
                    <a:solidFill>
                      <a:srgbClr val="FFC000"/>
                    </a:solidFill>
                  </a:rPr>
                  <a:t>2</a:t>
                </a:r>
                <a:endParaRPr lang="en-US" dirty="0">
                  <a:solidFill>
                    <a:srgbClr val="FFC000"/>
                  </a:solidFill>
                </a:endParaRPr>
              </a:p>
              <a:p>
                <a:pPr marL="0" indent="0">
                  <a:buNone/>
                </a:pPr>
                <a:r>
                  <a:rPr lang="en-US" sz="2000" dirty="0">
                    <a:solidFill>
                      <a:srgbClr val="FFFF00"/>
                    </a:solidFill>
                  </a:rPr>
                  <a:t>The reaction is endothermic, release heat/energy. Lowering temperature would promote the reverse reaction since the heat/energy is taken away. Increasing temperature would provide energy to promote the forward reaction: so the reverse reaction is favored</a:t>
                </a:r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092D3293-9843-0DD6-43B2-66BCEE9FEDB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72533" y="1000126"/>
                <a:ext cx="8387645" cy="5547430"/>
              </a:xfrm>
              <a:blipFill>
                <a:blip r:embed="rId2"/>
                <a:stretch>
                  <a:fillRect l="-1090" t="-879" r="-101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B6755DC-F6AD-41F2-764D-CCDDDC6D11D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E0D52F3-54CA-4E42-BFA9-4F0301781925}" type="slidenum">
              <a:rPr lang="en-US" smtClean="0"/>
              <a:pPr/>
              <a:t>38</a:t>
            </a:fld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5473071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5BCF6C-5794-23C8-4F4D-2FE8520468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68E9451B-68C1-411C-4B51-995AECE0E0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1244" y="294891"/>
            <a:ext cx="8421512" cy="707886"/>
          </a:xfrm>
        </p:spPr>
        <p:txBody>
          <a:bodyPr/>
          <a:lstStyle/>
          <a:p>
            <a:r>
              <a:rPr lang="en-US" sz="4000" dirty="0"/>
              <a:t>Pressure “Stress”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3A490132-7D3C-F990-13A1-025FC8DD2CC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372533" y="1080000"/>
                <a:ext cx="8387645" cy="5467555"/>
              </a:xfrm>
            </p:spPr>
            <p:txBody>
              <a:bodyPr/>
              <a:lstStyle/>
              <a:p>
                <a:r>
                  <a:rPr lang="en-US" sz="2200" dirty="0"/>
                  <a:t>When the reactants and products are gases, changes in the partial pressure of any component of the system would require restoration of the equilibrium</a:t>
                </a:r>
              </a:p>
              <a:p>
                <a:pPr marL="231775" lvl="1" indent="0">
                  <a:buNone/>
                </a:pPr>
                <a:r>
                  <a:rPr lang="en-US" sz="1800" dirty="0"/>
                  <a:t>This would not be true for solids and liquids</a:t>
                </a:r>
              </a:p>
              <a:p>
                <a:r>
                  <a:rPr lang="en-US" sz="2000" dirty="0"/>
                  <a:t>A in figure shows system at equilibrium</a:t>
                </a:r>
              </a:p>
              <a:p>
                <a:r>
                  <a:rPr lang="en-US" sz="2000" dirty="0"/>
                  <a:t>In B, pressure is increased (out of equilibrium)</a:t>
                </a:r>
              </a:p>
              <a:p>
                <a:r>
                  <a:rPr lang="en-US" sz="2000" dirty="0"/>
                  <a:t>In C, equilibrium restored</a:t>
                </a:r>
              </a:p>
              <a:p>
                <a:pPr marL="0" indent="0">
                  <a:buNone/>
                </a:pPr>
                <a:r>
                  <a:rPr lang="en-US" sz="2200" dirty="0"/>
                  <a:t>What happened?</a:t>
                </a:r>
              </a:p>
              <a:p>
                <a:pPr marL="0" indent="0">
                  <a:buNone/>
                </a:pPr>
                <a:r>
                  <a:rPr lang="en-US" sz="2000" dirty="0">
                    <a:solidFill>
                      <a:srgbClr val="FFC000"/>
                    </a:solidFill>
                  </a:rPr>
                  <a:t>N</a:t>
                </a:r>
                <a:r>
                  <a:rPr lang="en-US" sz="2000" baseline="-25000" dirty="0">
                    <a:solidFill>
                      <a:srgbClr val="FFC000"/>
                    </a:solidFill>
                  </a:rPr>
                  <a:t>2</a:t>
                </a:r>
                <a:r>
                  <a:rPr lang="en-US" sz="2000" dirty="0">
                    <a:solidFill>
                      <a:srgbClr val="FFC000"/>
                    </a:solidFill>
                  </a:rPr>
                  <a:t> (</a:t>
                </a:r>
                <a:r>
                  <a:rPr lang="en-US" sz="2000" i="1" dirty="0">
                    <a:solidFill>
                      <a:srgbClr val="FFC000"/>
                    </a:solidFill>
                  </a:rPr>
                  <a:t>g</a:t>
                </a:r>
                <a:r>
                  <a:rPr lang="en-US" sz="2000" dirty="0">
                    <a:solidFill>
                      <a:srgbClr val="FFC000"/>
                    </a:solidFill>
                  </a:rPr>
                  <a:t>) + 3 H</a:t>
                </a:r>
                <a:r>
                  <a:rPr lang="en-US" sz="2000" baseline="-25000" dirty="0">
                    <a:solidFill>
                      <a:srgbClr val="FFC000"/>
                    </a:solidFill>
                  </a:rPr>
                  <a:t>2</a:t>
                </a:r>
                <a:r>
                  <a:rPr lang="en-US" sz="2000" dirty="0">
                    <a:solidFill>
                      <a:srgbClr val="FFC000"/>
                    </a:solidFill>
                  </a:rPr>
                  <a:t> (</a:t>
                </a:r>
                <a:r>
                  <a:rPr lang="en-US" sz="2000" i="1" dirty="0">
                    <a:solidFill>
                      <a:srgbClr val="FFC000"/>
                    </a:solidFill>
                  </a:rPr>
                  <a:t>g</a:t>
                </a:r>
                <a:r>
                  <a:rPr lang="en-US" sz="2000" dirty="0">
                    <a:solidFill>
                      <a:srgbClr val="FFC000"/>
                    </a:solidFill>
                  </a:rPr>
                  <a:t>) </a:t>
                </a:r>
                <a14:m>
                  <m:oMath xmlns:m="http://schemas.openxmlformats.org/officeDocument/2006/math">
                    <m:r>
                      <a:rPr lang="en-US" sz="2000" b="1">
                        <a:solidFill>
                          <a:srgbClr val="FFC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sym typeface="Wingdings" panose="05000000000000000000" pitchFamily="2" charset="2"/>
                      </a:rPr>
                      <m:t>⇌</m:t>
                    </m:r>
                  </m:oMath>
                </a14:m>
                <a:r>
                  <a:rPr lang="en-US" sz="2000" dirty="0">
                    <a:solidFill>
                      <a:srgbClr val="FFC000"/>
                    </a:solidFill>
                  </a:rPr>
                  <a:t> 2 NH</a:t>
                </a:r>
                <a:r>
                  <a:rPr lang="en-US" sz="2000" baseline="-25000" dirty="0">
                    <a:solidFill>
                      <a:srgbClr val="FFC000"/>
                    </a:solidFill>
                  </a:rPr>
                  <a:t>3</a:t>
                </a:r>
                <a:r>
                  <a:rPr lang="en-US" sz="2000" dirty="0">
                    <a:solidFill>
                      <a:srgbClr val="FFC000"/>
                    </a:solidFill>
                  </a:rPr>
                  <a:t> (</a:t>
                </a:r>
                <a:r>
                  <a:rPr lang="en-US" sz="2000" i="1" dirty="0">
                    <a:solidFill>
                      <a:srgbClr val="FFC000"/>
                    </a:solidFill>
                  </a:rPr>
                  <a:t>g</a:t>
                </a:r>
                <a:r>
                  <a:rPr lang="en-US" sz="2000" dirty="0">
                    <a:solidFill>
                      <a:srgbClr val="FFC000"/>
                    </a:solidFill>
                  </a:rPr>
                  <a:t>)</a:t>
                </a:r>
              </a:p>
              <a:p>
                <a:pPr marL="0" indent="0">
                  <a:buNone/>
                </a:pPr>
                <a:r>
                  <a:rPr lang="en-US" sz="2000" dirty="0">
                    <a:solidFill>
                      <a:srgbClr val="FFFF00"/>
                    </a:solidFill>
                  </a:rPr>
                  <a:t>With increased pressure,</a:t>
                </a:r>
                <a:br>
                  <a:rPr lang="en-US" sz="2000" dirty="0">
                    <a:solidFill>
                      <a:srgbClr val="FFFF00"/>
                    </a:solidFill>
                  </a:rPr>
                </a:br>
                <a:r>
                  <a:rPr lang="en-US" sz="2000" dirty="0">
                    <a:solidFill>
                      <a:srgbClr val="FFFF00"/>
                    </a:solidFill>
                  </a:rPr>
                  <a:t>whichever side has fewer</a:t>
                </a:r>
                <a:br>
                  <a:rPr lang="en-US" sz="2000" dirty="0">
                    <a:solidFill>
                      <a:srgbClr val="FFFF00"/>
                    </a:solidFill>
                  </a:rPr>
                </a:br>
                <a:r>
                  <a:rPr lang="en-US" sz="2000" dirty="0">
                    <a:solidFill>
                      <a:srgbClr val="FFFF00"/>
                    </a:solidFill>
                  </a:rPr>
                  <a:t>moles of all gases will be</a:t>
                </a:r>
                <a:br>
                  <a:rPr lang="en-US" sz="2000" dirty="0">
                    <a:solidFill>
                      <a:srgbClr val="FFFF00"/>
                    </a:solidFill>
                  </a:rPr>
                </a:br>
                <a:r>
                  <a:rPr lang="en-US" sz="2000" dirty="0">
                    <a:solidFill>
                      <a:srgbClr val="FFFF00"/>
                    </a:solidFill>
                  </a:rPr>
                  <a:t>favored. 4 moles of gas on</a:t>
                </a:r>
                <a:br>
                  <a:rPr lang="en-US" sz="2000" dirty="0">
                    <a:solidFill>
                      <a:srgbClr val="FFFF00"/>
                    </a:solidFill>
                  </a:rPr>
                </a:br>
                <a:r>
                  <a:rPr lang="en-US" sz="2000" dirty="0">
                    <a:solidFill>
                      <a:srgbClr val="FFFF00"/>
                    </a:solidFill>
                  </a:rPr>
                  <a:t>reactants form 2 moles of</a:t>
                </a:r>
                <a:br>
                  <a:rPr lang="en-US" sz="2000" dirty="0">
                    <a:solidFill>
                      <a:srgbClr val="FFFF00"/>
                    </a:solidFill>
                  </a:rPr>
                </a:br>
                <a:r>
                  <a:rPr lang="en-US" sz="2000" dirty="0">
                    <a:solidFill>
                      <a:srgbClr val="FFFF00"/>
                    </a:solidFill>
                  </a:rPr>
                  <a:t>gas in products, so higher</a:t>
                </a:r>
                <a:br>
                  <a:rPr lang="en-US" sz="2000" dirty="0">
                    <a:solidFill>
                      <a:srgbClr val="FFFF00"/>
                    </a:solidFill>
                  </a:rPr>
                </a:br>
                <a:r>
                  <a:rPr lang="en-US" sz="2000" dirty="0">
                    <a:solidFill>
                      <a:srgbClr val="FFFF00"/>
                    </a:solidFill>
                  </a:rPr>
                  <a:t>pressure pushes to 2 moles</a:t>
                </a:r>
              </a:p>
            </p:txBody>
          </p:sp>
        </mc:Choice>
        <mc:Fallback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3A490132-7D3C-F990-13A1-025FC8DD2CC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72533" y="1080000"/>
                <a:ext cx="8387645" cy="5467555"/>
              </a:xfrm>
              <a:blipFill>
                <a:blip r:embed="rId2"/>
                <a:stretch>
                  <a:fillRect l="-945" t="-780" r="-1163" b="-23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>
            <a:extLst>
              <a:ext uri="{FF2B5EF4-FFF2-40B4-BE49-F238E27FC236}">
                <a16:creationId xmlns:a16="http://schemas.microsoft.com/office/drawing/2014/main" id="{946FF318-E1F5-63F8-D899-CD14767A92E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06619" y="3429000"/>
            <a:ext cx="4376137" cy="3118554"/>
          </a:xfrm>
          <a:prstGeom prst="rect">
            <a:avLst/>
          </a:prstGeom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A7CE155-ED0F-633F-BBEB-E1BD2FDD0B4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E0D52F3-54CA-4E42-BFA9-4F0301781925}" type="slidenum">
              <a:rPr lang="en-US" smtClean="0"/>
              <a:pPr/>
              <a:t>39</a:t>
            </a:fld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68708760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173437-97B8-549C-ABB7-A28FD87B3F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2892DA08-8F52-9843-EB17-D0263E2247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5599" y="258891"/>
            <a:ext cx="8421512" cy="707886"/>
          </a:xfrm>
        </p:spPr>
        <p:txBody>
          <a:bodyPr/>
          <a:lstStyle/>
          <a:p>
            <a:r>
              <a:rPr lang="en-US" sz="4000" dirty="0"/>
              <a:t>Pressure “Stress”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7ECA76D9-EA4B-3A0C-B350-3D5FDDBD924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372533" y="966778"/>
                <a:ext cx="8387645" cy="5580778"/>
              </a:xfrm>
            </p:spPr>
            <p:txBody>
              <a:bodyPr/>
              <a:lstStyle/>
              <a:p>
                <a:endParaRPr lang="en-US" sz="2200" dirty="0"/>
              </a:p>
              <a:p>
                <a:endParaRPr lang="en-US" sz="2200" dirty="0"/>
              </a:p>
              <a:p>
                <a:endParaRPr lang="en-US" sz="2200" dirty="0"/>
              </a:p>
              <a:p>
                <a:endParaRPr lang="en-US" sz="2000" dirty="0"/>
              </a:p>
              <a:p>
                <a:r>
                  <a:rPr lang="en-US" sz="1600" dirty="0"/>
                  <a:t>Predict what happens with pressure changes in this reaction</a:t>
                </a:r>
              </a:p>
              <a:p>
                <a:pPr marL="0" indent="0" algn="ctr">
                  <a:buNone/>
                </a:pPr>
                <a:r>
                  <a:rPr lang="en-US" sz="1800" dirty="0">
                    <a:solidFill>
                      <a:srgbClr val="FFC000"/>
                    </a:solidFill>
                  </a:rPr>
                  <a:t>CaCO</a:t>
                </a:r>
                <a:r>
                  <a:rPr lang="en-US" sz="1800" baseline="-25000" dirty="0">
                    <a:solidFill>
                      <a:srgbClr val="FFC000"/>
                    </a:solidFill>
                  </a:rPr>
                  <a:t>3</a:t>
                </a:r>
                <a:r>
                  <a:rPr lang="en-US" sz="1800" dirty="0">
                    <a:solidFill>
                      <a:srgbClr val="FFC000"/>
                    </a:solidFill>
                  </a:rPr>
                  <a:t> (</a:t>
                </a:r>
                <a:r>
                  <a:rPr lang="en-US" sz="1800" i="1" dirty="0">
                    <a:solidFill>
                      <a:srgbClr val="FFC000"/>
                    </a:solidFill>
                  </a:rPr>
                  <a:t>s</a:t>
                </a:r>
                <a:r>
                  <a:rPr lang="en-US" sz="1800" dirty="0">
                    <a:solidFill>
                      <a:srgbClr val="FFC000"/>
                    </a:solidFill>
                  </a:rPr>
                  <a:t>) </a:t>
                </a:r>
                <a14:m>
                  <m:oMath xmlns:m="http://schemas.openxmlformats.org/officeDocument/2006/math">
                    <m:r>
                      <a:rPr lang="en-US" sz="1800" b="1">
                        <a:solidFill>
                          <a:srgbClr val="FFC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sym typeface="Wingdings" panose="05000000000000000000" pitchFamily="2" charset="2"/>
                      </a:rPr>
                      <m:t>⇌</m:t>
                    </m:r>
                  </m:oMath>
                </a14:m>
                <a:r>
                  <a:rPr lang="en-US" sz="1800" dirty="0">
                    <a:solidFill>
                      <a:srgbClr val="FFC000"/>
                    </a:solidFill>
                  </a:rPr>
                  <a:t> CaO (</a:t>
                </a:r>
                <a:r>
                  <a:rPr lang="en-US" sz="1800" i="1" dirty="0">
                    <a:solidFill>
                      <a:srgbClr val="FFC000"/>
                    </a:solidFill>
                  </a:rPr>
                  <a:t>s</a:t>
                </a:r>
                <a:r>
                  <a:rPr lang="en-US" sz="1800" dirty="0">
                    <a:solidFill>
                      <a:srgbClr val="FFC000"/>
                    </a:solidFill>
                  </a:rPr>
                  <a:t>) + O</a:t>
                </a:r>
                <a:r>
                  <a:rPr lang="en-US" sz="1800" baseline="-25000" dirty="0">
                    <a:solidFill>
                      <a:srgbClr val="FFC000"/>
                    </a:solidFill>
                  </a:rPr>
                  <a:t>2</a:t>
                </a:r>
                <a:r>
                  <a:rPr lang="en-US" sz="1800" dirty="0">
                    <a:solidFill>
                      <a:srgbClr val="FFC000"/>
                    </a:solidFill>
                  </a:rPr>
                  <a:t> (</a:t>
                </a:r>
                <a:r>
                  <a:rPr lang="en-US" sz="1800" i="1" dirty="0">
                    <a:solidFill>
                      <a:srgbClr val="FFC000"/>
                    </a:solidFill>
                  </a:rPr>
                  <a:t>g</a:t>
                </a:r>
                <a:r>
                  <a:rPr lang="en-US" sz="1800" dirty="0">
                    <a:solidFill>
                      <a:srgbClr val="FFC000"/>
                    </a:solidFill>
                  </a:rPr>
                  <a:t>)</a:t>
                </a:r>
              </a:p>
              <a:p>
                <a:pPr marL="0" indent="0">
                  <a:buNone/>
                </a:pPr>
                <a:r>
                  <a:rPr lang="en-US" sz="1800" dirty="0">
                    <a:solidFill>
                      <a:srgbClr val="FFFF00"/>
                    </a:solidFill>
                  </a:rPr>
                  <a:t>O</a:t>
                </a:r>
                <a:r>
                  <a:rPr lang="en-US" sz="1800" baseline="-25000" dirty="0">
                    <a:solidFill>
                      <a:srgbClr val="FFFF00"/>
                    </a:solidFill>
                  </a:rPr>
                  <a:t>2</a:t>
                </a:r>
                <a:r>
                  <a:rPr lang="en-US" sz="1800" dirty="0">
                    <a:solidFill>
                      <a:srgbClr val="FFFF00"/>
                    </a:solidFill>
                  </a:rPr>
                  <a:t> is the only gas in the reaction. So increasing pressure should favor side with fewer moles of gas, in this case, the reactants side, which has no gas actually!</a:t>
                </a:r>
              </a:p>
              <a:p>
                <a:r>
                  <a:rPr lang="en-US" sz="1600" dirty="0"/>
                  <a:t>Predict what happens with pressure changes in this reaction</a:t>
                </a:r>
              </a:p>
              <a:p>
                <a:pPr marL="0" indent="0" algn="ctr">
                  <a:buNone/>
                </a:pPr>
                <a:r>
                  <a:rPr lang="en-US" sz="1800" dirty="0">
                    <a:solidFill>
                      <a:srgbClr val="FFC000"/>
                    </a:solidFill>
                  </a:rPr>
                  <a:t>H</a:t>
                </a:r>
                <a:r>
                  <a:rPr lang="en-US" sz="1800" baseline="-25000" dirty="0">
                    <a:solidFill>
                      <a:srgbClr val="FFC000"/>
                    </a:solidFill>
                  </a:rPr>
                  <a:t>2</a:t>
                </a:r>
                <a:r>
                  <a:rPr lang="en-US" sz="1800" dirty="0">
                    <a:solidFill>
                      <a:srgbClr val="FFC000"/>
                    </a:solidFill>
                  </a:rPr>
                  <a:t> (g) + Cl</a:t>
                </a:r>
                <a:r>
                  <a:rPr lang="en-US" sz="1800" baseline="-25000" dirty="0">
                    <a:solidFill>
                      <a:srgbClr val="FFC000"/>
                    </a:solidFill>
                  </a:rPr>
                  <a:t>2</a:t>
                </a:r>
                <a:r>
                  <a:rPr lang="en-US" sz="1800" dirty="0">
                    <a:solidFill>
                      <a:srgbClr val="FFC000"/>
                    </a:solidFill>
                  </a:rPr>
                  <a:t> (</a:t>
                </a:r>
                <a:r>
                  <a:rPr lang="en-US" sz="1800" i="1" dirty="0">
                    <a:solidFill>
                      <a:srgbClr val="FFC000"/>
                    </a:solidFill>
                  </a:rPr>
                  <a:t>g</a:t>
                </a:r>
                <a:r>
                  <a:rPr lang="en-US" sz="1800" dirty="0">
                    <a:solidFill>
                      <a:srgbClr val="FFC000"/>
                    </a:solidFill>
                  </a:rPr>
                  <a:t>) </a:t>
                </a:r>
                <a14:m>
                  <m:oMath xmlns:m="http://schemas.openxmlformats.org/officeDocument/2006/math">
                    <m:r>
                      <a:rPr lang="en-US" sz="1800" b="1">
                        <a:solidFill>
                          <a:srgbClr val="FFC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sym typeface="Wingdings" panose="05000000000000000000" pitchFamily="2" charset="2"/>
                      </a:rPr>
                      <m:t>⇌</m:t>
                    </m:r>
                  </m:oMath>
                </a14:m>
                <a:r>
                  <a:rPr lang="en-US" sz="1800" dirty="0">
                    <a:solidFill>
                      <a:srgbClr val="FFC000"/>
                    </a:solidFill>
                  </a:rPr>
                  <a:t> 2 HCl (</a:t>
                </a:r>
                <a:r>
                  <a:rPr lang="en-US" sz="1800" i="1" dirty="0">
                    <a:solidFill>
                      <a:srgbClr val="FFC000"/>
                    </a:solidFill>
                  </a:rPr>
                  <a:t>g</a:t>
                </a:r>
                <a:r>
                  <a:rPr lang="en-US" sz="1800" dirty="0">
                    <a:solidFill>
                      <a:srgbClr val="FFC000"/>
                    </a:solidFill>
                  </a:rPr>
                  <a:t>)</a:t>
                </a:r>
              </a:p>
              <a:p>
                <a:pPr marL="0" indent="0">
                  <a:buNone/>
                </a:pPr>
                <a:r>
                  <a:rPr lang="en-US" sz="1800" dirty="0">
                    <a:solidFill>
                      <a:srgbClr val="FFFF00"/>
                    </a:solidFill>
                  </a:rPr>
                  <a:t>The reactants show two moles of gas (one each of H</a:t>
                </a:r>
                <a:r>
                  <a:rPr lang="en-US" sz="1800" baseline="-25000" dirty="0">
                    <a:solidFill>
                      <a:srgbClr val="FFFF00"/>
                    </a:solidFill>
                  </a:rPr>
                  <a:t>2</a:t>
                </a:r>
                <a:r>
                  <a:rPr lang="en-US" sz="1800" dirty="0">
                    <a:solidFill>
                      <a:srgbClr val="FFFF00"/>
                    </a:solidFill>
                  </a:rPr>
                  <a:t> and Cl</a:t>
                </a:r>
                <a:r>
                  <a:rPr lang="en-US" sz="1800" baseline="-25000" dirty="0">
                    <a:solidFill>
                      <a:srgbClr val="FFFF00"/>
                    </a:solidFill>
                  </a:rPr>
                  <a:t>2</a:t>
                </a:r>
                <a:r>
                  <a:rPr lang="en-US" sz="1800" dirty="0">
                    <a:solidFill>
                      <a:srgbClr val="FFFF00"/>
                    </a:solidFill>
                  </a:rPr>
                  <a:t>). The products are 2 moles of one gas, HCl. Changing pressure is unlikely to have an effect on the forward or reverse reaction</a:t>
                </a:r>
              </a:p>
              <a:p>
                <a:r>
                  <a:rPr lang="en-US" sz="1600" dirty="0"/>
                  <a:t>Predict what happens with pressure is decreased</a:t>
                </a:r>
              </a:p>
              <a:p>
                <a:pPr marL="0" indent="0" algn="ctr">
                  <a:buNone/>
                </a:pPr>
                <a:r>
                  <a:rPr lang="en-US" sz="1800" dirty="0">
                    <a:solidFill>
                      <a:srgbClr val="FFC000"/>
                    </a:solidFill>
                  </a:rPr>
                  <a:t>3 O</a:t>
                </a:r>
                <a:r>
                  <a:rPr lang="en-US" sz="1800" baseline="-25000" dirty="0">
                    <a:solidFill>
                      <a:srgbClr val="FFC000"/>
                    </a:solidFill>
                  </a:rPr>
                  <a:t>2</a:t>
                </a:r>
                <a:r>
                  <a:rPr lang="en-US" sz="1800" dirty="0">
                    <a:solidFill>
                      <a:srgbClr val="FFC000"/>
                    </a:solidFill>
                  </a:rPr>
                  <a:t> (g) </a:t>
                </a:r>
                <a14:m>
                  <m:oMath xmlns:m="http://schemas.openxmlformats.org/officeDocument/2006/math">
                    <m:r>
                      <a:rPr lang="en-US" sz="1800" b="1">
                        <a:solidFill>
                          <a:srgbClr val="FFC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sym typeface="Wingdings" panose="05000000000000000000" pitchFamily="2" charset="2"/>
                      </a:rPr>
                      <m:t>⇌</m:t>
                    </m:r>
                  </m:oMath>
                </a14:m>
                <a:r>
                  <a:rPr lang="en-US" sz="1800" dirty="0">
                    <a:solidFill>
                      <a:srgbClr val="FFC000"/>
                    </a:solidFill>
                  </a:rPr>
                  <a:t> 2 O</a:t>
                </a:r>
                <a:r>
                  <a:rPr lang="en-US" sz="1800" baseline="-25000" dirty="0">
                    <a:solidFill>
                      <a:srgbClr val="FFC000"/>
                    </a:solidFill>
                  </a:rPr>
                  <a:t>3</a:t>
                </a:r>
                <a:r>
                  <a:rPr lang="en-US" sz="1800" dirty="0">
                    <a:solidFill>
                      <a:srgbClr val="FFC000"/>
                    </a:solidFill>
                  </a:rPr>
                  <a:t> (</a:t>
                </a:r>
                <a:r>
                  <a:rPr lang="en-US" sz="1800" i="1" dirty="0">
                    <a:solidFill>
                      <a:srgbClr val="FFC000"/>
                    </a:solidFill>
                  </a:rPr>
                  <a:t>g</a:t>
                </a:r>
                <a:r>
                  <a:rPr lang="en-US" sz="1800" dirty="0">
                    <a:solidFill>
                      <a:srgbClr val="FFC000"/>
                    </a:solidFill>
                  </a:rPr>
                  <a:t>)</a:t>
                </a:r>
              </a:p>
              <a:p>
                <a:pPr marL="0" indent="0">
                  <a:buNone/>
                </a:pPr>
                <a:r>
                  <a:rPr lang="en-US" sz="1800" dirty="0">
                    <a:solidFill>
                      <a:srgbClr val="FFFF00"/>
                    </a:solidFill>
                  </a:rPr>
                  <a:t>Favors side with MORE moles: toward reverse (left) to reactants</a:t>
                </a:r>
              </a:p>
              <a:p>
                <a:pPr marL="0" indent="0" algn="ctr">
                  <a:buNone/>
                </a:pPr>
                <a:endParaRPr lang="en-US" sz="2000" dirty="0">
                  <a:solidFill>
                    <a:srgbClr val="FFC000"/>
                  </a:solidFill>
                </a:endParaRPr>
              </a:p>
            </p:txBody>
          </p:sp>
        </mc:Choice>
        <mc:Fallback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7ECA76D9-EA4B-3A0C-B350-3D5FDDBD924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72533" y="966778"/>
                <a:ext cx="8387645" cy="5580778"/>
              </a:xfrm>
              <a:blipFill>
                <a:blip r:embed="rId2"/>
                <a:stretch>
                  <a:fillRect l="-581" b="-120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42E452A-6950-BEDF-C5EB-BCF612731AC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E0D52F3-54CA-4E42-BFA9-4F0301781925}" type="slidenum">
              <a:rPr lang="en-US" smtClean="0"/>
              <a:pPr/>
              <a:t>40</a:t>
            </a:fld>
            <a:endParaRPr lang="en-US" sz="1400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B043277-CD4B-D317-80C2-F31D21773A9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69689" y="1022400"/>
            <a:ext cx="6532498" cy="1425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364322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68ED0D-ACB9-EF1D-41DB-C84446AFA3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EBFE1A26-6448-D71C-52C0-1FAE5818B8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4067" y="306073"/>
            <a:ext cx="8421512" cy="707886"/>
          </a:xfrm>
        </p:spPr>
        <p:txBody>
          <a:bodyPr/>
          <a:lstStyle/>
          <a:p>
            <a:r>
              <a:rPr lang="en-US" sz="4000" dirty="0"/>
              <a:t>Weak Acids and Bases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F155C940-02C5-9C65-9D7A-23E2762DF80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sz="2800" dirty="0"/>
              <a:t>Temperature</a:t>
            </a:r>
          </a:p>
          <a:p>
            <a:pPr marL="0" indent="0">
              <a:buNone/>
            </a:pPr>
            <a:r>
              <a:rPr lang="en-US" sz="2800" dirty="0"/>
              <a:t>Concentration</a:t>
            </a:r>
          </a:p>
          <a:p>
            <a:pPr marL="0" indent="0">
              <a:buNone/>
            </a:pPr>
            <a:r>
              <a:rPr lang="en-US" sz="2800" dirty="0"/>
              <a:t>Catalysts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99C131F-A334-DEEB-0611-B64CC8FD402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90412" y="3364198"/>
            <a:ext cx="6906589" cy="3000794"/>
          </a:xfrm>
          <a:prstGeom prst="rect">
            <a:avLst/>
          </a:prstGeom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DB88B615-9F39-923D-12F9-B09C5DD209F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E0D52F3-54CA-4E42-BFA9-4F0301781925}" type="slidenum">
              <a:rPr lang="en-US" smtClean="0"/>
              <a:pPr/>
              <a:t>41</a:t>
            </a:fld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1644431252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ABAD7F-69E3-E605-EAB5-3DE2BCA8EB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8C350F9-CB20-4F02-E4A1-2A0A89CF0B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4067" y="306073"/>
            <a:ext cx="8421512" cy="707886"/>
          </a:xfrm>
        </p:spPr>
        <p:txBody>
          <a:bodyPr/>
          <a:lstStyle/>
          <a:p>
            <a:r>
              <a:rPr lang="en-US" sz="4000" dirty="0"/>
              <a:t>Water as Acid and Base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153BCBA-D8CD-C5FD-9CC5-B11A5508CE2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sz="2800" dirty="0"/>
              <a:t>Temperature</a:t>
            </a:r>
          </a:p>
          <a:p>
            <a:pPr marL="0" indent="0">
              <a:buNone/>
            </a:pPr>
            <a:r>
              <a:rPr lang="en-US" sz="2800" dirty="0"/>
              <a:t>Concentration</a:t>
            </a:r>
          </a:p>
          <a:p>
            <a:pPr marL="0" indent="0">
              <a:buNone/>
            </a:pPr>
            <a:r>
              <a:rPr lang="en-US" sz="2800" dirty="0"/>
              <a:t>Catalysts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D25110E3-4825-9F5B-22ED-5C83D5F599B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E0D52F3-54CA-4E42-BFA9-4F0301781925}" type="slidenum">
              <a:rPr lang="en-US" smtClean="0"/>
              <a:pPr/>
              <a:t>42</a:t>
            </a:fld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3459997216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37E6CF-D1B1-A345-B433-425AD845F6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55B9866-6D23-BBFA-3CF6-D3089DBA3A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4067" y="306073"/>
            <a:ext cx="8421512" cy="707886"/>
          </a:xfrm>
        </p:spPr>
        <p:txBody>
          <a:bodyPr/>
          <a:lstStyle/>
          <a:p>
            <a:r>
              <a:rPr lang="en-US" sz="4000" dirty="0"/>
              <a:t>The Solubility Product </a:t>
            </a:r>
            <a:r>
              <a:rPr lang="en-US" sz="4000" i="1" dirty="0" err="1"/>
              <a:t>K</a:t>
            </a:r>
            <a:r>
              <a:rPr lang="en-US" sz="4000" baseline="-25000" dirty="0" err="1"/>
              <a:t>sp</a:t>
            </a:r>
            <a:endParaRPr lang="en-US" sz="4000" baseline="-25000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48403710-F56E-99E7-9067-E4543A11687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sz="2800" dirty="0"/>
              <a:t>Temperature</a:t>
            </a:r>
          </a:p>
          <a:p>
            <a:pPr marL="0" indent="0">
              <a:buNone/>
            </a:pPr>
            <a:r>
              <a:rPr lang="en-US" sz="2800" dirty="0"/>
              <a:t>Concentration</a:t>
            </a:r>
          </a:p>
          <a:p>
            <a:pPr marL="0" indent="0">
              <a:buNone/>
            </a:pPr>
            <a:r>
              <a:rPr lang="en-US" sz="2800" dirty="0"/>
              <a:t>Catalysts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2D7F758-70B2-B4BD-C9A5-4701E906F82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8758" y="2517148"/>
            <a:ext cx="6935168" cy="3429479"/>
          </a:xfrm>
          <a:prstGeom prst="rect">
            <a:avLst/>
          </a:prstGeom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AAB7612-182B-48F1-9334-1320A17CE9D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E0D52F3-54CA-4E42-BFA9-4F0301781925}" type="slidenum">
              <a:rPr lang="en-US" smtClean="0"/>
              <a:pPr/>
              <a:t>43</a:t>
            </a:fld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2387547999"/>
      </p:ext>
    </p:extLst>
  </p:cSld>
  <p:clrMapOvr>
    <a:masterClrMapping/>
  </p:clrMapOvr>
</p:sld>
</file>

<file path=ppt/theme/theme1.xml><?xml version="1.0" encoding="utf-8"?>
<a:theme xmlns:a="http://schemas.openxmlformats.org/drawingml/2006/main" name="Light-on-dark-standard-presentation">
  <a:themeElements>
    <a:clrScheme name="4_LightOnDark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4_LightOnDark">
      <a:majorFont>
        <a:latin typeface="Arial"/>
        <a:ea typeface=""/>
        <a:cs typeface=""/>
      </a:majorFont>
      <a:minorFont>
        <a:latin typeface="Verdana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txDef>
      <a:spPr>
        <a:noFill/>
      </a:spPr>
      <a:bodyPr wrap="square" rtlCol="0">
        <a:spAutoFit/>
      </a:bodyPr>
      <a:lstStyle>
        <a:defPPr>
          <a:defRPr sz="1600" dirty="0" smtClean="0">
            <a:solidFill>
              <a:schemeClr val="bg1"/>
            </a:solidFill>
          </a:defRPr>
        </a:defPPr>
      </a:lstStyle>
    </a:txDef>
  </a:objectDefaults>
  <a:extraClrSchemeLst>
    <a:extraClrScheme>
      <a:clrScheme name="4_LightOnDark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4_LightOnDark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4_LightOnDark 3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4_LightOnDark 4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4_LightOnDark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4_LightOnDark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4_LightOnDark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29602</TotalTime>
  <Words>3226</Words>
  <Application>Microsoft Office PowerPoint</Application>
  <PresentationFormat>On-screen Show (4:3)</PresentationFormat>
  <Paragraphs>325</Paragraphs>
  <Slides>43</Slides>
  <Notes>1</Notes>
  <HiddenSlides>1</HiddenSlides>
  <MMClips>1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43</vt:i4>
      </vt:variant>
    </vt:vector>
  </HeadingPairs>
  <TitlesOfParts>
    <vt:vector size="53" baseType="lpstr">
      <vt:lpstr>Arial</vt:lpstr>
      <vt:lpstr>Cambria</vt:lpstr>
      <vt:lpstr>Cambria Math</vt:lpstr>
      <vt:lpstr>Courier New</vt:lpstr>
      <vt:lpstr>Symbol</vt:lpstr>
      <vt:lpstr>Tahoma</vt:lpstr>
      <vt:lpstr>Times New Roman</vt:lpstr>
      <vt:lpstr>Verdana</vt:lpstr>
      <vt:lpstr>Wingdings</vt:lpstr>
      <vt:lpstr>Light-on-dark-standard-presentation</vt:lpstr>
      <vt:lpstr>Introductory General Chemistry</vt:lpstr>
      <vt:lpstr>PowerPoint Presentation</vt:lpstr>
      <vt:lpstr>Collision Theory</vt:lpstr>
      <vt:lpstr>Potential Energy Diagrams </vt:lpstr>
      <vt:lpstr>Activation Energy</vt:lpstr>
      <vt:lpstr>Ea for Fast or Slow Reactions</vt:lpstr>
      <vt:lpstr>The Activated Complex</vt:lpstr>
      <vt:lpstr>Activation Complex</vt:lpstr>
      <vt:lpstr>Reaction Rates Factors: Temperature</vt:lpstr>
      <vt:lpstr>Concentration as a Factor</vt:lpstr>
      <vt:lpstr>Catalysis and Catalysts</vt:lpstr>
      <vt:lpstr>Catalysis Example</vt:lpstr>
      <vt:lpstr>Chemical Equilibrium</vt:lpstr>
      <vt:lpstr>Reversible Reactions</vt:lpstr>
      <vt:lpstr>Dynamic Equilibrium</vt:lpstr>
      <vt:lpstr>Example of Dynamic Equilibrium</vt:lpstr>
      <vt:lpstr>Change in Rate of Reaction</vt:lpstr>
      <vt:lpstr>Rate of Reaction Equation</vt:lpstr>
      <vt:lpstr>Practice: Equilibrium</vt:lpstr>
      <vt:lpstr>Practice: Equilibrium</vt:lpstr>
      <vt:lpstr>Equilibrium Constant Equation</vt:lpstr>
      <vt:lpstr>Meaning of Equilibrium Constant</vt:lpstr>
      <vt:lpstr>Meaning of Equilibrium Constant</vt:lpstr>
      <vt:lpstr>Practice: Equilibrium Constant Expression</vt:lpstr>
      <vt:lpstr>Practice: Equilibrium Constant</vt:lpstr>
      <vt:lpstr>Practice: Predicting What Predominates</vt:lpstr>
      <vt:lpstr>Practice: Temperature and K</vt:lpstr>
      <vt:lpstr>Practice: Calculating K</vt:lpstr>
      <vt:lpstr>Practice: Calculating K</vt:lpstr>
      <vt:lpstr>Notation of Temperature on K</vt:lpstr>
      <vt:lpstr>Equilibrium Constant Expression</vt:lpstr>
      <vt:lpstr>Le Chatelier’s Principle</vt:lpstr>
      <vt:lpstr>Concentration “Stress”</vt:lpstr>
      <vt:lpstr>Concentration “Stress”</vt:lpstr>
      <vt:lpstr>Practice: Concentration “Stress”</vt:lpstr>
      <vt:lpstr>Temperature “Stress”</vt:lpstr>
      <vt:lpstr>Temperature “Stress”</vt:lpstr>
      <vt:lpstr>Practice: Temperature “Stress”</vt:lpstr>
      <vt:lpstr>Pressure “Stress”</vt:lpstr>
      <vt:lpstr>Pressure “Stress”</vt:lpstr>
      <vt:lpstr>Weak Acids and Bases</vt:lpstr>
      <vt:lpstr>Water as Acid and Base</vt:lpstr>
      <vt:lpstr>The Solubility Product Ksp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S M Halloran</dc:creator>
  <cp:lastModifiedBy>sm h</cp:lastModifiedBy>
  <cp:revision>1107</cp:revision>
  <cp:lastPrinted>2016-03-14T04:22:58Z</cp:lastPrinted>
  <dcterms:created xsi:type="dcterms:W3CDTF">2005-12-08T13:54:14Z</dcterms:created>
  <dcterms:modified xsi:type="dcterms:W3CDTF">2025-11-13T23:43:25Z</dcterms:modified>
</cp:coreProperties>
</file>