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3" r:id="rId1"/>
  </p:sldMasterIdLst>
  <p:notesMasterIdLst>
    <p:notesMasterId r:id="rId53"/>
  </p:notesMasterIdLst>
  <p:sldIdLst>
    <p:sldId id="608" r:id="rId2"/>
    <p:sldId id="830" r:id="rId3"/>
    <p:sldId id="831" r:id="rId4"/>
    <p:sldId id="837" r:id="rId5"/>
    <p:sldId id="838" r:id="rId6"/>
    <p:sldId id="849" r:id="rId7"/>
    <p:sldId id="850" r:id="rId8"/>
    <p:sldId id="839" r:id="rId9"/>
    <p:sldId id="851" r:id="rId10"/>
    <p:sldId id="832" r:id="rId11"/>
    <p:sldId id="840" r:id="rId12"/>
    <p:sldId id="852" r:id="rId13"/>
    <p:sldId id="833" r:id="rId14"/>
    <p:sldId id="854" r:id="rId15"/>
    <p:sldId id="853" r:id="rId16"/>
    <p:sldId id="841" r:id="rId17"/>
    <p:sldId id="842" r:id="rId18"/>
    <p:sldId id="855" r:id="rId19"/>
    <p:sldId id="856" r:id="rId20"/>
    <p:sldId id="857" r:id="rId21"/>
    <p:sldId id="834" r:id="rId22"/>
    <p:sldId id="858" r:id="rId23"/>
    <p:sldId id="843" r:id="rId24"/>
    <p:sldId id="881" r:id="rId25"/>
    <p:sldId id="860" r:id="rId26"/>
    <p:sldId id="861" r:id="rId27"/>
    <p:sldId id="862" r:id="rId28"/>
    <p:sldId id="863" r:id="rId29"/>
    <p:sldId id="864" r:id="rId30"/>
    <p:sldId id="866" r:id="rId31"/>
    <p:sldId id="865" r:id="rId32"/>
    <p:sldId id="835" r:id="rId33"/>
    <p:sldId id="844" r:id="rId34"/>
    <p:sldId id="845" r:id="rId35"/>
    <p:sldId id="868" r:id="rId36"/>
    <p:sldId id="846" r:id="rId37"/>
    <p:sldId id="869" r:id="rId38"/>
    <p:sldId id="870" r:id="rId39"/>
    <p:sldId id="867" r:id="rId40"/>
    <p:sldId id="871" r:id="rId41"/>
    <p:sldId id="836" r:id="rId42"/>
    <p:sldId id="876" r:id="rId43"/>
    <p:sldId id="875" r:id="rId44"/>
    <p:sldId id="874" r:id="rId45"/>
    <p:sldId id="873" r:id="rId46"/>
    <p:sldId id="877" r:id="rId47"/>
    <p:sldId id="878" r:id="rId48"/>
    <p:sldId id="872" r:id="rId49"/>
    <p:sldId id="848" r:id="rId50"/>
    <p:sldId id="879" r:id="rId51"/>
    <p:sldId id="880" r:id="rId5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CC99FF"/>
    <a:srgbClr val="FF9933"/>
    <a:srgbClr val="FFFFCC"/>
    <a:srgbClr val="339933"/>
    <a:srgbClr val="CCFFFF"/>
    <a:srgbClr val="FFFF99"/>
    <a:srgbClr val="99FFCC"/>
    <a:srgbClr val="99FF66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70" autoAdjust="0"/>
    <p:restoredTop sz="94620" autoAdjust="0"/>
  </p:normalViewPr>
  <p:slideViewPr>
    <p:cSldViewPr snapToGrid="0">
      <p:cViewPr varScale="1">
        <p:scale>
          <a:sx n="117" d="100"/>
          <a:sy n="117" d="100"/>
        </p:scale>
        <p:origin x="96" y="630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7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60FB8-6836-F5F6-C7BB-6469ECF25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ABAA30-0CF1-8634-C519-C554DC7C2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24727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i="0" baseline="0">
                <a:solidFill>
                  <a:schemeClr val="bg1"/>
                </a:solidFill>
              </a:defRPr>
            </a:lvl1pPr>
          </a:lstStyle>
          <a:p>
            <a:fld id="{DE0D52F3-54CA-4E42-BFA9-4F0301781925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Au-j9gYmXs?feature=oembed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B865D-5DA3-6C23-2A19-B874111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Chemical Equilibrium</a:t>
            </a:r>
          </a:p>
          <a:p>
            <a:pPr marL="0" indent="0">
              <a:buNone/>
            </a:pPr>
            <a:r>
              <a:rPr lang="en-US" sz="2800" dirty="0"/>
              <a:t>Collision Theory</a:t>
            </a:r>
          </a:p>
          <a:p>
            <a:pPr marL="0" indent="0">
              <a:buNone/>
            </a:pPr>
            <a:r>
              <a:rPr lang="en-US" sz="2800" dirty="0"/>
              <a:t>Reaction Rates</a:t>
            </a:r>
          </a:p>
          <a:p>
            <a:pPr marL="0" indent="0">
              <a:buNone/>
            </a:pPr>
            <a:r>
              <a:rPr lang="en-US" sz="2800" dirty="0"/>
              <a:t>Dynamic Equilibrium</a:t>
            </a:r>
          </a:p>
          <a:p>
            <a:pPr marL="0" indent="0">
              <a:buNone/>
            </a:pPr>
            <a:r>
              <a:rPr lang="en-US" sz="2800" dirty="0"/>
              <a:t>The Equilibrium Constant</a:t>
            </a:r>
          </a:p>
          <a:p>
            <a:pPr marL="0" indent="0">
              <a:buNone/>
            </a:pPr>
            <a:r>
              <a:rPr lang="en-US" sz="2800" dirty="0"/>
              <a:t>Le Chatelier’s Principle</a:t>
            </a:r>
          </a:p>
          <a:p>
            <a:pPr marL="0" indent="0">
              <a:buNone/>
            </a:pPr>
            <a:r>
              <a:rPr lang="en-US" sz="2800" dirty="0"/>
              <a:t>Special Types </a:t>
            </a:r>
            <a:r>
              <a:rPr lang="en-US" sz="2800"/>
              <a:t>of Equilibria</a:t>
            </a: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978444-5E0F-8849-2BC2-7C3F86144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939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CED1-1CF7-4F0E-879A-956C58ED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B6B920-E637-A599-060A-72F75BD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Collision Theory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5AC574-450E-5A76-E50D-047D2F27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5516"/>
            <a:ext cx="8387645" cy="547204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Collision Theory</a:t>
            </a:r>
            <a:r>
              <a:rPr lang="en-US" dirty="0"/>
              <a:t>: proposes that reactant particles colliding with each other form products but under two condition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That there is enough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kinetic energ</a:t>
            </a:r>
            <a:r>
              <a:rPr lang="en-US" dirty="0"/>
              <a:t>y to cause a reaction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That particles are in a proper orientation for a reaction to occur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104A0-844F-89A6-DE44-DD6F51B99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940" y="4031456"/>
            <a:ext cx="4920829" cy="272692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01E5B5-9789-6F40-A32E-E95BAE0D3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178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B3041-C214-3907-E9BB-BAE04087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26CF96-7052-8C91-7D42-F981DF22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Potential Energy Diagrams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9EAA17-8C63-4E4D-0DA4-F65256F3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5516"/>
            <a:ext cx="8387645" cy="5472040"/>
          </a:xfrm>
        </p:spPr>
        <p:txBody>
          <a:bodyPr/>
          <a:lstStyle/>
          <a:p>
            <a:r>
              <a:rPr lang="en-US" sz="2000" dirty="0"/>
              <a:t>Also called </a:t>
            </a:r>
            <a:r>
              <a:rPr lang="en-US" sz="2000" b="1" dirty="0">
                <a:solidFill>
                  <a:srgbClr val="00FF00"/>
                </a:solidFill>
              </a:rPr>
              <a:t>reaction progress curve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Potential energy diagrams</a:t>
            </a:r>
            <a:r>
              <a:rPr lang="en-US" sz="2000" dirty="0"/>
              <a:t> show change in potential energy of a system as the </a:t>
            </a:r>
            <a:r>
              <a:rPr lang="en-US" sz="2000" dirty="0">
                <a:solidFill>
                  <a:srgbClr val="FFFF00"/>
                </a:solidFill>
              </a:rPr>
              <a:t>reactants</a:t>
            </a:r>
            <a:r>
              <a:rPr lang="en-US" sz="2000" dirty="0"/>
              <a:t> become </a:t>
            </a:r>
            <a:r>
              <a:rPr lang="en-US" sz="2000" dirty="0">
                <a:solidFill>
                  <a:srgbClr val="FFFF00"/>
                </a:solidFill>
              </a:rPr>
              <a:t>products</a:t>
            </a:r>
          </a:p>
          <a:p>
            <a:r>
              <a:rPr lang="en-US" sz="2000" dirty="0"/>
              <a:t>The energy change is shown by change in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enthalpy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Symbol" panose="05050102010706020507" pitchFamily="18" charset="2"/>
              </a:rPr>
              <a:t>D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/>
              <a:t>If </a:t>
            </a:r>
            <a:r>
              <a:rPr lang="en-US" sz="2000" dirty="0">
                <a:latin typeface="Symbol" panose="05050102010706020507" pitchFamily="18" charset="2"/>
              </a:rPr>
              <a:t>D</a:t>
            </a:r>
            <a:r>
              <a:rPr lang="en-US" sz="2000" i="1" dirty="0"/>
              <a:t>H</a:t>
            </a:r>
            <a:r>
              <a:rPr lang="en-US" sz="2000" dirty="0"/>
              <a:t> &gt; 0 (</a:t>
            </a:r>
            <a:r>
              <a:rPr lang="en-US" sz="2000" dirty="0">
                <a:solidFill>
                  <a:srgbClr val="FFFF00"/>
                </a:solidFill>
              </a:rPr>
              <a:t>products</a:t>
            </a:r>
            <a:r>
              <a:rPr lang="en-US" sz="2000" dirty="0"/>
              <a:t> higher than </a:t>
            </a:r>
            <a:r>
              <a:rPr lang="en-US" sz="2000" dirty="0">
                <a:solidFill>
                  <a:srgbClr val="FFFF00"/>
                </a:solidFill>
              </a:rPr>
              <a:t>reactants</a:t>
            </a:r>
            <a:r>
              <a:rPr lang="en-US" sz="2000" dirty="0"/>
              <a:t>), the reaction is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endothermic</a:t>
            </a:r>
            <a:r>
              <a:rPr lang="en-US" sz="2000" dirty="0"/>
              <a:t>. If </a:t>
            </a:r>
            <a:r>
              <a:rPr lang="en-US" sz="2000" dirty="0">
                <a:latin typeface="Symbol" panose="05050102010706020507" pitchFamily="18" charset="2"/>
              </a:rPr>
              <a:t>D</a:t>
            </a:r>
            <a:r>
              <a:rPr lang="en-US" sz="2000" i="1" dirty="0"/>
              <a:t>H</a:t>
            </a:r>
            <a:r>
              <a:rPr lang="en-US" sz="2000" dirty="0"/>
              <a:t> &lt; 0, the reaction is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exothermic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B6222-C349-BF09-1961-C25A6395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37" y="3262064"/>
            <a:ext cx="6461643" cy="34490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FA039E-0B35-D11D-9F67-1564F0AAA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480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C8BC5-E8D8-E610-2BBE-D1CF26EC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573907-09E9-6D22-B27F-1B4F6E2A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89178"/>
            <a:ext cx="8421512" cy="830997"/>
          </a:xfrm>
        </p:spPr>
        <p:txBody>
          <a:bodyPr/>
          <a:lstStyle/>
          <a:p>
            <a:r>
              <a:rPr lang="en-US" dirty="0"/>
              <a:t>Activation Energy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6588EE-FAEB-CA61-D4B2-230CB3597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5516"/>
            <a:ext cx="8387645" cy="5472040"/>
          </a:xfrm>
        </p:spPr>
        <p:txBody>
          <a:bodyPr/>
          <a:lstStyle/>
          <a:p>
            <a:r>
              <a:rPr lang="en-US" sz="2000" dirty="0"/>
              <a:t>Reactant particles will collide, but not all collisions result in the chemical reaction</a:t>
            </a:r>
          </a:p>
          <a:p>
            <a:r>
              <a:rPr lang="en-US" sz="2000" dirty="0"/>
              <a:t>But when collisions happen that have enough energy—</a:t>
            </a:r>
            <a:r>
              <a:rPr lang="en-US" sz="2000" b="1" dirty="0">
                <a:solidFill>
                  <a:srgbClr val="00FF00"/>
                </a:solidFill>
              </a:rPr>
              <a:t>activation energy</a:t>
            </a:r>
            <a:r>
              <a:rPr lang="en-US" sz="2000" dirty="0"/>
              <a:t>—to occur, reactants will become products by forming an activated complex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DCF948-5891-3385-9D7A-2B1C79A3C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755" y="3143722"/>
            <a:ext cx="5418361" cy="329838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74D8C0-6DEC-BB1B-336C-6F65A7B99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51033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65E7-A2D0-6979-202A-5F05389B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E1275A-34D1-A242-E91B-8F87CB24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89178"/>
            <a:ext cx="8421512" cy="830997"/>
          </a:xfrm>
        </p:spPr>
        <p:txBody>
          <a:bodyPr/>
          <a:lstStyle/>
          <a:p>
            <a:r>
              <a:rPr lang="en-US" i="1" dirty="0" err="1"/>
              <a:t>E</a:t>
            </a:r>
            <a:r>
              <a:rPr lang="en-US" baseline="-25000" dirty="0" err="1"/>
              <a:t>a</a:t>
            </a:r>
            <a:r>
              <a:rPr lang="en-US" dirty="0"/>
              <a:t> for Fast or Slow Reactions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65D435-87F0-D4A3-187B-0FF90DBF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5516"/>
            <a:ext cx="8387645" cy="5472040"/>
          </a:xfrm>
        </p:spPr>
        <p:txBody>
          <a:bodyPr/>
          <a:lstStyle/>
          <a:p>
            <a:r>
              <a:rPr lang="en-US" sz="2000" dirty="0"/>
              <a:t>The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activation energy</a:t>
            </a:r>
            <a:r>
              <a:rPr lang="en-US" sz="2000" dirty="0"/>
              <a:t> is symbolized as </a:t>
            </a:r>
            <a:r>
              <a:rPr lang="en-US" sz="2000" b="1" i="1" dirty="0" err="1">
                <a:solidFill>
                  <a:srgbClr val="00FF00"/>
                </a:solidFill>
              </a:rPr>
              <a:t>E</a:t>
            </a:r>
            <a:r>
              <a:rPr lang="en-US" sz="2000" b="1" baseline="-25000" dirty="0" err="1">
                <a:solidFill>
                  <a:srgbClr val="00FF00"/>
                </a:solidFill>
              </a:rPr>
              <a:t>a</a:t>
            </a:r>
            <a:endParaRPr lang="en-US" sz="2000" dirty="0"/>
          </a:p>
          <a:p>
            <a:r>
              <a:rPr lang="en-US" sz="2000" dirty="0"/>
              <a:t>On the </a:t>
            </a:r>
            <a:r>
              <a:rPr lang="en-US" sz="2000" dirty="0">
                <a:solidFill>
                  <a:srgbClr val="FFFF00"/>
                </a:solidFill>
              </a:rPr>
              <a:t>reaction progress curve</a:t>
            </a:r>
            <a:r>
              <a:rPr lang="en-US" sz="2000" dirty="0"/>
              <a:t>, it is a “hump” in the curve representing the increase in energy above the PE of the reactants, whether the reaction is endo- or exothermic</a:t>
            </a:r>
          </a:p>
          <a:p>
            <a:r>
              <a:rPr lang="en-US" sz="2000" dirty="0"/>
              <a:t>If the hump is small, the reaction is likely to be fast. If hump is large, the reaction is likely to be slow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426D6-29DE-3721-22B7-00ED14F76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62" y="3304716"/>
            <a:ext cx="5185341" cy="31565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6230E3-C440-E7DB-4845-B6CC5583A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476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BB594-DC69-D2AA-A118-495A7AC96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0543E9-4456-3DD7-6B06-B62AC9556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89178"/>
            <a:ext cx="8421512" cy="830997"/>
          </a:xfrm>
        </p:spPr>
        <p:txBody>
          <a:bodyPr/>
          <a:lstStyle/>
          <a:p>
            <a:r>
              <a:rPr lang="en-US" dirty="0"/>
              <a:t>The Activated Complex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E94DDC-36EC-69D8-2AE2-1BF19E430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5516"/>
            <a:ext cx="8387645" cy="5472040"/>
          </a:xfrm>
        </p:spPr>
        <p:txBody>
          <a:bodyPr/>
          <a:lstStyle/>
          <a:p>
            <a:r>
              <a:rPr lang="en-US" sz="2000" dirty="0"/>
              <a:t>When collisions lead to reactions, an </a:t>
            </a:r>
            <a:r>
              <a:rPr lang="en-US" sz="2000" b="1" dirty="0">
                <a:solidFill>
                  <a:srgbClr val="00FF00"/>
                </a:solidFill>
              </a:rPr>
              <a:t>activated complex </a:t>
            </a:r>
            <a:r>
              <a:rPr lang="en-US" sz="2000" dirty="0"/>
              <a:t>forms as unstable arrangement of atoms that exists momentarily at the peak of the activation energy barrier</a:t>
            </a:r>
          </a:p>
          <a:p>
            <a:r>
              <a:rPr lang="en-US" sz="2000" dirty="0"/>
              <a:t>The momentary part cannot be imagined how fast it is:</a:t>
            </a:r>
            <a:br>
              <a:rPr lang="en-US" sz="2000" dirty="0"/>
            </a:br>
            <a:r>
              <a:rPr lang="en-US" sz="2000" b="1" dirty="0">
                <a:solidFill>
                  <a:srgbClr val="FFC000"/>
                </a:solidFill>
              </a:rPr>
              <a:t>10</a:t>
            </a:r>
            <a:r>
              <a:rPr lang="en-US" sz="2000" b="1" baseline="30000" dirty="0">
                <a:solidFill>
                  <a:srgbClr val="FFC000"/>
                </a:solidFill>
              </a:rPr>
              <a:t>–13 </a:t>
            </a:r>
            <a:r>
              <a:rPr lang="en-US" sz="2000" b="1" dirty="0">
                <a:solidFill>
                  <a:srgbClr val="FFC000"/>
                </a:solidFill>
              </a:rPr>
              <a:t>s</a:t>
            </a:r>
            <a:r>
              <a:rPr lang="en-US" sz="2000" dirty="0"/>
              <a:t> (one-tenth of a picosecond). An eye blink is one tenth of a second, so the reaction in one trillion times faster</a:t>
            </a:r>
            <a:br>
              <a:rPr lang="en-US" sz="2000" dirty="0"/>
            </a:br>
            <a:r>
              <a:rPr lang="en-US" sz="1600" dirty="0"/>
              <a:t>(lasers can be used to determine time)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24F11A-2F29-2C40-8237-A14E76D0B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231" y="3428999"/>
            <a:ext cx="5018417" cy="305492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4F84D8-FAE2-9C01-FA5B-28B89C89F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1229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9FF2-2C95-6EF4-429D-53FE87CB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0D0A2F-D87C-184D-C74E-023B853E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Activated Complex Note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ED4345-DCF4-59F6-890A-6C9BB18BC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5516"/>
            <a:ext cx="8387645" cy="547204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 note about the provided text for the course: </a:t>
            </a:r>
          </a:p>
          <a:p>
            <a:pPr marL="0" indent="0">
              <a:buNone/>
            </a:pPr>
            <a:r>
              <a:rPr lang="en-US" sz="2000" dirty="0"/>
              <a:t>Book shows this visual of a reaction of 2 H</a:t>
            </a:r>
            <a:r>
              <a:rPr lang="en-US" sz="2000" baseline="-25000" dirty="0"/>
              <a:t>2</a:t>
            </a:r>
            <a:r>
              <a:rPr lang="en-US" sz="2000" dirty="0"/>
              <a:t> + O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2 H</a:t>
            </a:r>
            <a:r>
              <a:rPr lang="en-US" sz="2000" baseline="-25000" dirty="0">
                <a:sym typeface="Wingdings" panose="05000000000000000000" pitchFamily="2" charset="2"/>
              </a:rPr>
              <a:t>2</a:t>
            </a:r>
            <a:r>
              <a:rPr lang="en-US" sz="2000" dirty="0">
                <a:sym typeface="Wingdings" panose="05000000000000000000" pitchFamily="2" charset="2"/>
              </a:rPr>
              <a:t>O but that is absolutely not considered to be the mechanism of how this happens. The reaction is in fact a multi-step mechanism. The details are beyond scope of Chem 3A.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2383B-E452-4A09-117C-1BB4AF630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5" y="2957277"/>
            <a:ext cx="8668960" cy="348663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D6FDD-D404-41C3-27BB-029670501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7961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867B-0F21-9C7A-9550-D849596B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7D1D01-50C5-2CC2-B66D-9B9C096B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53724"/>
            <a:ext cx="8421512" cy="646331"/>
          </a:xfrm>
        </p:spPr>
        <p:txBody>
          <a:bodyPr/>
          <a:lstStyle/>
          <a:p>
            <a:r>
              <a:rPr lang="en-US" sz="3600" dirty="0"/>
              <a:t>Reaction Rates Factors: Temperature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387530-928C-9D76-0D81-27DA08790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13960"/>
            <a:ext cx="8387645" cy="55335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>
                <a:solidFill>
                  <a:srgbClr val="00FF00"/>
                </a:solidFill>
              </a:rPr>
              <a:t>Collision frequency</a:t>
            </a:r>
            <a:r>
              <a:rPr lang="en-US" dirty="0"/>
              <a:t>, (ii) </a:t>
            </a:r>
            <a:r>
              <a:rPr lang="en-US" dirty="0">
                <a:solidFill>
                  <a:srgbClr val="00FF00"/>
                </a:solidFill>
              </a:rPr>
              <a:t>collision energy</a:t>
            </a:r>
            <a:r>
              <a:rPr lang="en-US" dirty="0"/>
              <a:t>, and</a:t>
            </a:r>
            <a:br>
              <a:rPr lang="en-US" dirty="0"/>
            </a:br>
            <a:r>
              <a:rPr lang="en-US" dirty="0"/>
              <a:t>(iii) </a:t>
            </a:r>
            <a:r>
              <a:rPr lang="en-US" dirty="0">
                <a:solidFill>
                  <a:srgbClr val="00FF00"/>
                </a:solidFill>
              </a:rPr>
              <a:t>geometric orientation</a:t>
            </a:r>
            <a:r>
              <a:rPr lang="en-US" dirty="0"/>
              <a:t> are factors in a successful reaction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FF00"/>
                </a:solidFill>
              </a:rPr>
              <a:t>Temperature</a:t>
            </a:r>
            <a:r>
              <a:rPr lang="en-US" dirty="0"/>
              <a:t> affects </a:t>
            </a:r>
            <a:r>
              <a:rPr lang="en-US" dirty="0">
                <a:solidFill>
                  <a:srgbClr val="FFFF00"/>
                </a:solidFill>
              </a:rPr>
              <a:t>collision frequency</a:t>
            </a:r>
          </a:p>
          <a:p>
            <a:r>
              <a:rPr lang="en-US" dirty="0"/>
              <a:t>Temperature affects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average velocity</a:t>
            </a:r>
            <a:r>
              <a:rPr lang="en-US" dirty="0"/>
              <a:t>, and velocity is a factor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kinetic energy</a:t>
            </a:r>
            <a:r>
              <a:rPr lang="en-US" dirty="0"/>
              <a:t>. Particles collide more frequently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Temperature</a:t>
            </a:r>
            <a:r>
              <a:rPr lang="en-US" dirty="0"/>
              <a:t> directly affects </a:t>
            </a:r>
            <a:r>
              <a:rPr lang="en-US" dirty="0">
                <a:solidFill>
                  <a:srgbClr val="FFFF00"/>
                </a:solidFill>
              </a:rPr>
              <a:t>activation energy </a:t>
            </a:r>
            <a:r>
              <a:rPr lang="en-US" i="1" dirty="0" err="1">
                <a:solidFill>
                  <a:srgbClr val="FFFF00"/>
                </a:solidFill>
              </a:rPr>
              <a:t>E</a:t>
            </a:r>
            <a:r>
              <a:rPr lang="en-US" baseline="-25000" dirty="0" err="1">
                <a:solidFill>
                  <a:srgbClr val="FFFF00"/>
                </a:solidFill>
              </a:rPr>
              <a:t>a</a:t>
            </a:r>
            <a:endParaRPr lang="en-US" baseline="-25000" dirty="0">
              <a:solidFill>
                <a:srgbClr val="FFFF00"/>
              </a:solidFill>
            </a:endParaRPr>
          </a:p>
          <a:p>
            <a:r>
              <a:rPr lang="en-US" dirty="0"/>
              <a:t>Keeping environments cold versus warm versus hot is understood to control chemical reactions that, for example, might lead to preservation or spoilage of food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A2FD9-6E6D-A19A-7759-F4C478106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3795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9842-CA4C-72DF-2790-831AEFB2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087907-0FC7-F78B-2D15-4512DC86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161391"/>
            <a:ext cx="8421512" cy="830997"/>
          </a:xfrm>
        </p:spPr>
        <p:txBody>
          <a:bodyPr/>
          <a:lstStyle/>
          <a:p>
            <a:r>
              <a:rPr lang="en-US" dirty="0"/>
              <a:t>Concentration as a Factor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52F8CB-77FD-C4CF-A21A-E0580622D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13960"/>
            <a:ext cx="8387645" cy="5533596"/>
          </a:xfrm>
        </p:spPr>
        <p:txBody>
          <a:bodyPr/>
          <a:lstStyle/>
          <a:p>
            <a:r>
              <a:rPr lang="en-US" dirty="0"/>
              <a:t>Reactions are also affected by </a:t>
            </a:r>
            <a:r>
              <a:rPr lang="en-US" dirty="0">
                <a:solidFill>
                  <a:srgbClr val="00FF00"/>
                </a:solidFill>
              </a:rPr>
              <a:t>concentration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Higher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concentrations</a:t>
            </a:r>
            <a:r>
              <a:rPr lang="en-US" dirty="0"/>
              <a:t> imply particles (molecules, </a:t>
            </a:r>
            <a:r>
              <a:rPr lang="en-US" dirty="0" err="1"/>
              <a:t>etc</a:t>
            </a:r>
            <a:r>
              <a:rPr lang="en-US" dirty="0"/>
              <a:t>) are closer together, more densely arranged, with a </a:t>
            </a:r>
            <a:r>
              <a:rPr lang="en-US" dirty="0">
                <a:solidFill>
                  <a:srgbClr val="FFFF00"/>
                </a:solidFill>
              </a:rPr>
              <a:t>higher probability </a:t>
            </a:r>
            <a:r>
              <a:rPr lang="en-US" dirty="0"/>
              <a:t>of </a:t>
            </a:r>
            <a:r>
              <a:rPr lang="en-US" dirty="0">
                <a:solidFill>
                  <a:srgbClr val="FFFF00"/>
                </a:solidFill>
              </a:rPr>
              <a:t>collisions</a:t>
            </a:r>
          </a:p>
          <a:p>
            <a:r>
              <a:rPr lang="en-US" dirty="0"/>
              <a:t>If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concentration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doubles</a:t>
            </a:r>
            <a:r>
              <a:rPr lang="en-US" dirty="0"/>
              <a:t>, so would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reaction rate</a:t>
            </a:r>
            <a:r>
              <a:rPr lang="en-US" dirty="0"/>
              <a:t> also </a:t>
            </a:r>
            <a:r>
              <a:rPr lang="en-US" dirty="0">
                <a:solidFill>
                  <a:srgbClr val="FFFF00"/>
                </a:solidFill>
              </a:rPr>
              <a:t>double</a:t>
            </a:r>
          </a:p>
          <a:p>
            <a:r>
              <a:rPr lang="en-US" sz="1800" dirty="0"/>
              <a:t>Combustion involves a flammable</a:t>
            </a:r>
            <a:br>
              <a:rPr lang="en-US" sz="1800" dirty="0"/>
            </a:br>
            <a:r>
              <a:rPr lang="en-US" sz="1800" dirty="0"/>
              <a:t>substance and oxygen. If splint</a:t>
            </a:r>
            <a:br>
              <a:rPr lang="en-US" sz="1800" dirty="0"/>
            </a:br>
            <a:r>
              <a:rPr lang="en-US" sz="1800" dirty="0"/>
              <a:t>of wood set on fire and fire blown</a:t>
            </a:r>
            <a:br>
              <a:rPr lang="en-US" sz="1800" dirty="0"/>
            </a:br>
            <a:r>
              <a:rPr lang="en-US" sz="1800" dirty="0"/>
              <a:t>out, the splint continues to glow.</a:t>
            </a:r>
            <a:br>
              <a:rPr lang="en-US" sz="1800" dirty="0"/>
            </a:br>
            <a:r>
              <a:rPr lang="en-US" sz="1800" dirty="0"/>
              <a:t>If splint put in chamber with no</a:t>
            </a:r>
            <a:br>
              <a:rPr lang="en-US" sz="1800" dirty="0"/>
            </a:br>
            <a:r>
              <a:rPr lang="en-US" sz="1800" dirty="0"/>
              <a:t>O</a:t>
            </a:r>
            <a:r>
              <a:rPr lang="en-US" sz="1800" baseline="-25000" dirty="0"/>
              <a:t>2</a:t>
            </a:r>
            <a:r>
              <a:rPr lang="en-US" sz="1800" dirty="0"/>
              <a:t>, the wood stops burning </a:t>
            </a:r>
            <a:br>
              <a:rPr lang="en-US" sz="1800" dirty="0"/>
            </a:br>
            <a:r>
              <a:rPr lang="en-US" sz="1800" dirty="0"/>
              <a:t>(glows dissipates). But if put</a:t>
            </a:r>
            <a:br>
              <a:rPr lang="en-US" sz="1800" dirty="0"/>
            </a:br>
            <a:r>
              <a:rPr lang="en-US" sz="1800" dirty="0"/>
              <a:t>in 100% O</a:t>
            </a:r>
            <a:r>
              <a:rPr lang="en-US" sz="1800" baseline="-25000" dirty="0"/>
              <a:t>2</a:t>
            </a:r>
            <a:r>
              <a:rPr lang="en-US" sz="1800" dirty="0"/>
              <a:t> chamber, it burns</a:t>
            </a:r>
            <a:br>
              <a:rPr lang="en-US" sz="1800" dirty="0"/>
            </a:br>
            <a:r>
              <a:rPr lang="en-US" sz="1800" dirty="0"/>
              <a:t>brighter and hotter. This affects</a:t>
            </a:r>
            <a:br>
              <a:rPr lang="en-US" sz="1800" dirty="0"/>
            </a:br>
            <a:r>
              <a:rPr lang="en-US" sz="1800" dirty="0"/>
              <a:t>shows concentration or reactants.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000097-0E3F-4AB3-5541-0C2B80C5F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09" y="3325090"/>
            <a:ext cx="4225744" cy="275392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1CF97-8CD5-F2F7-D050-1FB857BC4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89306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94AA-624B-EBF9-3221-B4D6E447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1F2F67-83D9-D2F3-57FF-D09023E4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03087"/>
            <a:ext cx="8421512" cy="830997"/>
          </a:xfrm>
        </p:spPr>
        <p:txBody>
          <a:bodyPr/>
          <a:lstStyle/>
          <a:p>
            <a:r>
              <a:rPr lang="en-US" dirty="0"/>
              <a:t>Catalysis and Catalysts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BC38B7-E72E-EE0A-D1FF-846602722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9662"/>
            <a:ext cx="8387645" cy="5587894"/>
          </a:xfrm>
        </p:spPr>
        <p:txBody>
          <a:bodyPr/>
          <a:lstStyle/>
          <a:p>
            <a:r>
              <a:rPr lang="en-US" sz="2000" b="1" dirty="0">
                <a:solidFill>
                  <a:srgbClr val="00FF00"/>
                </a:solidFill>
              </a:rPr>
              <a:t>Catalysis</a:t>
            </a:r>
            <a:r>
              <a:rPr lang="en-US" sz="2000" dirty="0"/>
              <a:t> is the process by which rate of chemical reaction is changed (usually increased) through the action of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catalyst</a:t>
            </a:r>
          </a:p>
          <a:p>
            <a:r>
              <a:rPr lang="en-US" sz="2000" dirty="0"/>
              <a:t>A </a:t>
            </a:r>
            <a:r>
              <a:rPr lang="en-US" sz="2000" b="1" dirty="0">
                <a:solidFill>
                  <a:srgbClr val="00FF00"/>
                </a:solidFill>
              </a:rPr>
              <a:t>catalyst</a:t>
            </a:r>
            <a:r>
              <a:rPr lang="en-US" sz="2000" dirty="0"/>
              <a:t> is a substance that increases rate of a chemical reaction without being consumed or permanently altered in the overall reaction</a:t>
            </a:r>
          </a:p>
          <a:p>
            <a:r>
              <a:rPr lang="en-US" sz="2000" dirty="0"/>
              <a:t>The effect of catalysis is seen in the reaction progress curve as a lowering of the activation energy </a:t>
            </a:r>
            <a:r>
              <a:rPr lang="en-US" sz="2000" dirty="0" err="1"/>
              <a:t>Ea</a:t>
            </a:r>
            <a:r>
              <a:rPr lang="en-US" sz="2000" dirty="0"/>
              <a:t>, which enables reactants to get over</a:t>
            </a:r>
            <a:br>
              <a:rPr lang="en-US" sz="2000" dirty="0"/>
            </a:br>
            <a:r>
              <a:rPr lang="en-US" sz="2000" dirty="0"/>
              <a:t>the energy barrier in</a:t>
            </a:r>
            <a:br>
              <a:rPr lang="en-US" sz="2000" dirty="0"/>
            </a:br>
            <a:r>
              <a:rPr lang="en-US" sz="2000" dirty="0"/>
              <a:t>the reaction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ECAC9-A88F-C686-8079-E8A71947D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500" y="3527242"/>
            <a:ext cx="4977232" cy="291041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27A01-03BD-32B0-C7FB-C500CD4F4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732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CA72-7026-7515-997E-E3EF44404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C7373B-560D-0EAB-721F-8AD66C4E0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03087"/>
            <a:ext cx="8421512" cy="830997"/>
          </a:xfrm>
        </p:spPr>
        <p:txBody>
          <a:bodyPr/>
          <a:lstStyle/>
          <a:p>
            <a:r>
              <a:rPr lang="en-US" dirty="0"/>
              <a:t>Catalysis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288798-FFEB-59E5-838B-90778B674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9662"/>
            <a:ext cx="8387645" cy="5587894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Hydrogen peroxide 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H</a:t>
            </a:r>
            <a:r>
              <a:rPr lang="en-US" b="1" baseline="-25000" dirty="0">
                <a:solidFill>
                  <a:srgbClr val="FFC000"/>
                </a:solidFill>
              </a:rPr>
              <a:t>2</a:t>
            </a:r>
            <a:r>
              <a:rPr lang="en-US" b="1" dirty="0">
                <a:solidFill>
                  <a:srgbClr val="FFC000"/>
                </a:solidFill>
              </a:rPr>
              <a:t>O</a:t>
            </a:r>
            <a:r>
              <a:rPr lang="en-US" b="1" baseline="-25000" dirty="0">
                <a:solidFill>
                  <a:srgbClr val="FFC000"/>
                </a:solidFill>
              </a:rPr>
              <a:t>2</a:t>
            </a:r>
            <a:r>
              <a:rPr lang="en-US" dirty="0"/>
              <a:t>) is a well-known effective disinfectant. A 3% solution stores well for a few years, but it eventually degrades to water and oxygen products</a:t>
            </a:r>
          </a:p>
          <a:p>
            <a:r>
              <a:rPr lang="en-US" dirty="0"/>
              <a:t>Just a small amount of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manganese(IV) oxide 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MnO</a:t>
            </a:r>
            <a:r>
              <a:rPr lang="en-US" b="1" baseline="-25000" dirty="0">
                <a:solidFill>
                  <a:srgbClr val="FFC000"/>
                </a:solidFill>
              </a:rPr>
              <a:t>2</a:t>
            </a:r>
            <a:r>
              <a:rPr lang="en-US" dirty="0"/>
              <a:t>) will accelerate the reaction to where it degrades within minutes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43DE7A-80FD-F77B-C021-4033F84FB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12</a:t>
            </a:fld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5FC902-6D4C-2D6F-856A-AA436A58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07" y="3912410"/>
            <a:ext cx="6368469" cy="203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49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87DC-DD36-4B88-0717-3070AAA2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2DBCFC-D394-3715-1F88-5C2A42FB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Chemical Equilibrium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F1D10E-5D25-EF1E-2F04-1F273824D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95770"/>
            <a:ext cx="8387645" cy="5451786"/>
          </a:xfrm>
        </p:spPr>
        <p:txBody>
          <a:bodyPr/>
          <a:lstStyle/>
          <a:p>
            <a:r>
              <a:rPr lang="en-US" dirty="0"/>
              <a:t>Chemical reaction rates (kinetics) were addressed in the previous slides</a:t>
            </a:r>
          </a:p>
          <a:p>
            <a:r>
              <a:rPr lang="en-US" dirty="0"/>
              <a:t>This addresses the concept of chemical equilibrium, of reactants in initial conditions with no products, and of reactions showing products now becoming reactants in a reverse of the direction of the reaction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9C3469-7903-A746-7F96-E2B62BE89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13</a:t>
            </a:fld>
            <a:endParaRPr lang="en-US" sz="1400" dirty="0"/>
          </a:p>
        </p:txBody>
      </p:sp>
      <p:pic>
        <p:nvPicPr>
          <p:cNvPr id="6" name="Online Media 5" title="Unit 12 Segment 3: Equilibrium Demonstration">
            <a:hlinkClick r:id="" action="ppaction://media"/>
            <a:extLst>
              <a:ext uri="{FF2B5EF4-FFF2-40B4-BE49-F238E27FC236}">
                <a16:creationId xmlns:a16="http://schemas.microsoft.com/office/drawing/2014/main" id="{81D4A348-57F8-710D-77F9-F14866BA340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03287" y="3848112"/>
            <a:ext cx="3599259" cy="269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2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87DC-DD36-4B88-0717-3070AAA2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2DBCFC-D394-3715-1F88-5C2A42FB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Reversible Reactions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6F1D10E-5D25-EF1E-2F04-1F273824D8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10884"/>
                <a:ext cx="8387645" cy="5451786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/>
                  <a:t> symbol/character was previously to indicate the state of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equilibrium</a:t>
                </a:r>
                <a:r>
                  <a:rPr lang="en-US" dirty="0"/>
                  <a:t>, the concept that </a:t>
                </a:r>
                <a:r>
                  <a:rPr lang="en-US" dirty="0">
                    <a:solidFill>
                      <a:srgbClr val="FFFF00"/>
                    </a:solidFill>
                  </a:rPr>
                  <a:t>chemical reactions </a:t>
                </a:r>
                <a:r>
                  <a:rPr lang="en-US" dirty="0"/>
                  <a:t>often have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forward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reverse</a:t>
                </a:r>
                <a:r>
                  <a:rPr lang="en-US" dirty="0"/>
                  <a:t> of the reaction</a:t>
                </a:r>
              </a:p>
              <a:p>
                <a:r>
                  <a:rPr lang="en-US" dirty="0"/>
                  <a:t>The formation and decomposition of hydroiodic acid (hydrogen iodide) [HI] is an example of the reaction going both ways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800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→</m:t>
                      </m:r>
                      <m: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HI</m:t>
                      </m:r>
                      <m: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 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𝑓𝑜𝑟𝑤𝑎𝑟𝑑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HI</m:t>
                      </m:r>
                      <m:r>
                        <a:rPr 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aseline="-250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800" baseline="-250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𝑟𝑒𝑣𝑒𝑟𝑠𝑒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baseline="-25000" dirty="0"/>
                </a:br>
                <a:br>
                  <a:rPr lang="en-US" dirty="0">
                    <a:ea typeface="Cambria Math" panose="02040503050406030204" pitchFamily="18" charset="0"/>
                    <a:sym typeface="Wingdings" panose="05000000000000000000" pitchFamily="2" charset="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aseline="-250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800" baseline="-250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⇌2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HI</m:t>
                      </m:r>
                    </m:oMath>
                  </m:oMathPara>
                </a14:m>
                <a:br>
                  <a:rPr lang="en-US" dirty="0">
                    <a:ea typeface="Cambria Math" panose="02040503050406030204" pitchFamily="18" charset="0"/>
                    <a:sym typeface="Wingdings" panose="05000000000000000000" pitchFamily="2" charset="2"/>
                  </a:rPr>
                </a:br>
                <a:endParaRPr lang="en-US" dirty="0"/>
              </a:p>
              <a:p>
                <a:pPr marL="0" indent="0">
                  <a:buNone/>
                </a:pPr>
                <a:br>
                  <a:rPr lang="en-US" b="0" dirty="0">
                    <a:ea typeface="Cambria Math" panose="02040503050406030204" pitchFamily="18" charset="0"/>
                    <a:sym typeface="Wingdings" panose="05000000000000000000" pitchFamily="2" charset="2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6F1D10E-5D25-EF1E-2F04-1F273824D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10884"/>
                <a:ext cx="8387645" cy="5451786"/>
              </a:xfrm>
              <a:blipFill>
                <a:blip r:embed="rId2"/>
                <a:stretch>
                  <a:fillRect l="-1090" t="-1006" r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9C3469-7903-A746-7F96-E2B62BE89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8889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949B-B80E-3F34-1A02-E1473980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83C4C9-11A3-DD2E-6D8B-BE59EDFF6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48889"/>
            <a:ext cx="8421512" cy="830997"/>
          </a:xfrm>
        </p:spPr>
        <p:txBody>
          <a:bodyPr/>
          <a:lstStyle/>
          <a:p>
            <a:r>
              <a:rPr lang="en-US" dirty="0"/>
              <a:t>Dynamic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22BA23-8F23-91EF-B3EA-BC7349CFC0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79888"/>
                <a:ext cx="8387645" cy="546766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colorless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800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8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⇌</m:t>
                      </m:r>
                      <m: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NO</m:t>
                      </m:r>
                      <m:r>
                        <a:rPr lang="en-US" sz="2800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𝑔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  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brown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The forward and reverse directions of the reaction are shown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aseline="-250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4 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→</m:t>
                      </m:r>
                      <m:r>
                        <a:rPr lang="en-US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NO</m:t>
                      </m:r>
                      <m:r>
                        <a:rPr lang="en-US" b="0" i="0" baseline="-25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aseline="-250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2 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baseline="-25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aseline="-25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aseline="-25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4 </m:t>
                    </m:r>
                    <m:d>
                      <m:dPr>
                        <m:ctrlP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000" dirty="0"/>
                  <a:t>N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O</a:t>
                </a:r>
                <a:r>
                  <a:rPr lang="en-US" sz="2000" baseline="-25000" dirty="0"/>
                  <a:t>4</a:t>
                </a:r>
                <a:r>
                  <a:rPr lang="en-US" sz="2000" dirty="0"/>
                  <a:t> is colorless and NO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 is reddish-brown so a reaction can be monitored visually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Note that the figure shows the</a:t>
                </a:r>
                <a:br>
                  <a:rPr lang="en-US" sz="2000" dirty="0"/>
                </a:br>
                <a:r>
                  <a:rPr lang="en-US" sz="2000" dirty="0"/>
                  <a:t>temperature dependence on</a:t>
                </a:r>
                <a:br>
                  <a:rPr lang="en-US" sz="2000" dirty="0"/>
                </a:br>
                <a:r>
                  <a:rPr lang="en-US" sz="2000" dirty="0"/>
                  <a:t>equilibrium: at lower temperatures</a:t>
                </a:r>
                <a:br>
                  <a:rPr lang="en-US" sz="2000" dirty="0"/>
                </a:br>
                <a:r>
                  <a:rPr lang="en-US" sz="2000" dirty="0"/>
                  <a:t>the formation of reactant (N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O</a:t>
                </a:r>
                <a:r>
                  <a:rPr lang="en-US" sz="2000" baseline="-25000" dirty="0"/>
                  <a:t>4</a:t>
                </a:r>
                <a:r>
                  <a:rPr lang="en-US" sz="2000" dirty="0"/>
                  <a:t>) is</a:t>
                </a:r>
                <a:br>
                  <a:rPr lang="en-US" sz="2000" dirty="0"/>
                </a:br>
                <a:r>
                  <a:rPr lang="en-US" sz="2000" dirty="0"/>
                  <a:t>favored, but at higher temperatures</a:t>
                </a:r>
                <a:br>
                  <a:rPr lang="en-US" sz="2000" dirty="0"/>
                </a:br>
                <a:r>
                  <a:rPr lang="en-US" sz="2000" dirty="0"/>
                  <a:t>the products will be favored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22BA23-8F23-91EF-B3EA-BC7349CFC0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79888"/>
                <a:ext cx="8387645" cy="5467668"/>
              </a:xfrm>
              <a:blipFill>
                <a:blip r:embed="rId2"/>
                <a:stretch>
                  <a:fillRect l="-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35F956F-11EA-43A8-0293-53D42EEC3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909" y="3572310"/>
            <a:ext cx="3077910" cy="26754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566EF7-1B59-12CC-9333-9B322FA81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2259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9BF6-4876-9D19-E9CB-F858D725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AA6641-3BBC-8597-EC6F-653F2278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80215"/>
            <a:ext cx="8421512" cy="707886"/>
          </a:xfrm>
        </p:spPr>
        <p:txBody>
          <a:bodyPr/>
          <a:lstStyle/>
          <a:p>
            <a:r>
              <a:rPr lang="en-US" sz="4000" dirty="0"/>
              <a:t>Example of Dynamic Equilibrium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796A22-F409-C483-527B-C4DBC3A7F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65540"/>
            <a:ext cx="8387645" cy="5482015"/>
          </a:xfrm>
        </p:spPr>
        <p:txBody>
          <a:bodyPr/>
          <a:lstStyle/>
          <a:p>
            <a:r>
              <a:rPr lang="en-US" sz="2200" dirty="0"/>
              <a:t>Equilibrium is shown as the change in concentration of reactant and/or product over time</a:t>
            </a:r>
          </a:p>
          <a:p>
            <a:r>
              <a:rPr lang="en-US" sz="2200" dirty="0"/>
              <a:t>One can start with no (zero) concentration of product (for forward reaction) or of reactant (for reverse direction this become</a:t>
            </a:r>
            <a:br>
              <a:rPr lang="en-US" sz="2200" dirty="0"/>
            </a:br>
            <a:r>
              <a:rPr lang="en-US" sz="2200" dirty="0"/>
              <a:t>the product) and follow</a:t>
            </a:r>
            <a:br>
              <a:rPr lang="en-US" sz="2200" dirty="0"/>
            </a:br>
            <a:r>
              <a:rPr lang="en-US" sz="2200" dirty="0"/>
              <a:t>change in amount or</a:t>
            </a:r>
            <a:br>
              <a:rPr lang="en-US" sz="2200" dirty="0"/>
            </a:br>
            <a:r>
              <a:rPr lang="en-US" sz="2200" dirty="0"/>
              <a:t>concentration over</a:t>
            </a:r>
            <a:br>
              <a:rPr lang="en-US" sz="2200" dirty="0"/>
            </a:br>
            <a:r>
              <a:rPr lang="en-US" sz="2200" dirty="0"/>
              <a:t>time</a:t>
            </a:r>
          </a:p>
          <a:p>
            <a:r>
              <a:rPr lang="en-US" sz="2200" dirty="0"/>
              <a:t>Eventually a plateau is</a:t>
            </a:r>
            <a:br>
              <a:rPr lang="en-US" sz="2200" dirty="0"/>
            </a:br>
            <a:r>
              <a:rPr lang="en-US" sz="2200" dirty="0"/>
              <a:t>reached where</a:t>
            </a:r>
            <a:br>
              <a:rPr lang="en-US" sz="2200" dirty="0"/>
            </a:br>
            <a:r>
              <a:rPr lang="en-US" sz="2200" dirty="0"/>
              <a:t>concentration of</a:t>
            </a:r>
            <a:br>
              <a:rPr lang="en-US" sz="2200" dirty="0"/>
            </a:br>
            <a:r>
              <a:rPr lang="en-US" sz="2200" dirty="0"/>
              <a:t>neither reactant or</a:t>
            </a:r>
            <a:br>
              <a:rPr lang="en-US" sz="2200" dirty="0"/>
            </a:br>
            <a:r>
              <a:rPr lang="en-US" sz="2200" dirty="0"/>
              <a:t>product changes</a:t>
            </a:r>
          </a:p>
          <a:p>
            <a:r>
              <a:rPr lang="en-US" sz="2200" dirty="0"/>
              <a:t>This is </a:t>
            </a:r>
            <a:r>
              <a:rPr lang="en-US" sz="2200" b="1" dirty="0">
                <a:solidFill>
                  <a:srgbClr val="00FF00"/>
                </a:solidFill>
              </a:rPr>
              <a:t>equilibrium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5C200-4286-015A-0835-D666E572E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289" y="2735512"/>
            <a:ext cx="4378762" cy="37550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A4D5F3-EAA4-C2E6-D617-F1F29BB8B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3519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188C-BAB6-B247-DACA-9A6FBD3A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84F6A9-3324-0266-3DF8-3CFE6A0A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38060"/>
            <a:ext cx="8421512" cy="707886"/>
          </a:xfrm>
        </p:spPr>
        <p:txBody>
          <a:bodyPr/>
          <a:lstStyle/>
          <a:p>
            <a:r>
              <a:rPr lang="en-US" sz="4000" dirty="0"/>
              <a:t>Change in Rate of Reaction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4C813E-E03D-1EA5-6EFF-5D3C2060B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80655"/>
            <a:ext cx="8387645" cy="5466900"/>
          </a:xfrm>
        </p:spPr>
        <p:txBody>
          <a:bodyPr/>
          <a:lstStyle/>
          <a:p>
            <a:r>
              <a:rPr lang="en-US" dirty="0"/>
              <a:t>In the plot shown, it shows not amount or concentration, but rather the rate of the reaction versus time. A rate of reaction is the function of the concentration (molar, M) per unit time</a:t>
            </a:r>
          </a:p>
          <a:p>
            <a:r>
              <a:rPr lang="en-US" sz="2000" dirty="0"/>
              <a:t>Initially the sample is</a:t>
            </a:r>
            <a:br>
              <a:rPr lang="en-US" sz="2000" dirty="0"/>
            </a:br>
            <a:r>
              <a:rPr lang="en-US" sz="2000" dirty="0"/>
              <a:t>pure red-brown NO</a:t>
            </a:r>
            <a:r>
              <a:rPr lang="en-US" sz="2000" baseline="-25000" dirty="0"/>
              <a:t>2</a:t>
            </a:r>
            <a:br>
              <a:rPr lang="en-US" sz="2000" dirty="0"/>
            </a:br>
            <a:r>
              <a:rPr lang="en-US" sz="2000" dirty="0"/>
              <a:t>and will form colorless</a:t>
            </a:r>
            <a:br>
              <a:rPr lang="en-US" sz="2000" dirty="0"/>
            </a:br>
            <a:r>
              <a:rPr lang="en-US" sz="2000" dirty="0"/>
              <a:t>N</a:t>
            </a:r>
            <a:r>
              <a:rPr lang="en-US" sz="2000" baseline="-25000" dirty="0"/>
              <a:t>2</a:t>
            </a:r>
            <a:r>
              <a:rPr lang="en-US" sz="2000" dirty="0"/>
              <a:t>O</a:t>
            </a:r>
            <a:r>
              <a:rPr lang="en-US" sz="2000" baseline="-25000" dirty="0"/>
              <a:t>4</a:t>
            </a:r>
          </a:p>
          <a:p>
            <a:r>
              <a:rPr lang="en-US" sz="2000" dirty="0"/>
              <a:t>As N</a:t>
            </a:r>
            <a:r>
              <a:rPr lang="en-US" sz="2000" baseline="-25000" dirty="0"/>
              <a:t>2</a:t>
            </a:r>
            <a:r>
              <a:rPr lang="en-US" sz="2000" dirty="0"/>
              <a:t>O</a:t>
            </a:r>
            <a:r>
              <a:rPr lang="en-US" sz="2000" baseline="-25000" dirty="0"/>
              <a:t>4</a:t>
            </a:r>
            <a:r>
              <a:rPr lang="en-US" sz="2000" dirty="0"/>
              <a:t> product forms,</a:t>
            </a:r>
            <a:br>
              <a:rPr lang="en-US" sz="2000" dirty="0"/>
            </a:br>
            <a:r>
              <a:rPr lang="en-US" sz="2000" dirty="0"/>
              <a:t>the rate slows and</a:t>
            </a:r>
            <a:br>
              <a:rPr lang="en-US" sz="2000" dirty="0"/>
            </a:br>
            <a:r>
              <a:rPr lang="en-US" sz="2000" dirty="0"/>
              <a:t>eventually levels off to</a:t>
            </a:r>
            <a:br>
              <a:rPr lang="en-US" sz="2000" dirty="0"/>
            </a:br>
            <a:r>
              <a:rPr lang="en-US" sz="2000" dirty="0"/>
              <a:t>a constant rate while</a:t>
            </a:r>
            <a:br>
              <a:rPr lang="en-US" sz="2000" dirty="0"/>
            </a:br>
            <a:r>
              <a:rPr lang="en-US" sz="2000" dirty="0"/>
              <a:t>the reverse reaction</a:t>
            </a:r>
            <a:br>
              <a:rPr lang="en-US" sz="2000" dirty="0"/>
            </a:br>
            <a:r>
              <a:rPr lang="en-US" sz="2000" dirty="0"/>
              <a:t>increases to a level rate as</a:t>
            </a:r>
            <a:br>
              <a:rPr lang="en-US" sz="2000" dirty="0"/>
            </a:br>
            <a:r>
              <a:rPr lang="en-US" sz="2000" dirty="0"/>
              <a:t>well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2D1275-E8E2-55A2-EE45-3FAE0B523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355" y="2818770"/>
            <a:ext cx="4107246" cy="372878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6679A-1290-243A-4193-F9FB6BB1B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04099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5FF6D8-9DBA-8E0F-5C42-39BCE1E0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94DD40-202D-5766-2F76-FDA46010C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38060"/>
            <a:ext cx="8421512" cy="707886"/>
          </a:xfrm>
        </p:spPr>
        <p:txBody>
          <a:bodyPr/>
          <a:lstStyle/>
          <a:p>
            <a:r>
              <a:rPr lang="en-US" sz="4000" dirty="0"/>
              <a:t>Rate of Reaction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0626594-A603-3455-C84C-69D404907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090" y="1080655"/>
                <a:ext cx="8387645" cy="5466900"/>
              </a:xfrm>
            </p:spPr>
            <p:txBody>
              <a:bodyPr/>
              <a:lstStyle/>
              <a:p>
                <a:r>
                  <a:rPr lang="en-US" dirty="0"/>
                  <a:t>The (forward) reaction rate, which is the dimerization of NO</a:t>
                </a:r>
                <a:r>
                  <a:rPr lang="en-US" baseline="-25000" dirty="0"/>
                  <a:t>2</a:t>
                </a:r>
                <a:r>
                  <a:rPr lang="en-US" dirty="0"/>
                  <a:t>, has a mathematical expression: </a:t>
                </a:r>
                <a:br>
                  <a:rPr lang="en-US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forward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rate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2000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2000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2000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2000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0" baseline="30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baseline="30000" dirty="0"/>
              </a:p>
              <a:p>
                <a:endParaRPr lang="en-US" sz="1800" baseline="30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reverse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000" b="0" i="0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2000" b="0" i="0" baseline="-2500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baseline="-2500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000" b="0" i="0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2000" b="0" i="0" baseline="-2500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000" baseline="30000" dirty="0"/>
              </a:p>
              <a:p>
                <a:pPr marL="0" indent="0">
                  <a:buNone/>
                </a:pPr>
                <a:endParaRPr lang="en-US" sz="2000" baseline="30000" dirty="0"/>
              </a:p>
              <a:p>
                <a:r>
                  <a:rPr lang="en-US" sz="1800" dirty="0"/>
                  <a:t>The details of rate equations are beyond</a:t>
                </a:r>
                <a:br>
                  <a:rPr lang="en-US" sz="1800" dirty="0"/>
                </a:br>
                <a:r>
                  <a:rPr lang="en-US" sz="1800" dirty="0"/>
                  <a:t>the scope of this course but are</a:t>
                </a:r>
                <a:br>
                  <a:rPr lang="en-US" sz="1800" dirty="0"/>
                </a:br>
                <a:r>
                  <a:rPr lang="en-US" sz="1800" dirty="0"/>
                  <a:t>mentioned here only because</a:t>
                </a:r>
                <a:br>
                  <a:rPr lang="en-US" sz="1800" dirty="0"/>
                </a:br>
                <a:r>
                  <a:rPr lang="en-US" sz="1800" dirty="0"/>
                  <a:t>the textbook references these equations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0626594-A603-3455-C84C-69D404907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090" y="1080655"/>
                <a:ext cx="8387645" cy="5466900"/>
              </a:xfrm>
              <a:blipFill>
                <a:blip r:embed="rId2"/>
                <a:stretch>
                  <a:fillRect l="-1090" t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9DECACA-3300-1B47-C93C-082C10F24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038" y="3755840"/>
            <a:ext cx="3154798" cy="28640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75480-2D83-61C6-ED15-BD6848324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7867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0042-7B0C-A390-9FD0-56DEDA8D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CDF2F3-AC15-DF48-30AC-D4130B50E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38060"/>
            <a:ext cx="8421512" cy="707886"/>
          </a:xfrm>
        </p:spPr>
        <p:txBody>
          <a:bodyPr/>
          <a:lstStyle/>
          <a:p>
            <a:r>
              <a:rPr lang="en-US" sz="4000" dirty="0"/>
              <a:t>Practice: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337FD1C-CF8F-FD4B-3EA1-E599473C75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80655"/>
                <a:ext cx="8387645" cy="54669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illustrated three reaction systems, what is the relative time to reach chemical equilibrium where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m:rPr>
                        <m:nor/>
                      </m:rP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dirty="0"/>
                  <a:t>?  A=small blue dot, B = large purple dot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Systems 1 and 3 show </a:t>
                </a:r>
                <a:r>
                  <a:rPr lang="en-US" b="1" i="1" dirty="0"/>
                  <a:t>A</a:t>
                </a:r>
                <a:r>
                  <a:rPr lang="en-US" dirty="0"/>
                  <a:t> decrease from </a:t>
                </a:r>
                <a:r>
                  <a:rPr lang="en-US" i="1" dirty="0"/>
                  <a:t>t</a:t>
                </a:r>
                <a:r>
                  <a:rPr lang="en-US" baseline="-25000" dirty="0"/>
                  <a:t>0</a:t>
                </a:r>
                <a:r>
                  <a:rPr lang="en-US" dirty="0"/>
                  <a:t> to </a:t>
                </a:r>
                <a:r>
                  <a:rPr lang="en-US" i="1" dirty="0"/>
                  <a:t>t</a:t>
                </a:r>
                <a:r>
                  <a:rPr lang="en-US" baseline="-25000" dirty="0"/>
                  <a:t>2</a:t>
                </a:r>
                <a:r>
                  <a:rPr lang="en-US" dirty="0"/>
                  <a:t>, with </a:t>
                </a:r>
                <a:r>
                  <a:rPr lang="en-US" i="1" dirty="0"/>
                  <a:t>t</a:t>
                </a:r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  <a:r>
                  <a:rPr lang="en-US" i="1" dirty="0"/>
                  <a:t>t</a:t>
                </a:r>
                <a:r>
                  <a:rPr lang="en-US" baseline="-25000" dirty="0"/>
                  <a:t>3</a:t>
                </a:r>
                <a:r>
                  <a:rPr lang="en-US" dirty="0"/>
                  <a:t> having no change; thus at equilibrium by </a:t>
                </a:r>
                <a:r>
                  <a:rPr lang="en-US" i="1" dirty="0"/>
                  <a:t>t</a:t>
                </a:r>
                <a:r>
                  <a:rPr lang="en-US" baseline="-25000" dirty="0"/>
                  <a:t>3</a:t>
                </a:r>
              </a:p>
              <a:p>
                <a:r>
                  <a:rPr lang="en-US" dirty="0"/>
                  <a:t>System 2: </a:t>
                </a:r>
                <a:r>
                  <a:rPr lang="en-US" b="1" i="1" dirty="0"/>
                  <a:t>A</a:t>
                </a:r>
                <a:r>
                  <a:rPr lang="en-US" dirty="0"/>
                  <a:t> and </a:t>
                </a:r>
                <a:r>
                  <a:rPr lang="en-US" b="1" i="1" dirty="0"/>
                  <a:t>B</a:t>
                </a:r>
                <a:r>
                  <a:rPr lang="en-US" dirty="0"/>
                  <a:t> still changing between </a:t>
                </a:r>
                <a:r>
                  <a:rPr lang="en-US" i="1" dirty="0"/>
                  <a:t>t</a:t>
                </a:r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  <a:r>
                  <a:rPr lang="en-US" i="1" dirty="0"/>
                  <a:t>t</a:t>
                </a:r>
                <a:r>
                  <a:rPr lang="en-US" baseline="-25000" dirty="0"/>
                  <a:t>3</a:t>
                </a:r>
                <a:r>
                  <a:rPr lang="en-US" dirty="0"/>
                  <a:t>, and this system may not have reached equilibrium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337FD1C-CF8F-FD4B-3EA1-E599473C75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80655"/>
                <a:ext cx="8387645" cy="5466900"/>
              </a:xfrm>
              <a:blipFill>
                <a:blip r:embed="rId2"/>
                <a:stretch>
                  <a:fillRect l="-1090" t="-892" r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75B440-CBD3-E64C-3FBF-DF79B91A3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19</a:t>
            </a:fld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06E2A-CF2B-AE9E-C233-DDEFB447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2" y="2303400"/>
            <a:ext cx="903096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2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4429-4CFB-0E58-B597-E3C6DC70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8F0E9F-26FE-C3C5-019A-DF194E1CB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38060"/>
            <a:ext cx="8421512" cy="707886"/>
          </a:xfrm>
        </p:spPr>
        <p:txBody>
          <a:bodyPr/>
          <a:lstStyle/>
          <a:p>
            <a:r>
              <a:rPr lang="en-US" sz="4000" dirty="0"/>
              <a:t>Practice: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FD7A83-56D1-3F7A-FE9E-CF8DDB6018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80655"/>
                <a:ext cx="8387645" cy="54669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Another three reaction systems shown, where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  <m:r>
                      <a:rPr lang="en-US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𝑪</m:t>
                    </m:r>
                    <m:r>
                      <m:rPr>
                        <m:nor/>
                      </m:rPr>
                      <a:rPr lang="en-US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dirty="0"/>
                  <a:t> which system(s) has reached equilibrium?</a:t>
                </a:r>
                <a:br>
                  <a:rPr lang="en-US" dirty="0"/>
                </a:br>
                <a:r>
                  <a:rPr lang="en-US" sz="1800" dirty="0"/>
                  <a:t>A=blue circles, B = purple squares, C=orange ovals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System 2: the </a:t>
                </a:r>
                <a:r>
                  <a:rPr lang="en-US" sz="1800" i="1" dirty="0"/>
                  <a:t>t</a:t>
                </a:r>
                <a:r>
                  <a:rPr lang="en-US" sz="1800" baseline="-25000" dirty="0"/>
                  <a:t>2</a:t>
                </a:r>
                <a:r>
                  <a:rPr lang="en-US" sz="1800" dirty="0"/>
                  <a:t> and </a:t>
                </a:r>
                <a:r>
                  <a:rPr lang="en-US" sz="1800" i="1" dirty="0"/>
                  <a:t>t</a:t>
                </a:r>
                <a:r>
                  <a:rPr lang="en-US" sz="1800" baseline="-25000" dirty="0"/>
                  <a:t>3</a:t>
                </a:r>
                <a:r>
                  <a:rPr lang="en-US" sz="1800" dirty="0"/>
                  <a:t> time frames have 4 orange ovals and the count of the reactants should be same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The other systems would need to reflect no changes between the last two time frames to demonstrate equilibrium, and they do not.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FD7A83-56D1-3F7A-FE9E-CF8DDB601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80655"/>
                <a:ext cx="8387645" cy="5466900"/>
              </a:xfrm>
              <a:blipFill>
                <a:blip r:embed="rId2"/>
                <a:stretch>
                  <a:fillRect l="-1090" t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9CC72C-BBF8-11B3-8537-5345CBB9B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20</a:t>
            </a:fld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062AE8-0B14-5B43-300B-0EEAB6CE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1" y="2417045"/>
            <a:ext cx="904048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2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AD619-4AF1-FE65-BE04-5CB3ECF4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7D4027-0C77-D7AE-F013-52B196975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27883"/>
            <a:ext cx="8421512" cy="769441"/>
          </a:xfrm>
        </p:spPr>
        <p:txBody>
          <a:bodyPr/>
          <a:lstStyle/>
          <a:p>
            <a:r>
              <a:rPr lang="en-US" sz="4400" dirty="0"/>
              <a:t>Equilibrium Constant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5BFD8A-92E3-A5B7-AE8F-127EA2EDF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879749"/>
                <a:ext cx="8387645" cy="550281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Studies of chemical reactions with forward and reverse directions showed this pattern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⇌</m:t>
                      </m:r>
                      <m:r>
                        <a:rPr lang="en-US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𝒄</m:t>
                      </m:r>
                      <m:r>
                        <a:rPr lang="en-US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𝑪</m:t>
                      </m:r>
                      <m:r>
                        <a:rPr lang="en-US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𝒅𝑫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200" dirty="0"/>
                  <a:t>The equilibrium can be expressed as a constant in this equation, known as the </a:t>
                </a:r>
                <a:r>
                  <a:rPr lang="en-US" sz="2200" b="1" dirty="0">
                    <a:solidFill>
                      <a:srgbClr val="00FF00"/>
                    </a:solidFill>
                  </a:rPr>
                  <a:t>law of mass action</a:t>
                </a:r>
                <a:r>
                  <a:rPr lang="en-US" sz="22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  <m:r>
                            <a:rPr lang="en-US" b="1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  <m:r>
                            <a:rPr lang="en-US" b="1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b="1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  <m:r>
                            <a:rPr lang="en-US" b="1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solidFill>
                      <a:srgbClr val="CC99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Features of equation</a:t>
                </a:r>
              </a:p>
              <a:p>
                <a:r>
                  <a:rPr lang="en-US" sz="2000" b="1" i="1" dirty="0">
                    <a:solidFill>
                      <a:srgbClr val="00FF00"/>
                    </a:solidFill>
                  </a:rPr>
                  <a:t>K</a:t>
                </a:r>
                <a:r>
                  <a:rPr lang="en-US" sz="2000" dirty="0"/>
                  <a:t> is </a:t>
                </a:r>
                <a:r>
                  <a:rPr lang="en-US" sz="2000" dirty="0">
                    <a:solidFill>
                      <a:srgbClr val="FFFF00"/>
                    </a:solidFill>
                  </a:rPr>
                  <a:t>temperature-dependent</a:t>
                </a:r>
                <a:r>
                  <a:rPr lang="en-US" sz="2000" dirty="0"/>
                  <a:t>!</a:t>
                </a:r>
              </a:p>
              <a:p>
                <a:r>
                  <a:rPr lang="en-US" sz="2000" dirty="0">
                    <a:solidFill>
                      <a:srgbClr val="FFFF00"/>
                    </a:solidFill>
                  </a:rPr>
                  <a:t>Products</a:t>
                </a:r>
                <a:r>
                  <a:rPr lang="en-US" sz="2000" dirty="0"/>
                  <a:t> are in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numerator</a:t>
                </a:r>
                <a:r>
                  <a:rPr lang="en-US" sz="2000" dirty="0"/>
                  <a:t>, </a:t>
                </a:r>
                <a:r>
                  <a:rPr lang="en-US" sz="2000" dirty="0">
                    <a:solidFill>
                      <a:srgbClr val="FFFF00"/>
                    </a:solidFill>
                  </a:rPr>
                  <a:t>reactants</a:t>
                </a:r>
                <a:r>
                  <a:rPr lang="en-US" sz="2000" dirty="0"/>
                  <a:t> are in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denominator</a:t>
                </a:r>
              </a:p>
              <a:p>
                <a:r>
                  <a:rPr lang="en-US" sz="2000" dirty="0">
                    <a:solidFill>
                      <a:srgbClr val="FFFF00"/>
                    </a:solidFill>
                  </a:rPr>
                  <a:t>Brackets</a:t>
                </a:r>
                <a:r>
                  <a:rPr lang="en-US" sz="2000" dirty="0"/>
                  <a:t> express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concentration</a:t>
                </a:r>
                <a:r>
                  <a:rPr lang="en-US" sz="2000" dirty="0"/>
                  <a:t> in </a:t>
                </a:r>
                <a:r>
                  <a:rPr lang="en-US" sz="2000" dirty="0">
                    <a:solidFill>
                      <a:srgbClr val="FFFF00"/>
                    </a:solidFill>
                  </a:rPr>
                  <a:t>molarity</a:t>
                </a:r>
                <a:r>
                  <a:rPr lang="en-US" sz="2000" dirty="0"/>
                  <a:t> (</a:t>
                </a:r>
                <a:r>
                  <a:rPr lang="en-US" sz="2000" dirty="0">
                    <a:solidFill>
                      <a:srgbClr val="FFFF00"/>
                    </a:solidFill>
                  </a:rPr>
                  <a:t>units</a:t>
                </a:r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FFFF00"/>
                    </a:solidFill>
                  </a:rPr>
                  <a:t>molar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US" sz="2000" dirty="0"/>
                  <a:t> is a </a:t>
                </a:r>
                <a:r>
                  <a:rPr lang="en-US" sz="2000" dirty="0">
                    <a:solidFill>
                      <a:srgbClr val="FFFF00"/>
                    </a:solidFill>
                  </a:rPr>
                  <a:t>quotient</a:t>
                </a:r>
                <a:r>
                  <a:rPr lang="en-US" sz="2000" dirty="0"/>
                  <a:t> of </a:t>
                </a:r>
                <a:r>
                  <a:rPr lang="en-US" sz="2000" dirty="0">
                    <a:solidFill>
                      <a:srgbClr val="FFFF00"/>
                    </a:solidFill>
                  </a:rPr>
                  <a:t>products</a:t>
                </a:r>
                <a:r>
                  <a:rPr lang="en-US" sz="2000" dirty="0"/>
                  <a:t> (multiplied factors)</a:t>
                </a:r>
              </a:p>
              <a:p>
                <a:r>
                  <a:rPr lang="en-US" sz="2000" dirty="0">
                    <a:solidFill>
                      <a:srgbClr val="FFFF00"/>
                    </a:solidFill>
                  </a:rPr>
                  <a:t>Coefficients</a:t>
                </a:r>
                <a:r>
                  <a:rPr lang="en-US" sz="2000" dirty="0"/>
                  <a:t> of reaction are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exponents</a:t>
                </a:r>
                <a:r>
                  <a:rPr lang="en-US" sz="2000" dirty="0"/>
                  <a:t> in the </a:t>
                </a:r>
                <a:r>
                  <a:rPr lang="en-US" sz="2000" dirty="0">
                    <a:solidFill>
                      <a:srgbClr val="FFFF00"/>
                    </a:solidFill>
                  </a:rPr>
                  <a:t>expression</a:t>
                </a:r>
                <a:br>
                  <a:rPr lang="en-US" sz="2000" dirty="0"/>
                </a:br>
                <a:r>
                  <a:rPr lang="en-US" sz="2000" dirty="0"/>
                  <a:t>(if coefficient = 1, no exponent needed)</a:t>
                </a:r>
              </a:p>
              <a:p>
                <a:r>
                  <a:rPr lang="en-US" sz="2000" dirty="0"/>
                  <a:t>Solids, liquids, solvents have value = 1, so they have no effect on equation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5BFD8A-92E3-A5B7-AE8F-127EA2EDF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879749"/>
                <a:ext cx="8387645" cy="5502819"/>
              </a:xfrm>
              <a:blipFill>
                <a:blip r:embed="rId2"/>
                <a:stretch>
                  <a:fillRect l="-1090" t="-554" b="-7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76E9B1-8DA4-7180-E945-F28A6B60A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61181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E1A7B-40F9-DDC6-3F89-F8EF49ED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77716-9CA6-6C99-91E9-DF3BC38F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2449"/>
            <a:ext cx="8421512" cy="707886"/>
          </a:xfrm>
        </p:spPr>
        <p:txBody>
          <a:bodyPr/>
          <a:lstStyle/>
          <a:p>
            <a:r>
              <a:rPr lang="en-US" sz="4000" dirty="0"/>
              <a:t>Meaning of Equilibrium Constant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954D30-383C-673D-CC7E-F44ABB99D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0708"/>
            <a:ext cx="8387645" cy="5476847"/>
          </a:xfrm>
        </p:spPr>
        <p:txBody>
          <a:bodyPr/>
          <a:lstStyle/>
          <a:p>
            <a:pPr marL="227013" indent="-227013"/>
            <a:r>
              <a:rPr lang="en-US" sz="2000" dirty="0"/>
              <a:t>Base on the definition</a:t>
            </a:r>
            <a:br>
              <a:rPr lang="en-US" sz="2000" dirty="0"/>
            </a:br>
            <a:r>
              <a:rPr lang="en-US" sz="2000" dirty="0"/>
              <a:t>of the equilibrium</a:t>
            </a:r>
            <a:br>
              <a:rPr lang="en-US" sz="2000" dirty="0"/>
            </a:br>
            <a:r>
              <a:rPr lang="en-US" sz="2000" dirty="0"/>
              <a:t>constant, it can be </a:t>
            </a:r>
            <a:br>
              <a:rPr lang="en-US" sz="2000" dirty="0"/>
            </a:br>
            <a:r>
              <a:rPr lang="en-US" sz="2000" dirty="0"/>
              <a:t>inferred that a </a:t>
            </a:r>
            <a:r>
              <a:rPr lang="en-US" sz="2000" i="1" dirty="0"/>
              <a:t>K</a:t>
            </a:r>
            <a:r>
              <a:rPr lang="en-US" sz="2000" dirty="0"/>
              <a:t> &gt; 10</a:t>
            </a:r>
            <a:r>
              <a:rPr lang="en-US" sz="2000" baseline="30000" dirty="0"/>
              <a:t>3</a:t>
            </a:r>
            <a:br>
              <a:rPr lang="en-US" sz="2000" baseline="30000" dirty="0"/>
            </a:br>
            <a:r>
              <a:rPr lang="en-US" sz="2000" dirty="0"/>
              <a:t>would indicate that the</a:t>
            </a:r>
            <a:br>
              <a:rPr lang="en-US" sz="2000" dirty="0"/>
            </a:br>
            <a:r>
              <a:rPr lang="en-US" sz="2000" dirty="0"/>
              <a:t>products are highly</a:t>
            </a:r>
            <a:br>
              <a:rPr lang="en-US" sz="2000" dirty="0"/>
            </a:br>
            <a:r>
              <a:rPr lang="en-US" sz="2000" dirty="0"/>
              <a:t>favored to the reactants</a:t>
            </a:r>
            <a:br>
              <a:rPr lang="en-US" sz="2000" dirty="0"/>
            </a:br>
            <a:r>
              <a:rPr lang="en-US" sz="2000" dirty="0"/>
              <a:t>in a reaction that is</a:t>
            </a:r>
            <a:br>
              <a:rPr lang="en-US" sz="2000" dirty="0"/>
            </a:br>
            <a:r>
              <a:rPr lang="en-US" sz="2000" dirty="0"/>
              <a:t>reversible</a:t>
            </a:r>
          </a:p>
          <a:p>
            <a:pPr marL="227013" indent="-227013"/>
            <a:r>
              <a:rPr lang="en-US" sz="2000" dirty="0"/>
              <a:t>The formation of HCl (</a:t>
            </a:r>
            <a:r>
              <a:rPr lang="en-US" sz="2000" i="1" dirty="0"/>
              <a:t>g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from H</a:t>
            </a:r>
            <a:r>
              <a:rPr lang="en-US" sz="2000" baseline="-25000" dirty="0"/>
              <a:t>2</a:t>
            </a:r>
            <a:r>
              <a:rPr lang="en-US" sz="2000" dirty="0"/>
              <a:t> (</a:t>
            </a:r>
            <a:r>
              <a:rPr lang="en-US" sz="2000" i="1" dirty="0"/>
              <a:t>g</a:t>
            </a:r>
            <a:r>
              <a:rPr lang="en-US" sz="2000" dirty="0"/>
              <a:t>) + Cl</a:t>
            </a:r>
            <a:r>
              <a:rPr lang="en-US" sz="2000" baseline="-25000" dirty="0"/>
              <a:t>2</a:t>
            </a:r>
            <a:r>
              <a:rPr lang="en-US" sz="2000" dirty="0"/>
              <a:t> (</a:t>
            </a:r>
            <a:r>
              <a:rPr lang="en-US" sz="2000" i="1" dirty="0"/>
              <a:t>g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has a K ~ 10</a:t>
            </a:r>
            <a:r>
              <a:rPr lang="en-US" sz="2000" baseline="30000" dirty="0"/>
              <a:t>33</a:t>
            </a:r>
            <a:r>
              <a:rPr lang="en-US" sz="2000" dirty="0"/>
              <a:t> at room</a:t>
            </a:r>
            <a:br>
              <a:rPr lang="en-US" sz="2000" dirty="0"/>
            </a:br>
            <a:r>
              <a:rPr lang="en-US" sz="2000" dirty="0"/>
              <a:t>temperature (300 K): </a:t>
            </a:r>
            <a:br>
              <a:rPr lang="en-US" sz="2000" dirty="0"/>
            </a:br>
            <a:r>
              <a:rPr lang="en-US" sz="2000" dirty="0"/>
              <a:t>Cl</a:t>
            </a:r>
            <a:r>
              <a:rPr lang="en-US" sz="2000" baseline="-25000" dirty="0"/>
              <a:t>2</a:t>
            </a:r>
            <a:r>
              <a:rPr lang="en-US" sz="2000" dirty="0"/>
              <a:t> is a very good</a:t>
            </a:r>
            <a:br>
              <a:rPr lang="en-US" sz="2000" dirty="0"/>
            </a:br>
            <a:r>
              <a:rPr lang="en-US" sz="2000" dirty="0"/>
              <a:t>oxidizer and H</a:t>
            </a:r>
            <a:r>
              <a:rPr lang="en-US" sz="2000" baseline="-25000" dirty="0"/>
              <a:t>2</a:t>
            </a:r>
            <a:r>
              <a:rPr lang="en-US" sz="2000" dirty="0"/>
              <a:t> a very good reducer</a:t>
            </a:r>
          </a:p>
          <a:p>
            <a:pPr marL="227013" indent="-227013"/>
            <a:r>
              <a:rPr lang="en-US" sz="2000" dirty="0"/>
              <a:t>By contrast with </a:t>
            </a:r>
            <a:r>
              <a:rPr lang="en-US" sz="2000" i="1" dirty="0"/>
              <a:t>K</a:t>
            </a:r>
            <a:r>
              <a:rPr lang="en-US" sz="2000" dirty="0"/>
              <a:t> &lt; 10</a:t>
            </a:r>
            <a:r>
              <a:rPr lang="en-US" sz="2000" baseline="30000" dirty="0"/>
              <a:t>–3</a:t>
            </a:r>
            <a:r>
              <a:rPr lang="en-US" sz="2000" dirty="0"/>
              <a:t>, the reactants are highly favored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7EE72-1374-C0D6-6453-C9CC65DD2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294" y="1390053"/>
            <a:ext cx="5060858" cy="386188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ABDB-3F96-4377-04F2-A9A78B6EE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1065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8FAA-339F-07AD-34A9-BFFB6308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391733-499B-0443-5833-2D3B7CDC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310445"/>
            <a:ext cx="8421512" cy="707886"/>
          </a:xfrm>
        </p:spPr>
        <p:txBody>
          <a:bodyPr/>
          <a:lstStyle/>
          <a:p>
            <a:r>
              <a:rPr lang="en-US" sz="4000" dirty="0"/>
              <a:t>Meaning of Range of </a:t>
            </a:r>
            <a:r>
              <a:rPr lang="en-US" sz="4000" i="1" dirty="0"/>
              <a:t>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93FDB1-FA69-E37F-DE13-8F9CBE8E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18332"/>
            <a:ext cx="8387645" cy="552922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Practical meaning of the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equilibrium constant 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/>
              <a:t>is to indicate whether a reaction at the particular </a:t>
            </a:r>
            <a:r>
              <a:rPr lang="en-US" sz="2000" dirty="0">
                <a:solidFill>
                  <a:srgbClr val="FFFF00"/>
                </a:solidFill>
              </a:rPr>
              <a:t>temperature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FF00"/>
                </a:solidFill>
              </a:rPr>
              <a:t>some other conditions</a:t>
            </a:r>
            <a:r>
              <a:rPr lang="en-US" sz="2000" dirty="0"/>
              <a:t> will favor reactants not forming products </a:t>
            </a:r>
            <a:br>
              <a:rPr lang="en-US" sz="2000" dirty="0"/>
            </a:br>
            <a:r>
              <a:rPr lang="en-US" sz="2000" dirty="0"/>
              <a:t>(</a:t>
            </a:r>
            <a:r>
              <a:rPr lang="en-US" sz="2000" i="1" dirty="0">
                <a:solidFill>
                  <a:srgbClr val="FF9933"/>
                </a:solidFill>
              </a:rPr>
              <a:t>K</a:t>
            </a:r>
            <a:r>
              <a:rPr lang="en-US" sz="2000" dirty="0">
                <a:solidFill>
                  <a:srgbClr val="FF9933"/>
                </a:solidFill>
              </a:rPr>
              <a:t> &lt; 10</a:t>
            </a:r>
            <a:r>
              <a:rPr lang="en-US" sz="2000" baseline="30000" dirty="0">
                <a:solidFill>
                  <a:srgbClr val="FF9933"/>
                </a:solidFill>
              </a:rPr>
              <a:t>-3</a:t>
            </a:r>
            <a:r>
              <a:rPr lang="en-US" sz="2000" dirty="0"/>
              <a:t>), or the reaction going to completion to products</a:t>
            </a:r>
            <a:br>
              <a:rPr lang="en-US" sz="2000" dirty="0"/>
            </a:br>
            <a:r>
              <a:rPr lang="en-US" sz="2000" dirty="0"/>
              <a:t>(</a:t>
            </a:r>
            <a:r>
              <a:rPr lang="en-US" sz="2000" i="1" dirty="0">
                <a:solidFill>
                  <a:srgbClr val="FF9933"/>
                </a:solidFill>
              </a:rPr>
              <a:t>K</a:t>
            </a:r>
            <a:r>
              <a:rPr lang="en-US" sz="2000" dirty="0">
                <a:solidFill>
                  <a:srgbClr val="FF9933"/>
                </a:solidFill>
              </a:rPr>
              <a:t> &gt; 10</a:t>
            </a:r>
            <a:r>
              <a:rPr lang="en-US" sz="2000" baseline="30000" dirty="0">
                <a:solidFill>
                  <a:srgbClr val="FF9933"/>
                </a:solidFill>
              </a:rPr>
              <a:t>3</a:t>
            </a:r>
            <a:r>
              <a:rPr lang="en-US" sz="2000" dirty="0"/>
              <a:t>), or an equilibrium reached where there is an even mixture of reactants and products (</a:t>
            </a:r>
            <a:r>
              <a:rPr lang="en-US" sz="2000" dirty="0">
                <a:solidFill>
                  <a:srgbClr val="FF9933"/>
                </a:solidFill>
              </a:rPr>
              <a:t>10</a:t>
            </a:r>
            <a:r>
              <a:rPr lang="en-US" sz="2000" baseline="30000" dirty="0">
                <a:solidFill>
                  <a:srgbClr val="FF9933"/>
                </a:solidFill>
              </a:rPr>
              <a:t>-3</a:t>
            </a:r>
            <a:r>
              <a:rPr lang="en-US" sz="2000" dirty="0">
                <a:solidFill>
                  <a:srgbClr val="FF9933"/>
                </a:solidFill>
              </a:rPr>
              <a:t> ≤ </a:t>
            </a:r>
            <a:r>
              <a:rPr lang="en-US" sz="2000" i="1" dirty="0">
                <a:solidFill>
                  <a:srgbClr val="FF9933"/>
                </a:solidFill>
              </a:rPr>
              <a:t>K</a:t>
            </a:r>
            <a:r>
              <a:rPr lang="en-US" sz="2000" dirty="0">
                <a:solidFill>
                  <a:srgbClr val="FF9933"/>
                </a:solidFill>
              </a:rPr>
              <a:t> ≤ 10</a:t>
            </a:r>
            <a:r>
              <a:rPr lang="en-US" sz="2000" baseline="30000" dirty="0">
                <a:solidFill>
                  <a:srgbClr val="FF9933"/>
                </a:solidFill>
              </a:rPr>
              <a:t>3</a:t>
            </a:r>
            <a:r>
              <a:rPr lang="en-US" sz="20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A8C93-1E04-65F4-EAFF-320AF81C1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39" y="3027324"/>
            <a:ext cx="6081133" cy="36023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C4C138-6593-C3E9-DDE3-8A769D2876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95347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7B9-F2F2-C8B9-7BAB-29489575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6FEF8-4A95-F16E-3B0A-6E114095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310445"/>
            <a:ext cx="8421512" cy="707886"/>
          </a:xfrm>
        </p:spPr>
        <p:txBody>
          <a:bodyPr/>
          <a:lstStyle/>
          <a:p>
            <a:r>
              <a:rPr lang="en-US" sz="4000" dirty="0"/>
              <a:t>Example: Meaning of Range of </a:t>
            </a:r>
            <a:r>
              <a:rPr lang="en-US" sz="4000" i="1" dirty="0"/>
              <a:t>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21AC9C1-5F6F-79F8-1008-50F38C0CE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18332"/>
                <a:ext cx="8387645" cy="552922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Recall the reactions: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colorless</m:t>
                        </m:r>
                      </m:e>
                    </m:d>
                    <m: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baseline="-25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baseline="-25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  <m: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2  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NO</m:t>
                    </m:r>
                    <m:r>
                      <a:rPr lang="en-US" sz="2000" baseline="-250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e>
                    </m:d>
                    <m:r>
                      <m:rPr>
                        <m:nor/>
                      </m:rPr>
                      <a:rPr lang="en-US" sz="20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  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[</m:t>
                    </m:r>
                    <m:r>
                      <m:rPr>
                        <m:nor/>
                      </m:rPr>
                      <a:rPr lang="en-US" sz="2000" dirty="0">
                        <a:latin typeface="Cambria Math" panose="02040503050406030204" pitchFamily="18" charset="0"/>
                      </a:rPr>
                      <m:t>red</m:t>
                    </m:r>
                    <m:r>
                      <m:rPr>
                        <m:nor/>
                      </m:rPr>
                      <a:rPr lang="en-US" sz="20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dirty="0">
                        <a:latin typeface="Cambria Math" panose="02040503050406030204" pitchFamily="18" charset="0"/>
                      </a:rPr>
                      <m:t>brown</m:t>
                    </m:r>
                    <m:r>
                      <m:rPr>
                        <m:nor/>
                      </m:rPr>
                      <a:rPr lang="en-US" sz="2000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Here is the table of </a:t>
                </a:r>
                <a:r>
                  <a:rPr lang="en-US" sz="1800" i="1" dirty="0"/>
                  <a:t>K</a:t>
                </a:r>
                <a:r>
                  <a:rPr lang="en-US" sz="1800" dirty="0"/>
                  <a:t> values for that reaction to emphasize the point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21AC9C1-5F6F-79F8-1008-50F38C0CE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18332"/>
                <a:ext cx="8387645" cy="5529224"/>
              </a:xfrm>
              <a:blipFill>
                <a:blip r:embed="rId2"/>
                <a:stretch>
                  <a:fillRect l="-727" t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F6CFDE0-4999-5319-8F6B-1CA7CA893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47" y="3785843"/>
            <a:ext cx="4353850" cy="25791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3D6B08-51CB-0794-28C5-49E360FB7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24</a:t>
            </a:fld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5EE311-722B-50CC-6AFA-E0A9984BD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946" y="3748788"/>
            <a:ext cx="3304782" cy="28726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9235F2-3F80-8F3F-FDB9-B27392E51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392199"/>
              </p:ext>
            </p:extLst>
          </p:nvPr>
        </p:nvGraphicFramePr>
        <p:xfrm>
          <a:off x="355599" y="1840556"/>
          <a:ext cx="8421512" cy="18447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79601">
                  <a:extLst>
                    <a:ext uri="{9D8B030D-6E8A-4147-A177-3AD203B41FA5}">
                      <a16:colId xmlns:a16="http://schemas.microsoft.com/office/drawing/2014/main" val="1379936332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668818816"/>
                    </a:ext>
                  </a:extLst>
                </a:gridCol>
                <a:gridCol w="2815551">
                  <a:extLst>
                    <a:ext uri="{9D8B030D-6E8A-4147-A177-3AD203B41FA5}">
                      <a16:colId xmlns:a16="http://schemas.microsoft.com/office/drawing/2014/main" val="892291704"/>
                    </a:ext>
                  </a:extLst>
                </a:gridCol>
                <a:gridCol w="2257778">
                  <a:extLst>
                    <a:ext uri="{9D8B030D-6E8A-4147-A177-3AD203B41FA5}">
                      <a16:colId xmlns:a16="http://schemas.microsoft.com/office/drawing/2014/main" val="2642517382"/>
                    </a:ext>
                  </a:extLst>
                </a:gridCol>
              </a:tblGrid>
              <a:tr h="275131">
                <a:tc>
                  <a:txBody>
                    <a:bodyPr/>
                    <a:lstStyle/>
                    <a:p>
                      <a:r>
                        <a:rPr lang="en-US" sz="1400" b="0" dirty="0"/>
                        <a:t>Temperature 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 err="1"/>
                        <a:t>K</a:t>
                      </a:r>
                      <a:r>
                        <a:rPr lang="en-US" sz="1400" b="0" baseline="-25000" dirty="0" err="1"/>
                        <a:t>p</a:t>
                      </a:r>
                      <a:r>
                        <a:rPr lang="en-US" sz="1400" b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Shift in Equilibrium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106720"/>
                  </a:ext>
                </a:extLst>
              </a:tr>
              <a:tr h="302644">
                <a:tc>
                  <a:txBody>
                    <a:bodyPr/>
                    <a:lstStyle/>
                    <a:p>
                      <a:r>
                        <a:rPr lang="en-US" sz="1600" b="0" dirty="0"/>
                        <a:t>100°C (~373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1.3 × 10</a:t>
                      </a:r>
                      <a:r>
                        <a:rPr lang="en-US" sz="1600" b="0" baseline="30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product NO</a:t>
                      </a:r>
                      <a:r>
                        <a:rPr lang="en-US" sz="1400" b="0" baseline="-25000" dirty="0"/>
                        <a:t>2</a:t>
                      </a:r>
                      <a:r>
                        <a:rPr lang="en-US" sz="1400" b="0" dirty="0"/>
                        <a:t> strongly favored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relatively dark brown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87319"/>
                  </a:ext>
                </a:extLst>
              </a:tr>
              <a:tr h="302644">
                <a:tc>
                  <a:txBody>
                    <a:bodyPr/>
                    <a:lstStyle/>
                    <a:p>
                      <a:r>
                        <a:rPr lang="en-US" sz="1600" b="0" dirty="0"/>
                        <a:t>25°C (298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~58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N</a:t>
                      </a:r>
                      <a:r>
                        <a:rPr lang="en-US" sz="1400" b="0" baseline="-25000" dirty="0"/>
                        <a:t>2</a:t>
                      </a:r>
                      <a:r>
                        <a:rPr lang="en-US" sz="1400" b="0" dirty="0"/>
                        <a:t>O</a:t>
                      </a:r>
                      <a:r>
                        <a:rPr lang="en-US" sz="1400" b="0" baseline="-25000" dirty="0"/>
                        <a:t>4</a:t>
                      </a:r>
                      <a:r>
                        <a:rPr lang="en-US" sz="1400" b="0" dirty="0"/>
                        <a:t> favored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brown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176957"/>
                  </a:ext>
                </a:extLst>
              </a:tr>
              <a:tr h="3511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0°C (273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0.113-0.142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both significantly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pale brown or nearly colorless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193870"/>
                  </a:ext>
                </a:extLst>
              </a:tr>
              <a:tr h="351183">
                <a:tc>
                  <a:txBody>
                    <a:bodyPr/>
                    <a:lstStyle/>
                    <a:p>
                      <a:r>
                        <a:rPr lang="en-US" sz="1600" b="0" dirty="0"/>
                        <a:t>–78°C (195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baseline="0" dirty="0"/>
                        <a:t>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reactant N</a:t>
                      </a:r>
                      <a:r>
                        <a:rPr lang="en-US" sz="1400" b="0" baseline="-25000" dirty="0"/>
                        <a:t>2</a:t>
                      </a:r>
                      <a:r>
                        <a:rPr lang="en-US" sz="1400" b="0" dirty="0"/>
                        <a:t>O</a:t>
                      </a:r>
                      <a:r>
                        <a:rPr lang="en-US" sz="1400" b="0" baseline="-25000" dirty="0"/>
                        <a:t>4</a:t>
                      </a:r>
                      <a:r>
                        <a:rPr lang="en-US" sz="1400" b="0" dirty="0"/>
                        <a:t> favored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colorless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02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792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8ADF-E2F8-D28C-080D-9F5954A7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B874B0-9EE6-AE37-53DC-D89D1CE2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34005"/>
            <a:ext cx="8421512" cy="584775"/>
          </a:xfrm>
        </p:spPr>
        <p:txBody>
          <a:bodyPr/>
          <a:lstStyle/>
          <a:p>
            <a:r>
              <a:rPr lang="en-US" sz="3200" dirty="0"/>
              <a:t>Practice: Equilibrium Constant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2AB0947-8D8B-F4BA-EC5A-132404A6AE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78523"/>
                <a:ext cx="8387645" cy="54768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Write the equilibrium constant expression for the balanced reactions (chemical equations)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N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+ 3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NH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NH</m:t>
                              </m:r>
                              <m:r>
                                <a:rPr lang="en-US" sz="2000" i="0" baseline="-250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000" i="0" baseline="30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000" i="0" baseline="-250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 i="0" baseline="-250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i="0" baseline="30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CO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+ 1/2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CO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b="0" i="1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2 CO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CO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</m:e>
                          </m:d>
                          <m:r>
                            <a:rPr lang="en-US" sz="2000" i="0" baseline="30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20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2AB0947-8D8B-F4BA-EC5A-132404A6A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78523"/>
                <a:ext cx="8387645" cy="5476847"/>
              </a:xfrm>
              <a:blipFill>
                <a:blip r:embed="rId2"/>
                <a:stretch>
                  <a:fillRect l="-799" t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D575DD-DCA7-0513-CF43-708F54D15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222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6866-8136-96E4-939B-45807B5F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1FECA7-529B-C6D9-C292-B695213EA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2450"/>
            <a:ext cx="8421512" cy="707886"/>
          </a:xfrm>
        </p:spPr>
        <p:txBody>
          <a:bodyPr/>
          <a:lstStyle/>
          <a:p>
            <a:r>
              <a:rPr lang="en-US" sz="4000" dirty="0"/>
              <a:t>Practice: Equilibrium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3237AE-3645-1663-843B-18C97F80B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Write the equilibrium constant (not the equilibrium constant expression) for the balanced reactions (chemical equations)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N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N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+ 1/2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000" i="0" baseline="-250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lang="en-US" sz="2000" i="0" baseline="-250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>
                  <a:solidFill>
                    <a:srgbClr val="FFC000"/>
                  </a:solidFill>
                </a:endParaRP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2 C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8</a:t>
                </a:r>
                <a:r>
                  <a:rPr lang="en-US" sz="2000" dirty="0">
                    <a:solidFill>
                      <a:srgbClr val="FFC000"/>
                    </a:solidFill>
                  </a:rPr>
                  <a:t>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18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+ 25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16 CO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+ 18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</m:d>
                          <m:r>
                            <a:rPr lang="en-US" sz="2000" baseline="30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d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I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HI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0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HI</m:t>
                              </m:r>
                            </m:e>
                          </m:d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000" i="0" baseline="-250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3237AE-3645-1663-843B-18C97F80B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  <a:blipFill>
                <a:blip r:embed="rId2"/>
                <a:stretch>
                  <a:fillRect l="-799" t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FE20B1-171C-A76B-DC8D-778F63CA80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6519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B333-E544-0A2C-0076-8FBD0AC70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E4023A-7FDE-9B73-724E-ACAC1DA93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3227"/>
            <a:ext cx="8421512" cy="646331"/>
          </a:xfrm>
        </p:spPr>
        <p:txBody>
          <a:bodyPr/>
          <a:lstStyle/>
          <a:p>
            <a:r>
              <a:rPr lang="en-US" sz="3600" dirty="0"/>
              <a:t>Practice: Predicting What Predominates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43C2CD-B4BB-F4D5-041A-37C97BCF21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Predict if a system has only products, only reactants, or appreciable amounts of reactants and products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I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HI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   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K</a:t>
                </a:r>
                <a:r>
                  <a:rPr lang="en-US" sz="2000" dirty="0">
                    <a:solidFill>
                      <a:srgbClr val="FFC000"/>
                    </a:solidFill>
                  </a:rPr>
                  <a:t> = 54  </a:t>
                </a:r>
                <a:r>
                  <a:rPr lang="en-US" sz="1600" dirty="0"/>
                  <a:t>(at </a:t>
                </a:r>
                <a:r>
                  <a:rPr lang="en-US" sz="1600" i="1" dirty="0"/>
                  <a:t>T</a:t>
                </a:r>
                <a:r>
                  <a:rPr lang="en-US" sz="1600" dirty="0"/>
                  <a:t> = 700 K)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Will substantially have mix of products and reactants</a:t>
                </a:r>
                <a:endParaRPr lang="en-US" sz="2800" dirty="0"/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2 CO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CO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(g)  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K</a:t>
                </a:r>
                <a:r>
                  <a:rPr lang="en-US" sz="2000" dirty="0">
                    <a:solidFill>
                      <a:srgbClr val="FFC000"/>
                    </a:solidFill>
                  </a:rPr>
                  <a:t> = 3.1 × 10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-18</a:t>
                </a:r>
                <a:r>
                  <a:rPr lang="en-US" sz="2000" dirty="0">
                    <a:solidFill>
                      <a:srgbClr val="FFC000"/>
                    </a:solidFill>
                  </a:rPr>
                  <a:t>  </a:t>
                </a:r>
                <a:r>
                  <a:rPr lang="en-US" sz="1600" dirty="0"/>
                  <a:t>(at </a:t>
                </a:r>
                <a:r>
                  <a:rPr lang="en-US" sz="1600" i="1" dirty="0"/>
                  <a:t>T</a:t>
                </a:r>
                <a:r>
                  <a:rPr lang="en-US" sz="1600" dirty="0"/>
                  <a:t> = 1200K)</a:t>
                </a: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Strongly favors reactant formation and little products</a:t>
                </a:r>
                <a:endParaRPr lang="en-US" sz="2800" dirty="0"/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PCl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5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PCl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Cl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(g)    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K</a:t>
                </a:r>
                <a:r>
                  <a:rPr lang="en-US" sz="2000" dirty="0">
                    <a:solidFill>
                      <a:srgbClr val="FFC000"/>
                    </a:solidFill>
                  </a:rPr>
                  <a:t> = 97  </a:t>
                </a:r>
                <a:r>
                  <a:rPr lang="en-US" sz="1600" dirty="0"/>
                  <a:t>(at </a:t>
                </a:r>
                <a:r>
                  <a:rPr lang="en-US" sz="1600" i="1" dirty="0"/>
                  <a:t>T</a:t>
                </a:r>
                <a:r>
                  <a:rPr lang="en-US" sz="1600" dirty="0"/>
                  <a:t> = 613 K)</a:t>
                </a: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Substantial presence of both reactants and products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2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3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   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K</a:t>
                </a:r>
                <a:r>
                  <a:rPr lang="en-US" sz="2000" dirty="0">
                    <a:solidFill>
                      <a:srgbClr val="FFC000"/>
                    </a:solidFill>
                  </a:rPr>
                  <a:t> = 5.9 × 10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55</a:t>
                </a:r>
                <a:r>
                  <a:rPr lang="en-US" sz="2000" dirty="0">
                    <a:solidFill>
                      <a:srgbClr val="FFC000"/>
                    </a:solidFill>
                  </a:rPr>
                  <a:t>  </a:t>
                </a:r>
                <a:r>
                  <a:rPr lang="en-US" sz="1600" dirty="0"/>
                  <a:t>(at </a:t>
                </a:r>
                <a:r>
                  <a:rPr lang="en-US" sz="1600" i="1" dirty="0"/>
                  <a:t>T</a:t>
                </a:r>
                <a:r>
                  <a:rPr lang="en-US" sz="1600" dirty="0"/>
                  <a:t> = 298 K)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Favors products, forward reaction to completion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43C2CD-B4BB-F4D5-041A-37C97BCF21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  <a:blipFill>
                <a:blip r:embed="rId2"/>
                <a:stretch>
                  <a:fillRect l="-799" t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E3A6F-4E2F-07A7-DF28-4BBA3DF7C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1655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B9B5-6008-22EB-EBC5-6D89A017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F83D30-C6F7-8DF3-A502-E9675866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2450"/>
            <a:ext cx="8421512" cy="707886"/>
          </a:xfrm>
        </p:spPr>
        <p:txBody>
          <a:bodyPr/>
          <a:lstStyle/>
          <a:p>
            <a:r>
              <a:rPr lang="en-US" sz="4000" dirty="0"/>
              <a:t>Practice: Temperature and </a:t>
            </a:r>
            <a:r>
              <a:rPr lang="en-US" sz="4000" i="1" dirty="0"/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D9FB8EB-14BD-B6CE-3F0D-211A5056B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At which temperature would you expect to find highest proportion of H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 and N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 at equilibrium? The balanced chemical equation is: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3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N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NH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equilibrium constants for this are shown at the different temperatures:</a:t>
                </a:r>
              </a:p>
              <a:p>
                <a:r>
                  <a:rPr lang="en-US" i="1" dirty="0">
                    <a:solidFill>
                      <a:srgbClr val="FFC000"/>
                    </a:solidFill>
                  </a:rPr>
                  <a:t>K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25°C</a:t>
                </a:r>
                <a:r>
                  <a:rPr lang="en-US" dirty="0">
                    <a:solidFill>
                      <a:srgbClr val="FFC000"/>
                    </a:solidFill>
                  </a:rPr>
                  <a:t> = 3.3 × 10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8</a:t>
                </a:r>
              </a:p>
              <a:p>
                <a:r>
                  <a:rPr lang="en-US" i="1" dirty="0">
                    <a:solidFill>
                      <a:srgbClr val="FFC000"/>
                    </a:solidFill>
                  </a:rPr>
                  <a:t>K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177°C</a:t>
                </a:r>
                <a:r>
                  <a:rPr lang="en-US" dirty="0">
                    <a:solidFill>
                      <a:srgbClr val="FFC000"/>
                    </a:solidFill>
                  </a:rPr>
                  <a:t> = 2.6 × 10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3</a:t>
                </a:r>
              </a:p>
              <a:p>
                <a:r>
                  <a:rPr lang="en-US" i="1" dirty="0">
                    <a:solidFill>
                      <a:srgbClr val="FFC000"/>
                    </a:solidFill>
                  </a:rPr>
                  <a:t>K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327°C</a:t>
                </a:r>
                <a:r>
                  <a:rPr lang="en-US" dirty="0">
                    <a:solidFill>
                      <a:srgbClr val="FFC000"/>
                    </a:solidFill>
                  </a:rPr>
                  <a:t> = 4.1</a:t>
                </a:r>
                <a:endParaRPr lang="en-US" baseline="300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FFFF00"/>
                    </a:solidFill>
                  </a:rPr>
                  <a:t>The question asks under what conditions the reactants would be favored and product formation is less favored. To favor reactants, </a:t>
                </a:r>
                <a:r>
                  <a:rPr lang="en-US" sz="2200" i="1" dirty="0">
                    <a:solidFill>
                      <a:srgbClr val="FFFF00"/>
                    </a:solidFill>
                  </a:rPr>
                  <a:t>K</a:t>
                </a:r>
                <a:r>
                  <a:rPr lang="en-US" sz="2200" dirty="0">
                    <a:solidFill>
                      <a:srgbClr val="FFFF00"/>
                    </a:solidFill>
                  </a:rPr>
                  <a:t> should decrease. From the series of </a:t>
                </a:r>
                <a:r>
                  <a:rPr lang="en-US" sz="2200" i="1" dirty="0">
                    <a:solidFill>
                      <a:srgbClr val="FFFF00"/>
                    </a:solidFill>
                  </a:rPr>
                  <a:t>K</a:t>
                </a:r>
                <a:r>
                  <a:rPr lang="en-US" sz="2200" dirty="0">
                    <a:solidFill>
                      <a:srgbClr val="FFFF00"/>
                    </a:solidFill>
                  </a:rPr>
                  <a:t> values, it is clear that as the temperature goes higher, </a:t>
                </a:r>
                <a:r>
                  <a:rPr lang="en-US" sz="2200" i="1" dirty="0">
                    <a:solidFill>
                      <a:srgbClr val="FFFF00"/>
                    </a:solidFill>
                  </a:rPr>
                  <a:t>K</a:t>
                </a:r>
                <a:r>
                  <a:rPr lang="en-US" sz="2200" dirty="0">
                    <a:solidFill>
                      <a:srgbClr val="FFFF00"/>
                    </a:solidFill>
                  </a:rPr>
                  <a:t> decreases. So a higher temperature would favor reactants. A temperature of 327°C is best.</a:t>
                </a:r>
              </a:p>
              <a:p>
                <a:endParaRPr lang="en-US" sz="1600" baseline="30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D9FB8EB-14BD-B6CE-3F0D-211A5056B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  <a:blipFill>
                <a:blip r:embed="rId2"/>
                <a:stretch>
                  <a:fillRect l="-1090" t="-668" r="-727" b="-1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6191E7-605B-9785-0978-AAC7AE6EA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312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BDC5-32F9-5417-AF7B-272020AC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251C46-167F-9025-04E9-90AA9821F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2450"/>
            <a:ext cx="8421512" cy="707886"/>
          </a:xfrm>
        </p:spPr>
        <p:txBody>
          <a:bodyPr/>
          <a:lstStyle/>
          <a:p>
            <a:r>
              <a:rPr lang="en-US" sz="4000" dirty="0"/>
              <a:t>Practice: Calculating </a:t>
            </a:r>
            <a:r>
              <a:rPr lang="en-US" sz="4000" i="1" dirty="0"/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6A7771B-2BCD-1771-ADF5-1DB12A9A1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Given the following reaction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NO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NO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The following concentrations were found at equilibrium: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[SO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] = 1.20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M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[NO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] = 0.60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M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[NO] = 1.6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M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[SO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] = 2.2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M</a:t>
                </a:r>
              </a:p>
              <a:p>
                <a:r>
                  <a:rPr lang="en-US" sz="2000" dirty="0"/>
                  <a:t>Calculate the value of </a:t>
                </a:r>
                <a:r>
                  <a:rPr lang="en-US" sz="2000" i="1" dirty="0"/>
                  <a:t>K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FF00"/>
                    </a:solidFill>
                  </a:rPr>
                  <a:t>To calculate, you first have to set up the equilibrium constant expression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SO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SO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en-US" sz="20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FF00"/>
                    </a:solidFill>
                  </a:rPr>
                  <a:t>Then substitute the values and solve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0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(2.2)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(1.6)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(1.20)(0.60)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=4.9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6A7771B-2BCD-1771-ADF5-1DB12A9A1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  <a:blipFill>
                <a:blip r:embed="rId2"/>
                <a:stretch>
                  <a:fillRect l="-799" t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DA3BDF-50A7-2481-C95B-975FBF23D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29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529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7DE94-D573-895A-A37D-AE829F60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013EE7-062D-5B55-7DC3-492A20BA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72450"/>
            <a:ext cx="8421512" cy="707886"/>
          </a:xfrm>
        </p:spPr>
        <p:txBody>
          <a:bodyPr/>
          <a:lstStyle/>
          <a:p>
            <a:r>
              <a:rPr lang="en-US" sz="4000" dirty="0"/>
              <a:t>Practice: Calculating </a:t>
            </a:r>
            <a:r>
              <a:rPr lang="en-US" sz="4000" i="1" dirty="0"/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465D287-A6A7-FAE2-6BCB-E5F27E4ED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Given the following reaction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2 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The following concentrations were found at equilibrium: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[SO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] = 0.90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M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[O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] = 0.35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M</a:t>
                </a:r>
              </a:p>
              <a:p>
                <a:r>
                  <a:rPr lang="en-US" sz="2000" dirty="0">
                    <a:solidFill>
                      <a:srgbClr val="FFC000"/>
                    </a:solidFill>
                  </a:rPr>
                  <a:t>[SO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] = 1.1 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M</a:t>
                </a:r>
              </a:p>
              <a:p>
                <a:pPr marL="0" indent="0">
                  <a:buNone/>
                </a:pPr>
                <a:r>
                  <a:rPr lang="en-US" sz="2000" dirty="0"/>
                  <a:t>Calculate the value of </a:t>
                </a:r>
                <a:r>
                  <a:rPr lang="en-US" sz="2000" i="1" dirty="0"/>
                  <a:t>K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FF00"/>
                    </a:solidFill>
                  </a:rPr>
                  <a:t>To calculate, you first have to set up the equilibrium constant expression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SO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SO</m:t>
                              </m:r>
                              <m:r>
                                <a:rPr lang="en-US" sz="2000" b="0" i="0" baseline="-2500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b="0" i="0" baseline="30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sz="2000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FF00"/>
                    </a:solidFill>
                  </a:rPr>
                  <a:t>Then substitute the values and solve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0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(1.1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baseline="30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(0.90)</m:t>
                          </m:r>
                          <m:r>
                            <a:rPr lang="en-US" sz="2000" baseline="300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(0.3</m:t>
                          </m:r>
                          <m:r>
                            <a:rPr lang="en-US" sz="2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5)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~4.3</m:t>
                      </m:r>
                    </m:oMath>
                  </m:oMathPara>
                </a14:m>
                <a:endParaRPr lang="en-US" sz="2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465D287-A6A7-FAE2-6BCB-E5F27E4ED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01968"/>
                <a:ext cx="8387645" cy="5476847"/>
              </a:xfrm>
              <a:blipFill>
                <a:blip r:embed="rId2"/>
                <a:stretch>
                  <a:fillRect l="-799" t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A4CD6D-C772-B0E9-8218-84FB23D2F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055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9AE5-178A-2126-96D8-84E7F56E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0E2C9-8340-CF56-EAAB-E6082061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34005"/>
            <a:ext cx="8421512" cy="584775"/>
          </a:xfrm>
        </p:spPr>
        <p:txBody>
          <a:bodyPr/>
          <a:lstStyle/>
          <a:p>
            <a:r>
              <a:rPr lang="en-US" sz="3200" dirty="0"/>
              <a:t>Notation of Temperature on </a:t>
            </a:r>
            <a:r>
              <a:rPr lang="en-US" sz="3200" i="1" dirty="0"/>
              <a:t>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D6754B-9E1D-53D9-8488-9618B6395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01968"/>
            <a:ext cx="8387645" cy="5476847"/>
          </a:xfrm>
        </p:spPr>
        <p:txBody>
          <a:bodyPr/>
          <a:lstStyle/>
          <a:p>
            <a:r>
              <a:rPr lang="en-US" dirty="0"/>
              <a:t>It should re-emphasized that </a:t>
            </a:r>
            <a:r>
              <a:rPr lang="en-US" i="1" dirty="0"/>
              <a:t>K</a:t>
            </a:r>
            <a:r>
              <a:rPr lang="en-US" dirty="0"/>
              <a:t> is temperature-dependent</a:t>
            </a:r>
          </a:p>
          <a:p>
            <a:r>
              <a:rPr lang="en-US" dirty="0"/>
              <a:t>Because of this, </a:t>
            </a:r>
            <a:r>
              <a:rPr lang="en-US" i="1" dirty="0"/>
              <a:t>K</a:t>
            </a:r>
            <a:r>
              <a:rPr lang="en-US" dirty="0"/>
              <a:t> is often specified with a temperature that can be in Kelvin or Celsius</a:t>
            </a:r>
          </a:p>
          <a:p>
            <a:r>
              <a:rPr lang="en-US" dirty="0"/>
              <a:t>It may be specified as a subscript or in parenthesis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i="1" dirty="0"/>
              <a:t>K</a:t>
            </a:r>
            <a:r>
              <a:rPr lang="en-US" sz="2600" baseline="-25000" dirty="0"/>
              <a:t>298K</a:t>
            </a:r>
          </a:p>
          <a:p>
            <a:pPr marL="0" indent="0">
              <a:buNone/>
            </a:pPr>
            <a:r>
              <a:rPr lang="en-US" sz="2600" i="1" dirty="0"/>
              <a:t>K</a:t>
            </a:r>
            <a:r>
              <a:rPr lang="en-US" sz="2600" dirty="0"/>
              <a:t>(700K)</a:t>
            </a:r>
          </a:p>
          <a:p>
            <a:pPr marL="0" indent="0">
              <a:buNone/>
            </a:pPr>
            <a:r>
              <a:rPr lang="en-US" sz="2600" i="1" dirty="0"/>
              <a:t>K</a:t>
            </a:r>
            <a:r>
              <a:rPr lang="en-US" sz="2600" baseline="-25000" dirty="0"/>
              <a:t>25°C</a:t>
            </a:r>
          </a:p>
          <a:p>
            <a:pPr marL="0" indent="0">
              <a:buNone/>
            </a:pPr>
            <a:r>
              <a:rPr lang="en-US" sz="2600" i="1" dirty="0"/>
              <a:t>K</a:t>
            </a:r>
            <a:r>
              <a:rPr lang="en-US" sz="2600" i="1" baseline="-25000" dirty="0"/>
              <a:t>c</a:t>
            </a:r>
            <a:r>
              <a:rPr lang="en-US" sz="2600" dirty="0"/>
              <a:t>(150°C) </a:t>
            </a:r>
            <a:r>
              <a:rPr lang="en-US" dirty="0"/>
              <a:t>equilibrium of concentrations</a:t>
            </a:r>
            <a:endParaRPr lang="en-US" sz="2600" dirty="0"/>
          </a:p>
          <a:p>
            <a:pPr marL="0" indent="0">
              <a:buNone/>
            </a:pPr>
            <a:r>
              <a:rPr lang="en-US" sz="2600" i="1" dirty="0" err="1"/>
              <a:t>K</a:t>
            </a:r>
            <a:r>
              <a:rPr lang="en-US" sz="2600" i="1" baseline="-25000" dirty="0" err="1"/>
              <a:t>p</a:t>
            </a:r>
            <a:r>
              <a:rPr lang="en-US" sz="2600" dirty="0"/>
              <a:t>(500K)  </a:t>
            </a:r>
            <a:r>
              <a:rPr lang="en-US" dirty="0"/>
              <a:t>equilibrium of partial pressures of gases</a:t>
            </a:r>
            <a:endParaRPr 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B06315-88FF-9638-55B1-515991D38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9232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317A3-1F61-86C0-FB05-72F95F12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6BC485-D5BA-4879-6B9C-B1E30B4B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197585"/>
            <a:ext cx="8421512" cy="707886"/>
          </a:xfrm>
        </p:spPr>
        <p:txBody>
          <a:bodyPr/>
          <a:lstStyle/>
          <a:p>
            <a:r>
              <a:rPr lang="en-US" sz="4000" dirty="0"/>
              <a:t>Le Chatelier’s Principle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36AF9B-6EBF-EACE-C6B3-6563D681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15878"/>
            <a:ext cx="8387645" cy="5431677"/>
          </a:xfrm>
        </p:spPr>
        <p:txBody>
          <a:bodyPr/>
          <a:lstStyle/>
          <a:p>
            <a:r>
              <a:rPr lang="en-US" dirty="0"/>
              <a:t>1884: Le Chatelier reports that when a system at equilibrium is disturbed/stressed, the system will respond/adjust to restore the equilibrium</a:t>
            </a:r>
          </a:p>
          <a:p>
            <a:r>
              <a:rPr lang="en-US" dirty="0"/>
              <a:t>Stresses/disturbances include</a:t>
            </a:r>
          </a:p>
          <a:p>
            <a:pPr lvl="1"/>
            <a:r>
              <a:rPr lang="en-US" dirty="0"/>
              <a:t>Changing concentrations of reactants and/or products such as adding more or removing some of a reactant or product</a:t>
            </a:r>
          </a:p>
          <a:p>
            <a:pPr lvl="1"/>
            <a:r>
              <a:rPr lang="en-US" dirty="0"/>
              <a:t>Changing the temperature of the</a:t>
            </a:r>
            <a:br>
              <a:rPr lang="en-US" dirty="0"/>
            </a:br>
            <a:r>
              <a:rPr lang="en-US" dirty="0"/>
              <a:t>system: this changes equilibrium</a:t>
            </a:r>
            <a:br>
              <a:rPr lang="en-US" dirty="0"/>
            </a:br>
            <a:r>
              <a:rPr lang="en-US" dirty="0"/>
              <a:t>constant K</a:t>
            </a:r>
          </a:p>
          <a:p>
            <a:pPr lvl="1"/>
            <a:r>
              <a:rPr lang="en-US" dirty="0"/>
              <a:t>Changing the pressure in the system:</a:t>
            </a:r>
            <a:br>
              <a:rPr lang="en-US" dirty="0"/>
            </a:br>
            <a:r>
              <a:rPr lang="en-US" dirty="0"/>
              <a:t>this can affect partial pressures of</a:t>
            </a:r>
            <a:br>
              <a:rPr lang="en-US" dirty="0"/>
            </a:br>
            <a:r>
              <a:rPr lang="en-US" dirty="0"/>
              <a:t>gases that are reactants and/or</a:t>
            </a:r>
            <a:br>
              <a:rPr lang="en-US" dirty="0"/>
            </a:br>
            <a:r>
              <a:rPr lang="en-US" dirty="0"/>
              <a:t>products. It can also effect the</a:t>
            </a:r>
            <a:br>
              <a:rPr lang="en-US" dirty="0"/>
            </a:br>
            <a:r>
              <a:rPr lang="en-US" dirty="0"/>
              <a:t>enthalpy </a:t>
            </a:r>
            <a:r>
              <a:rPr lang="en-US" dirty="0">
                <a:latin typeface="Symbol" panose="05050102010706020507" pitchFamily="18" charset="2"/>
              </a:rPr>
              <a:t>D</a:t>
            </a:r>
            <a:r>
              <a:rPr lang="en-US" i="1" dirty="0"/>
              <a:t>H</a:t>
            </a:r>
            <a:r>
              <a:rPr lang="en-US" dirty="0"/>
              <a:t> that controls the</a:t>
            </a:r>
            <a:br>
              <a:rPr lang="en-US" dirty="0"/>
            </a:br>
            <a:r>
              <a:rPr lang="en-US" dirty="0"/>
              <a:t>PE vs reaction progress plot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A5406D-8CDF-A01F-60B9-EC06B49A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810" y="3429000"/>
            <a:ext cx="2829012" cy="293599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2FBDC-15E4-2BE2-474A-51DD9941B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53418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9750-E71A-8C4B-721C-114E20C5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2B1180-841C-F8B8-A154-A2168415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6429"/>
            <a:ext cx="8421512" cy="707886"/>
          </a:xfrm>
        </p:spPr>
        <p:txBody>
          <a:bodyPr/>
          <a:lstStyle/>
          <a:p>
            <a:r>
              <a:rPr lang="en-US" sz="4000" dirty="0"/>
              <a:t>Concentration “Stress”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026967-6BFF-F672-8F04-3DB1FD510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84881"/>
                <a:ext cx="8387645" cy="54626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Effective illustration is production of ammonia by Haber-Bosch process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N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+ 3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2 NH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</a:t>
                </a:r>
              </a:p>
              <a:p>
                <a:r>
                  <a:rPr lang="en-US" dirty="0"/>
                  <a:t>If more N</a:t>
                </a:r>
                <a:r>
                  <a:rPr lang="en-US" baseline="-25000" dirty="0"/>
                  <a:t>2</a:t>
                </a:r>
                <a:r>
                  <a:rPr lang="en-US" dirty="0"/>
                  <a:t> added, forward reaction favored</a:t>
                </a:r>
              </a:p>
              <a:p>
                <a:r>
                  <a:rPr lang="en-US" dirty="0"/>
                  <a:t>More product is formed, and the other reactant H2 is additionally consumed (see plot)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026967-6BFF-F672-8F04-3DB1FD510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84881"/>
                <a:ext cx="8387645" cy="5462675"/>
              </a:xfrm>
              <a:blipFill>
                <a:blip r:embed="rId2"/>
                <a:stretch>
                  <a:fillRect l="-1090" t="-893" r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75ADAE2-A36F-C97F-7A79-0623C345A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750" y="3572132"/>
            <a:ext cx="4309578" cy="30294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7AEAF9-1A52-2623-550C-3E45E0D11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6334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DDFD-14A7-EEF6-BCA2-A5EDF087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3B325A-5B33-1BCF-1392-ED8C2F4E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Concentration “Stress”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6E2A67-748B-FC2D-11E2-6A7529F5E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92632"/>
                <a:ext cx="8387645" cy="545492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This principle makes it possibly to predict the shift of the reaction—forward or reverse—occurs to make an adjustment to restore equilibrium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Predict what happens with the </a:t>
                </a:r>
                <a:r>
                  <a:rPr lang="en-US" sz="2000" dirty="0">
                    <a:solidFill>
                      <a:srgbClr val="FFC000"/>
                    </a:solidFill>
                  </a:rPr>
                  <a:t>N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+ 3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NH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/>
                  <a:t> </a:t>
                </a:r>
              </a:p>
              <a:p>
                <a:r>
                  <a:rPr lang="en-US" sz="2000" dirty="0">
                    <a:solidFill>
                      <a:srgbClr val="FFFF00"/>
                    </a:solidFill>
                  </a:rPr>
                  <a:t>H</a:t>
                </a:r>
                <a:r>
                  <a:rPr lang="en-US" sz="2000" baseline="-25000" dirty="0">
                    <a:solidFill>
                      <a:srgbClr val="FFFF00"/>
                    </a:solidFill>
                  </a:rPr>
                  <a:t>2</a:t>
                </a:r>
                <a:r>
                  <a:rPr lang="en-US" sz="2000" dirty="0">
                    <a:solidFill>
                      <a:srgbClr val="FFFF00"/>
                    </a:solidFill>
                  </a:rPr>
                  <a:t> is added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More H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 reactant, shift to right to products (forward reaction)</a:t>
                </a:r>
              </a:p>
              <a:p>
                <a:r>
                  <a:rPr lang="en-US" sz="2000" dirty="0">
                    <a:solidFill>
                      <a:srgbClr val="FFFF00"/>
                    </a:solidFill>
                  </a:rPr>
                  <a:t>NH</a:t>
                </a:r>
                <a:r>
                  <a:rPr lang="en-US" sz="2000" baseline="-25000" dirty="0">
                    <a:solidFill>
                      <a:srgbClr val="FFFF00"/>
                    </a:solidFill>
                  </a:rPr>
                  <a:t>3</a:t>
                </a:r>
                <a:r>
                  <a:rPr lang="en-US" sz="2000" dirty="0">
                    <a:solidFill>
                      <a:srgbClr val="FFFF00"/>
                    </a:solidFill>
                  </a:rPr>
                  <a:t> is added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More NH</a:t>
                </a:r>
                <a:r>
                  <a:rPr lang="en-US" sz="2000" baseline="-25000" dirty="0"/>
                  <a:t>3</a:t>
                </a:r>
                <a:r>
                  <a:rPr lang="en-US" sz="2000" dirty="0"/>
                  <a:t> product, shift to left to reactants (reverse reaction)</a:t>
                </a:r>
              </a:p>
              <a:p>
                <a:r>
                  <a:rPr lang="en-US" sz="2000" dirty="0">
                    <a:solidFill>
                      <a:srgbClr val="FFFF00"/>
                    </a:solidFill>
                  </a:rPr>
                  <a:t>NH</a:t>
                </a:r>
                <a:r>
                  <a:rPr lang="en-US" sz="2000" baseline="-25000" dirty="0">
                    <a:solidFill>
                      <a:srgbClr val="FFFF00"/>
                    </a:solidFill>
                  </a:rPr>
                  <a:t>3</a:t>
                </a:r>
                <a:r>
                  <a:rPr lang="en-US" sz="2000" dirty="0">
                    <a:solidFill>
                      <a:srgbClr val="FFFF00"/>
                    </a:solidFill>
                  </a:rPr>
                  <a:t> is removed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Less NH</a:t>
                </a:r>
                <a:r>
                  <a:rPr lang="en-US" sz="2000" baseline="-25000" dirty="0"/>
                  <a:t>3</a:t>
                </a:r>
                <a:r>
                  <a:rPr lang="en-US" sz="2000" dirty="0"/>
                  <a:t> product, shift to right to products (forward reaction)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6E2A67-748B-FC2D-11E2-6A7529F5E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92632"/>
                <a:ext cx="8387645" cy="5454924"/>
              </a:xfrm>
              <a:blipFill>
                <a:blip r:embed="rId2"/>
                <a:stretch>
                  <a:fillRect l="-799" t="-559" r="-1017" b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93A3E75-F508-1E54-15DC-69D001E63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016" y="2101690"/>
            <a:ext cx="5436678" cy="17184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11D5C-49B3-982A-54ED-E59858CF9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920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CFEE-3938-671E-8DB7-4F4F3FEA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21E99F-ABA2-0A30-02F2-97FCDD6F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Concentration “Stress”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4E5A8C-B76A-6051-0889-9E275A3F46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92632"/>
                <a:ext cx="8387645" cy="545492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Predict what happens with the following reaction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CO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+ Br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 </a:t>
                </a:r>
                <a:r>
                  <a:rPr lang="en-US" dirty="0">
                    <a:solidFill>
                      <a:srgbClr val="FFC000"/>
                    </a:solidFill>
                  </a:rPr>
                  <a:t>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COBr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 </a:t>
                </a:r>
                <a:r>
                  <a:rPr lang="en-US" dirty="0">
                    <a:solidFill>
                      <a:srgbClr val="FFC000"/>
                    </a:solidFill>
                  </a:rPr>
                  <a:t>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</a:t>
                </a:r>
                <a:r>
                  <a:rPr lang="en-US" dirty="0"/>
                  <a:t> </a:t>
                </a:r>
              </a:p>
              <a:p>
                <a:r>
                  <a:rPr lang="en-US" dirty="0">
                    <a:solidFill>
                      <a:srgbClr val="FFFF00"/>
                    </a:solidFill>
                  </a:rPr>
                  <a:t>Br</a:t>
                </a:r>
                <a:r>
                  <a:rPr lang="en-US" baseline="-25000" dirty="0">
                    <a:solidFill>
                      <a:srgbClr val="FFFF00"/>
                    </a:solidFill>
                  </a:rPr>
                  <a:t>2</a:t>
                </a:r>
                <a:r>
                  <a:rPr lang="en-US" dirty="0">
                    <a:solidFill>
                      <a:srgbClr val="FFFF00"/>
                    </a:solidFill>
                  </a:rPr>
                  <a:t> is removed</a:t>
                </a:r>
              </a:p>
              <a:p>
                <a:pPr marL="0" indent="0" algn="ctr">
                  <a:buNone/>
                </a:pPr>
                <a:r>
                  <a:rPr lang="en-US" dirty="0"/>
                  <a:t>Less Br</a:t>
                </a:r>
                <a:r>
                  <a:rPr lang="en-US" baseline="-25000" dirty="0"/>
                  <a:t>2</a:t>
                </a:r>
                <a:r>
                  <a:rPr lang="en-US" dirty="0"/>
                  <a:t> reactant,</a:t>
                </a:r>
                <a:br>
                  <a:rPr lang="en-US" dirty="0"/>
                </a:br>
                <a:r>
                  <a:rPr lang="en-US" dirty="0"/>
                  <a:t>shift to left to reactants (reverse reaction)</a:t>
                </a:r>
              </a:p>
              <a:p>
                <a:r>
                  <a:rPr lang="en-US" dirty="0">
                    <a:solidFill>
                      <a:srgbClr val="FFFF00"/>
                    </a:solidFill>
                  </a:rPr>
                  <a:t>COBr</a:t>
                </a:r>
                <a:r>
                  <a:rPr lang="en-US" baseline="-25000" dirty="0">
                    <a:solidFill>
                      <a:srgbClr val="FFFF00"/>
                    </a:solidFill>
                  </a:rPr>
                  <a:t>2</a:t>
                </a:r>
                <a:r>
                  <a:rPr lang="en-US" dirty="0">
                    <a:solidFill>
                      <a:srgbClr val="FFFF00"/>
                    </a:solidFill>
                  </a:rPr>
                  <a:t> is added</a:t>
                </a:r>
              </a:p>
              <a:p>
                <a:pPr marL="0" indent="0" algn="ctr">
                  <a:buNone/>
                </a:pPr>
                <a:r>
                  <a:rPr lang="en-US" dirty="0"/>
                  <a:t>More CoBr</a:t>
                </a:r>
                <a:r>
                  <a:rPr lang="en-US" baseline="-25000" dirty="0"/>
                  <a:t>2</a:t>
                </a:r>
                <a:r>
                  <a:rPr lang="en-US" dirty="0"/>
                  <a:t> product,</a:t>
                </a:r>
                <a:br>
                  <a:rPr lang="en-US" dirty="0"/>
                </a:br>
                <a:r>
                  <a:rPr lang="en-US" dirty="0"/>
                  <a:t>also shift to left to reactants (reverse reaction)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4E5A8C-B76A-6051-0889-9E275A3F4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92632"/>
                <a:ext cx="8387645" cy="5454924"/>
              </a:xfrm>
              <a:blipFill>
                <a:blip r:embed="rId2"/>
                <a:stretch>
                  <a:fillRect l="-1090" t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CEADDF-865A-53A9-91EC-3C9DEF501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4002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D2DA4-6CCE-E15E-8158-BEAE2BBE6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9A8F0-CC2F-65DF-B03F-E7B0CFA1E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27492"/>
            <a:ext cx="8421512" cy="707886"/>
          </a:xfrm>
        </p:spPr>
        <p:txBody>
          <a:bodyPr/>
          <a:lstStyle/>
          <a:p>
            <a:r>
              <a:rPr lang="en-US" sz="4000" dirty="0"/>
              <a:t>Temperature “Stress”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CC37F21-C4FF-2116-B244-2F97B63A82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00126"/>
                <a:ext cx="8387645" cy="5547430"/>
              </a:xfrm>
            </p:spPr>
            <p:txBody>
              <a:bodyPr/>
              <a:lstStyle/>
              <a:p>
                <a:r>
                  <a:rPr lang="en-US" dirty="0"/>
                  <a:t>Returning to the ammonia production, 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thermochemical equation </a:t>
                </a:r>
                <a:r>
                  <a:rPr lang="en-US" dirty="0"/>
                  <a:t>is shown</a:t>
                </a:r>
              </a:p>
              <a:p>
                <a:pPr lvl="1"/>
                <a:r>
                  <a:rPr lang="en-US" dirty="0"/>
                  <a:t>recall it includes a positive or negative energy value: if positive, heat is released (exothermic), if negative, heat/energy is required (endothermic)</a:t>
                </a:r>
              </a:p>
              <a:p>
                <a:pPr lvl="1"/>
                <a:r>
                  <a:rPr lang="en-US" dirty="0"/>
                  <a:t>The forward reaction is positive so heat released</a:t>
                </a:r>
              </a:p>
              <a:p>
                <a:pPr lvl="1"/>
                <a:r>
                  <a:rPr lang="en-US" dirty="0"/>
                  <a:t>The reverse reaction therefore requires energy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N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+ 3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2 NH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+ 91 kJ</a:t>
                </a:r>
              </a:p>
              <a:p>
                <a:pPr marL="0" indent="0">
                  <a:buNone/>
                </a:pPr>
                <a:r>
                  <a:rPr lang="en-US" dirty="0"/>
                  <a:t>What effect temperature?</a:t>
                </a:r>
              </a:p>
              <a:p>
                <a:r>
                  <a:rPr lang="en-US" dirty="0"/>
                  <a:t>Reducing temperature has effect of removing energy/heat, which favors products</a:t>
                </a:r>
              </a:p>
              <a:p>
                <a:r>
                  <a:rPr lang="en-US" dirty="0"/>
                  <a:t>Adding heat (raising temperature) would favor going in reverse reaction, forming reactants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CC37F21-C4FF-2116-B244-2F97B63A8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00126"/>
                <a:ext cx="8387645" cy="5547430"/>
              </a:xfrm>
              <a:blipFill>
                <a:blip r:embed="rId2"/>
                <a:stretch>
                  <a:fillRect l="-1090" t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212A16-2B94-A375-82A6-D850AF9BA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93318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05223-7C08-5B3B-C86C-ED0D90ABB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1E0269-FCD8-62C4-5CC3-D61865D4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27492"/>
            <a:ext cx="8421512" cy="707886"/>
          </a:xfrm>
        </p:spPr>
        <p:txBody>
          <a:bodyPr/>
          <a:lstStyle/>
          <a:p>
            <a:r>
              <a:rPr lang="en-US" sz="4000" dirty="0"/>
              <a:t>Temperature “Stress”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9821D6-0A6C-BC24-3971-7ADA79182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00126"/>
            <a:ext cx="8387645" cy="5547430"/>
          </a:xfrm>
        </p:spPr>
        <p:txBody>
          <a:bodyPr/>
          <a:lstStyle/>
          <a:p>
            <a:r>
              <a:rPr lang="en-US" dirty="0"/>
              <a:t>Raising temperature has effect of favoring the direction of the reaction that requires heat/energy to form the compounds</a:t>
            </a:r>
          </a:p>
          <a:p>
            <a:r>
              <a:rPr lang="en-US" dirty="0"/>
              <a:t>If the direction of a reaction is endothermic (requires heat/energy), raising temperature pushes the reaction in the endothermic direction</a:t>
            </a:r>
          </a:p>
          <a:p>
            <a:r>
              <a:rPr lang="en-US" dirty="0"/>
              <a:t>The logic applies that if a reaction is exothermic (releases heat/energy), then lowering temperature should favor the reaction towards the exothermic direction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FE6ACB-0C43-E7EC-97E7-D04CC642F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33562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9B17-9F16-A702-5554-8D9F91833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3D0598-C621-84DA-7608-6AA50875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27492"/>
            <a:ext cx="8421512" cy="707886"/>
          </a:xfrm>
        </p:spPr>
        <p:txBody>
          <a:bodyPr/>
          <a:lstStyle/>
          <a:p>
            <a:r>
              <a:rPr lang="en-US" sz="4000" dirty="0"/>
              <a:t>Practice: Temperature “Stress”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2D3293-9843-0DD6-43B2-66BCEE9FED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00126"/>
                <a:ext cx="8387645" cy="5547430"/>
              </a:xfrm>
            </p:spPr>
            <p:txBody>
              <a:bodyPr/>
              <a:lstStyle/>
              <a:p>
                <a:r>
                  <a:rPr lang="en-US" dirty="0"/>
                  <a:t>Predict the effect to increasing temperature: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PCl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</a:rPr>
                  <a:t> + Cl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PCl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5</a:t>
                </a:r>
                <a:r>
                  <a:rPr lang="en-US" dirty="0">
                    <a:solidFill>
                      <a:srgbClr val="FFC000"/>
                    </a:solidFill>
                  </a:rPr>
                  <a:t> + 60 kJ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FF00"/>
                    </a:solidFill>
                  </a:rPr>
                  <a:t>The reaction is exothermic, release heat/energy. Lowering temperature would promote the forward reaction. Increasing temperature would provide energy to promote the reverse reaction: so the reverse reaction is favored</a:t>
                </a:r>
              </a:p>
              <a:p>
                <a:r>
                  <a:rPr lang="en-US" dirty="0"/>
                  <a:t>Predict the effect to decreasing temperature: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N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dirty="0">
                    <a:solidFill>
                      <a:srgbClr val="FFC000"/>
                    </a:solidFill>
                  </a:rPr>
                  <a:t> + 57 kJ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2 NO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endParaRPr lang="en-US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FF00"/>
                    </a:solidFill>
                  </a:rPr>
                  <a:t>The reaction is endothermic, release heat/energy. Lowering temperature would promote the reverse reaction since the heat/energy is taken away. Increasing temperature would provide energy to promote the forward reaction: so the reverse reaction is favored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2D3293-9843-0DD6-43B2-66BCEE9FE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00126"/>
                <a:ext cx="8387645" cy="5547430"/>
              </a:xfrm>
              <a:blipFill>
                <a:blip r:embed="rId2"/>
                <a:stretch>
                  <a:fillRect l="-1090" t="-879" r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6755DC-F6AD-41F2-764D-CCDDDC6D1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4730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BCF6C-5794-23C8-4F4D-2FE85204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E9451B-68C1-411C-4B51-995AECE0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94891"/>
            <a:ext cx="8421512" cy="707886"/>
          </a:xfrm>
        </p:spPr>
        <p:txBody>
          <a:bodyPr/>
          <a:lstStyle/>
          <a:p>
            <a:r>
              <a:rPr lang="en-US" sz="4000" dirty="0"/>
              <a:t>Pressure “Stress”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A490132-7D3C-F990-13A1-025FC8DD2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80000"/>
                <a:ext cx="8387645" cy="5467555"/>
              </a:xfrm>
            </p:spPr>
            <p:txBody>
              <a:bodyPr/>
              <a:lstStyle/>
              <a:p>
                <a:r>
                  <a:rPr lang="en-US" sz="2200" dirty="0"/>
                  <a:t>When the reactants and products are gases, changes in the partial pressure of any component of the system would require restoration of the equilibrium</a:t>
                </a:r>
              </a:p>
              <a:p>
                <a:pPr marL="231775" lvl="1" indent="0">
                  <a:buNone/>
                </a:pPr>
                <a:r>
                  <a:rPr lang="en-US" sz="1800" dirty="0"/>
                  <a:t>This would not be true for solids and liquids</a:t>
                </a:r>
              </a:p>
              <a:p>
                <a:r>
                  <a:rPr lang="en-US" sz="2000" dirty="0"/>
                  <a:t>A in figure shows system at equilibrium</a:t>
                </a:r>
              </a:p>
              <a:p>
                <a:r>
                  <a:rPr lang="en-US" sz="2000" dirty="0"/>
                  <a:t>In B, pressure is increased (out of equilibrium)</a:t>
                </a:r>
              </a:p>
              <a:p>
                <a:r>
                  <a:rPr lang="en-US" sz="2000" dirty="0"/>
                  <a:t>In C, equilibrium restored</a:t>
                </a:r>
              </a:p>
              <a:p>
                <a:pPr marL="0" indent="0">
                  <a:buNone/>
                </a:pPr>
                <a:r>
                  <a:rPr lang="en-US" sz="2200" dirty="0"/>
                  <a:t>What happened?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N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+ 3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2 NH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FF00"/>
                    </a:solidFill>
                  </a:rPr>
                  <a:t>With increased pressure,</a:t>
                </a:r>
                <a:br>
                  <a:rPr lang="en-US" sz="2000" dirty="0">
                    <a:solidFill>
                      <a:srgbClr val="FFFF00"/>
                    </a:solidFill>
                  </a:rPr>
                </a:br>
                <a:r>
                  <a:rPr lang="en-US" sz="2000" dirty="0">
                    <a:solidFill>
                      <a:srgbClr val="FFFF00"/>
                    </a:solidFill>
                  </a:rPr>
                  <a:t>whichever side has fewer</a:t>
                </a:r>
                <a:br>
                  <a:rPr lang="en-US" sz="2000" dirty="0">
                    <a:solidFill>
                      <a:srgbClr val="FFFF00"/>
                    </a:solidFill>
                  </a:rPr>
                </a:br>
                <a:r>
                  <a:rPr lang="en-US" sz="2000" dirty="0">
                    <a:solidFill>
                      <a:srgbClr val="FFFF00"/>
                    </a:solidFill>
                  </a:rPr>
                  <a:t>moles of all gases will be</a:t>
                </a:r>
                <a:br>
                  <a:rPr lang="en-US" sz="2000" dirty="0">
                    <a:solidFill>
                      <a:srgbClr val="FFFF00"/>
                    </a:solidFill>
                  </a:rPr>
                </a:br>
                <a:r>
                  <a:rPr lang="en-US" sz="2000" dirty="0">
                    <a:solidFill>
                      <a:srgbClr val="FFFF00"/>
                    </a:solidFill>
                  </a:rPr>
                  <a:t>favored. 4 moles of gas on</a:t>
                </a:r>
                <a:br>
                  <a:rPr lang="en-US" sz="2000" dirty="0">
                    <a:solidFill>
                      <a:srgbClr val="FFFF00"/>
                    </a:solidFill>
                  </a:rPr>
                </a:br>
                <a:r>
                  <a:rPr lang="en-US" sz="2000" dirty="0">
                    <a:solidFill>
                      <a:srgbClr val="FFFF00"/>
                    </a:solidFill>
                  </a:rPr>
                  <a:t>reactants form 2 moles of</a:t>
                </a:r>
                <a:br>
                  <a:rPr lang="en-US" sz="2000" dirty="0">
                    <a:solidFill>
                      <a:srgbClr val="FFFF00"/>
                    </a:solidFill>
                  </a:rPr>
                </a:br>
                <a:r>
                  <a:rPr lang="en-US" sz="2000" dirty="0">
                    <a:solidFill>
                      <a:srgbClr val="FFFF00"/>
                    </a:solidFill>
                  </a:rPr>
                  <a:t>gas in products, so higher</a:t>
                </a:r>
                <a:br>
                  <a:rPr lang="en-US" sz="2000" dirty="0">
                    <a:solidFill>
                      <a:srgbClr val="FFFF00"/>
                    </a:solidFill>
                  </a:rPr>
                </a:br>
                <a:r>
                  <a:rPr lang="en-US" sz="2000" dirty="0">
                    <a:solidFill>
                      <a:srgbClr val="FFFF00"/>
                    </a:solidFill>
                  </a:rPr>
                  <a:t>pressure pushes to 2 moles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A490132-7D3C-F990-13A1-025FC8DD2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80000"/>
                <a:ext cx="8387645" cy="5467555"/>
              </a:xfrm>
              <a:blipFill>
                <a:blip r:embed="rId2"/>
                <a:stretch>
                  <a:fillRect l="-945" t="-780" r="-1163" b="-2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46FF318-E1F5-63F8-D899-CD14767A9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619" y="3429000"/>
            <a:ext cx="4376137" cy="311855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CE155-ED0F-633F-BBEB-E1BD2FDD0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39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708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3437-97B8-549C-ABB7-A28FD87B3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92DA08-8F52-9843-EB17-D0263E22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58891"/>
            <a:ext cx="8421512" cy="707886"/>
          </a:xfrm>
        </p:spPr>
        <p:txBody>
          <a:bodyPr/>
          <a:lstStyle/>
          <a:p>
            <a:r>
              <a:rPr lang="en-US" sz="4000" dirty="0"/>
              <a:t>Practice: Pressure “Stress”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ECA76D9-EA4B-3A0C-B350-3D5FDDBD9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966778"/>
                <a:ext cx="8387645" cy="5580778"/>
              </a:xfrm>
            </p:spPr>
            <p:txBody>
              <a:bodyPr/>
              <a:lstStyle/>
              <a:p>
                <a:endParaRPr lang="en-US" sz="2200" dirty="0"/>
              </a:p>
              <a:p>
                <a:endParaRPr lang="en-US" sz="2200" dirty="0"/>
              </a:p>
              <a:p>
                <a:endParaRPr lang="en-US" sz="2200" dirty="0"/>
              </a:p>
              <a:p>
                <a:endParaRPr lang="en-US" sz="2000" dirty="0"/>
              </a:p>
              <a:p>
                <a:r>
                  <a:rPr lang="en-US" sz="1600" dirty="0"/>
                  <a:t>Predict what happens with pressure changes in this reaction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</a:rPr>
                  <a:t>CaCO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s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800" dirty="0">
                    <a:solidFill>
                      <a:srgbClr val="FFC000"/>
                    </a:solidFill>
                  </a:rPr>
                  <a:t> CaO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s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+ O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FFFF00"/>
                    </a:solidFill>
                  </a:rPr>
                  <a:t>O</a:t>
                </a:r>
                <a:r>
                  <a:rPr lang="en-US" sz="1800" baseline="-25000" dirty="0">
                    <a:solidFill>
                      <a:srgbClr val="FFFF00"/>
                    </a:solidFill>
                  </a:rPr>
                  <a:t>2</a:t>
                </a:r>
                <a:r>
                  <a:rPr lang="en-US" sz="1800" dirty="0">
                    <a:solidFill>
                      <a:srgbClr val="FFFF00"/>
                    </a:solidFill>
                  </a:rPr>
                  <a:t> is the only gas in the reaction. So increasing pressure should favor side with fewer moles of gas, in this case, the reactants side, which has no gas actually!</a:t>
                </a:r>
              </a:p>
              <a:p>
                <a:r>
                  <a:rPr lang="en-US" sz="1600" dirty="0"/>
                  <a:t>Predict what happens with pressure changes in this reaction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</a:rPr>
                  <a:t>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(g) + Cl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800" dirty="0">
                    <a:solidFill>
                      <a:srgbClr val="FFC000"/>
                    </a:solidFill>
                  </a:rPr>
                  <a:t> 2 HCl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FFFF00"/>
                    </a:solidFill>
                  </a:rPr>
                  <a:t>The reactants show two moles of gas (one each of H</a:t>
                </a:r>
                <a:r>
                  <a:rPr lang="en-US" sz="1800" baseline="-25000" dirty="0">
                    <a:solidFill>
                      <a:srgbClr val="FFFF00"/>
                    </a:solidFill>
                  </a:rPr>
                  <a:t>2</a:t>
                </a:r>
                <a:r>
                  <a:rPr lang="en-US" sz="1800" dirty="0">
                    <a:solidFill>
                      <a:srgbClr val="FFFF00"/>
                    </a:solidFill>
                  </a:rPr>
                  <a:t> and Cl</a:t>
                </a:r>
                <a:r>
                  <a:rPr lang="en-US" sz="1800" baseline="-25000" dirty="0">
                    <a:solidFill>
                      <a:srgbClr val="FFFF00"/>
                    </a:solidFill>
                  </a:rPr>
                  <a:t>2</a:t>
                </a:r>
                <a:r>
                  <a:rPr lang="en-US" sz="1800" dirty="0">
                    <a:solidFill>
                      <a:srgbClr val="FFFF00"/>
                    </a:solidFill>
                  </a:rPr>
                  <a:t>). The products are 2 moles of one gas, HCl. Changing pressure is unlikely to have an effect on the forward or reverse reaction</a:t>
                </a:r>
              </a:p>
              <a:p>
                <a:r>
                  <a:rPr lang="en-US" sz="1600" dirty="0"/>
                  <a:t>Predict what happens with pressure is decreased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</a:rPr>
                  <a:t>3 O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(g)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800" dirty="0">
                    <a:solidFill>
                      <a:srgbClr val="FFC000"/>
                    </a:solidFill>
                  </a:rPr>
                  <a:t> 2 O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g</a:t>
                </a:r>
                <a:r>
                  <a:rPr lang="en-US" sz="18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FFFF00"/>
                    </a:solidFill>
                  </a:rPr>
                  <a:t>Favors side with MORE moles: toward reverse (left) to reactants</a:t>
                </a:r>
              </a:p>
              <a:p>
                <a:pPr marL="0" indent="0" algn="ctr">
                  <a:buNone/>
                </a:pPr>
                <a:endParaRPr 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ECA76D9-EA4B-3A0C-B350-3D5FDDBD9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966778"/>
                <a:ext cx="8387645" cy="5580778"/>
              </a:xfrm>
              <a:blipFill>
                <a:blip r:embed="rId2"/>
                <a:stretch>
                  <a:fillRect l="-581" b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2E452A-6950-BEDF-C5EB-BCF612731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40</a:t>
            </a:fld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43277-CD4B-D317-80C2-F31D21773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689" y="1022400"/>
            <a:ext cx="6532498" cy="1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3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ED0D-ACB9-EF1D-41DB-C84446AF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FE1A26-6448-D71C-52C0-1FAE5818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24297"/>
            <a:ext cx="8421512" cy="707886"/>
          </a:xfrm>
        </p:spPr>
        <p:txBody>
          <a:bodyPr/>
          <a:lstStyle/>
          <a:p>
            <a:r>
              <a:rPr lang="en-US" sz="4000" dirty="0"/>
              <a:t>Patterns in Acid-Base Reactions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55C940-02C5-9C65-9D7A-23E2762DF8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13960"/>
                <a:ext cx="8387645" cy="5533596"/>
              </a:xfrm>
            </p:spPr>
            <p:txBody>
              <a:bodyPr/>
              <a:lstStyle/>
              <a:p>
                <a:r>
                  <a:rPr lang="en-US" sz="2000" dirty="0"/>
                  <a:t>Acids and bases in aqueous solution will react with the following patterns</a:t>
                </a:r>
              </a:p>
              <a:p>
                <a:pPr marL="0" indent="0" algn="ctr">
                  <a:buNone/>
                </a:pPr>
                <a:r>
                  <a:rPr lang="en-US" sz="2000" dirty="0" err="1">
                    <a:solidFill>
                      <a:srgbClr val="FFC000"/>
                    </a:solidFill>
                  </a:rPr>
                  <a:t>HAn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O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An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r>
                  <a:rPr lang="en-US" sz="1800" dirty="0"/>
                  <a:t>For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acid reaction</a:t>
                </a:r>
                <a:r>
                  <a:rPr lang="en-US" sz="1800" dirty="0"/>
                  <a:t>, </a:t>
                </a:r>
                <a:r>
                  <a:rPr lang="en-US" sz="1800" dirty="0" err="1">
                    <a:solidFill>
                      <a:srgbClr val="00FF00"/>
                    </a:solidFill>
                  </a:rPr>
                  <a:t>HAn</a:t>
                </a:r>
                <a:r>
                  <a:rPr lang="en-US" sz="1800" dirty="0"/>
                  <a:t> refers to the </a:t>
                </a:r>
                <a:r>
                  <a:rPr lang="en-US" sz="1800" dirty="0">
                    <a:solidFill>
                      <a:srgbClr val="FFFF00"/>
                    </a:solidFill>
                  </a:rPr>
                  <a:t>acid</a:t>
                </a:r>
                <a:r>
                  <a:rPr lang="en-US" sz="1800" dirty="0"/>
                  <a:t> as a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proton donor</a:t>
                </a:r>
                <a:r>
                  <a:rPr lang="en-US" sz="1800" dirty="0"/>
                  <a:t>, and </a:t>
                </a:r>
                <a:r>
                  <a:rPr lang="en-US" sz="1800" dirty="0">
                    <a:solidFill>
                      <a:srgbClr val="00FF00"/>
                    </a:solidFill>
                  </a:rPr>
                  <a:t>An</a:t>
                </a:r>
                <a:r>
                  <a:rPr lang="en-US" sz="1800" dirty="0"/>
                  <a:t> to what is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conjugate base </a:t>
                </a:r>
                <a:r>
                  <a:rPr lang="en-US" sz="1800" dirty="0"/>
                  <a:t>(review that unit). When the </a:t>
                </a:r>
                <a:r>
                  <a:rPr lang="en-US" sz="1800" dirty="0">
                    <a:solidFill>
                      <a:srgbClr val="FFFF00"/>
                    </a:solidFill>
                  </a:rPr>
                  <a:t>proton</a:t>
                </a:r>
                <a:r>
                  <a:rPr lang="en-US" sz="1800" dirty="0"/>
                  <a:t> is </a:t>
                </a:r>
                <a:r>
                  <a:rPr lang="en-US" sz="1800" dirty="0">
                    <a:solidFill>
                      <a:srgbClr val="FFFF00"/>
                    </a:solidFill>
                  </a:rPr>
                  <a:t>donated</a:t>
                </a:r>
                <a:r>
                  <a:rPr lang="en-US" sz="1800" dirty="0"/>
                  <a:t> to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proton acceptor</a:t>
                </a:r>
                <a:r>
                  <a:rPr lang="en-US" sz="1800" dirty="0"/>
                  <a:t>, namely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base</a:t>
                </a:r>
                <a:r>
                  <a:rPr lang="en-US" sz="1800" dirty="0"/>
                  <a:t>, </a:t>
                </a:r>
                <a:r>
                  <a:rPr lang="en-US" sz="1800" dirty="0">
                    <a:solidFill>
                      <a:srgbClr val="00FF00"/>
                    </a:solidFill>
                  </a:rPr>
                  <a:t>An</a:t>
                </a:r>
                <a:r>
                  <a:rPr lang="en-US" sz="1800" dirty="0"/>
                  <a:t> is the species that has basically lost a proton and its charge will be “less positive by 1”. What does that mean? All these reactions below are acids donating a hydrogen ion to water as a base: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</a:rPr>
                  <a:t>HCl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</a:rPr>
                  <a:t>O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800" dirty="0">
                    <a:solidFill>
                      <a:srgbClr val="FFC000"/>
                    </a:solidFill>
                  </a:rPr>
                  <a:t> 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800" dirty="0">
                    <a:solidFill>
                      <a:srgbClr val="FFC000"/>
                    </a:solidFill>
                  </a:rPr>
                  <a:t>O</a:t>
                </a:r>
                <a:r>
                  <a:rPr lang="en-US" sz="18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+ Cl</a:t>
                </a:r>
                <a:r>
                  <a:rPr lang="en-US" sz="18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  </a:t>
                </a:r>
                <a:r>
                  <a:rPr lang="en-US" sz="1800" dirty="0">
                    <a:solidFill>
                      <a:srgbClr val="CC99FF"/>
                    </a:solidFill>
                  </a:rPr>
                  <a:t>[An=Cl</a:t>
                </a:r>
                <a:r>
                  <a:rPr lang="en-US" sz="1800" baseline="30000" dirty="0">
                    <a:solidFill>
                      <a:srgbClr val="CC99FF"/>
                    </a:solidFill>
                  </a:rPr>
                  <a:t>–</a:t>
                </a:r>
                <a:r>
                  <a:rPr lang="en-US" sz="1800" dirty="0">
                    <a:solidFill>
                      <a:srgbClr val="CC99FF"/>
                    </a:solidFill>
                  </a:rPr>
                  <a:t>, charge=–1]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</a:rPr>
                  <a:t>NH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sz="18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</a:rPr>
                  <a:t>O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800" dirty="0">
                    <a:solidFill>
                      <a:srgbClr val="FFC000"/>
                    </a:solidFill>
                  </a:rPr>
                  <a:t> 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800" dirty="0">
                    <a:solidFill>
                      <a:srgbClr val="FFC000"/>
                    </a:solidFill>
                  </a:rPr>
                  <a:t>O</a:t>
                </a:r>
                <a:r>
                  <a:rPr lang="en-US" sz="18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+ NH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 </a:t>
                </a:r>
                <a:r>
                  <a:rPr lang="en-US" sz="1800" dirty="0">
                    <a:solidFill>
                      <a:srgbClr val="CC99FF"/>
                    </a:solidFill>
                  </a:rPr>
                  <a:t>[An=NH</a:t>
                </a:r>
                <a:r>
                  <a:rPr lang="en-US" sz="1800" baseline="-25000" dirty="0">
                    <a:solidFill>
                      <a:srgbClr val="CC99FF"/>
                    </a:solidFill>
                  </a:rPr>
                  <a:t>3</a:t>
                </a:r>
                <a:r>
                  <a:rPr lang="en-US" sz="1800" dirty="0">
                    <a:solidFill>
                      <a:srgbClr val="CC99FF"/>
                    </a:solidFill>
                  </a:rPr>
                  <a:t>, charge=0]</a:t>
                </a:r>
              </a:p>
              <a:p>
                <a:pPr marL="0" indent="0" algn="ctr">
                  <a:buNone/>
                </a:pPr>
                <a:r>
                  <a:rPr lang="pt-BR" sz="1800" dirty="0">
                    <a:solidFill>
                      <a:srgbClr val="FFC000"/>
                    </a:solidFill>
                  </a:rPr>
                  <a:t>[Cu(H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pt-BR" sz="1800" dirty="0">
                    <a:solidFill>
                      <a:srgbClr val="FFC000"/>
                    </a:solidFill>
                  </a:rPr>
                  <a:t>O)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6</a:t>
                </a:r>
                <a:r>
                  <a:rPr lang="pt-BR" sz="1800" dirty="0">
                    <a:solidFill>
                      <a:srgbClr val="FFC000"/>
                    </a:solidFill>
                  </a:rPr>
                  <a:t>]</a:t>
                </a:r>
                <a:r>
                  <a:rPr lang="pt-BR" sz="1800" baseline="30000" dirty="0">
                    <a:solidFill>
                      <a:srgbClr val="FFC000"/>
                    </a:solidFill>
                  </a:rPr>
                  <a:t>2+ </a:t>
                </a:r>
                <a:r>
                  <a:rPr lang="pt-BR" sz="1800" dirty="0">
                    <a:solidFill>
                      <a:srgbClr val="FFC000"/>
                    </a:solidFill>
                  </a:rPr>
                  <a:t>(</a:t>
                </a:r>
                <a:r>
                  <a:rPr lang="pt-BR" sz="1800" i="1" dirty="0">
                    <a:solidFill>
                      <a:srgbClr val="FFC000"/>
                    </a:solidFill>
                  </a:rPr>
                  <a:t>aq</a:t>
                </a:r>
                <a:r>
                  <a:rPr lang="pt-BR" sz="1800" dirty="0">
                    <a:solidFill>
                      <a:srgbClr val="FFC000"/>
                    </a:solidFill>
                  </a:rPr>
                  <a:t>) + H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pt-BR" sz="1800" dirty="0">
                    <a:solidFill>
                      <a:srgbClr val="FFC000"/>
                    </a:solidFill>
                  </a:rPr>
                  <a:t>O (</a:t>
                </a:r>
                <a:r>
                  <a:rPr lang="pt-BR" sz="1800" i="1" dirty="0">
                    <a:solidFill>
                      <a:srgbClr val="FFC000"/>
                    </a:solidFill>
                  </a:rPr>
                  <a:t>l</a:t>
                </a:r>
                <a:r>
                  <a:rPr lang="pt-BR" sz="1800" dirty="0">
                    <a:solidFill>
                      <a:srgbClr val="FFC000"/>
                    </a:solidFill>
                  </a:rPr>
                  <a:t>)  ⇌   H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pt-BR" sz="1800" dirty="0">
                    <a:solidFill>
                      <a:srgbClr val="FFC000"/>
                    </a:solidFill>
                  </a:rPr>
                  <a:t>O</a:t>
                </a:r>
                <a:r>
                  <a:rPr lang="pt-BR" sz="1800" baseline="30000" dirty="0">
                    <a:solidFill>
                      <a:srgbClr val="FFC000"/>
                    </a:solidFill>
                  </a:rPr>
                  <a:t>+ </a:t>
                </a:r>
                <a:r>
                  <a:rPr lang="pt-BR" sz="1800" dirty="0">
                    <a:solidFill>
                      <a:srgbClr val="FFC000"/>
                    </a:solidFill>
                  </a:rPr>
                  <a:t>(</a:t>
                </a:r>
                <a:r>
                  <a:rPr lang="pt-BR" sz="1800" i="1" dirty="0">
                    <a:solidFill>
                      <a:srgbClr val="FFC000"/>
                    </a:solidFill>
                  </a:rPr>
                  <a:t>aq</a:t>
                </a:r>
                <a:r>
                  <a:rPr lang="pt-BR" sz="1800" dirty="0">
                    <a:solidFill>
                      <a:srgbClr val="FFC000"/>
                    </a:solidFill>
                  </a:rPr>
                  <a:t>) + [Cu(H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pt-BR" sz="1800" dirty="0">
                    <a:solidFill>
                      <a:srgbClr val="FFC000"/>
                    </a:solidFill>
                  </a:rPr>
                  <a:t>O)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5</a:t>
                </a:r>
                <a:r>
                  <a:rPr lang="pt-BR" sz="1800" dirty="0">
                    <a:solidFill>
                      <a:srgbClr val="FFC000"/>
                    </a:solidFill>
                  </a:rPr>
                  <a:t>(OH)]</a:t>
                </a:r>
                <a:r>
                  <a:rPr lang="pt-BR" sz="1800" baseline="30000" dirty="0">
                    <a:solidFill>
                      <a:srgbClr val="FFC000"/>
                    </a:solidFill>
                  </a:rPr>
                  <a:t>+ </a:t>
                </a:r>
                <a:r>
                  <a:rPr lang="pt-BR" sz="1800" dirty="0">
                    <a:solidFill>
                      <a:srgbClr val="FFC000"/>
                    </a:solidFill>
                  </a:rPr>
                  <a:t>(</a:t>
                </a:r>
                <a:r>
                  <a:rPr lang="pt-BR" sz="1800" i="1" dirty="0">
                    <a:solidFill>
                      <a:srgbClr val="FFC000"/>
                    </a:solidFill>
                  </a:rPr>
                  <a:t>aq</a:t>
                </a:r>
                <a:r>
                  <a:rPr lang="pt-BR" sz="1800" dirty="0">
                    <a:solidFill>
                      <a:srgbClr val="FFC000"/>
                    </a:solidFill>
                  </a:rPr>
                  <a:t>)</a:t>
                </a:r>
                <a:br>
                  <a:rPr lang="pt-BR" sz="1800" dirty="0">
                    <a:solidFill>
                      <a:srgbClr val="FFC000"/>
                    </a:solidFill>
                  </a:rPr>
                </a:br>
                <a:r>
                  <a:rPr lang="pt-BR" sz="1800" dirty="0">
                    <a:solidFill>
                      <a:srgbClr val="CC99FF"/>
                    </a:solidFill>
                  </a:rPr>
                  <a:t>{An= [Cu(H</a:t>
                </a:r>
                <a:r>
                  <a:rPr lang="pt-BR" sz="1800" baseline="-25000" dirty="0">
                    <a:solidFill>
                      <a:srgbClr val="CC99FF"/>
                    </a:solidFill>
                  </a:rPr>
                  <a:t>2</a:t>
                </a:r>
                <a:r>
                  <a:rPr lang="pt-BR" sz="1800" dirty="0">
                    <a:solidFill>
                      <a:srgbClr val="CC99FF"/>
                    </a:solidFill>
                  </a:rPr>
                  <a:t>O)</a:t>
                </a:r>
                <a:r>
                  <a:rPr lang="pt-BR" sz="1800" baseline="-25000" dirty="0">
                    <a:solidFill>
                      <a:srgbClr val="CC99FF"/>
                    </a:solidFill>
                  </a:rPr>
                  <a:t>5</a:t>
                </a:r>
                <a:r>
                  <a:rPr lang="pt-BR" sz="1800" dirty="0">
                    <a:solidFill>
                      <a:srgbClr val="CC99FF"/>
                    </a:solidFill>
                  </a:rPr>
                  <a:t>(OH)]</a:t>
                </a:r>
                <a:r>
                  <a:rPr lang="pt-BR" sz="1800" baseline="30000" dirty="0">
                    <a:solidFill>
                      <a:srgbClr val="CC99FF"/>
                    </a:solidFill>
                  </a:rPr>
                  <a:t>+</a:t>
                </a:r>
                <a:r>
                  <a:rPr lang="en-US" sz="1800" dirty="0">
                    <a:solidFill>
                      <a:srgbClr val="CC99FF"/>
                    </a:solidFill>
                  </a:rPr>
                  <a:t>, charge=+1}</a:t>
                </a:r>
              </a:p>
              <a:p>
                <a:r>
                  <a:rPr lang="en-US" sz="1800" dirty="0"/>
                  <a:t>All those patterns show donation of a hydrogen ion, H</a:t>
                </a:r>
                <a:r>
                  <a:rPr lang="en-US" sz="1800" baseline="30000" dirty="0"/>
                  <a:t>+</a:t>
                </a:r>
                <a:r>
                  <a:rPr lang="en-US" sz="1800" dirty="0"/>
                  <a:t>, and the conjugate base being reduced in charge by the charge of a hydrogen ion, which is +1</a:t>
                </a:r>
                <a:endParaRPr lang="en-US" sz="1800" baseline="30000" dirty="0">
                  <a:solidFill>
                    <a:srgbClr val="CC99FF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55C940-02C5-9C65-9D7A-23E2762DF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13960"/>
                <a:ext cx="8387645" cy="5533596"/>
              </a:xfrm>
              <a:blipFill>
                <a:blip r:embed="rId2"/>
                <a:stretch>
                  <a:fillRect l="-799" t="-661" r="-1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88B615-9F39-923D-12F9-B09C5DD20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444312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D3645-952C-C98E-BF18-4D26A7D50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30205C-A664-0BA8-4ECE-FFBCC42F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24297"/>
            <a:ext cx="8421512" cy="707886"/>
          </a:xfrm>
        </p:spPr>
        <p:txBody>
          <a:bodyPr/>
          <a:lstStyle/>
          <a:p>
            <a:r>
              <a:rPr lang="en-US" sz="4000" dirty="0"/>
              <a:t>Patterns in Acid-Base Reactions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E20D46-889A-C3D6-7AFC-1C2074DA0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13960"/>
                <a:ext cx="8387645" cy="5533596"/>
              </a:xfrm>
            </p:spPr>
            <p:txBody>
              <a:bodyPr/>
              <a:lstStyle/>
              <a:p>
                <a:r>
                  <a:rPr lang="en-US" sz="2000" dirty="0"/>
                  <a:t>For base reactions: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An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HAn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OH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r>
                  <a:rPr lang="en-US" sz="1800" dirty="0"/>
                  <a:t>For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base reaction</a:t>
                </a:r>
                <a:r>
                  <a:rPr lang="en-US" sz="1800" dirty="0"/>
                  <a:t>, </a:t>
                </a:r>
                <a:r>
                  <a:rPr lang="en-US" sz="1800" dirty="0">
                    <a:solidFill>
                      <a:srgbClr val="00FF00"/>
                    </a:solidFill>
                  </a:rPr>
                  <a:t>An</a:t>
                </a:r>
                <a:r>
                  <a:rPr lang="en-US" sz="1800" dirty="0"/>
                  <a:t> refers to the </a:t>
                </a:r>
                <a:r>
                  <a:rPr lang="en-US" sz="1800" dirty="0">
                    <a:solidFill>
                      <a:srgbClr val="FFFF00"/>
                    </a:solidFill>
                  </a:rPr>
                  <a:t>base</a:t>
                </a:r>
                <a:r>
                  <a:rPr lang="en-US" sz="1800" dirty="0"/>
                  <a:t> as a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proton acceptor</a:t>
                </a:r>
                <a:r>
                  <a:rPr lang="en-US" sz="1800" dirty="0"/>
                  <a:t>, and </a:t>
                </a:r>
                <a:r>
                  <a:rPr lang="en-US" sz="1800" dirty="0" err="1">
                    <a:solidFill>
                      <a:srgbClr val="00FF00"/>
                    </a:solidFill>
                  </a:rPr>
                  <a:t>HAn</a:t>
                </a:r>
                <a:r>
                  <a:rPr lang="en-US" sz="1800" dirty="0"/>
                  <a:t> is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conjugate acid </a:t>
                </a:r>
                <a:r>
                  <a:rPr lang="en-US" sz="1800" dirty="0"/>
                  <a:t>(review that unit). When the </a:t>
                </a:r>
                <a:r>
                  <a:rPr lang="en-US" sz="1800" dirty="0">
                    <a:solidFill>
                      <a:srgbClr val="FFFF00"/>
                    </a:solidFill>
                  </a:rPr>
                  <a:t>proton</a:t>
                </a:r>
                <a:r>
                  <a:rPr lang="en-US" sz="1800" dirty="0"/>
                  <a:t> is </a:t>
                </a:r>
                <a:r>
                  <a:rPr lang="en-US" sz="1800" dirty="0">
                    <a:solidFill>
                      <a:srgbClr val="FFFF00"/>
                    </a:solidFill>
                  </a:rPr>
                  <a:t>taken</a:t>
                </a:r>
                <a:r>
                  <a:rPr lang="en-US" sz="1800" dirty="0"/>
                  <a:t> from the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proton donor</a:t>
                </a:r>
                <a:r>
                  <a:rPr lang="en-US" sz="1800" dirty="0"/>
                  <a:t>, namely the acid, </a:t>
                </a:r>
                <a:r>
                  <a:rPr lang="en-US" sz="1800" dirty="0" err="1">
                    <a:solidFill>
                      <a:srgbClr val="00FF00"/>
                    </a:solidFill>
                  </a:rPr>
                  <a:t>HAn</a:t>
                </a:r>
                <a:r>
                  <a:rPr lang="en-US" sz="1800" dirty="0"/>
                  <a:t> is the species that has basically gained a proton and its charge will be “more positive by 1”.  What does that mean? All these reactions below are bases taken a proton from water acting as an acid:</a:t>
                </a:r>
              </a:p>
              <a:p>
                <a:pPr marL="0" indent="0" algn="ctr">
                  <a:buNone/>
                </a:pPr>
                <a:r>
                  <a:rPr lang="en-US" sz="1700" dirty="0">
                    <a:solidFill>
                      <a:srgbClr val="FFC000"/>
                    </a:solidFill>
                  </a:rPr>
                  <a:t>CO</a:t>
                </a:r>
                <a:r>
                  <a:rPr lang="en-US" sz="17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700" baseline="30000" dirty="0">
                    <a:solidFill>
                      <a:srgbClr val="FFC000"/>
                    </a:solidFill>
                  </a:rPr>
                  <a:t>2–</a:t>
                </a:r>
                <a:r>
                  <a:rPr lang="en-US" sz="1700" dirty="0">
                    <a:solidFill>
                      <a:srgbClr val="FFC000"/>
                    </a:solidFill>
                  </a:rPr>
                  <a:t> (</a:t>
                </a:r>
                <a:r>
                  <a:rPr lang="en-US" sz="17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7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7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700" dirty="0">
                    <a:solidFill>
                      <a:srgbClr val="FFC000"/>
                    </a:solidFill>
                  </a:rPr>
                  <a:t>O (</a:t>
                </a:r>
                <a:r>
                  <a:rPr lang="en-US" sz="17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17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7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700" dirty="0">
                    <a:solidFill>
                      <a:srgbClr val="FFC000"/>
                    </a:solidFill>
                  </a:rPr>
                  <a:t> HCO</a:t>
                </a:r>
                <a:r>
                  <a:rPr lang="en-US" sz="17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7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700" dirty="0">
                    <a:solidFill>
                      <a:srgbClr val="FFC000"/>
                    </a:solidFill>
                  </a:rPr>
                  <a:t> (</a:t>
                </a:r>
                <a:r>
                  <a:rPr lang="en-US" sz="17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700" dirty="0">
                    <a:solidFill>
                      <a:srgbClr val="FFC000"/>
                    </a:solidFill>
                  </a:rPr>
                  <a:t>) + OH</a:t>
                </a:r>
                <a:r>
                  <a:rPr lang="en-US" sz="17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700" dirty="0">
                    <a:solidFill>
                      <a:srgbClr val="FFC000"/>
                    </a:solidFill>
                  </a:rPr>
                  <a:t> (</a:t>
                </a:r>
                <a:r>
                  <a:rPr lang="en-US" sz="17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700" dirty="0">
                    <a:solidFill>
                      <a:srgbClr val="FFC000"/>
                    </a:solidFill>
                  </a:rPr>
                  <a:t>)</a:t>
                </a:r>
                <a:r>
                  <a:rPr lang="en-US" sz="1800" dirty="0">
                    <a:solidFill>
                      <a:srgbClr val="FFC000"/>
                    </a:solidFill>
                  </a:rPr>
                  <a:t> </a:t>
                </a:r>
                <a:r>
                  <a:rPr lang="en-US" sz="1800" dirty="0">
                    <a:solidFill>
                      <a:srgbClr val="CC99FF"/>
                    </a:solidFill>
                  </a:rPr>
                  <a:t>[An=HCO</a:t>
                </a:r>
                <a:r>
                  <a:rPr lang="en-US" sz="1800" baseline="-25000" dirty="0">
                    <a:solidFill>
                      <a:srgbClr val="CC99FF"/>
                    </a:solidFill>
                  </a:rPr>
                  <a:t>3</a:t>
                </a:r>
                <a:r>
                  <a:rPr lang="en-US" sz="1800" baseline="30000" dirty="0">
                    <a:solidFill>
                      <a:srgbClr val="CC99FF"/>
                    </a:solidFill>
                  </a:rPr>
                  <a:t>–</a:t>
                </a:r>
                <a:r>
                  <a:rPr lang="en-US" sz="1800" dirty="0">
                    <a:solidFill>
                      <a:srgbClr val="CC99FF"/>
                    </a:solidFill>
                  </a:rPr>
                  <a:t>, charge=–1]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FFC000"/>
                    </a:solidFill>
                  </a:rPr>
                  <a:t>F</a:t>
                </a:r>
                <a:r>
                  <a:rPr lang="en-US" sz="18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800" dirty="0">
                    <a:solidFill>
                      <a:srgbClr val="FFC000"/>
                    </a:solidFill>
                  </a:rPr>
                  <a:t>O (</a:t>
                </a:r>
                <a:r>
                  <a:rPr lang="en-US" sz="18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800" dirty="0">
                    <a:solidFill>
                      <a:srgbClr val="FFC000"/>
                    </a:solidFill>
                  </a:rPr>
                  <a:t> HF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+ OH</a:t>
                </a:r>
                <a:r>
                  <a:rPr lang="en-US" sz="18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 </a:t>
                </a:r>
                <a:r>
                  <a:rPr lang="en-US" sz="1800" dirty="0">
                    <a:solidFill>
                      <a:srgbClr val="CC99FF"/>
                    </a:solidFill>
                  </a:rPr>
                  <a:t>[An=HF, charge=0]</a:t>
                </a:r>
              </a:p>
              <a:p>
                <a:pPr marL="0" indent="0" algn="ctr">
                  <a:buNone/>
                </a:pPr>
                <a:r>
                  <a:rPr lang="pt-BR" sz="1800" dirty="0">
                    <a:solidFill>
                      <a:srgbClr val="FFC000"/>
                    </a:solidFill>
                  </a:rPr>
                  <a:t>NH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pt-BR" sz="1800" baseline="30000" dirty="0">
                    <a:solidFill>
                      <a:srgbClr val="FFC000"/>
                    </a:solidFill>
                  </a:rPr>
                  <a:t> </a:t>
                </a:r>
                <a:r>
                  <a:rPr lang="pt-BR" sz="1800" dirty="0">
                    <a:solidFill>
                      <a:srgbClr val="FFC000"/>
                    </a:solidFill>
                  </a:rPr>
                  <a:t>(</a:t>
                </a:r>
                <a:r>
                  <a:rPr lang="pt-BR" sz="1800" i="1" dirty="0">
                    <a:solidFill>
                      <a:srgbClr val="FFC000"/>
                    </a:solidFill>
                  </a:rPr>
                  <a:t>aq</a:t>
                </a:r>
                <a:r>
                  <a:rPr lang="pt-BR" sz="1800" dirty="0">
                    <a:solidFill>
                      <a:srgbClr val="FFC000"/>
                    </a:solidFill>
                  </a:rPr>
                  <a:t>) + H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pt-BR" sz="1800" dirty="0">
                    <a:solidFill>
                      <a:srgbClr val="FFC000"/>
                    </a:solidFill>
                  </a:rPr>
                  <a:t>O (l)  ⇌   NH</a:t>
                </a:r>
                <a:r>
                  <a:rPr lang="pt-BR" sz="1800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pt-BR" sz="1800" baseline="30000" dirty="0">
                    <a:solidFill>
                      <a:srgbClr val="FFC000"/>
                    </a:solidFill>
                  </a:rPr>
                  <a:t>+ </a:t>
                </a:r>
                <a:r>
                  <a:rPr lang="pt-BR" sz="1800" dirty="0">
                    <a:solidFill>
                      <a:srgbClr val="FFC000"/>
                    </a:solidFill>
                  </a:rPr>
                  <a:t>(</a:t>
                </a:r>
                <a:r>
                  <a:rPr lang="pt-BR" sz="1800" i="1" dirty="0">
                    <a:solidFill>
                      <a:srgbClr val="FFC000"/>
                    </a:solidFill>
                  </a:rPr>
                  <a:t>aq</a:t>
                </a:r>
                <a:r>
                  <a:rPr lang="pt-BR" sz="1800" dirty="0">
                    <a:solidFill>
                      <a:srgbClr val="FFC000"/>
                    </a:solidFill>
                  </a:rPr>
                  <a:t>) + </a:t>
                </a:r>
                <a:r>
                  <a:rPr lang="en-US" sz="1800" dirty="0">
                    <a:solidFill>
                      <a:srgbClr val="FFC000"/>
                    </a:solidFill>
                  </a:rPr>
                  <a:t>OH</a:t>
                </a:r>
                <a:r>
                  <a:rPr lang="en-US" sz="18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800" dirty="0">
                    <a:solidFill>
                      <a:srgbClr val="FFC000"/>
                    </a:solidFill>
                  </a:rPr>
                  <a:t> (</a:t>
                </a:r>
                <a:r>
                  <a:rPr lang="en-US" sz="18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800" dirty="0">
                    <a:solidFill>
                      <a:srgbClr val="FFC000"/>
                    </a:solidFill>
                  </a:rPr>
                  <a:t>) </a:t>
                </a:r>
                <a:r>
                  <a:rPr lang="pt-BR" sz="1800" dirty="0">
                    <a:solidFill>
                      <a:srgbClr val="CC99FF"/>
                    </a:solidFill>
                  </a:rPr>
                  <a:t>[An=NH</a:t>
                </a:r>
                <a:r>
                  <a:rPr lang="pt-BR" sz="1800" baseline="-25000" dirty="0">
                    <a:solidFill>
                      <a:srgbClr val="CC99FF"/>
                    </a:solidFill>
                  </a:rPr>
                  <a:t>4</a:t>
                </a:r>
                <a:r>
                  <a:rPr lang="pt-BR" sz="1800" baseline="30000" dirty="0">
                    <a:solidFill>
                      <a:srgbClr val="CC99FF"/>
                    </a:solidFill>
                  </a:rPr>
                  <a:t>+</a:t>
                </a:r>
                <a:r>
                  <a:rPr lang="en-US" sz="1800" dirty="0">
                    <a:solidFill>
                      <a:srgbClr val="CC99FF"/>
                    </a:solidFill>
                  </a:rPr>
                  <a:t>, charge=+1]</a:t>
                </a:r>
              </a:p>
              <a:p>
                <a:r>
                  <a:rPr lang="en-US" sz="1800" dirty="0"/>
                  <a:t>All those patterns show gaining a hydrogen ion, H</a:t>
                </a:r>
                <a:r>
                  <a:rPr lang="en-US" sz="1800" baseline="30000" dirty="0"/>
                  <a:t>+</a:t>
                </a:r>
                <a:r>
                  <a:rPr lang="en-US" sz="1800" dirty="0"/>
                  <a:t>, and the conjugate acid being increased in charge by the charge of a hydrogen ion, which is +1.  And often it is typically H</a:t>
                </a:r>
                <a:r>
                  <a:rPr lang="en-US" sz="1800" baseline="-25000" dirty="0"/>
                  <a:t>2</a:t>
                </a:r>
                <a:r>
                  <a:rPr lang="en-US" sz="1800" dirty="0"/>
                  <a:t>O acting the as an acid when a base is added, so a proton is taken from it leaving OH</a:t>
                </a:r>
                <a:r>
                  <a:rPr lang="en-US" sz="1800" baseline="30000" dirty="0"/>
                  <a:t>–</a:t>
                </a:r>
                <a:r>
                  <a:rPr lang="en-US" sz="1800" dirty="0"/>
                  <a:t> as the species. Bases increase the [OH</a:t>
                </a:r>
                <a:r>
                  <a:rPr lang="en-US" sz="1800" baseline="30000" dirty="0"/>
                  <a:t>–</a:t>
                </a:r>
                <a:r>
                  <a:rPr lang="en-US" sz="1800" dirty="0"/>
                  <a:t>] concentration, so this is a classic pattern. </a:t>
                </a:r>
                <a:endParaRPr lang="en-US" sz="1800" baseline="30000" dirty="0">
                  <a:solidFill>
                    <a:srgbClr val="CC99FF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E20D46-889A-C3D6-7AFC-1C2074DA0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13960"/>
                <a:ext cx="8387645" cy="5533596"/>
              </a:xfrm>
              <a:blipFill>
                <a:blip r:embed="rId2"/>
                <a:stretch>
                  <a:fillRect l="-799" t="-661" r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3FA09C-931A-B98E-A9DD-0062116DA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901719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C7C9-C005-1FC7-DBFC-52A625A2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106DBC-8781-9310-E891-CB241AB8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24297"/>
            <a:ext cx="8421512" cy="707886"/>
          </a:xfrm>
        </p:spPr>
        <p:txBody>
          <a:bodyPr/>
          <a:lstStyle/>
          <a:p>
            <a:r>
              <a:rPr lang="en-US" sz="4000" i="1" dirty="0"/>
              <a:t>K</a:t>
            </a:r>
            <a:r>
              <a:rPr lang="en-US" sz="4000" dirty="0"/>
              <a:t> Expressions for Acids and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58ADDE-748B-605B-1CC8-F98970B54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13960"/>
                <a:ext cx="8387645" cy="5533596"/>
              </a:xfrm>
            </p:spPr>
            <p:txBody>
              <a:bodyPr/>
              <a:lstStyle/>
              <a:p>
                <a:r>
                  <a:rPr lang="en-US" sz="2000" dirty="0"/>
                  <a:t>Acids and bases in aqueous solution will react with the following patterns</a:t>
                </a:r>
              </a:p>
              <a:p>
                <a:pPr marL="0" indent="0" algn="ctr">
                  <a:buNone/>
                </a:pPr>
                <a:r>
                  <a:rPr lang="en-US" sz="2000" dirty="0" err="1">
                    <a:solidFill>
                      <a:srgbClr val="FFC000"/>
                    </a:solidFill>
                  </a:rPr>
                  <a:t>HAn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2000" dirty="0">
                    <a:solidFill>
                      <a:srgbClr val="FFC000"/>
                    </a:solidFill>
                  </a:rPr>
                  <a:t>O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An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r>
                  <a:rPr lang="en-US" sz="2000" dirty="0"/>
                  <a:t>Now apply the definition of the equilibrium constant equation to the equilibrium reaction: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sz="2000" b="0" i="0" baseline="-25000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2000" baseline="-250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An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HAn</m:t>
                          </m:r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FF00"/>
                  </a:solidFill>
                </a:endParaRPr>
              </a:p>
              <a:p>
                <a:r>
                  <a:rPr lang="en-US" sz="1800" dirty="0"/>
                  <a:t>Two things to note here</a:t>
                </a:r>
              </a:p>
              <a:p>
                <a:pPr marL="512763" lvl="1" indent="-341313">
                  <a:buFont typeface="+mj-lt"/>
                  <a:buAutoNum type="arabicPeriod"/>
                </a:pPr>
                <a:r>
                  <a:rPr lang="en-US" dirty="0"/>
                  <a:t>The constant </a:t>
                </a:r>
                <a:r>
                  <a:rPr lang="en-US" i="1" dirty="0">
                    <a:solidFill>
                      <a:srgbClr val="00FF00"/>
                    </a:solidFill>
                  </a:rPr>
                  <a:t>K</a:t>
                </a:r>
                <a:r>
                  <a:rPr lang="en-US" baseline="-25000" dirty="0">
                    <a:solidFill>
                      <a:srgbClr val="00FF00"/>
                    </a:solidFill>
                  </a:rPr>
                  <a:t>a</a:t>
                </a:r>
                <a:r>
                  <a:rPr lang="en-US" dirty="0"/>
                  <a:t> is called the </a:t>
                </a:r>
                <a:r>
                  <a:rPr lang="en-US" dirty="0">
                    <a:solidFill>
                      <a:srgbClr val="00FF00"/>
                    </a:solidFill>
                  </a:rPr>
                  <a:t>acid dissociation constant</a:t>
                </a:r>
                <a:r>
                  <a:rPr lang="en-US" dirty="0"/>
                  <a:t>. It is an </a:t>
                </a:r>
                <a:r>
                  <a:rPr lang="en-US" dirty="0">
                    <a:solidFill>
                      <a:srgbClr val="FFFF00"/>
                    </a:solidFill>
                  </a:rPr>
                  <a:t>equilibrium constant </a:t>
                </a:r>
                <a:r>
                  <a:rPr lang="en-US" dirty="0"/>
                  <a:t>like all others, but just specifically indicates with the subscript </a:t>
                </a:r>
                <a:r>
                  <a:rPr lang="en-US" dirty="0">
                    <a:solidFill>
                      <a:srgbClr val="FFFF00"/>
                    </a:solidFill>
                  </a:rPr>
                  <a:t>“a”</a:t>
                </a:r>
                <a:r>
                  <a:rPr lang="en-US" dirty="0"/>
                  <a:t> that it refers to an acid giving its proton (hydrogen ion, H</a:t>
                </a:r>
                <a:r>
                  <a:rPr lang="en-US" baseline="30000" dirty="0"/>
                  <a:t>+</a:t>
                </a:r>
                <a:r>
                  <a:rPr lang="en-US" dirty="0"/>
                  <a:t>) to a base, typically H</a:t>
                </a:r>
                <a:r>
                  <a:rPr lang="en-US" baseline="-25000" dirty="0"/>
                  <a:t>2</a:t>
                </a:r>
                <a:r>
                  <a:rPr lang="en-US" dirty="0"/>
                  <a:t>O (because it’s in aqueous solution), acting as a base [proton acceptor] in the reaction</a:t>
                </a:r>
              </a:p>
              <a:p>
                <a:pPr marL="512763" lvl="1" indent="-341313">
                  <a:buFont typeface="+mj-lt"/>
                  <a:buAutoNum type="arabicPeriod"/>
                </a:pPr>
                <a:r>
                  <a:rPr lang="en-US" dirty="0"/>
                  <a:t>H</a:t>
                </a:r>
                <a:r>
                  <a:rPr lang="en-US" baseline="-25000" dirty="0"/>
                  <a:t>2</a:t>
                </a:r>
                <a:r>
                  <a:rPr lang="en-US" dirty="0"/>
                  <a:t>O (water) is excluded as a reactant in the </a:t>
                </a:r>
                <a:r>
                  <a:rPr lang="en-US" i="1" dirty="0"/>
                  <a:t>K</a:t>
                </a:r>
                <a:r>
                  <a:rPr lang="en-US" baseline="-25000" dirty="0"/>
                  <a:t>a</a:t>
                </a:r>
                <a:r>
                  <a:rPr lang="en-US" dirty="0"/>
                  <a:t> expression as it will not influence the equilibrium. [Recall the condition of excluding compounds in “(</a:t>
                </a:r>
                <a:r>
                  <a:rPr lang="en-US" i="1" dirty="0"/>
                  <a:t>l)</a:t>
                </a:r>
                <a:r>
                  <a:rPr lang="en-US" dirty="0"/>
                  <a:t>” state]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58ADDE-748B-605B-1CC8-F98970B54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13960"/>
                <a:ext cx="8387645" cy="5533596"/>
              </a:xfrm>
              <a:blipFill>
                <a:blip r:embed="rId2"/>
                <a:stretch>
                  <a:fillRect l="-799" t="-661" r="-1672" b="-2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A10F90-9642-A468-3B9D-4CDB872DC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13429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D662D-5CBD-974D-3087-D744D476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FE766-B206-8702-019D-48D05765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24297"/>
            <a:ext cx="8421512" cy="707886"/>
          </a:xfrm>
        </p:spPr>
        <p:txBody>
          <a:bodyPr/>
          <a:lstStyle/>
          <a:p>
            <a:r>
              <a:rPr lang="en-US" sz="4000" i="1" dirty="0"/>
              <a:t>K</a:t>
            </a:r>
            <a:r>
              <a:rPr lang="en-US" sz="4000" dirty="0"/>
              <a:t> Expressions for Acids and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414073F-DFFB-FCD1-0A55-E069E4B552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099" y="1021394"/>
                <a:ext cx="8387645" cy="5533596"/>
              </a:xfrm>
            </p:spPr>
            <p:txBody>
              <a:bodyPr/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K</a:t>
                </a:r>
                <a:r>
                  <a:rPr lang="en-US" sz="2000" baseline="-25000" dirty="0"/>
                  <a:t>a</a:t>
                </a:r>
                <a:r>
                  <a:rPr lang="en-US" sz="2000" dirty="0"/>
                  <a:t> expression for a strong acid HCl was shown. What about a strong base like NaOH?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An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20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2000" dirty="0">
                    <a:solidFill>
                      <a:srgbClr val="FFC000"/>
                    </a:solidFill>
                  </a:rPr>
                  <a:t>O (</a:t>
                </a:r>
                <a:r>
                  <a:rPr lang="en-US" sz="20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HAn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OH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r>
                  <a:rPr lang="en-US" sz="2000" dirty="0"/>
                  <a:t>Now apply the definition of the equilibrium constant equation to the equilibrium reaction: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sz="2000" b="0" i="0" baseline="-25000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000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HAn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An</m:t>
                          </m:r>
                          <m: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FF00"/>
                  </a:solidFill>
                </a:endParaRPr>
              </a:p>
              <a:p>
                <a:r>
                  <a:rPr lang="en-US" sz="1800" dirty="0"/>
                  <a:t>Two things to note here</a:t>
                </a:r>
              </a:p>
              <a:p>
                <a:pPr marL="512763" lvl="1" indent="-341313">
                  <a:buFont typeface="+mj-lt"/>
                  <a:buAutoNum type="arabicPeriod"/>
                </a:pPr>
                <a:r>
                  <a:rPr lang="en-US" dirty="0"/>
                  <a:t>The constant </a:t>
                </a:r>
                <a:r>
                  <a:rPr lang="en-US" i="1" dirty="0" err="1">
                    <a:solidFill>
                      <a:srgbClr val="00FF00"/>
                    </a:solidFill>
                  </a:rPr>
                  <a:t>K</a:t>
                </a:r>
                <a:r>
                  <a:rPr lang="en-US" i="1" baseline="-25000" dirty="0" err="1">
                    <a:solidFill>
                      <a:srgbClr val="00FF00"/>
                    </a:solidFill>
                  </a:rPr>
                  <a:t>b</a:t>
                </a:r>
                <a:r>
                  <a:rPr lang="en-US" dirty="0"/>
                  <a:t> is called the </a:t>
                </a:r>
                <a:r>
                  <a:rPr lang="en-US" dirty="0">
                    <a:solidFill>
                      <a:srgbClr val="00FF00"/>
                    </a:solidFill>
                  </a:rPr>
                  <a:t>base ionization constant </a:t>
                </a:r>
                <a:r>
                  <a:rPr lang="en-US" dirty="0">
                    <a:solidFill>
                      <a:srgbClr val="FFC000"/>
                    </a:solidFill>
                  </a:rPr>
                  <a:t>(not base dissociation constant!!)</a:t>
                </a:r>
                <a:r>
                  <a:rPr lang="en-US" dirty="0"/>
                  <a:t> It too is an </a:t>
                </a:r>
                <a:r>
                  <a:rPr lang="en-US" dirty="0">
                    <a:solidFill>
                      <a:srgbClr val="FFFF00"/>
                    </a:solidFill>
                  </a:rPr>
                  <a:t>equilibrium constant </a:t>
                </a:r>
                <a:r>
                  <a:rPr lang="en-US" dirty="0"/>
                  <a:t>like all others, but the subscript </a:t>
                </a:r>
                <a:r>
                  <a:rPr lang="en-US" dirty="0">
                    <a:solidFill>
                      <a:srgbClr val="FFFF00"/>
                    </a:solidFill>
                  </a:rPr>
                  <a:t>“b”</a:t>
                </a:r>
                <a:r>
                  <a:rPr lang="en-US" dirty="0"/>
                  <a:t> that it refers to an acid giving its proton (hydrogen ion, H</a:t>
                </a:r>
                <a:r>
                  <a:rPr lang="en-US" baseline="30000" dirty="0"/>
                  <a:t>+</a:t>
                </a:r>
                <a:r>
                  <a:rPr lang="en-US" dirty="0"/>
                  <a:t>) to a base, typically H</a:t>
                </a:r>
                <a:r>
                  <a:rPr lang="en-US" baseline="-25000" dirty="0"/>
                  <a:t>2</a:t>
                </a:r>
                <a:r>
                  <a:rPr lang="en-US" dirty="0"/>
                  <a:t>O (because it’s in aqueous solution), acting as a base [proton acceptor] in the reaction</a:t>
                </a:r>
              </a:p>
              <a:p>
                <a:pPr marL="512763" lvl="1" indent="-341313">
                  <a:buFont typeface="+mj-lt"/>
                  <a:buAutoNum type="arabicPeriod"/>
                </a:pPr>
                <a:r>
                  <a:rPr lang="en-US" dirty="0"/>
                  <a:t>H</a:t>
                </a:r>
                <a:r>
                  <a:rPr lang="en-US" baseline="-25000" dirty="0"/>
                  <a:t>2</a:t>
                </a:r>
                <a:r>
                  <a:rPr lang="en-US" dirty="0"/>
                  <a:t>O (water) is excluded as a reactant in the </a:t>
                </a:r>
                <a:r>
                  <a:rPr lang="en-US" i="1" dirty="0" err="1"/>
                  <a:t>K</a:t>
                </a:r>
                <a:r>
                  <a:rPr lang="en-US" baseline="-25000" dirty="0" err="1"/>
                  <a:t>b</a:t>
                </a:r>
                <a:r>
                  <a:rPr lang="en-US" dirty="0"/>
                  <a:t> expression as it will not influence the equilibrium. [Recall the condition of excluding compounds in “(</a:t>
                </a:r>
                <a:r>
                  <a:rPr lang="en-US" i="1" dirty="0"/>
                  <a:t>l)</a:t>
                </a:r>
                <a:r>
                  <a:rPr lang="en-US" dirty="0"/>
                  <a:t>” state]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414073F-DFFB-FCD1-0A55-E069E4B55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099" y="1021394"/>
                <a:ext cx="8387645" cy="5533596"/>
              </a:xfrm>
              <a:blipFill>
                <a:blip r:embed="rId3"/>
                <a:stretch>
                  <a:fillRect l="-799" t="-772" r="-581" b="-3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ED4BBB-DDBC-046D-4AA1-50CC7D0D9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79993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52C00-E56E-9F2E-CAFA-8D935F1F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920E9D-A6EB-1DFC-0645-1C68259F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43812"/>
            <a:ext cx="8421512" cy="523220"/>
          </a:xfrm>
        </p:spPr>
        <p:txBody>
          <a:bodyPr/>
          <a:lstStyle/>
          <a:p>
            <a:r>
              <a:rPr lang="en-US" sz="2800" dirty="0"/>
              <a:t>Tying Together Use of Acid-Base </a:t>
            </a:r>
            <a:r>
              <a:rPr lang="en-US" sz="2800" i="1" dirty="0"/>
              <a:t>K</a:t>
            </a:r>
            <a:r>
              <a:rPr lang="en-US" sz="2800" dirty="0"/>
              <a:t>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B3CFFC8-8C6D-AFEC-D766-CC969C54BB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244" y="797809"/>
                <a:ext cx="8387645" cy="5650221"/>
              </a:xfrm>
            </p:spPr>
            <p:txBody>
              <a:bodyPr/>
              <a:lstStyle/>
              <a:p>
                <a:r>
                  <a:rPr lang="en-US" sz="1600" dirty="0"/>
                  <a:t>The 4 previous slides go into extraordinary detail (that is, with examples) to try to make sense of the textbook’s use of acid and base equilibrium constant expressions</a:t>
                </a:r>
              </a:p>
              <a:p>
                <a:r>
                  <a:rPr lang="en-US" sz="1600" dirty="0"/>
                  <a:t>You should be able to apply definition for </a:t>
                </a:r>
                <a:r>
                  <a:rPr lang="en-US" sz="1600" i="1" dirty="0"/>
                  <a:t>K</a:t>
                </a:r>
                <a:r>
                  <a:rPr lang="en-US" sz="1600" dirty="0"/>
                  <a:t> expressions for weak acids like those below. The first three are:</a:t>
                </a:r>
              </a:p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FFC000"/>
                    </a:solidFill>
                  </a:rPr>
                  <a:t>CH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400" dirty="0">
                    <a:solidFill>
                      <a:srgbClr val="FFC000"/>
                    </a:solidFill>
                  </a:rPr>
                  <a:t>COOH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400" dirty="0">
                    <a:solidFill>
                      <a:srgbClr val="FFC000"/>
                    </a:solidFill>
                  </a:rPr>
                  <a:t>O (</a:t>
                </a:r>
                <a:r>
                  <a:rPr lang="en-US" sz="14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400" dirty="0">
                    <a:solidFill>
                      <a:srgbClr val="FFC000"/>
                    </a:solidFill>
                  </a:rPr>
                  <a:t> CH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400" dirty="0">
                    <a:solidFill>
                      <a:srgbClr val="FFC000"/>
                    </a:solidFill>
                  </a:rPr>
                  <a:t>COO</a:t>
                </a:r>
                <a:r>
                  <a:rPr lang="en-US" sz="14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400" dirty="0">
                    <a:solidFill>
                      <a:srgbClr val="FFC000"/>
                    </a:solidFill>
                  </a:rPr>
                  <a:t>O</a:t>
                </a:r>
                <a:r>
                  <a:rPr lang="en-US" sz="14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sz="1600" baseline="-2500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600" baseline="-250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CH</m:t>
                            </m:r>
                            <m:r>
                              <a:rPr lang="en-US" sz="1600" baseline="-250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COO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–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en-US" sz="1600" b="0" i="0" baseline="-2500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COOH</m:t>
                        </m:r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1600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=1.8</m:t>
                    </m:r>
                    <m:r>
                      <a:rPr lang="en-US" sz="1600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FFC000"/>
                    </a:solidFill>
                  </a:rPr>
                  <a:t>HClO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400" dirty="0">
                    <a:solidFill>
                      <a:srgbClr val="FFC000"/>
                    </a:solidFill>
                  </a:rPr>
                  <a:t>O (</a:t>
                </a:r>
                <a:r>
                  <a:rPr lang="en-US" sz="14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400" dirty="0">
                    <a:solidFill>
                      <a:srgbClr val="FFC000"/>
                    </a:solidFill>
                  </a:rPr>
                  <a:t> ClO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4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400" dirty="0">
                    <a:solidFill>
                      <a:srgbClr val="FFC000"/>
                    </a:solidFill>
                  </a:rPr>
                  <a:t>O</a:t>
                </a:r>
                <a:r>
                  <a:rPr lang="en-US" sz="14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sz="1600" baseline="-2500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600" baseline="-250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ClO</m:t>
                            </m:r>
                            <m:r>
                              <a:rPr lang="en-US" sz="1600" b="0" i="0" baseline="-25000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–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HClO</m:t>
                        </m:r>
                        <m:r>
                          <a:rPr lang="en-US" sz="1600" b="0" i="0" baseline="-2500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=1.</m:t>
                    </m:r>
                    <m:r>
                      <a:rPr lang="en-US" sz="1600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FFC000"/>
                    </a:solidFill>
                  </a:rPr>
                  <a:t>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400" dirty="0">
                    <a:solidFill>
                      <a:srgbClr val="FFC000"/>
                    </a:solidFill>
                  </a:rPr>
                  <a:t>PO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sz="14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sz="1400" dirty="0">
                    <a:solidFill>
                      <a:srgbClr val="FFC000"/>
                    </a:solidFill>
                  </a:rPr>
                  <a:t>O (</a:t>
                </a:r>
                <a:r>
                  <a:rPr lang="en-US" sz="1400" i="1" dirty="0">
                    <a:solidFill>
                      <a:srgbClr val="FFC000"/>
                    </a:solidFill>
                  </a:rPr>
                  <a:t>l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1400" dirty="0">
                    <a:solidFill>
                      <a:srgbClr val="FFC000"/>
                    </a:solidFill>
                  </a:rPr>
                  <a:t> HPO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sz="1400" baseline="30000" dirty="0">
                    <a:solidFill>
                      <a:srgbClr val="FFC000"/>
                    </a:solidFill>
                  </a:rPr>
                  <a:t>2–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400" dirty="0">
                    <a:solidFill>
                      <a:srgbClr val="FFC000"/>
                    </a:solidFill>
                  </a:rPr>
                  <a:t>) + H</a:t>
                </a:r>
                <a:r>
                  <a:rPr lang="en-US" sz="1400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sz="1400" dirty="0">
                    <a:solidFill>
                      <a:srgbClr val="FFC000"/>
                    </a:solidFill>
                  </a:rPr>
                  <a:t>O</a:t>
                </a:r>
                <a:r>
                  <a:rPr lang="en-US" sz="14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1400" dirty="0">
                    <a:solidFill>
                      <a:srgbClr val="FFC000"/>
                    </a:solidFill>
                  </a:rPr>
                  <a:t> (</a:t>
                </a:r>
                <a:r>
                  <a:rPr lang="en-US" sz="14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1600" dirty="0">
                    <a:solidFill>
                      <a:srgbClr val="FFC000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sz="1600" baseline="-2500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600" baseline="-250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HP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sz="1600" b="0" i="0" baseline="-25000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2–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HPO</m:t>
                            </m:r>
                            <m:r>
                              <a:rPr lang="en-US" sz="1600" baseline="-250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–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0" indent="0" algn="ctr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B3CFFC8-8C6D-AFEC-D766-CC969C54B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244" y="797809"/>
                <a:ext cx="8387645" cy="5650221"/>
              </a:xfrm>
              <a:blipFill>
                <a:blip r:embed="rId2"/>
                <a:stretch>
                  <a:fillRect l="-363" t="-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82E53C6-5A7C-8FCF-6A67-3574F4801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103" y="3734723"/>
            <a:ext cx="6053793" cy="26302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8E176C-2AD0-390A-87BC-97A8CB6A1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96257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9EEC-8AA6-6DFB-DB8F-C4A89335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3CE896-4A3D-D9A1-2B06-DF164FEE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43812"/>
            <a:ext cx="8421512" cy="523220"/>
          </a:xfrm>
        </p:spPr>
        <p:txBody>
          <a:bodyPr/>
          <a:lstStyle/>
          <a:p>
            <a:r>
              <a:rPr lang="en-US" sz="2800" dirty="0"/>
              <a:t>Tying Together Use of Acid-Base </a:t>
            </a:r>
            <a:r>
              <a:rPr lang="en-US" sz="2800" i="1" dirty="0"/>
              <a:t>K</a:t>
            </a:r>
            <a:r>
              <a:rPr lang="en-US" sz="2800" dirty="0"/>
              <a:t>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31B1A3A-AD29-FE57-ECD8-217C1AB5CC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244" y="797809"/>
                <a:ext cx="8387645" cy="5650221"/>
              </a:xfrm>
            </p:spPr>
            <p:txBody>
              <a:bodyPr/>
              <a:lstStyle/>
              <a:p>
                <a:r>
                  <a:rPr lang="en-US" sz="1600" dirty="0"/>
                  <a:t>Another thing you should be able to understand from the equilibrium constants for the weak acids in particular</a:t>
                </a:r>
              </a:p>
              <a:p>
                <a:r>
                  <a:rPr lang="en-US" sz="1600" dirty="0"/>
                  <a:t>In the table below, which is the weakest of the weak acids? </a:t>
                </a: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FFFF00"/>
                    </a:solidFill>
                  </a:rPr>
                  <a:t>Recall that the acid dissociation constant is an equilibrium constant with an expression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Products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Reactants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00"/>
                    </a:solidFill>
                  </a:rPr>
                  <a:t> which is multiplication of product concentrations divided by multiplication reactant concentrations. If the </a:t>
                </a:r>
                <a:r>
                  <a:rPr lang="en-US" sz="1600" i="1" dirty="0">
                    <a:solidFill>
                      <a:srgbClr val="FFFF00"/>
                    </a:solidFill>
                  </a:rPr>
                  <a:t>K</a:t>
                </a:r>
                <a:r>
                  <a:rPr lang="en-US" sz="1600" baseline="-25000" dirty="0">
                    <a:solidFill>
                      <a:srgbClr val="FFFF00"/>
                    </a:solidFill>
                  </a:rPr>
                  <a:t>a</a:t>
                </a:r>
                <a:r>
                  <a:rPr lang="en-US" sz="1600" dirty="0">
                    <a:solidFill>
                      <a:srgbClr val="FFFF00"/>
                    </a:solidFill>
                  </a:rPr>
                  <a:t> is larger, that means the acid is stronger in protonating the other reactant (the proton acceptor). If </a:t>
                </a:r>
                <a:r>
                  <a:rPr lang="en-US" sz="1600" i="1" dirty="0">
                    <a:solidFill>
                      <a:srgbClr val="FFFF00"/>
                    </a:solidFill>
                  </a:rPr>
                  <a:t>K</a:t>
                </a:r>
                <a:r>
                  <a:rPr lang="en-US" sz="1600" baseline="-25000" dirty="0">
                    <a:solidFill>
                      <a:srgbClr val="FFFF00"/>
                    </a:solidFill>
                  </a:rPr>
                  <a:t>a</a:t>
                </a:r>
                <a:r>
                  <a:rPr lang="en-US" sz="1600" dirty="0">
                    <a:solidFill>
                      <a:srgbClr val="FFFF00"/>
                    </a:solidFill>
                  </a:rPr>
                  <a:t> is smaller, the acid is less likely to protonate. The meaning of that is that it would be the weaker of weak acids: less likely to dissociate, less likely to be a proton donor. In that list, that looks like HCN: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HCN</m:t>
                    </m:r>
                    <m:r>
                      <a:rPr lang="en-US" sz="1600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sz="1600" b="0" i="0" baseline="-2500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O</m:t>
                    </m:r>
                    <m:r>
                      <a:rPr lang="en-US" sz="16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sz="1600" b="0" i="0" baseline="-2500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3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r>
                      <a:rPr lang="en-US" sz="16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CN</m:t>
                        </m:r>
                      </m:e>
                      <m:sup>
                        <m:r>
                          <a:rPr lang="en-US" sz="1600" b="0" i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–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FFFF00"/>
                  </a:solidFill>
                </a:endParaRPr>
              </a:p>
              <a:p>
                <a:pPr marL="0" indent="0" algn="ctr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31B1A3A-AD29-FE57-ECD8-217C1AB5CC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244" y="797809"/>
                <a:ext cx="8387645" cy="5650221"/>
              </a:xfrm>
              <a:blipFill>
                <a:blip r:embed="rId2"/>
                <a:stretch>
                  <a:fillRect l="-363" t="-324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BD44DA1-884D-01FE-9D8D-16B168B46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103" y="3734723"/>
            <a:ext cx="6053793" cy="26302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0E9B60-24C1-4CB2-039F-5DC239E3B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6800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7D34-3EED-2CDC-B30A-7AA47987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9C4972-DD64-D626-A74F-1A8C6D07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43812"/>
            <a:ext cx="8421512" cy="523220"/>
          </a:xfrm>
        </p:spPr>
        <p:txBody>
          <a:bodyPr/>
          <a:lstStyle/>
          <a:p>
            <a:r>
              <a:rPr lang="en-US" sz="2800" dirty="0"/>
              <a:t>Practice: Equilibrium Equations for </a:t>
            </a:r>
            <a:r>
              <a:rPr lang="en-US" sz="2800" i="1" dirty="0"/>
              <a:t>K</a:t>
            </a:r>
            <a:r>
              <a:rPr lang="en-US" sz="2800" baseline="-250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F91D0F-5A16-A0ED-BAA9-0590FACBB8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244" y="797809"/>
                <a:ext cx="8387645" cy="565022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Write the chemical equilibrium equation and the </a:t>
                </a:r>
                <a:r>
                  <a:rPr lang="en-US" i="1" dirty="0"/>
                  <a:t>K</a:t>
                </a:r>
                <a:r>
                  <a:rPr lang="en-US" baseline="-25000" dirty="0"/>
                  <a:t>a</a:t>
                </a:r>
                <a:r>
                  <a:rPr lang="en-US" dirty="0"/>
                  <a:t> expression for weak acid HSO</a:t>
                </a:r>
                <a:r>
                  <a:rPr lang="en-US" baseline="-25000" dirty="0"/>
                  <a:t>4</a:t>
                </a:r>
                <a:r>
                  <a:rPr lang="en-US" baseline="30000" dirty="0"/>
                  <a:t>–</a:t>
                </a:r>
              </a:p>
              <a:p>
                <a:pPr marL="0" indent="0">
                  <a:buNone/>
                </a:pPr>
                <a:endParaRPr lang="en-US" baseline="30000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HSO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</a:rPr>
                  <a:t>) + SO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2–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baseline="-250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aseline="-250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SO</m:t>
                              </m:r>
                              <m:r>
                                <a:rPr lang="en-US" b="0" i="0" baseline="-2500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SO</m:t>
                              </m:r>
                              <m:r>
                                <a:rPr lang="en-US" baseline="-250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Do the same for the weak acid HPO</a:t>
                </a:r>
                <a:r>
                  <a:rPr lang="en-US" baseline="-25000" dirty="0"/>
                  <a:t>4</a:t>
                </a:r>
                <a:r>
                  <a:rPr lang="en-US" baseline="30000" dirty="0"/>
                  <a:t>2–</a:t>
                </a:r>
              </a:p>
              <a:p>
                <a:pPr marL="0" indent="0" algn="ctr">
                  <a:buNone/>
                </a:pPr>
                <a:endParaRPr lang="en-US" dirty="0">
                  <a:solidFill>
                    <a:srgbClr val="FFC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HPO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2–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</a:rPr>
                  <a:t>) + PO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</a:rPr>
                  <a:t>3–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baseline="-250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aseline="-250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en-US" baseline="-250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en-US" baseline="-250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2–</m:t>
                              </m:r>
                            </m:sup>
                          </m:sSup>
                          <m:r>
                            <a:rPr lang="en-US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F91D0F-5A16-A0ED-BAA9-0590FACBB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244" y="797809"/>
                <a:ext cx="8387645" cy="5650221"/>
              </a:xfrm>
              <a:blipFill>
                <a:blip r:embed="rId2"/>
                <a:stretch>
                  <a:fillRect l="-1090" t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854AB-2E70-2E18-0A34-2DCB9673D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3712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BAD7F-69E3-E605-EAB5-3DE2BCA8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C350F9-CB20-4F02-E4A1-2A0A89CF0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189327"/>
            <a:ext cx="8421512" cy="769441"/>
          </a:xfrm>
        </p:spPr>
        <p:txBody>
          <a:bodyPr/>
          <a:lstStyle/>
          <a:p>
            <a:r>
              <a:rPr lang="en-US" sz="4400" dirty="0"/>
              <a:t>Water as Acid &amp; Base: </a:t>
            </a:r>
            <a:r>
              <a:rPr lang="en-US" sz="4400" i="1" dirty="0"/>
              <a:t>K</a:t>
            </a:r>
            <a:r>
              <a:rPr lang="en-US" sz="4400" baseline="-25000" dirty="0"/>
              <a:t>w</a:t>
            </a:r>
            <a:r>
              <a:rPr lang="en-US" sz="4400" dirty="0"/>
              <a:t>=</a:t>
            </a:r>
            <a:r>
              <a:rPr lang="en-US" sz="4400" i="1" dirty="0" err="1"/>
              <a:t>K</a:t>
            </a:r>
            <a:r>
              <a:rPr lang="en-US" sz="4400" baseline="-25000" dirty="0" err="1"/>
              <a:t>a</a:t>
            </a:r>
            <a:r>
              <a:rPr lang="en-US" sz="4400" i="1" dirty="0" err="1"/>
              <a:t>K</a:t>
            </a:r>
            <a:r>
              <a:rPr lang="en-US" sz="4400" baseline="-25000" dirty="0" err="1"/>
              <a:t>b</a:t>
            </a:r>
            <a:endParaRPr lang="en-US" sz="44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53BCBA-D8CD-C5FD-9CC5-B11A5508C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6889" y="1020806"/>
                <a:ext cx="8387645" cy="555800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Previously we showed the generic equilibrium constant equation for </a:t>
                </a:r>
                <a:r>
                  <a:rPr lang="en-US" sz="1800" i="1" dirty="0"/>
                  <a:t>K</a:t>
                </a:r>
                <a:r>
                  <a:rPr lang="en-US" sz="1800" baseline="-25000" dirty="0"/>
                  <a:t>a</a:t>
                </a:r>
                <a:r>
                  <a:rPr lang="en-US" sz="1800" dirty="0"/>
                  <a:t> and </a:t>
                </a:r>
                <a:r>
                  <a:rPr lang="en-US" sz="1800" i="1" dirty="0" err="1"/>
                  <a:t>K</a:t>
                </a:r>
                <a:r>
                  <a:rPr lang="en-US" sz="1800" baseline="-25000" dirty="0" err="1"/>
                  <a:t>b</a:t>
                </a:r>
                <a:r>
                  <a:rPr lang="en-US" sz="1800" dirty="0"/>
                  <a:t>. (It can be shown that </a:t>
                </a:r>
                <a:r>
                  <a:rPr lang="en-US" sz="1800" dirty="0" err="1"/>
                  <a:t>HAn</a:t>
                </a:r>
                <a:r>
                  <a:rPr lang="en-US" sz="1800" dirty="0"/>
                  <a:t> = </a:t>
                </a:r>
                <a:r>
                  <a:rPr lang="en-US" sz="1800" dirty="0" err="1"/>
                  <a:t>HAn</a:t>
                </a:r>
                <a:r>
                  <a:rPr lang="en-US" sz="1800" baseline="30000" dirty="0"/>
                  <a:t>+</a:t>
                </a:r>
                <a:r>
                  <a:rPr lang="en-US" sz="1800" dirty="0"/>
                  <a:t> and An</a:t>
                </a:r>
                <a:r>
                  <a:rPr lang="en-US" sz="1800" baseline="30000" dirty="0"/>
                  <a:t>–</a:t>
                </a:r>
                <a:r>
                  <a:rPr lang="en-US" sz="1800" dirty="0"/>
                  <a:t> = An as corresponding conjugate acids and bases)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sz="2000" baseline="-2500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000" baseline="-250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An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–</m:t>
                            </m:r>
                          </m:sup>
                        </m:sSup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HAn</m:t>
                        </m:r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sz="2000" baseline="-2500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i="1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HAn</m:t>
                            </m:r>
                          </m:e>
                        </m:d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OH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–</m:t>
                            </m:r>
                          </m:sup>
                        </m:sSup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An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–</m:t>
                            </m:r>
                          </m:sup>
                        </m:sSup>
                        <m:r>
                          <a:rPr lang="en-US" sz="200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sz="2000" dirty="0">
                  <a:solidFill>
                    <a:srgbClr val="00FF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/>
                  <a:t>Doing some algebra to solve for Han on </a:t>
                </a:r>
                <a:r>
                  <a:rPr lang="en-US" sz="1800" i="1" dirty="0"/>
                  <a:t>K</a:t>
                </a:r>
                <a:r>
                  <a:rPr lang="en-US" sz="1800" baseline="-25000" dirty="0"/>
                  <a:t>a</a:t>
                </a:r>
                <a:r>
                  <a:rPr lang="en-US" sz="1800" dirty="0"/>
                  <a:t> and </a:t>
                </a:r>
                <a:r>
                  <a:rPr lang="en-US" sz="1800" i="1" dirty="0" err="1"/>
                  <a:t>K</a:t>
                </a:r>
                <a:r>
                  <a:rPr lang="en-US" sz="1800" baseline="-25000" dirty="0" err="1"/>
                  <a:t>b</a:t>
                </a:r>
                <a:r>
                  <a:rPr lang="en-US" sz="1800" dirty="0"/>
                  <a:t>,</a:t>
                </a:r>
                <a:endParaRPr lang="en-US" sz="1800" dirty="0">
                  <a:solidFill>
                    <a:srgbClr val="00FF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HAn</m:t>
                      </m:r>
                      <m:r>
                        <a:rPr lang="en-US" sz="18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180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aseline="-250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An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m:rPr>
                              <m:sty m:val="p"/>
                            </m:rPr>
                            <a:rPr lang="en-US" sz="1800" baseline="-250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m:rPr>
                          <m:nor/>
                        </m:rPr>
                        <a:rPr lang="en-US" sz="1800" dirty="0"/>
                        <m:t>,</m:t>
                      </m:r>
                      <m:r>
                        <m:rPr>
                          <m:nor/>
                        </m:rPr>
                        <a:rPr lang="en-US" sz="1800" b="0" i="0" dirty="0" smtClean="0"/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HAn</m:t>
                          </m:r>
                        </m:e>
                      </m:d>
                      <m:r>
                        <a:rPr lang="en-US" sz="18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m:rPr>
                              <m:sty m:val="p"/>
                            </m:rPr>
                            <a:rPr lang="en-US" sz="1800" baseline="-250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An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sz="1800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FF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/>
                  <a:t>And 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aseline="-250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An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m:rPr>
                              <m:sty m:val="p"/>
                            </m:rPr>
                            <a:rPr lang="en-US" sz="1800" baseline="-250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en-US" sz="18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m:rPr>
                              <m:sty m:val="p"/>
                            </m:rPr>
                            <a:rPr lang="en-US" sz="1800" baseline="-250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An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18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sz="18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1800" dirty="0"/>
                  <a:t>Getting the constants on one side of the equation and canceling out [An</a:t>
                </a:r>
                <a:r>
                  <a:rPr lang="en-US" sz="1800" baseline="30000" dirty="0"/>
                  <a:t>–</a:t>
                </a:r>
                <a:r>
                  <a:rPr lang="en-US" sz="1800" dirty="0"/>
                  <a:t>]: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 baseline="-250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sz="20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OH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–</m:t>
                          </m:r>
                        </m:sup>
                      </m:sSup>
                      <m:r>
                        <a:rPr lang="en-US" sz="20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0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sz="2000" baseline="-250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sz="2000" baseline="-2500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Since </a:t>
                </a:r>
                <a:r>
                  <a:rPr lang="en-US" sz="2000" i="1" dirty="0"/>
                  <a:t>K</a:t>
                </a:r>
                <a:r>
                  <a:rPr lang="en-US" sz="2000" baseline="-25000" dirty="0"/>
                  <a:t>w</a:t>
                </a:r>
                <a:r>
                  <a:rPr lang="en-US" sz="2000" dirty="0"/>
                  <a:t> = [H</a:t>
                </a:r>
                <a:r>
                  <a:rPr lang="en-US" sz="2000" baseline="-25000" dirty="0"/>
                  <a:t>3</a:t>
                </a:r>
                <a:r>
                  <a:rPr lang="en-US" sz="2000" dirty="0"/>
                  <a:t>O</a:t>
                </a:r>
                <a:r>
                  <a:rPr lang="en-US" sz="2000" baseline="30000" dirty="0"/>
                  <a:t>+</a:t>
                </a:r>
                <a:r>
                  <a:rPr lang="en-US" sz="2000" dirty="0"/>
                  <a:t>][OH</a:t>
                </a:r>
                <a:r>
                  <a:rPr lang="en-US" sz="2000" baseline="30000" dirty="0"/>
                  <a:t>–</a:t>
                </a:r>
                <a:r>
                  <a:rPr lang="en-US" sz="2000" dirty="0"/>
                  <a:t>], therefore </a:t>
                </a:r>
                <a:r>
                  <a:rPr lang="en-US" sz="2000" i="1" dirty="0"/>
                  <a:t>K</a:t>
                </a:r>
                <a:r>
                  <a:rPr lang="en-US" sz="2000" baseline="-25000" dirty="0"/>
                  <a:t>w</a:t>
                </a:r>
                <a:r>
                  <a:rPr lang="en-US" sz="2000" dirty="0"/>
                  <a:t> = </a:t>
                </a:r>
                <a:r>
                  <a:rPr lang="en-US" sz="2000" i="1" dirty="0" err="1"/>
                  <a:t>K</a:t>
                </a:r>
                <a:r>
                  <a:rPr lang="en-US" sz="2000" baseline="-25000" dirty="0" err="1"/>
                  <a:t>a</a:t>
                </a:r>
                <a:r>
                  <a:rPr lang="en-US" sz="2000" i="1" dirty="0" err="1"/>
                  <a:t>K</a:t>
                </a:r>
                <a:r>
                  <a:rPr lang="en-US" sz="2000" baseline="-25000" dirty="0" err="1"/>
                  <a:t>b</a:t>
                </a:r>
                <a:endParaRPr lang="en-US" sz="2000" baseline="-25000" dirty="0"/>
              </a:p>
              <a:p>
                <a:pPr marL="0" indent="0">
                  <a:buNone/>
                </a:pPr>
                <a:r>
                  <a:rPr lang="en-US" sz="2000" dirty="0"/>
                  <a:t>And since </a:t>
                </a:r>
                <a:r>
                  <a:rPr lang="en-US" sz="2000" i="1" dirty="0"/>
                  <a:t>K</a:t>
                </a:r>
                <a:r>
                  <a:rPr lang="en-US" sz="2000" baseline="-25000" dirty="0"/>
                  <a:t>w</a:t>
                </a:r>
                <a:r>
                  <a:rPr lang="en-US" sz="2000" dirty="0"/>
                  <a:t> = 1.0 × 10</a:t>
                </a:r>
                <a:r>
                  <a:rPr lang="en-US" sz="2000" baseline="30000" dirty="0"/>
                  <a:t>–14</a:t>
                </a:r>
                <a:r>
                  <a:rPr lang="en-US" sz="2000" dirty="0"/>
                  <a:t>, then </a:t>
                </a:r>
                <a:r>
                  <a:rPr lang="en-US" sz="2000" i="1" dirty="0" err="1"/>
                  <a:t>K</a:t>
                </a:r>
                <a:r>
                  <a:rPr lang="en-US" sz="2000" baseline="-25000" dirty="0" err="1"/>
                  <a:t>a</a:t>
                </a:r>
                <a:r>
                  <a:rPr lang="en-US" sz="2000" i="1" dirty="0" err="1"/>
                  <a:t>K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1.0 × 10</a:t>
                </a:r>
                <a:r>
                  <a:rPr lang="en-US" sz="2000" baseline="30000" dirty="0"/>
                  <a:t>–14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153BCBA-D8CD-C5FD-9CC5-B11A5508C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889" y="1020806"/>
                <a:ext cx="8387645" cy="5558009"/>
              </a:xfrm>
              <a:blipFill>
                <a:blip r:embed="rId2"/>
                <a:stretch>
                  <a:fillRect l="-727" t="-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5110E3-4825-9F5B-22ED-5C83D5F59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59997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E6CF-D1B1-A345-B433-425AD845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5B9866-6D23-BBFA-3CF6-D3089DBA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05789"/>
            <a:ext cx="8421512" cy="707886"/>
          </a:xfrm>
        </p:spPr>
        <p:txBody>
          <a:bodyPr/>
          <a:lstStyle/>
          <a:p>
            <a:r>
              <a:rPr lang="en-US" sz="4000" dirty="0"/>
              <a:t>Equilibrium Reaction of Precipitation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403710-F56E-99E7-9067-E4543A116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44452"/>
            <a:ext cx="8387645" cy="5503104"/>
          </a:xfrm>
        </p:spPr>
        <p:txBody>
          <a:bodyPr/>
          <a:lstStyle/>
          <a:p>
            <a:r>
              <a:rPr lang="en-US" sz="2200" dirty="0"/>
              <a:t>Up to this point,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precipitation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FFFF00"/>
                </a:solidFill>
              </a:rPr>
              <a:t>reactions</a:t>
            </a:r>
            <a:r>
              <a:rPr lang="en-US" sz="2200" dirty="0"/>
              <a:t> usually involving some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metal cation </a:t>
            </a:r>
            <a:r>
              <a:rPr lang="en-US" sz="2200" dirty="0"/>
              <a:t>(</a:t>
            </a:r>
            <a:r>
              <a:rPr lang="en-US" sz="2200" b="1" dirty="0">
                <a:solidFill>
                  <a:srgbClr val="FFC000"/>
                </a:solidFill>
              </a:rPr>
              <a:t>M</a:t>
            </a:r>
            <a:r>
              <a:rPr lang="en-US" sz="2200" b="1" baseline="30000" dirty="0">
                <a:solidFill>
                  <a:srgbClr val="FFC000"/>
                </a:solidFill>
              </a:rPr>
              <a:t>+</a:t>
            </a:r>
            <a:r>
              <a:rPr lang="en-US" sz="2200" dirty="0"/>
              <a:t>) and a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nonmetal monatomic </a:t>
            </a:r>
            <a:r>
              <a:rPr lang="en-US" sz="2200" dirty="0"/>
              <a:t>or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polyatomic anion </a:t>
            </a:r>
            <a:r>
              <a:rPr lang="en-US" sz="2200" dirty="0"/>
              <a:t>(</a:t>
            </a:r>
            <a:r>
              <a:rPr lang="en-US" sz="2200" b="1" dirty="0">
                <a:solidFill>
                  <a:srgbClr val="FFC000"/>
                </a:solidFill>
              </a:rPr>
              <a:t>X</a:t>
            </a:r>
            <a:r>
              <a:rPr lang="en-US" sz="2200" b="1" baseline="30000" dirty="0">
                <a:solidFill>
                  <a:srgbClr val="FFC000"/>
                </a:solidFill>
              </a:rPr>
              <a:t>–</a:t>
            </a:r>
            <a:r>
              <a:rPr lang="en-US" sz="2200" dirty="0"/>
              <a:t>) would be described by this reaction pattern: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M</a:t>
            </a:r>
            <a:r>
              <a:rPr lang="en-US" baseline="30000" dirty="0">
                <a:solidFill>
                  <a:srgbClr val="FFC000"/>
                </a:solidFill>
              </a:rPr>
              <a:t>+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 err="1">
                <a:solidFill>
                  <a:srgbClr val="FFC000"/>
                </a:solidFill>
              </a:rPr>
              <a:t>aq</a:t>
            </a:r>
            <a:r>
              <a:rPr lang="en-US" dirty="0">
                <a:solidFill>
                  <a:srgbClr val="FFC000"/>
                </a:solidFill>
              </a:rPr>
              <a:t>) + X</a:t>
            </a:r>
            <a:r>
              <a:rPr lang="en-US" baseline="30000" dirty="0">
                <a:solidFill>
                  <a:srgbClr val="FFC000"/>
                </a:solidFill>
              </a:rPr>
              <a:t>–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 err="1">
                <a:solidFill>
                  <a:srgbClr val="FFC000"/>
                </a:solidFill>
              </a:rPr>
              <a:t>aq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MX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endParaRPr lang="en-US" dirty="0">
              <a:solidFill>
                <a:srgbClr val="FFC000"/>
              </a:solidFill>
            </a:endParaRPr>
          </a:p>
          <a:p>
            <a:r>
              <a:rPr lang="en-US" dirty="0"/>
              <a:t>But </a:t>
            </a:r>
            <a:r>
              <a:rPr lang="en-US" dirty="0">
                <a:solidFill>
                  <a:srgbClr val="FFFF00"/>
                </a:solidFill>
              </a:rPr>
              <a:t>precipitation</a:t>
            </a:r>
            <a:r>
              <a:rPr lang="en-US" dirty="0"/>
              <a:t> reactions are not actually one way—towards the formation of a </a:t>
            </a:r>
            <a:r>
              <a:rPr lang="en-US" dirty="0">
                <a:solidFill>
                  <a:srgbClr val="FFFF00"/>
                </a:solidFill>
              </a:rPr>
              <a:t>solid precipitate</a:t>
            </a:r>
          </a:p>
          <a:p>
            <a:r>
              <a:rPr lang="en-US" dirty="0"/>
              <a:t>Just like many chemical reactions, they are two-way, </a:t>
            </a:r>
            <a:r>
              <a:rPr lang="en-US" dirty="0">
                <a:solidFill>
                  <a:srgbClr val="FFFF00"/>
                </a:solidFill>
              </a:rPr>
              <a:t>reversible</a:t>
            </a:r>
            <a:r>
              <a:rPr lang="en-US" dirty="0"/>
              <a:t>: if the well-known precipitant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silver chloride</a:t>
            </a:r>
            <a:r>
              <a:rPr lang="en-US" dirty="0"/>
              <a:t> (</a:t>
            </a:r>
            <a:r>
              <a:rPr lang="en-US" b="1" dirty="0">
                <a:solidFill>
                  <a:srgbClr val="FFC000"/>
                </a:solidFill>
              </a:rPr>
              <a:t>AgCl</a:t>
            </a:r>
            <a:r>
              <a:rPr lang="en-US" dirty="0"/>
              <a:t>) is spooned out as a </a:t>
            </a:r>
            <a:r>
              <a:rPr lang="en-US" dirty="0">
                <a:solidFill>
                  <a:srgbClr val="FFFF00"/>
                </a:solidFill>
              </a:rPr>
              <a:t>solid</a:t>
            </a:r>
            <a:r>
              <a:rPr lang="en-US" dirty="0"/>
              <a:t> into a </a:t>
            </a:r>
            <a:r>
              <a:rPr lang="en-US" dirty="0">
                <a:solidFill>
                  <a:srgbClr val="FFFF00"/>
                </a:solidFill>
              </a:rPr>
              <a:t>beaker</a:t>
            </a:r>
            <a:r>
              <a:rPr lang="en-US" dirty="0"/>
              <a:t> of </a:t>
            </a:r>
            <a:r>
              <a:rPr lang="en-US" dirty="0">
                <a:solidFill>
                  <a:srgbClr val="FFFF00"/>
                </a:solidFill>
              </a:rPr>
              <a:t>water</a:t>
            </a:r>
            <a:r>
              <a:rPr lang="en-US" dirty="0"/>
              <a:t>, the </a:t>
            </a:r>
            <a:r>
              <a:rPr lang="en-US" dirty="0">
                <a:solidFill>
                  <a:srgbClr val="FFFF00"/>
                </a:solidFill>
              </a:rPr>
              <a:t>aqueous solution </a:t>
            </a:r>
            <a:r>
              <a:rPr lang="en-US" dirty="0"/>
              <a:t>will have detectable levels of </a:t>
            </a:r>
            <a:r>
              <a:rPr lang="en-US" dirty="0">
                <a:solidFill>
                  <a:srgbClr val="FFC000"/>
                </a:solidFill>
              </a:rPr>
              <a:t>Ag</a:t>
            </a:r>
            <a:r>
              <a:rPr lang="en-US" baseline="30000" dirty="0">
                <a:solidFill>
                  <a:srgbClr val="FFC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C000"/>
                </a:solidFill>
              </a:rPr>
              <a:t>Cl</a:t>
            </a:r>
            <a:r>
              <a:rPr lang="en-US" baseline="30000" dirty="0">
                <a:solidFill>
                  <a:srgbClr val="FFC000"/>
                </a:solidFill>
              </a:rPr>
              <a:t>–</a:t>
            </a:r>
            <a:r>
              <a:rPr lang="en-US" dirty="0"/>
              <a:t> ions</a:t>
            </a:r>
          </a:p>
          <a:p>
            <a:r>
              <a:rPr lang="en-US" dirty="0"/>
              <a:t>It’s all about a range of </a:t>
            </a:r>
            <a:r>
              <a:rPr lang="en-US" b="1" dirty="0">
                <a:solidFill>
                  <a:srgbClr val="00FF00"/>
                </a:solidFill>
              </a:rPr>
              <a:t>solubility</a:t>
            </a:r>
            <a:r>
              <a:rPr lang="en-US" dirty="0"/>
              <a:t>, from </a:t>
            </a:r>
            <a:r>
              <a:rPr lang="en-US" dirty="0">
                <a:solidFill>
                  <a:srgbClr val="FFFF00"/>
                </a:solidFill>
              </a:rPr>
              <a:t>very low </a:t>
            </a:r>
            <a:r>
              <a:rPr lang="en-US" dirty="0"/>
              <a:t>to </a:t>
            </a:r>
            <a:r>
              <a:rPr lang="en-US" dirty="0">
                <a:solidFill>
                  <a:srgbClr val="FFFF00"/>
                </a:solidFill>
              </a:rPr>
              <a:t>super high </a:t>
            </a:r>
            <a:r>
              <a:rPr lang="en-US" dirty="0"/>
              <a:t>(total </a:t>
            </a:r>
            <a:r>
              <a:rPr lang="en-US" dirty="0">
                <a:solidFill>
                  <a:srgbClr val="FFFF00"/>
                </a:solidFill>
              </a:rPr>
              <a:t>dissolution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B7612-182B-48F1-9334-1320A17CE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49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75479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460B-D40A-DC3E-1602-66B9DDEE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368585-A46B-52ED-FD80-0C0487D50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75011"/>
            <a:ext cx="8421512" cy="769441"/>
          </a:xfrm>
        </p:spPr>
        <p:txBody>
          <a:bodyPr/>
          <a:lstStyle/>
          <a:p>
            <a:r>
              <a:rPr lang="en-US" sz="4400" dirty="0"/>
              <a:t>The Solubility Product </a:t>
            </a:r>
            <a:r>
              <a:rPr lang="en-US" sz="4400" i="1" dirty="0" err="1"/>
              <a:t>K</a:t>
            </a:r>
            <a:r>
              <a:rPr lang="en-US" sz="4400" baseline="-25000" dirty="0" err="1"/>
              <a:t>sp</a:t>
            </a:r>
            <a:endParaRPr lang="en-US" sz="44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0FB7E32-72C0-670F-EC8B-31FC5CD7A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44452"/>
                <a:ext cx="8387645" cy="5503104"/>
              </a:xfrm>
            </p:spPr>
            <p:txBody>
              <a:bodyPr/>
              <a:lstStyle/>
              <a:p>
                <a:r>
                  <a:rPr lang="en-US" sz="2000" dirty="0"/>
                  <a:t>The precipitation reaction is properly written with the equilibrium character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</a:rPr>
                  <a:t>M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X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MX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endParaRPr lang="en-US" sz="2000" dirty="0">
                  <a:solidFill>
                    <a:srgbClr val="FFC000"/>
                  </a:solidFill>
                </a:endParaRPr>
              </a:p>
              <a:p>
                <a:r>
                  <a:rPr lang="en-US" sz="2000" dirty="0"/>
                  <a:t>And when written this way</a:t>
                </a:r>
              </a:p>
              <a:p>
                <a:pPr marL="0" indent="0" algn="ctr">
                  <a:buNone/>
                </a:pPr>
                <a:r>
                  <a:rPr lang="en-US" sz="2000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sz="2000" baseline="-25000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n</a:t>
                </a:r>
                <a:r>
                  <a:rPr lang="en-US" sz="2000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X</a:t>
                </a:r>
                <a:r>
                  <a:rPr lang="en-US" sz="2000" baseline="-25000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y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  <m:r>
                      <a:rPr lang="en-US" sz="20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n M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y+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y </a:t>
                </a:r>
                <a:r>
                  <a:rPr lang="en-US" sz="2000" dirty="0" err="1">
                    <a:solidFill>
                      <a:srgbClr val="FFC000"/>
                    </a:solidFill>
                  </a:rPr>
                  <a:t>X</a:t>
                </a:r>
                <a:r>
                  <a:rPr lang="en-US" sz="2000" baseline="30000" dirty="0" err="1">
                    <a:solidFill>
                      <a:srgbClr val="FFC000"/>
                    </a:solidFill>
                  </a:rPr>
                  <a:t>n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the equilibrium equation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sz="2000" b="0" i="0" baseline="-25000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sp</m:t>
                      </m:r>
                      <m:r>
                        <a:rPr lang="en-US" sz="2000" i="1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a:rPr lang="en-US" sz="2000" i="0">
                                      <a:solidFill>
                                        <a:srgbClr val="00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000" b="0" i="0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</m:sup>
                          </m:sSup>
                          <m:r>
                            <a:rPr lang="en-US" sz="2000" i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  <a:p>
                <a:r>
                  <a:rPr lang="en-US" sz="2000" dirty="0"/>
                  <a:t>Notes</a:t>
                </a:r>
              </a:p>
              <a:p>
                <a:pPr lvl="1"/>
                <a:r>
                  <a:rPr lang="en-US" b="1" i="1" dirty="0" err="1">
                    <a:solidFill>
                      <a:srgbClr val="00FF00"/>
                    </a:solidFill>
                  </a:rPr>
                  <a:t>K</a:t>
                </a:r>
                <a:r>
                  <a:rPr lang="en-US" b="1" baseline="-25000" dirty="0" err="1">
                    <a:solidFill>
                      <a:srgbClr val="00FF00"/>
                    </a:solidFill>
                  </a:rPr>
                  <a:t>sp</a:t>
                </a:r>
                <a:r>
                  <a:rPr lang="en-US" dirty="0"/>
                  <a:t> is the </a:t>
                </a:r>
                <a:r>
                  <a:rPr lang="en-US" b="1" dirty="0">
                    <a:solidFill>
                      <a:srgbClr val="00FF00"/>
                    </a:solidFill>
                  </a:rPr>
                  <a:t>solubility product constant</a:t>
                </a:r>
              </a:p>
              <a:p>
                <a:pPr lvl="1"/>
                <a:r>
                  <a:rPr lang="en-US" sz="1800" dirty="0"/>
                  <a:t>This template/pattern covers all conditions for the charge state (±1, ±2, </a:t>
                </a:r>
                <a:r>
                  <a:rPr lang="en-US" sz="1800" dirty="0" err="1"/>
                  <a:t>etc</a:t>
                </a:r>
                <a:r>
                  <a:rPr lang="en-US" sz="1800" dirty="0"/>
                  <a:t>) of M and X and their coefficients</a:t>
                </a:r>
              </a:p>
              <a:p>
                <a:pPr lvl="1"/>
                <a:r>
                  <a:rPr lang="en-US" sz="1800" dirty="0"/>
                  <a:t>Always remember that for all equilibrium constant expressions that coefficients in the </a:t>
                </a:r>
                <a:r>
                  <a:rPr lang="en-US" sz="1800" i="1" dirty="0"/>
                  <a:t>K</a:t>
                </a:r>
                <a:r>
                  <a:rPr lang="en-US" sz="1800" dirty="0"/>
                  <a:t> equation are shown as exponents to the concentration of the species</a:t>
                </a:r>
              </a:p>
              <a:p>
                <a:pPr lvl="1"/>
                <a:r>
                  <a:rPr lang="en-US" sz="1800" dirty="0"/>
                  <a:t>Reactants are shown in denominator of </a:t>
                </a:r>
                <a:r>
                  <a:rPr lang="en-US" sz="1800" i="1" dirty="0"/>
                  <a:t>K </a:t>
                </a:r>
                <a:r>
                  <a:rPr lang="en-US" sz="1800" dirty="0"/>
                  <a:t>equations, but since reactant MX is a solid, it will not be in </a:t>
                </a:r>
                <a:r>
                  <a:rPr lang="en-US" sz="1800" i="1" dirty="0" err="1"/>
                  <a:t>K</a:t>
                </a:r>
                <a:r>
                  <a:rPr lang="en-US" sz="1800" baseline="-25000" dirty="0" err="1"/>
                  <a:t>sp</a:t>
                </a:r>
                <a:r>
                  <a:rPr lang="en-US" sz="1800" dirty="0"/>
                  <a:t> equations typically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0FB7E32-72C0-670F-EC8B-31FC5CD7A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44452"/>
                <a:ext cx="8387645" cy="5503104"/>
              </a:xfrm>
              <a:blipFill>
                <a:blip r:embed="rId2"/>
                <a:stretch>
                  <a:fillRect l="-799" t="-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87C901-6F54-77CD-7F6C-A25034C3C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50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41600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4F69-BDEE-F7B6-CF1D-947F9A1E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ABC09F-0D00-AD6C-E4F3-D87B33EB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75011"/>
            <a:ext cx="8421512" cy="769441"/>
          </a:xfrm>
        </p:spPr>
        <p:txBody>
          <a:bodyPr/>
          <a:lstStyle/>
          <a:p>
            <a:r>
              <a:rPr lang="en-US" sz="4400" dirty="0"/>
              <a:t>Example </a:t>
            </a:r>
            <a:r>
              <a:rPr lang="en-US" sz="4400" i="1" dirty="0" err="1"/>
              <a:t>K</a:t>
            </a:r>
            <a:r>
              <a:rPr lang="en-US" sz="4400" baseline="-25000" dirty="0" err="1"/>
              <a:t>sp</a:t>
            </a:r>
            <a:r>
              <a:rPr lang="en-US" sz="4400" dirty="0"/>
              <a:t>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A27933-7B34-4A99-BC44-23FFAAFB9D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44452"/>
                <a:ext cx="8387645" cy="5503104"/>
              </a:xfrm>
            </p:spPr>
            <p:txBody>
              <a:bodyPr/>
              <a:lstStyle/>
              <a:p>
                <a:r>
                  <a:rPr lang="en-US" sz="2000" dirty="0"/>
                  <a:t>The silver chloride solubility chemical reaction is this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AgCl (</a:t>
                </a:r>
                <a:r>
                  <a:rPr lang="en-US" sz="20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  <m:r>
                      <a:rPr lang="en-US" sz="20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FC000"/>
                    </a:solidFill>
                  </a:rPr>
                  <a:t> Ag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+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 + Cl</a:t>
                </a:r>
                <a:r>
                  <a:rPr lang="en-US" sz="2000" baseline="30000" dirty="0">
                    <a:solidFill>
                      <a:srgbClr val="FFC000"/>
                    </a:solidFill>
                  </a:rPr>
                  <a:t>–</a:t>
                </a:r>
                <a:r>
                  <a:rPr lang="en-US" sz="2000" dirty="0">
                    <a:solidFill>
                      <a:srgbClr val="FFC000"/>
                    </a:solidFill>
                  </a:rPr>
                  <a:t> (</a:t>
                </a:r>
                <a:r>
                  <a:rPr lang="en-US" sz="2000" i="1" dirty="0" err="1">
                    <a:solidFill>
                      <a:srgbClr val="FFC000"/>
                    </a:solidFill>
                  </a:rPr>
                  <a:t>aq</a:t>
                </a:r>
                <a:r>
                  <a:rPr lang="en-US" sz="2000" dirty="0">
                    <a:solidFill>
                      <a:srgbClr val="FFC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Table below the reactions and equilibrium constant equations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A27933-7B34-4A99-BC44-23FFAAFB9D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44452"/>
                <a:ext cx="8387645" cy="5503104"/>
              </a:xfrm>
              <a:blipFill>
                <a:blip r:embed="rId2"/>
                <a:stretch>
                  <a:fillRect l="-1090" t="-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43188-015F-D374-1DE9-52557D110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D52F3-54CA-4E42-BFA9-4F0301781925}" type="slidenum">
              <a:rPr lang="en-US" smtClean="0"/>
              <a:pPr/>
              <a:t>51</a:t>
            </a:fld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5B2060B-C22B-07A5-1DAB-F7860CAE7F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4065930"/>
                  </p:ext>
                </p:extLst>
              </p:nvPr>
            </p:nvGraphicFramePr>
            <p:xfrm>
              <a:off x="183802" y="2958845"/>
              <a:ext cx="8718215" cy="33375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95755">
                      <a:extLst>
                        <a:ext uri="{9D8B030D-6E8A-4147-A177-3AD203B41FA5}">
                          <a16:colId xmlns:a16="http://schemas.microsoft.com/office/drawing/2014/main" val="3918466844"/>
                        </a:ext>
                      </a:extLst>
                    </a:gridCol>
                    <a:gridCol w="4125681">
                      <a:extLst>
                        <a:ext uri="{9D8B030D-6E8A-4147-A177-3AD203B41FA5}">
                          <a16:colId xmlns:a16="http://schemas.microsoft.com/office/drawing/2014/main" val="487635580"/>
                        </a:ext>
                      </a:extLst>
                    </a:gridCol>
                    <a:gridCol w="3396779">
                      <a:extLst>
                        <a:ext uri="{9D8B030D-6E8A-4147-A177-3AD203B41FA5}">
                          <a16:colId xmlns:a16="http://schemas.microsoft.com/office/drawing/2014/main" val="30718102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Compound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Reaction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i="1" dirty="0" err="1"/>
                            <a:t>K</a:t>
                          </a:r>
                          <a:r>
                            <a:rPr lang="en-US" sz="1400" baseline="-25000" dirty="0" err="1"/>
                            <a:t>sp</a:t>
                          </a:r>
                          <a:endParaRPr lang="en-US" sz="1400" baseline="-25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8046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Ag</a:t>
                          </a:r>
                          <a:r>
                            <a:rPr lang="en-US" baseline="-25000" dirty="0"/>
                            <a:t>2</a:t>
                          </a:r>
                          <a:r>
                            <a:rPr lang="en-US" dirty="0"/>
                            <a:t>SO</a:t>
                          </a:r>
                          <a:r>
                            <a:rPr lang="en-US" baseline="-25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Ag</a:t>
                          </a:r>
                          <a:r>
                            <a:rPr lang="en-US" sz="1600" baseline="-25000" dirty="0"/>
                            <a:t>2</a:t>
                          </a:r>
                          <a:r>
                            <a:rPr lang="en-US" sz="1600" dirty="0"/>
                            <a:t>SO</a:t>
                          </a:r>
                          <a:r>
                            <a:rPr lang="en-US" sz="1600" baseline="-25000" dirty="0"/>
                            <a:t>4</a:t>
                          </a:r>
                          <a:r>
                            <a:rPr lang="en-US" sz="1600" dirty="0"/>
                            <a:t> (</a:t>
                          </a:r>
                          <a:r>
                            <a:rPr lang="en-US" sz="1600" i="1" dirty="0"/>
                            <a:t>s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600" dirty="0"/>
                            <a:t> 2 Ag</a:t>
                          </a:r>
                          <a:r>
                            <a:rPr lang="en-US" sz="1600" baseline="30000" dirty="0"/>
                            <a:t>+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 + SO</a:t>
                          </a:r>
                          <a:r>
                            <a:rPr lang="en-US" sz="1600" baseline="-25000" dirty="0"/>
                            <a:t>4</a:t>
                          </a:r>
                          <a:r>
                            <a:rPr lang="en-US" sz="1600" baseline="30000" dirty="0"/>
                            <a:t>2–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Ag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SO</m:t>
                                        </m:r>
                                        <m:r>
                                          <a:rPr lang="en-US" b="0" i="0" baseline="-2500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2−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2163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Ca(OH)</a:t>
                          </a:r>
                          <a:r>
                            <a:rPr lang="en-US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Ca(OH)</a:t>
                          </a:r>
                          <a:r>
                            <a:rPr lang="en-US" sz="1600" baseline="-25000" dirty="0"/>
                            <a:t>2</a:t>
                          </a:r>
                          <a:r>
                            <a:rPr lang="en-US" sz="1600" dirty="0"/>
                            <a:t> (</a:t>
                          </a:r>
                          <a:r>
                            <a:rPr lang="en-US" sz="1600" i="1" dirty="0"/>
                            <a:t>s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600" dirty="0"/>
                            <a:t> Ca</a:t>
                          </a:r>
                          <a:r>
                            <a:rPr lang="en-US" sz="1600" baseline="30000" dirty="0"/>
                            <a:t>2+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 + 2 OH</a:t>
                          </a:r>
                          <a:r>
                            <a:rPr lang="en-US" sz="1600" baseline="30000" dirty="0"/>
                            <a:t>–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Ca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2+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OH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=5.0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931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AgCl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AgCl (</a:t>
                          </a:r>
                          <a:r>
                            <a:rPr lang="en-US" sz="1600" i="1" dirty="0"/>
                            <a:t>s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600" dirty="0"/>
                            <a:t> Ag</a:t>
                          </a:r>
                          <a:r>
                            <a:rPr lang="en-US" sz="1600" baseline="30000" dirty="0"/>
                            <a:t>+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 + Cl</a:t>
                          </a:r>
                          <a:r>
                            <a:rPr lang="en-US" sz="1600" baseline="30000" dirty="0"/>
                            <a:t>–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Ag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Cl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=1.8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0092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BaSO</a:t>
                          </a:r>
                          <a:r>
                            <a:rPr lang="en-US" baseline="-25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BaSO</a:t>
                          </a:r>
                          <a:r>
                            <a:rPr lang="en-US" sz="1600" baseline="-25000" dirty="0"/>
                            <a:t>4</a:t>
                          </a:r>
                          <a:r>
                            <a:rPr lang="en-US" sz="1600" dirty="0"/>
                            <a:t> (</a:t>
                          </a:r>
                          <a:r>
                            <a:rPr lang="en-US" sz="1600" i="1" dirty="0"/>
                            <a:t>s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600" dirty="0"/>
                            <a:t> Ba</a:t>
                          </a:r>
                          <a:r>
                            <a:rPr lang="en-US" sz="1600" baseline="30000" dirty="0"/>
                            <a:t>2+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 + SO</a:t>
                          </a:r>
                          <a:r>
                            <a:rPr lang="en-US" sz="1600" baseline="-25000" dirty="0"/>
                            <a:t>4</a:t>
                          </a:r>
                          <a:r>
                            <a:rPr lang="en-US" sz="1600" baseline="30000" dirty="0"/>
                            <a:t>2–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Ba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2+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SO</m:t>
                                        </m:r>
                                        <m:r>
                                          <a:rPr lang="en-US" b="0" i="0" baseline="-2500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2−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5240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Mg(OH)</a:t>
                          </a:r>
                          <a:r>
                            <a:rPr lang="en-US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Mg(OH)</a:t>
                          </a:r>
                          <a:r>
                            <a:rPr lang="en-US" sz="1600" baseline="-25000" dirty="0"/>
                            <a:t>2</a:t>
                          </a:r>
                          <a:r>
                            <a:rPr lang="en-US" sz="1600" dirty="0"/>
                            <a:t> (</a:t>
                          </a:r>
                          <a:r>
                            <a:rPr lang="en-US" sz="1600" i="1" dirty="0"/>
                            <a:t>s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600" dirty="0"/>
                            <a:t> Mg</a:t>
                          </a:r>
                          <a:r>
                            <a:rPr lang="en-US" sz="1600" baseline="30000" dirty="0"/>
                            <a:t>2+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)+ 2 OH</a:t>
                          </a:r>
                          <a:r>
                            <a:rPr lang="en-US" sz="1600" baseline="30000" dirty="0"/>
                            <a:t>–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Mg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2+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OH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=5.6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104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AgI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/>
                            <a:t>AgI</a:t>
                          </a:r>
                          <a:r>
                            <a:rPr lang="en-US" sz="1600" dirty="0"/>
                            <a:t> (</a:t>
                          </a:r>
                          <a:r>
                            <a:rPr lang="en-US" sz="1600" i="1" dirty="0"/>
                            <a:t>s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600" dirty="0"/>
                            <a:t> Ag</a:t>
                          </a:r>
                          <a:r>
                            <a:rPr lang="en-US" sz="1600" baseline="30000" dirty="0"/>
                            <a:t>+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 + I</a:t>
                          </a:r>
                          <a:r>
                            <a:rPr lang="en-US" sz="1600" baseline="30000" dirty="0"/>
                            <a:t>–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Ag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=8.5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7586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HgI</a:t>
                          </a:r>
                          <a:r>
                            <a:rPr lang="en-US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HgI</a:t>
                          </a:r>
                          <a:r>
                            <a:rPr lang="en-US" sz="1600" baseline="-25000" dirty="0"/>
                            <a:t>2</a:t>
                          </a:r>
                          <a:r>
                            <a:rPr lang="en-US" sz="1600" dirty="0"/>
                            <a:t> (</a:t>
                          </a:r>
                          <a:r>
                            <a:rPr lang="en-US" sz="1600" i="1" dirty="0"/>
                            <a:t>s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600" dirty="0"/>
                            <a:t> Hg</a:t>
                          </a:r>
                          <a:r>
                            <a:rPr lang="en-US" sz="1600" baseline="30000" dirty="0"/>
                            <a:t>2+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 + 2 I</a:t>
                          </a:r>
                          <a:r>
                            <a:rPr lang="en-US" sz="1600" baseline="30000" dirty="0"/>
                            <a:t>–</a:t>
                          </a:r>
                          <a:r>
                            <a:rPr lang="en-US" sz="1600" baseline="0" dirty="0"/>
                            <a:t> (</a:t>
                          </a:r>
                          <a:r>
                            <a:rPr lang="en-US" sz="1600" i="1" baseline="0" dirty="0" err="1"/>
                            <a:t>aq</a:t>
                          </a:r>
                          <a:r>
                            <a:rPr lang="en-US" sz="1600" baseline="0" dirty="0"/>
                            <a:t>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Hg</m:t>
                                        </m:r>
                                      </m:e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2+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=2.9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01912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Ca</a:t>
                          </a:r>
                          <a:r>
                            <a:rPr lang="en-US" sz="1600" baseline="-25000" dirty="0"/>
                            <a:t>3</a:t>
                          </a:r>
                          <a:r>
                            <a:rPr lang="en-US" sz="1600" dirty="0"/>
                            <a:t>(PO</a:t>
                          </a:r>
                          <a:r>
                            <a:rPr lang="en-US" sz="1600" baseline="-25000" dirty="0"/>
                            <a:t>4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Ca</a:t>
                          </a:r>
                          <a:r>
                            <a:rPr lang="en-US" sz="1400" baseline="-25000" dirty="0"/>
                            <a:t>3</a:t>
                          </a:r>
                          <a:r>
                            <a:rPr lang="en-US" sz="1400" dirty="0"/>
                            <a:t>(PO</a:t>
                          </a:r>
                          <a:r>
                            <a:rPr lang="en-US" sz="1400" baseline="-25000" dirty="0"/>
                            <a:t>4</a:t>
                          </a:r>
                          <a:r>
                            <a:rPr lang="en-US" sz="1400" dirty="0"/>
                            <a:t>)</a:t>
                          </a:r>
                          <a:r>
                            <a:rPr lang="en-US" sz="1400" baseline="-25000" dirty="0"/>
                            <a:t>2</a:t>
                          </a:r>
                          <a:r>
                            <a:rPr lang="en-US" sz="1400" dirty="0"/>
                            <a:t> (</a:t>
                          </a:r>
                          <a:r>
                            <a:rPr lang="en-US" sz="1400" i="1" dirty="0"/>
                            <a:t>s</a:t>
                          </a:r>
                          <a:r>
                            <a:rPr lang="en-US" sz="1400" dirty="0"/>
                            <a:t>)</a:t>
                          </a:r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⇌</m:t>
                              </m:r>
                            </m:oMath>
                          </a14:m>
                          <a:r>
                            <a:rPr lang="en-US" sz="1400" dirty="0"/>
                            <a:t> 3 Ca</a:t>
                          </a:r>
                          <a:r>
                            <a:rPr lang="en-US" sz="1400" baseline="30000" dirty="0"/>
                            <a:t>2+</a:t>
                          </a:r>
                          <a:r>
                            <a:rPr lang="en-US" sz="1400" baseline="0" dirty="0"/>
                            <a:t> (</a:t>
                          </a:r>
                          <a:r>
                            <a:rPr lang="en-US" sz="1400" i="1" baseline="0" dirty="0" err="1"/>
                            <a:t>aq</a:t>
                          </a:r>
                          <a:r>
                            <a:rPr lang="en-US" sz="1400" baseline="0" dirty="0"/>
                            <a:t>) + 2 PO</a:t>
                          </a:r>
                          <a:r>
                            <a:rPr lang="en-US" sz="1400" baseline="-25000" dirty="0"/>
                            <a:t>4</a:t>
                          </a:r>
                          <a:r>
                            <a:rPr lang="en-US" sz="1400" baseline="30000" dirty="0"/>
                            <a:t>3–</a:t>
                          </a:r>
                          <a:r>
                            <a:rPr lang="en-US" sz="1400" baseline="0" dirty="0"/>
                            <a:t> (</a:t>
                          </a:r>
                          <a:r>
                            <a:rPr lang="en-US" sz="1400" i="1" baseline="0" dirty="0" err="1"/>
                            <a:t>aq</a:t>
                          </a:r>
                          <a:r>
                            <a:rPr lang="en-US" sz="1400" baseline="0" dirty="0"/>
                            <a:t>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Ca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2+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PO</m:t>
                                            </m:r>
                                            <m:r>
                                              <a:rPr lang="en-US" b="0" i="0" baseline="-25000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3−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=2.1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5418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5B2060B-C22B-07A5-1DAB-F7860CAE7F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4065930"/>
                  </p:ext>
                </p:extLst>
              </p:nvPr>
            </p:nvGraphicFramePr>
            <p:xfrm>
              <a:off x="183802" y="2958845"/>
              <a:ext cx="8718215" cy="33375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95755">
                      <a:extLst>
                        <a:ext uri="{9D8B030D-6E8A-4147-A177-3AD203B41FA5}">
                          <a16:colId xmlns:a16="http://schemas.microsoft.com/office/drawing/2014/main" val="3918466844"/>
                        </a:ext>
                      </a:extLst>
                    </a:gridCol>
                    <a:gridCol w="4125681">
                      <a:extLst>
                        <a:ext uri="{9D8B030D-6E8A-4147-A177-3AD203B41FA5}">
                          <a16:colId xmlns:a16="http://schemas.microsoft.com/office/drawing/2014/main" val="487635580"/>
                        </a:ext>
                      </a:extLst>
                    </a:gridCol>
                    <a:gridCol w="3396779">
                      <a:extLst>
                        <a:ext uri="{9D8B030D-6E8A-4147-A177-3AD203B41FA5}">
                          <a16:colId xmlns:a16="http://schemas.microsoft.com/office/drawing/2014/main" val="30718102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Compound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Reaction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i="1" dirty="0" err="1"/>
                            <a:t>K</a:t>
                          </a:r>
                          <a:r>
                            <a:rPr lang="en-US" sz="1400" baseline="-25000" dirty="0" err="1"/>
                            <a:t>sp</a:t>
                          </a:r>
                          <a:endParaRPr lang="en-US" sz="1400" baseline="-25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8046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Ag</a:t>
                          </a:r>
                          <a:r>
                            <a:rPr lang="en-US" baseline="-25000" dirty="0"/>
                            <a:t>2</a:t>
                          </a:r>
                          <a:r>
                            <a:rPr lang="en-US" dirty="0"/>
                            <a:t>SO</a:t>
                          </a:r>
                          <a:r>
                            <a:rPr lang="en-US" baseline="-25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104918" r="-83013" b="-7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104918" r="-717" b="-7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2163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Ca(OH)</a:t>
                          </a:r>
                          <a:r>
                            <a:rPr lang="en-US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204918" r="-83013" b="-6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204918" r="-717" b="-6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31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AgCl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304918" r="-83013" b="-5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304918" r="-717" b="-5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0092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BaSO</a:t>
                          </a:r>
                          <a:r>
                            <a:rPr lang="en-US" baseline="-25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411667" r="-83013" b="-4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411667" r="-717" b="-41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5240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Mg(OH)</a:t>
                          </a:r>
                          <a:r>
                            <a:rPr lang="en-US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503279" r="-83013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503279" r="-717" b="-3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2104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AgI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603279" r="-83013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603279" r="-717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7586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HgI</a:t>
                          </a:r>
                          <a:r>
                            <a:rPr lang="en-US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703279" r="-83013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703279" r="-717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01912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Ca</a:t>
                          </a:r>
                          <a:r>
                            <a:rPr lang="en-US" sz="1600" baseline="-25000" dirty="0"/>
                            <a:t>3</a:t>
                          </a:r>
                          <a:r>
                            <a:rPr lang="en-US" sz="1600" dirty="0"/>
                            <a:t>(PO</a:t>
                          </a:r>
                          <a:r>
                            <a:rPr lang="en-US" sz="1600" baseline="-25000" dirty="0"/>
                            <a:t>4</a:t>
                          </a:r>
                          <a:r>
                            <a:rPr lang="en-US" sz="1600" dirty="0"/>
                            <a:t>)</a:t>
                          </a:r>
                          <a:r>
                            <a:rPr lang="en-US" sz="1600" baseline="-25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099" t="-803279" r="-83013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631" t="-803279" r="-717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4188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18292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31275</TotalTime>
  <Words>5294</Words>
  <Application>Microsoft Office PowerPoint</Application>
  <PresentationFormat>On-screen Show (4:3)</PresentationFormat>
  <Paragraphs>454</Paragraphs>
  <Slides>51</Slides>
  <Notes>2</Notes>
  <HiddenSlides>1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Cambria</vt:lpstr>
      <vt:lpstr>Cambria Math</vt:lpstr>
      <vt:lpstr>Courier New</vt:lpstr>
      <vt:lpstr>Symbol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Collision Theory</vt:lpstr>
      <vt:lpstr>Potential Energy Diagrams </vt:lpstr>
      <vt:lpstr>Activation Energy</vt:lpstr>
      <vt:lpstr>Ea for Fast or Slow Reactions</vt:lpstr>
      <vt:lpstr>The Activated Complex</vt:lpstr>
      <vt:lpstr>Activated Complex Note</vt:lpstr>
      <vt:lpstr>Reaction Rates Factors: Temperature</vt:lpstr>
      <vt:lpstr>Concentration as a Factor</vt:lpstr>
      <vt:lpstr>Catalysis and Catalysts</vt:lpstr>
      <vt:lpstr>Catalysis Example</vt:lpstr>
      <vt:lpstr>Chemical Equilibrium</vt:lpstr>
      <vt:lpstr>Reversible Reactions</vt:lpstr>
      <vt:lpstr>Dynamic Equilibrium</vt:lpstr>
      <vt:lpstr>Example of Dynamic Equilibrium</vt:lpstr>
      <vt:lpstr>Change in Rate of Reaction</vt:lpstr>
      <vt:lpstr>Rate of Reaction Equation</vt:lpstr>
      <vt:lpstr>Practice: Equilibrium</vt:lpstr>
      <vt:lpstr>Practice: Equilibrium</vt:lpstr>
      <vt:lpstr>Equilibrium Constant Equation</vt:lpstr>
      <vt:lpstr>Meaning of Equilibrium Constant</vt:lpstr>
      <vt:lpstr>Meaning of Range of K</vt:lpstr>
      <vt:lpstr>Example: Meaning of Range of K</vt:lpstr>
      <vt:lpstr>Practice: Equilibrium Constant Expression</vt:lpstr>
      <vt:lpstr>Practice: Equilibrium Constant</vt:lpstr>
      <vt:lpstr>Practice: Predicting What Predominates</vt:lpstr>
      <vt:lpstr>Practice: Temperature and K</vt:lpstr>
      <vt:lpstr>Practice: Calculating K</vt:lpstr>
      <vt:lpstr>Practice: Calculating K</vt:lpstr>
      <vt:lpstr>Notation of Temperature on K</vt:lpstr>
      <vt:lpstr>Le Chatelier’s Principle</vt:lpstr>
      <vt:lpstr>Concentration “Stress”</vt:lpstr>
      <vt:lpstr>Concentration “Stress”</vt:lpstr>
      <vt:lpstr>Practice: Concentration “Stress”</vt:lpstr>
      <vt:lpstr>Temperature “Stress”</vt:lpstr>
      <vt:lpstr>Temperature “Stress”</vt:lpstr>
      <vt:lpstr>Practice: Temperature “Stress”</vt:lpstr>
      <vt:lpstr>Pressure “Stress”</vt:lpstr>
      <vt:lpstr>Practice: Pressure “Stress”</vt:lpstr>
      <vt:lpstr>Patterns in Acid-Base Reactions</vt:lpstr>
      <vt:lpstr>Patterns in Acid-Base Reactions</vt:lpstr>
      <vt:lpstr>K Expressions for Acids and Bases</vt:lpstr>
      <vt:lpstr>K Expressions for Acids and Bases</vt:lpstr>
      <vt:lpstr>Tying Together Use of Acid-Base K Expressions</vt:lpstr>
      <vt:lpstr>Tying Together Use of Acid-Base K Expressions</vt:lpstr>
      <vt:lpstr>Practice: Equilibrium Equations for Ka</vt:lpstr>
      <vt:lpstr>Water as Acid &amp; Base: Kw=KaKb</vt:lpstr>
      <vt:lpstr>Equilibrium Reaction of Precipitation</vt:lpstr>
      <vt:lpstr>The Solubility Product Ksp</vt:lpstr>
      <vt:lpstr>Example Ksp Values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1237</cp:revision>
  <cp:lastPrinted>2016-03-14T04:22:58Z</cp:lastPrinted>
  <dcterms:created xsi:type="dcterms:W3CDTF">2005-12-08T13:54:14Z</dcterms:created>
  <dcterms:modified xsi:type="dcterms:W3CDTF">2025-11-17T06:46:41Z</dcterms:modified>
</cp:coreProperties>
</file>