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19"/>
  </p:notesMasterIdLst>
  <p:sldIdLst>
    <p:sldId id="608" r:id="rId2"/>
    <p:sldId id="609" r:id="rId3"/>
    <p:sldId id="616" r:id="rId4"/>
    <p:sldId id="624" r:id="rId5"/>
    <p:sldId id="625" r:id="rId6"/>
    <p:sldId id="626" r:id="rId7"/>
    <p:sldId id="633" r:id="rId8"/>
    <p:sldId id="613" r:id="rId9"/>
    <p:sldId id="627" r:id="rId10"/>
    <p:sldId id="610" r:id="rId11"/>
    <p:sldId id="628" r:id="rId12"/>
    <p:sldId id="629" r:id="rId13"/>
    <p:sldId id="630" r:id="rId14"/>
    <p:sldId id="631" r:id="rId15"/>
    <p:sldId id="632" r:id="rId16"/>
    <p:sldId id="621" r:id="rId17"/>
    <p:sldId id="612" r:id="rId18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CC"/>
    <a:srgbClr val="00FF00"/>
    <a:srgbClr val="FF9933"/>
    <a:srgbClr val="FF0066"/>
    <a:srgbClr val="CC99FF"/>
    <a:srgbClr val="99FFCC"/>
    <a:srgbClr val="FFFFCC"/>
    <a:srgbClr val="339933"/>
    <a:srgbClr val="CCFFFF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134" d="100"/>
          <a:sy n="134" d="100"/>
        </p:scale>
        <p:origin x="306" y="120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80" d="100"/>
        <a:sy n="180" d="100"/>
      </p:scale>
      <p:origin x="0" y="-463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503197" y="1295478"/>
            <a:ext cx="8111067" cy="769441"/>
          </a:xfrm>
        </p:spPr>
        <p:txBody>
          <a:bodyPr/>
          <a:lstStyle/>
          <a:p>
            <a:r>
              <a:rPr lang="en-US" sz="44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solidFill>
                  <a:srgbClr val="FFC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Mitch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" name="Title 3">
            <a:extLst>
              <a:ext uri="{FF2B5EF4-FFF2-40B4-BE49-F238E27FC236}">
                <a16:creationId xmlns:a16="http://schemas.microsoft.com/office/drawing/2014/main" id="{9D93987C-C3A6-9E17-4494-2A0E8AA68125}"/>
              </a:ext>
            </a:extLst>
          </p:cNvPr>
          <p:cNvSpPr txBox="1">
            <a:spLocks/>
          </p:cNvSpPr>
          <p:nvPr/>
        </p:nvSpPr>
        <p:spPr bwMode="auto">
          <a:xfrm>
            <a:off x="516466" y="2228750"/>
            <a:ext cx="8111067" cy="11079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600" i="1" kern="0" dirty="0">
                <a:solidFill>
                  <a:srgbClr val="CC99F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Experiment 10a</a:t>
            </a:r>
          </a:p>
        </p:txBody>
      </p:sp>
      <p:sp>
        <p:nvSpPr>
          <p:cNvPr id="29" name="Title 3">
            <a:extLst>
              <a:ext uri="{FF2B5EF4-FFF2-40B4-BE49-F238E27FC236}">
                <a16:creationId xmlns:a16="http://schemas.microsoft.com/office/drawing/2014/main" id="{0F667B90-ADA0-D7AE-AC82-9C44B2A46AE5}"/>
              </a:ext>
            </a:extLst>
          </p:cNvPr>
          <p:cNvSpPr txBox="1">
            <a:spLocks/>
          </p:cNvSpPr>
          <p:nvPr/>
        </p:nvSpPr>
        <p:spPr bwMode="auto">
          <a:xfrm>
            <a:off x="490153" y="3730219"/>
            <a:ext cx="8111067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1" fontAlgn="base" hangingPunct="1">
              <a:spcBef>
                <a:spcPct val="0"/>
              </a:spcBef>
              <a:spcAft>
                <a:spcPct val="0"/>
              </a:spcAft>
              <a:defRPr sz="7200">
                <a:solidFill>
                  <a:srgbClr val="FFFF99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FFFF99"/>
                </a:solidFill>
                <a:latin typeface="Arial" charset="0"/>
              </a:defRPr>
            </a:lvl9pPr>
          </a:lstStyle>
          <a:p>
            <a:r>
              <a:rPr lang="en-US" sz="6000" kern="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Types of Reactions</a:t>
            </a:r>
            <a:endParaRPr lang="en-US" sz="6000" b="1" i="1" kern="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C0286-47AD-54C9-04A3-607B80CED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234315"/>
            <a:ext cx="8421512" cy="830997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BC5B2E-5542-F5D6-CEA6-30C230FF4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2" y="1065312"/>
            <a:ext cx="8387645" cy="521546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There are countless chemical reactions that can occur</a:t>
            </a:r>
          </a:p>
          <a:p>
            <a:pPr marL="0" indent="0">
              <a:buNone/>
            </a:pPr>
            <a:endParaRPr lang="en-US" sz="2000" i="1" dirty="0">
              <a:solidFill>
                <a:srgbClr val="CC99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/>
              <a:t>But reactions fall within certain types, certain categories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experiment is about studying one of each reaction that falls within a certain type or category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92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16BD6-F4FE-A7D4-2A37-C4EA7D32A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8B19F-006B-7531-DD27-28B722C19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173140"/>
            <a:ext cx="8421512" cy="830997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E4572-3706-EF53-95DE-248E030B0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790"/>
            <a:ext cx="8387645" cy="5397765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/>
              <a:t>With the types/categories of reactions, two “schemes” emerge</a:t>
            </a:r>
          </a:p>
          <a:p>
            <a:pPr marL="0" indent="0">
              <a:buNone/>
            </a:pPr>
            <a:r>
              <a:rPr lang="en-US" sz="1800" dirty="0"/>
              <a:t>Scheme 1 is “what happens with atoms?” Scheme 2 is about process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A0A3C-A5E1-43A2-320C-4EA7F0490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79" y="1971088"/>
            <a:ext cx="7859417" cy="471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380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4A80E-1484-0A96-7953-2F0AC716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B153A-3365-1DF2-0F93-856368325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173140"/>
            <a:ext cx="8421512" cy="830997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C9A7A-0FEE-B429-6394-BC7B800AF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790"/>
            <a:ext cx="8387645" cy="5397765"/>
          </a:xfrm>
        </p:spPr>
        <p:txBody>
          <a:bodyPr/>
          <a:lstStyle/>
          <a:p>
            <a:pPr marL="0" indent="0">
              <a:buNone/>
            </a:pPr>
            <a:r>
              <a:rPr lang="en-US" sz="1800" dirty="0"/>
              <a:t>With the types/categories of reactions, two “schemes” emerge</a:t>
            </a:r>
          </a:p>
          <a:p>
            <a:pPr marL="0" indent="0">
              <a:buNone/>
            </a:pPr>
            <a:r>
              <a:rPr lang="en-US" sz="1800" dirty="0"/>
              <a:t>Scheme 1 is “what happens with atoms?”</a:t>
            </a:r>
          </a:p>
          <a:p>
            <a:pPr marL="0" indent="0">
              <a:buNone/>
            </a:pPr>
            <a:r>
              <a:rPr lang="en-US" sz="1800" dirty="0"/>
              <a:t>Double displacement (DD), single displacement (SD), combination, decomposition</a:t>
            </a:r>
          </a:p>
          <a:p>
            <a:pPr marL="0" indent="0">
              <a:buNone/>
            </a:pPr>
            <a:r>
              <a:rPr lang="en-US" sz="1800" dirty="0"/>
              <a:t>Scheme 2 is about process: precipitation (DD), neutralization (DD), gas evolution (DD), dissolution only; redox, combustion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9A48BB-8733-17AC-8BF0-0BC20456FF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805683"/>
              </p:ext>
            </p:extLst>
          </p:nvPr>
        </p:nvGraphicFramePr>
        <p:xfrm>
          <a:off x="565855" y="3340101"/>
          <a:ext cx="8000999" cy="1076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55572">
                  <a:extLst>
                    <a:ext uri="{9D8B030D-6E8A-4147-A177-3AD203B41FA5}">
                      <a16:colId xmlns:a16="http://schemas.microsoft.com/office/drawing/2014/main" val="3005107910"/>
                    </a:ext>
                  </a:extLst>
                </a:gridCol>
                <a:gridCol w="424542">
                  <a:extLst>
                    <a:ext uri="{9D8B030D-6E8A-4147-A177-3AD203B41FA5}">
                      <a16:colId xmlns:a16="http://schemas.microsoft.com/office/drawing/2014/main" val="3744328796"/>
                    </a:ext>
                  </a:extLst>
                </a:gridCol>
                <a:gridCol w="3820885">
                  <a:extLst>
                    <a:ext uri="{9D8B030D-6E8A-4147-A177-3AD203B41FA5}">
                      <a16:colId xmlns:a16="http://schemas.microsoft.com/office/drawing/2014/main" val="368166665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Precipitation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507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Salt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aq</a:t>
                      </a:r>
                      <a:r>
                        <a:rPr lang="en-US" sz="1600" dirty="0"/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Salt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aq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ym typeface="Wingdings" panose="05000000000000000000" pitchFamily="2" charset="2"/>
                        </a:rPr>
                        <a:t>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New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Salt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New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Salt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6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96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2 NaCl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Pb(NO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PbCl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+ 2 NaNO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31557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B77C2AC-EAD0-5E2C-83D3-950D74E1B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703336"/>
              </p:ext>
            </p:extLst>
          </p:nvPr>
        </p:nvGraphicFramePr>
        <p:xfrm>
          <a:off x="565854" y="4777016"/>
          <a:ext cx="8000999" cy="1076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55572">
                  <a:extLst>
                    <a:ext uri="{9D8B030D-6E8A-4147-A177-3AD203B41FA5}">
                      <a16:colId xmlns:a16="http://schemas.microsoft.com/office/drawing/2014/main" val="3005107910"/>
                    </a:ext>
                  </a:extLst>
                </a:gridCol>
                <a:gridCol w="424542">
                  <a:extLst>
                    <a:ext uri="{9D8B030D-6E8A-4147-A177-3AD203B41FA5}">
                      <a16:colId xmlns:a16="http://schemas.microsoft.com/office/drawing/2014/main" val="3744328796"/>
                    </a:ext>
                  </a:extLst>
                </a:gridCol>
                <a:gridCol w="3820885">
                  <a:extLst>
                    <a:ext uri="{9D8B030D-6E8A-4147-A177-3AD203B41FA5}">
                      <a16:colId xmlns:a16="http://schemas.microsoft.com/office/drawing/2014/main" val="368166665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Acid-Base / Neutralization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507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Acid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aq</a:t>
                      </a:r>
                      <a:r>
                        <a:rPr lang="en-US" sz="1600" dirty="0"/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Base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aq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ym typeface="Wingdings" panose="05000000000000000000" pitchFamily="2" charset="2"/>
                        </a:rPr>
                        <a:t>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Salt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6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Water 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l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96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HNO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KOH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KNO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H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O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l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03155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7023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691EC-7159-13CF-929F-FB2EECBB2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27D01-6DE5-165D-3493-ECADF0350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173140"/>
            <a:ext cx="8421512" cy="830997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9229D-4E8B-30F2-20C2-622357C43B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790"/>
            <a:ext cx="8387645" cy="5397765"/>
          </a:xfrm>
        </p:spPr>
        <p:txBody>
          <a:bodyPr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E5436B7-2368-D6D1-73B9-14E8D69A95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039956"/>
              </p:ext>
            </p:extLst>
          </p:nvPr>
        </p:nvGraphicFramePr>
        <p:xfrm>
          <a:off x="565853" y="1347963"/>
          <a:ext cx="8000999" cy="181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55572">
                  <a:extLst>
                    <a:ext uri="{9D8B030D-6E8A-4147-A177-3AD203B41FA5}">
                      <a16:colId xmlns:a16="http://schemas.microsoft.com/office/drawing/2014/main" val="3005107910"/>
                    </a:ext>
                  </a:extLst>
                </a:gridCol>
                <a:gridCol w="424542">
                  <a:extLst>
                    <a:ext uri="{9D8B030D-6E8A-4147-A177-3AD203B41FA5}">
                      <a16:colId xmlns:a16="http://schemas.microsoft.com/office/drawing/2014/main" val="3744328796"/>
                    </a:ext>
                  </a:extLst>
                </a:gridCol>
                <a:gridCol w="3820885">
                  <a:extLst>
                    <a:ext uri="{9D8B030D-6E8A-4147-A177-3AD203B41FA5}">
                      <a16:colId xmlns:a16="http://schemas.microsoft.com/office/drawing/2014/main" val="368166665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Gas Evolution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507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Salt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aq</a:t>
                      </a:r>
                      <a:r>
                        <a:rPr lang="en-US" sz="1600" dirty="0"/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Acid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aq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ym typeface="Wingdings" panose="05000000000000000000" pitchFamily="2" charset="2"/>
                        </a:rPr>
                        <a:t>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New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Acid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New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Salt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6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96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New Acid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aq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ym typeface="Wingdings" panose="05000000000000000000" pitchFamily="2" charset="2"/>
                        </a:rPr>
                        <a:t>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Gas 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Water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l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038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Na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SO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+ 2 HCl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H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SO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+ 2 NaCl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016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H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SO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SO</a:t>
                      </a:r>
                      <a:r>
                        <a:rPr lang="en-US" baseline="-25000" dirty="0"/>
                        <a:t>2</a:t>
                      </a:r>
                      <a:r>
                        <a:rPr lang="en-US" dirty="0"/>
                        <a:t> (</a:t>
                      </a:r>
                      <a:r>
                        <a:rPr lang="en-US" i="1" dirty="0"/>
                        <a:t>g</a:t>
                      </a:r>
                      <a:r>
                        <a:rPr lang="en-US" dirty="0"/>
                        <a:t>) + H</a:t>
                      </a:r>
                      <a:r>
                        <a:rPr lang="en-US" baseline="-25000" dirty="0"/>
                        <a:t>2</a:t>
                      </a:r>
                      <a:r>
                        <a:rPr lang="en-US" dirty="0"/>
                        <a:t>O (</a:t>
                      </a:r>
                      <a:r>
                        <a:rPr lang="en-US" i="1" dirty="0"/>
                        <a:t>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411157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4AC4D3D-EEDA-7707-9648-146D2AB5D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222112"/>
              </p:ext>
            </p:extLst>
          </p:nvPr>
        </p:nvGraphicFramePr>
        <p:xfrm>
          <a:off x="565852" y="3429000"/>
          <a:ext cx="8000999" cy="949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000999">
                  <a:extLst>
                    <a:ext uri="{9D8B030D-6E8A-4147-A177-3AD203B41FA5}">
                      <a16:colId xmlns:a16="http://schemas.microsoft.com/office/drawing/2014/main" val="30051079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No Reaction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507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The mixing of compounds in aqueous solution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can sometimes result in none of the reactions mentioned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962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0092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631D5-D871-02CC-8FFD-707260C83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E5F4B-8008-ED06-1CA9-C7896B9A8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173140"/>
            <a:ext cx="8421512" cy="830997"/>
          </a:xfrm>
        </p:spPr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F2613-A9BA-A0C5-F1F5-0CF0B2480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149790"/>
            <a:ext cx="8387645" cy="5397765"/>
          </a:xfrm>
        </p:spPr>
        <p:txBody>
          <a:bodyPr/>
          <a:lstStyle/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39ADD38-3AC4-51F3-F862-87ACA5FC43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06234"/>
              </p:ext>
            </p:extLst>
          </p:nvPr>
        </p:nvGraphicFramePr>
        <p:xfrm>
          <a:off x="565851" y="1478591"/>
          <a:ext cx="8000999" cy="14833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55572">
                  <a:extLst>
                    <a:ext uri="{9D8B030D-6E8A-4147-A177-3AD203B41FA5}">
                      <a16:colId xmlns:a16="http://schemas.microsoft.com/office/drawing/2014/main" val="3005107910"/>
                    </a:ext>
                  </a:extLst>
                </a:gridCol>
                <a:gridCol w="424542">
                  <a:extLst>
                    <a:ext uri="{9D8B030D-6E8A-4147-A177-3AD203B41FA5}">
                      <a16:colId xmlns:a16="http://schemas.microsoft.com/office/drawing/2014/main" val="3744328796"/>
                    </a:ext>
                  </a:extLst>
                </a:gridCol>
                <a:gridCol w="3820885">
                  <a:extLst>
                    <a:ext uri="{9D8B030D-6E8A-4147-A177-3AD203B41FA5}">
                      <a16:colId xmlns:a16="http://schemas.microsoft.com/office/drawing/2014/main" val="368166665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Oxidation-Reduction (Redox)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507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2 Na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+ 2 H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O (l)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H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+ 2 NaOH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016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2 Al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+ 3 Cl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2 AlCl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4111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Cu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Pd(NO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Pd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Cu(NO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3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 err="1">
                          <a:sym typeface="Wingdings" panose="05000000000000000000" pitchFamily="2" charset="2"/>
                        </a:rPr>
                        <a:t>aq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74177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C59B939-E3EA-7CD1-986A-A14D83F1AE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795569"/>
              </p:ext>
            </p:extLst>
          </p:nvPr>
        </p:nvGraphicFramePr>
        <p:xfrm>
          <a:off x="565851" y="3715606"/>
          <a:ext cx="8000999" cy="1818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55572">
                  <a:extLst>
                    <a:ext uri="{9D8B030D-6E8A-4147-A177-3AD203B41FA5}">
                      <a16:colId xmlns:a16="http://schemas.microsoft.com/office/drawing/2014/main" val="3005107910"/>
                    </a:ext>
                  </a:extLst>
                </a:gridCol>
                <a:gridCol w="424542">
                  <a:extLst>
                    <a:ext uri="{9D8B030D-6E8A-4147-A177-3AD203B41FA5}">
                      <a16:colId xmlns:a16="http://schemas.microsoft.com/office/drawing/2014/main" val="3744328796"/>
                    </a:ext>
                  </a:extLst>
                </a:gridCol>
                <a:gridCol w="3820885">
                  <a:extLst>
                    <a:ext uri="{9D8B030D-6E8A-4147-A177-3AD203B41FA5}">
                      <a16:colId xmlns:a16="http://schemas.microsoft.com/office/drawing/2014/main" val="368166665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Combustion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507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Hydrocarbon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 err="1"/>
                        <a:t>g,l,s</a:t>
                      </a:r>
                      <a:r>
                        <a:rPr lang="en-US" sz="1600" dirty="0"/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Oxygen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/>
                        <a:t>g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ym typeface="Wingdings" panose="05000000000000000000" pitchFamily="2" charset="2"/>
                        </a:rPr>
                        <a:t>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Carbon Dioxide 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Water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7596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C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H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4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+ 3 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2 CO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+ 2 H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O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016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Metal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/>
                        <a:t>s</a:t>
                      </a:r>
                      <a:r>
                        <a:rPr lang="en-US" sz="1600" dirty="0"/>
                        <a:t>) + 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</a:rPr>
                        <a:t>Oxygen</a:t>
                      </a:r>
                      <a:r>
                        <a:rPr lang="en-US" sz="1600" dirty="0"/>
                        <a:t> (</a:t>
                      </a:r>
                      <a:r>
                        <a:rPr lang="en-US" sz="1600" i="1" dirty="0"/>
                        <a:t>g</a:t>
                      </a:r>
                      <a:r>
                        <a:rPr lang="en-US" sz="16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ym typeface="Wingdings" panose="05000000000000000000" pitchFamily="2" charset="2"/>
                        </a:rPr>
                        <a:t>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sym typeface="Wingdings" panose="05000000000000000000" pitchFamily="2" charset="2"/>
                        </a:rPr>
                        <a:t>Metal Oxide 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en-US" sz="16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600" dirty="0">
                          <a:sym typeface="Wingdings" panose="05000000000000000000" pitchFamily="2" charset="2"/>
                        </a:rPr>
                        <a:t>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4111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2 K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s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 + O</a:t>
                      </a:r>
                      <a:r>
                        <a:rPr lang="en-US" sz="1800" baseline="-25000" dirty="0">
                          <a:sym typeface="Wingdings" panose="05000000000000000000" pitchFamily="2" charset="2"/>
                        </a:rPr>
                        <a:t>2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 (</a:t>
                      </a:r>
                      <a:r>
                        <a:rPr lang="en-US" sz="1800" i="1" dirty="0">
                          <a:sym typeface="Wingdings" panose="05000000000000000000" pitchFamily="2" charset="2"/>
                        </a:rPr>
                        <a:t>g</a:t>
                      </a:r>
                      <a:r>
                        <a:rPr lang="en-US" sz="1800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ym typeface="Wingdings" panose="05000000000000000000" pitchFamily="2" charset="2"/>
                        </a:rPr>
                        <a:t>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K</a:t>
                      </a:r>
                      <a:r>
                        <a:rPr lang="en-US" baseline="-25000" dirty="0"/>
                        <a:t>2</a:t>
                      </a:r>
                      <a:r>
                        <a:rPr lang="en-US" dirty="0"/>
                        <a:t>O (</a:t>
                      </a:r>
                      <a:r>
                        <a:rPr lang="en-US" i="1" dirty="0"/>
                        <a:t>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57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1325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2FFF2-EEAB-04CB-7DA4-B80BBB8B1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2513B-9316-6C71-C4F1-476796E4E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599" y="173140"/>
            <a:ext cx="8421512" cy="830997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LAB SAFETY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9276-561F-86CD-A0CC-2CC2AC283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599" y="1128358"/>
            <a:ext cx="8387645" cy="5397765"/>
          </a:xfrm>
        </p:spPr>
        <p:txBody>
          <a:bodyPr/>
          <a:lstStyle/>
          <a:p>
            <a:r>
              <a:rPr lang="en-US" dirty="0"/>
              <a:t>This laboratory session involves the use of seriously caustic chemicals</a:t>
            </a:r>
          </a:p>
          <a:p>
            <a:r>
              <a:rPr lang="en-US" dirty="0"/>
              <a:t>Goggles and coat—AND ESPECIALLY GOGGLES—must be worn OVER THE EYES at all times if you are within 15 feet of any test tube with an ongoing reaction or containing a caustic chemical, whether you are managing the tube/reaction or not</a:t>
            </a:r>
          </a:p>
          <a:p>
            <a:r>
              <a:rPr lang="en-US" dirty="0"/>
              <a:t>If you need to take off your goggles for whatever reason, exit the lab room and safely remove them</a:t>
            </a:r>
          </a:p>
          <a:p>
            <a:r>
              <a:rPr lang="en-US" dirty="0"/>
              <a:t>You should wash your hands before putting your hands on face as a precaution if exiting lab</a:t>
            </a:r>
          </a:p>
          <a:p>
            <a:r>
              <a:rPr lang="en-US" u="sng" dirty="0">
                <a:solidFill>
                  <a:srgbClr val="FF99CC"/>
                </a:solidFill>
              </a:rPr>
              <a:t>Failure to observe safety is a reason for excusing you from the lab and taking a zero for the session</a:t>
            </a:r>
          </a:p>
        </p:txBody>
      </p:sp>
    </p:spTree>
    <p:extLst>
      <p:ext uri="{BB962C8B-B14F-4D97-AF65-F5344CB8AC3E}">
        <p14:creationId xmlns:p14="http://schemas.microsoft.com/office/powerpoint/2010/main" val="1533062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3C777-AC05-5132-FF2B-F5A02DA5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19CB47-2ED6-F129-56DC-E0ADE3F3E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680A77-3A72-788B-6A53-1E27D08AE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22984"/>
            <a:ext cx="8421512" cy="830997"/>
          </a:xfrm>
        </p:spPr>
        <p:txBody>
          <a:bodyPr/>
          <a:lstStyle/>
          <a:p>
            <a:r>
              <a:rPr lang="en-US" dirty="0"/>
              <a:t>Equipment You Will Use</a:t>
            </a:r>
          </a:p>
        </p:txBody>
      </p:sp>
      <p:pic>
        <p:nvPicPr>
          <p:cNvPr id="1026" name="Picture 2" descr="Wood Test Tube Rack, 12 Tube Capacity - Premium Chemistry Lab Storage —  hBARSCI">
            <a:extLst>
              <a:ext uri="{FF2B5EF4-FFF2-40B4-BE49-F238E27FC236}">
                <a16:creationId xmlns:a16="http://schemas.microsoft.com/office/drawing/2014/main" id="{1CAC51D2-F082-2EA6-D8D7-D73AB6925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804" y="2082847"/>
            <a:ext cx="4769199" cy="391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1.7 mL Disposable Transfer Pipettes for Refractometer (100 Pack)">
            <a:extLst>
              <a:ext uri="{FF2B5EF4-FFF2-40B4-BE49-F238E27FC236}">
                <a16:creationId xmlns:a16="http://schemas.microsoft.com/office/drawing/2014/main" id="{4CDC827E-D407-12EA-2C08-CDFAC9A84C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2311" y="1592990"/>
            <a:ext cx="3510649" cy="4130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3708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DE4B-D29C-CBC6-9121-4E1A48194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289168-F7D6-0844-CDF8-3FA6136F2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BF4A8A-3D17-5DB2-C006-CC632EB90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22984"/>
            <a:ext cx="8421512" cy="830997"/>
          </a:xfrm>
        </p:spPr>
        <p:txBody>
          <a:bodyPr/>
          <a:lstStyle/>
          <a:p>
            <a:r>
              <a:rPr lang="en-US" dirty="0"/>
              <a:t>Consumables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A41929C-5117-5F35-C5E7-A30D4AE08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498" y="1151163"/>
            <a:ext cx="1930997" cy="2892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5A28177-8891-11DA-A901-C2E467355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1495" y="1041327"/>
            <a:ext cx="1219508" cy="30027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858FFE2-53AB-EDB3-F97F-54F3151AAB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1754" y="953981"/>
            <a:ext cx="1083539" cy="3086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DD306F-2093-525B-8FFF-F08184F304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666" y="4044042"/>
            <a:ext cx="1051469" cy="27169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83D58F-C5ED-6819-42B0-7C6596950A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293" y="953981"/>
            <a:ext cx="1086772" cy="3086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0EC6A6A-1B12-705B-9A88-33B5F10C42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8264" y="937724"/>
            <a:ext cx="1097340" cy="31023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F9C0E3B-E71C-84C0-1ECA-47609DBFC1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45604" y="937724"/>
            <a:ext cx="2406584" cy="216945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C4FB351-6B0D-227A-9E5E-23D63C036D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2945" y="3107181"/>
            <a:ext cx="1309244" cy="358083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4EF7203-814B-FFF3-4D7D-88AE499C1F8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98303" y="4040081"/>
            <a:ext cx="1309244" cy="270063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15B8EE7-C1BB-DBCB-4342-D38085B7FC3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11413" y="4272799"/>
            <a:ext cx="3979294" cy="241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19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BA83F-7B22-8A01-2FE3-CCC1C22CD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BB132-4F9B-3FA6-3604-1ACDFE9F4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B68387-E25A-7C7C-241B-25887E4EA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r>
              <a:rPr lang="en-US" dirty="0"/>
              <a:t>All reactions will be done in test tubes. Do not concern yourself with measuring out exact quantities</a:t>
            </a:r>
          </a:p>
          <a:p>
            <a:r>
              <a:rPr lang="en-US" dirty="0"/>
              <a:t>Consider “1 mL reagent” to ~20 </a:t>
            </a:r>
            <a:r>
              <a:rPr lang="en-US" dirty="0" err="1"/>
              <a:t>gtt</a:t>
            </a:r>
            <a:r>
              <a:rPr lang="en-US" dirty="0"/>
              <a:t> (drops) from a transfer pipet or a finger width in height in the test tube</a:t>
            </a:r>
          </a:p>
          <a:p>
            <a:r>
              <a:rPr lang="en-US" b="1" dirty="0">
                <a:solidFill>
                  <a:srgbClr val="FFC000"/>
                </a:solidFill>
              </a:rPr>
              <a:t>1 g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reactant</a:t>
            </a:r>
            <a:r>
              <a:rPr lang="en-US" dirty="0"/>
              <a:t> is about a </a:t>
            </a:r>
            <a:r>
              <a:rPr lang="en-US" dirty="0">
                <a:solidFill>
                  <a:srgbClr val="FFFF00"/>
                </a:solidFill>
              </a:rPr>
              <a:t>pea size</a:t>
            </a:r>
            <a:r>
              <a:rPr lang="en-US" dirty="0"/>
              <a:t>: don’t weigh in balance</a:t>
            </a:r>
          </a:p>
          <a:p>
            <a:r>
              <a:rPr lang="en-US" dirty="0"/>
              <a:t>Complete the stations in any order</a:t>
            </a:r>
          </a:p>
          <a:p>
            <a:r>
              <a:rPr lang="en-US" dirty="0"/>
              <a:t>Waste containers are provided: do not dump in sink unless given instructions</a:t>
            </a:r>
          </a:p>
        </p:txBody>
      </p:sp>
    </p:spTree>
    <p:extLst>
      <p:ext uri="{BB962C8B-B14F-4D97-AF65-F5344CB8AC3E}">
        <p14:creationId xmlns:p14="http://schemas.microsoft.com/office/powerpoint/2010/main" val="3952654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E3754-5799-7979-F826-798453E86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BB9E9-77D3-8595-45C5-034EA7D6A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4111AD-43E5-AF96-BB03-6C296D57F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Station 1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Place </a:t>
            </a:r>
            <a:r>
              <a:rPr lang="en-US" sz="2000" b="1" dirty="0">
                <a:solidFill>
                  <a:srgbClr val="00FF00"/>
                </a:solidFill>
              </a:rPr>
              <a:t>~3 mL </a:t>
            </a:r>
            <a:r>
              <a:rPr lang="en-US" sz="2000" dirty="0">
                <a:solidFill>
                  <a:srgbClr val="FFC000"/>
                </a:solidFill>
              </a:rPr>
              <a:t>6.0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HCl</a:t>
            </a:r>
            <a:r>
              <a:rPr lang="en-US" sz="2000" dirty="0"/>
              <a:t> in tube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Add a few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Zn</a:t>
            </a:r>
            <a:r>
              <a:rPr lang="en-US" sz="2000" dirty="0"/>
              <a:t> pellets, record observations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Get another empty test tube, invert it over reaction tube. Hold capture tube at angle still upside down, light a match and bring it to mouth of tube. What happens?</a:t>
            </a:r>
          </a:p>
          <a:p>
            <a:pPr marL="457200" indent="-457200">
              <a:buFont typeface="+mj-lt"/>
              <a:buAutoNum type="alphaLcParenR"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Station 2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Place </a:t>
            </a:r>
            <a:r>
              <a:rPr lang="en-US" sz="2000" b="1" dirty="0">
                <a:solidFill>
                  <a:srgbClr val="00FF00"/>
                </a:solidFill>
              </a:rPr>
              <a:t>1 mL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BaCl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sz="2000" dirty="0"/>
              <a:t> in tube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Add </a:t>
            </a:r>
            <a:r>
              <a:rPr lang="en-US" sz="2000" b="1" dirty="0">
                <a:solidFill>
                  <a:srgbClr val="00FF00"/>
                </a:solidFill>
              </a:rPr>
              <a:t>1 mL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  <a:r>
              <a:rPr lang="en-US" sz="2000" dirty="0"/>
              <a:t> to it, and mix/swirl. Record observation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Wait 3-5 minutes and record observation: what is the insoluble product?</a:t>
            </a:r>
          </a:p>
          <a:p>
            <a:pPr marL="0" indent="0">
              <a:buNone/>
            </a:pPr>
            <a:r>
              <a:rPr lang="en-US" sz="2000" dirty="0"/>
              <a:t>While you are waiting at last step, perhaps go to another station and start that experiment</a:t>
            </a:r>
          </a:p>
        </p:txBody>
      </p:sp>
    </p:spTree>
    <p:extLst>
      <p:ext uri="{BB962C8B-B14F-4D97-AF65-F5344CB8AC3E}">
        <p14:creationId xmlns:p14="http://schemas.microsoft.com/office/powerpoint/2010/main" val="1368553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34F17-5D11-59C4-823B-12D640B55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E233D-6597-FE69-8DFB-F2189D72E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B3AEC8-0D44-B017-1ADC-A6D4DD0F75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Station 3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Place </a:t>
            </a:r>
            <a:r>
              <a:rPr lang="en-US" sz="2000" b="1" dirty="0">
                <a:solidFill>
                  <a:srgbClr val="00FF00"/>
                </a:solidFill>
              </a:rPr>
              <a:t>1 mL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BaCl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sz="2000" dirty="0"/>
              <a:t> in tube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Add </a:t>
            </a:r>
            <a:r>
              <a:rPr lang="en-US" sz="2000" b="1" dirty="0">
                <a:solidFill>
                  <a:srgbClr val="00FF00"/>
                </a:solidFill>
              </a:rPr>
              <a:t>1 mL</a:t>
            </a:r>
            <a:r>
              <a:rPr lang="en-US" sz="2000" dirty="0">
                <a:solidFill>
                  <a:srgbClr val="00FF00"/>
                </a:solidFill>
              </a:rPr>
              <a:t>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  <a:r>
              <a:rPr lang="en-US" sz="2000" dirty="0"/>
              <a:t> to it, and mix/swirl. Record observation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Wait 3-5 minutes and record observation: what is the insoluble product?</a:t>
            </a:r>
          </a:p>
          <a:p>
            <a:pPr marL="0" indent="0">
              <a:buNone/>
            </a:pPr>
            <a:r>
              <a:rPr lang="en-US" sz="2000" dirty="0"/>
              <a:t>While you are waiting at last step, perhaps go to another station and start that experiment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i="1" dirty="0">
                <a:solidFill>
                  <a:srgbClr val="FFFF00"/>
                </a:solidFill>
              </a:rPr>
              <a:t>Station 4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Place </a:t>
            </a:r>
            <a:r>
              <a:rPr lang="en-US" sz="2000" b="1" dirty="0">
                <a:solidFill>
                  <a:srgbClr val="00FF00"/>
                </a:solidFill>
              </a:rPr>
              <a:t>2 mL</a:t>
            </a:r>
            <a:r>
              <a:rPr lang="en-US" sz="2000" dirty="0">
                <a:solidFill>
                  <a:srgbClr val="00FF00"/>
                </a:solidFill>
              </a:rPr>
              <a:t> </a:t>
            </a:r>
            <a:r>
              <a:rPr lang="en-US" sz="2000" dirty="0">
                <a:solidFill>
                  <a:srgbClr val="FFC000"/>
                </a:solidFill>
              </a:rPr>
              <a:t>1.0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  <a:r>
              <a:rPr lang="en-US" sz="2000" dirty="0"/>
              <a:t> in tube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Add </a:t>
            </a:r>
            <a:r>
              <a:rPr lang="en-US" sz="2000" b="1" dirty="0">
                <a:solidFill>
                  <a:srgbClr val="00FF00"/>
                </a:solidFill>
              </a:rPr>
              <a:t>1 mL</a:t>
            </a:r>
            <a:r>
              <a:rPr lang="en-US" sz="2000" dirty="0">
                <a:solidFill>
                  <a:srgbClr val="00FF00"/>
                </a:solidFill>
              </a:rPr>
              <a:t> </a:t>
            </a:r>
            <a:r>
              <a:rPr lang="en-US" sz="2000" dirty="0">
                <a:solidFill>
                  <a:srgbClr val="FFC000"/>
                </a:solidFill>
              </a:rPr>
              <a:t>6 M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HCl</a:t>
            </a:r>
            <a:r>
              <a:rPr lang="en-US" sz="2000" dirty="0"/>
              <a:t> to it, and mix/swirl. Record observation</a:t>
            </a:r>
          </a:p>
          <a:p>
            <a:pPr marL="0" indent="0">
              <a:buNone/>
            </a:pPr>
            <a:r>
              <a:rPr lang="en-US" sz="2000" dirty="0"/>
              <a:t>If you observe a gas, what is the gas. What is the reaction equation?</a:t>
            </a:r>
          </a:p>
        </p:txBody>
      </p:sp>
    </p:spTree>
    <p:extLst>
      <p:ext uri="{BB962C8B-B14F-4D97-AF65-F5344CB8AC3E}">
        <p14:creationId xmlns:p14="http://schemas.microsoft.com/office/powerpoint/2010/main" val="27120669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571B8-C1F7-004C-0786-BDAF5C34F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23498-4788-BFA4-CDD1-4969E2AAF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A80F8D-4551-49A3-96A9-72B0BD57AD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Station 5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Place </a:t>
            </a:r>
            <a:r>
              <a:rPr lang="en-US" sz="2000" b="1" dirty="0">
                <a:solidFill>
                  <a:srgbClr val="00FF00"/>
                </a:solidFill>
              </a:rPr>
              <a:t>~1 g</a:t>
            </a:r>
            <a:r>
              <a:rPr lang="en-US" sz="2000" dirty="0"/>
              <a:t> (small scoop) of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KClO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  <a:r>
              <a:rPr lang="en-US" sz="2000" dirty="0"/>
              <a:t> in tube.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Grab the tube with a clamp at the TOP of the tube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In the fume hood, hold the tube at an angle and heat ONLY the bottom of the tube with blue cone flame of Bunsen burner. Let the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KClO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  <a:r>
              <a:rPr lang="en-US" sz="2000" dirty="0"/>
              <a:t> melt, let it bubble, and heat until nothing happens</a:t>
            </a:r>
          </a:p>
          <a:p>
            <a:pPr marL="0" indent="0">
              <a:buNone/>
            </a:pPr>
            <a:r>
              <a:rPr lang="en-US" sz="2000" dirty="0"/>
              <a:t>Did anything come out of tube. Record observations.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i="1" dirty="0">
                <a:solidFill>
                  <a:srgbClr val="FFFF00"/>
                </a:solidFill>
              </a:rPr>
              <a:t>Station 6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Mix </a:t>
            </a:r>
            <a:r>
              <a:rPr lang="en-US" sz="2000" b="1" dirty="0">
                <a:solidFill>
                  <a:srgbClr val="00FF00"/>
                </a:solidFill>
              </a:rPr>
              <a:t>1 mL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CaCl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sz="2000" dirty="0"/>
              <a:t> with </a:t>
            </a:r>
            <a:r>
              <a:rPr lang="en-US" sz="2000" dirty="0">
                <a:solidFill>
                  <a:srgbClr val="00FF00"/>
                </a:solidFill>
              </a:rPr>
              <a:t>1 mL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</a:p>
          <a:p>
            <a:pPr marL="0" indent="0">
              <a:buNone/>
            </a:pPr>
            <a:r>
              <a:rPr lang="en-US" sz="2000" dirty="0"/>
              <a:t>Record immediate observations. Then record observations after 3-5 minutes. Use the solubility tables to determine what product formed.</a:t>
            </a:r>
          </a:p>
        </p:txBody>
      </p:sp>
    </p:spTree>
    <p:extLst>
      <p:ext uri="{BB962C8B-B14F-4D97-AF65-F5344CB8AC3E}">
        <p14:creationId xmlns:p14="http://schemas.microsoft.com/office/powerpoint/2010/main" val="1120054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84D9-1718-CD82-7014-6BA0ECA6C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F8F40-B503-BDF6-560D-DCA7ED1D1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C6BCC5-7E61-D31C-B4B0-383D79617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Station 7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Mix </a:t>
            </a:r>
            <a:r>
              <a:rPr lang="en-US" sz="2000" b="1" dirty="0">
                <a:solidFill>
                  <a:srgbClr val="00FF00"/>
                </a:solidFill>
              </a:rPr>
              <a:t>1 mL</a:t>
            </a:r>
            <a:r>
              <a:rPr lang="en-US" sz="2000" dirty="0">
                <a:solidFill>
                  <a:srgbClr val="00FF00"/>
                </a:solidFill>
              </a:rPr>
              <a:t> </a:t>
            </a:r>
            <a:r>
              <a:rPr lang="en-US" sz="2000" dirty="0">
                <a:solidFill>
                  <a:srgbClr val="FFC000"/>
                </a:solidFill>
              </a:rPr>
              <a:t>6.0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HCl</a:t>
            </a:r>
            <a:r>
              <a:rPr lang="en-US" sz="2000" dirty="0"/>
              <a:t> with </a:t>
            </a:r>
            <a:r>
              <a:rPr lang="en-US" sz="2000" b="1" dirty="0">
                <a:solidFill>
                  <a:srgbClr val="00FF00"/>
                </a:solidFill>
              </a:rPr>
              <a:t>2 mL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C000"/>
                </a:solidFill>
              </a:rPr>
              <a:t>3.0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NaOH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Record observations. Were there temperature changes (use your hand/fingers carefully to see if the mixture is cold or hot). Use understanding of chemistry to predict product(s)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i="1" dirty="0">
                <a:solidFill>
                  <a:srgbClr val="FFFF00"/>
                </a:solidFill>
              </a:rPr>
              <a:t>Station 8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Mix </a:t>
            </a:r>
            <a:r>
              <a:rPr lang="en-US" sz="2000" b="1" dirty="0">
                <a:solidFill>
                  <a:srgbClr val="00FF00"/>
                </a:solidFill>
              </a:rPr>
              <a:t>1 mL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KNO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</a:t>
            </a:r>
            <a:r>
              <a:rPr lang="en-US" sz="2000" dirty="0"/>
              <a:t> with </a:t>
            </a:r>
            <a:r>
              <a:rPr lang="en-US" sz="2000" dirty="0">
                <a:solidFill>
                  <a:srgbClr val="00FF00"/>
                </a:solidFill>
              </a:rPr>
              <a:t>1 mL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BaCl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2</a:t>
            </a:r>
          </a:p>
          <a:p>
            <a:pPr marL="0" indent="0">
              <a:buNone/>
            </a:pPr>
            <a:r>
              <a:rPr lang="en-US" sz="2000" dirty="0"/>
              <a:t>Record immediate observations. Then record observations after 3-5 minutes. Use the solubility tables to determine what product formed.</a:t>
            </a:r>
          </a:p>
        </p:txBody>
      </p:sp>
    </p:spTree>
    <p:extLst>
      <p:ext uri="{BB962C8B-B14F-4D97-AF65-F5344CB8AC3E}">
        <p14:creationId xmlns:p14="http://schemas.microsoft.com/office/powerpoint/2010/main" val="1741693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515A7-EB2E-6346-DBD2-F70A1B1DA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7F7B4-544F-7853-CFED-D81F60306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Procedure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746364-602D-46B8-05D6-C534E505AF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b="1" i="1" dirty="0">
                <a:solidFill>
                  <a:srgbClr val="FFFF00"/>
                </a:solidFill>
              </a:rPr>
              <a:t>Station 9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Transfer </a:t>
            </a:r>
            <a:r>
              <a:rPr lang="en-US" sz="2000" b="1" dirty="0">
                <a:solidFill>
                  <a:srgbClr val="00FF00"/>
                </a:solidFill>
              </a:rPr>
              <a:t>2 mL </a:t>
            </a:r>
            <a:r>
              <a:rPr lang="en-US" sz="2000" dirty="0"/>
              <a:t>of </a:t>
            </a:r>
            <a:r>
              <a:rPr lang="en-US" sz="2000" dirty="0">
                <a:solidFill>
                  <a:srgbClr val="FFC000"/>
                </a:solidFill>
              </a:rPr>
              <a:t>0.1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CuSO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  <a:r>
              <a:rPr lang="en-US" sz="2000" dirty="0"/>
              <a:t> to tube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Add a few </a:t>
            </a:r>
            <a:r>
              <a:rPr lang="en-US" sz="2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Zn</a:t>
            </a:r>
            <a:r>
              <a:rPr lang="en-US" sz="2000" dirty="0"/>
              <a:t> pellets. Record immediate observations and after 3-5 minutes. Check if there are solid products what they look like. What accounts for the blue color?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b="1" i="1" dirty="0">
                <a:solidFill>
                  <a:srgbClr val="FFFF00"/>
                </a:solidFill>
              </a:rPr>
              <a:t>Station 10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Mix </a:t>
            </a:r>
            <a:r>
              <a:rPr lang="en-US" sz="2000" b="1" dirty="0">
                <a:solidFill>
                  <a:srgbClr val="00FF00"/>
                </a:solidFill>
              </a:rPr>
              <a:t>1 mL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FFC000"/>
                </a:solidFill>
              </a:rPr>
              <a:t>4.0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NH</a:t>
            </a:r>
            <a:r>
              <a:rPr lang="en-US" sz="2000" baseline="-25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4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Cl</a:t>
            </a:r>
            <a:r>
              <a:rPr lang="en-US" sz="2000" dirty="0"/>
              <a:t> with </a:t>
            </a:r>
            <a:r>
              <a:rPr lang="en-US" sz="2000" b="1" dirty="0">
                <a:solidFill>
                  <a:srgbClr val="00FF00"/>
                </a:solidFill>
              </a:rPr>
              <a:t>1 mL </a:t>
            </a:r>
            <a:r>
              <a:rPr lang="en-US" sz="2000" dirty="0">
                <a:solidFill>
                  <a:srgbClr val="FFC000"/>
                </a:solidFill>
              </a:rPr>
              <a:t>3.0 M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NaOH</a:t>
            </a:r>
            <a:r>
              <a:rPr lang="en-US" sz="2000" dirty="0"/>
              <a:t>. If there is a gas, what is it?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Moisten red litmus and hold it over the mouth of the tube: what is the color change and what causes it?</a:t>
            </a:r>
          </a:p>
          <a:p>
            <a:pPr marL="457200" indent="-457200">
              <a:buFont typeface="+mj-lt"/>
              <a:buAutoNum type="alphaLcParenR"/>
            </a:pPr>
            <a:r>
              <a:rPr lang="en-US" sz="2000" dirty="0"/>
              <a:t>Take 2 fingers and waft the air from tube toward yourself: is there any strong odor? Do NOT put your nose or face over the tube!</a:t>
            </a:r>
          </a:p>
        </p:txBody>
      </p:sp>
    </p:spTree>
    <p:extLst>
      <p:ext uri="{BB962C8B-B14F-4D97-AF65-F5344CB8AC3E}">
        <p14:creationId xmlns:p14="http://schemas.microsoft.com/office/powerpoint/2010/main" val="1426084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6FC53-DF32-CE64-DFB5-7C8645A52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FF693-5E30-D813-D298-9AB46F923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66" y="183025"/>
            <a:ext cx="8421512" cy="769441"/>
          </a:xfrm>
        </p:spPr>
        <p:txBody>
          <a:bodyPr/>
          <a:lstStyle/>
          <a:p>
            <a:r>
              <a:rPr lang="en-US" sz="4400" dirty="0"/>
              <a:t>Example Data Analysis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4FB2EA-A75D-4ADA-B03B-899868167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2466"/>
            <a:ext cx="8387645" cy="559508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example data is available for this laboratory since this is basically an in-lab exam of your knowledge of chemical reactions and the ability to write and balance chemical equations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 giving you the answers directly does not help the learning process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After the reports are submitted, the answers will be supplied for the report if they are not provided otherwise during the laboratory session</a:t>
            </a:r>
          </a:p>
        </p:txBody>
      </p:sp>
    </p:spTree>
    <p:extLst>
      <p:ext uri="{BB962C8B-B14F-4D97-AF65-F5344CB8AC3E}">
        <p14:creationId xmlns:p14="http://schemas.microsoft.com/office/powerpoint/2010/main" val="2049909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C79B0-B384-1533-BACA-0EA95D408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2473B-F6C9-7A59-3DAB-7CBF32F68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contents of the test tubes you make are to be dumped into waste beakers provided at each station</a:t>
            </a:r>
          </a:p>
          <a:p>
            <a:r>
              <a:rPr lang="en-US" dirty="0"/>
              <a:t>Wash the Zn pellets with DI water, remove with forceps. The pellets will probably be collected by instructor in larger beaker, rewashed, prepared for drying and later re-use</a:t>
            </a:r>
          </a:p>
          <a:p>
            <a:r>
              <a:rPr lang="en-US" dirty="0"/>
              <a:t>Most test tubes will likely be put in aqueous inorganic waste</a:t>
            </a:r>
          </a:p>
          <a:p>
            <a:r>
              <a:rPr lang="en-US" dirty="0"/>
              <a:t>Solids can be flushed from tubes into waste container with minimal </a:t>
            </a:r>
            <a:r>
              <a:rPr lang="en-US"/>
              <a:t>water flushing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914632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30653</TotalTime>
  <Words>1334</Words>
  <Application>Microsoft Office PowerPoint</Application>
  <PresentationFormat>On-screen Show (4:3)</PresentationFormat>
  <Paragraphs>148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Cambria</vt:lpstr>
      <vt:lpstr>Courier New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Introduction</vt:lpstr>
      <vt:lpstr>Background</vt:lpstr>
      <vt:lpstr>Background</vt:lpstr>
      <vt:lpstr>Background</vt:lpstr>
      <vt:lpstr>Background</vt:lpstr>
      <vt:lpstr>LAB SAFETY</vt:lpstr>
      <vt:lpstr>Equipment You Will Use</vt:lpstr>
      <vt:lpstr>Consumables</vt:lpstr>
      <vt:lpstr>Procedure</vt:lpstr>
      <vt:lpstr>Procedure</vt:lpstr>
      <vt:lpstr>Procedure</vt:lpstr>
      <vt:lpstr>Procedure</vt:lpstr>
      <vt:lpstr>Procedure</vt:lpstr>
      <vt:lpstr>Procedure</vt:lpstr>
      <vt:lpstr>Example Data Analysis</vt:lpstr>
      <vt:lpstr>Clean Up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1085</cp:revision>
  <cp:lastPrinted>2016-03-14T04:22:58Z</cp:lastPrinted>
  <dcterms:created xsi:type="dcterms:W3CDTF">2005-12-08T13:54:14Z</dcterms:created>
  <dcterms:modified xsi:type="dcterms:W3CDTF">2025-10-27T04:01:06Z</dcterms:modified>
</cp:coreProperties>
</file>