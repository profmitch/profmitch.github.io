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3" r:id="rId1"/>
  </p:sldMasterIdLst>
  <p:notesMasterIdLst>
    <p:notesMasterId r:id="rId19"/>
  </p:notesMasterIdLst>
  <p:sldIdLst>
    <p:sldId id="608" r:id="rId2"/>
    <p:sldId id="609" r:id="rId3"/>
    <p:sldId id="616" r:id="rId4"/>
    <p:sldId id="881" r:id="rId5"/>
    <p:sldId id="613" r:id="rId6"/>
    <p:sldId id="610" r:id="rId7"/>
    <p:sldId id="882" r:id="rId8"/>
    <p:sldId id="883" r:id="rId9"/>
    <p:sldId id="612" r:id="rId10"/>
    <p:sldId id="884" r:id="rId11"/>
    <p:sldId id="885" r:id="rId12"/>
    <p:sldId id="886" r:id="rId13"/>
    <p:sldId id="891" r:id="rId14"/>
    <p:sldId id="887" r:id="rId15"/>
    <p:sldId id="888" r:id="rId16"/>
    <p:sldId id="889" r:id="rId17"/>
    <p:sldId id="890" r:id="rId1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FF00"/>
    <a:srgbClr val="FF0066"/>
    <a:srgbClr val="CC99FF"/>
    <a:srgbClr val="99FFCC"/>
    <a:srgbClr val="FFFFCC"/>
    <a:srgbClr val="339933"/>
    <a:srgbClr val="CCFFFF"/>
    <a:srgbClr val="FFFF99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2" autoAdjust="0"/>
    <p:restoredTop sz="94620" autoAdjust="0"/>
  </p:normalViewPr>
  <p:slideViewPr>
    <p:cSldViewPr snapToGrid="0">
      <p:cViewPr varScale="1">
        <p:scale>
          <a:sx n="88" d="100"/>
          <a:sy n="88" d="100"/>
        </p:scale>
        <p:origin x="96" y="1110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0" d="100"/>
        <a:sy n="180" d="100"/>
      </p:scale>
      <p:origin x="0" y="-4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4CB21-8540-E34E-99D5-DBB61C460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D2053-A9F4-4414-A3FB-98959FE1F8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162CC9-4E20-A957-5604-1237F17B2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27691" y="636499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baseline="0">
                <a:solidFill>
                  <a:schemeClr val="bg1"/>
                </a:solidFill>
              </a:defRPr>
            </a:lvl1pPr>
          </a:lstStyle>
          <a:p>
            <a:fld id="{061D2053-A9F4-4414-A3FB-98959FE1F87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03197" y="1295478"/>
            <a:ext cx="8111067" cy="769441"/>
          </a:xfrm>
        </p:spPr>
        <p:txBody>
          <a:bodyPr/>
          <a:lstStyle/>
          <a:p>
            <a:r>
              <a:rPr lang="en-US" sz="44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Mitch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F076B50A-8DFC-B976-E589-F7B1C6233B99}"/>
              </a:ext>
            </a:extLst>
          </p:cNvPr>
          <p:cNvSpPr txBox="1">
            <a:spLocks/>
          </p:cNvSpPr>
          <p:nvPr/>
        </p:nvSpPr>
        <p:spPr bwMode="auto">
          <a:xfrm>
            <a:off x="542780" y="4096208"/>
            <a:ext cx="6793992" cy="1466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Courier New" pitchFamily="49" charset="0"/>
              <a:buNone/>
              <a:defRPr sz="1600">
                <a:solidFill>
                  <a:schemeClr val="bg1"/>
                </a:solidFill>
                <a:latin typeface="+mn-lt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bg1"/>
                </a:solidFill>
                <a:latin typeface="+mn-lt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endParaRPr lang="en-US" sz="4800" kern="0" dirty="0">
              <a:solidFill>
                <a:srgbClr val="CC99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D93987C-C3A6-9E17-4494-2A0E8AA68125}"/>
              </a:ext>
            </a:extLst>
          </p:cNvPr>
          <p:cNvSpPr txBox="1">
            <a:spLocks/>
          </p:cNvSpPr>
          <p:nvPr/>
        </p:nvSpPr>
        <p:spPr bwMode="auto">
          <a:xfrm>
            <a:off x="516466" y="2228750"/>
            <a:ext cx="8111067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7200">
                <a:solidFill>
                  <a:srgbClr val="FFFF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9pPr>
          </a:lstStyle>
          <a:p>
            <a:r>
              <a:rPr lang="en-US" sz="6600" i="1" kern="0" dirty="0">
                <a:solidFill>
                  <a:srgbClr val="CC99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Experiment 6a</a:t>
            </a:r>
          </a:p>
        </p:txBody>
      </p:sp>
      <p:sp>
        <p:nvSpPr>
          <p:cNvPr id="29" name="Title 3">
            <a:extLst>
              <a:ext uri="{FF2B5EF4-FFF2-40B4-BE49-F238E27FC236}">
                <a16:creationId xmlns:a16="http://schemas.microsoft.com/office/drawing/2014/main" id="{0F667B90-ADA0-D7AE-AC82-9C44B2A46AE5}"/>
              </a:ext>
            </a:extLst>
          </p:cNvPr>
          <p:cNvSpPr txBox="1">
            <a:spLocks/>
          </p:cNvSpPr>
          <p:nvPr/>
        </p:nvSpPr>
        <p:spPr bwMode="auto">
          <a:xfrm>
            <a:off x="490153" y="3730219"/>
            <a:ext cx="811106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7200">
                <a:solidFill>
                  <a:srgbClr val="FFFF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9pPr>
          </a:lstStyle>
          <a:p>
            <a:r>
              <a:rPr lang="en-US" sz="6000" kern="0">
                <a:solidFill>
                  <a:schemeClr val="accent1">
                    <a:lumMod val="60000"/>
                    <a:lumOff val="40000"/>
                  </a:schemeClr>
                </a:solidFill>
              </a:rPr>
              <a:t>Molecular Modeling</a:t>
            </a:r>
            <a:endParaRPr lang="en-US" sz="6000" kern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C0286-47AD-54C9-04A3-607B80CE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34315"/>
            <a:ext cx="8421512" cy="83099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C5B2E-5542-F5D6-CEA6-30C230FF4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2" y="1065312"/>
            <a:ext cx="8387645" cy="5215465"/>
          </a:xfrm>
        </p:spPr>
        <p:txBody>
          <a:bodyPr/>
          <a:lstStyle/>
          <a:p>
            <a:r>
              <a:rPr lang="en-US" dirty="0"/>
              <a:t>Molecules which include polyatomic ions can be represented with Lewis structures and ball-and-stick models</a:t>
            </a:r>
          </a:p>
          <a:p>
            <a:r>
              <a:rPr lang="en-US" dirty="0"/>
              <a:t>A difference between Lewis structures and the ball-and-stick models is that latter can show molecular geometry</a:t>
            </a:r>
          </a:p>
          <a:p>
            <a:r>
              <a:rPr lang="en-US" dirty="0"/>
              <a:t>This experiment will</a:t>
            </a:r>
          </a:p>
          <a:p>
            <a:pPr lvl="1"/>
            <a:r>
              <a:rPr lang="en-US" dirty="0"/>
              <a:t>Use ball and stick to represent molecules three-dimensionally</a:t>
            </a:r>
          </a:p>
          <a:p>
            <a:pPr lvl="1"/>
            <a:r>
              <a:rPr lang="en-US" dirty="0"/>
              <a:t>Use electron dot Lewis structures to represent molecules two-dimensionally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B3358-0AC6-6F5D-A7AD-F52C1EAA5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D2053-A9F4-4414-A3FB-98959FE1F87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6BD6-F4FE-A7D4-2A37-C4EA7D32A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B19F-006B-7531-DD27-28B722C19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4572-3706-EF53-95DE-248E030B0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332091"/>
            <a:ext cx="8387645" cy="2333610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/>
              <a:t>Model kits will build molecules in 3-D with balls of different colors for different atoms, and gray connectors</a:t>
            </a:r>
          </a:p>
          <a:p>
            <a:pPr marL="465138" lvl="1" indent="-228600">
              <a:buFont typeface="Arial" panose="020B0604020202020204" pitchFamily="34" charset="0"/>
              <a:buChar char="•"/>
            </a:pPr>
            <a:r>
              <a:rPr lang="en-US" sz="1600" dirty="0"/>
              <a:t>Single bonds have short, rigid connectors</a:t>
            </a:r>
          </a:p>
          <a:p>
            <a:pPr marL="465138" lvl="1" indent="-228600">
              <a:buFont typeface="Arial" panose="020B0604020202020204" pitchFamily="34" charset="0"/>
              <a:buChar char="•"/>
            </a:pPr>
            <a:r>
              <a:rPr lang="en-US" sz="1600" dirty="0"/>
              <a:t>Double &amp; triple bonds have longer flexible connectors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E0D6CE-DB59-6AF9-075B-052E914BE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37" y="3665700"/>
            <a:ext cx="6992326" cy="29531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B06AE-8CB9-D92A-1F0C-ADFA4D2559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D2053-A9F4-4414-A3FB-98959FE1F87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38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2249-F86D-2606-EEA1-849D0A415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08E5-977D-D4AC-8AA4-5D34FB800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107748"/>
            <a:ext cx="8421512" cy="830997"/>
          </a:xfrm>
        </p:spPr>
        <p:txBody>
          <a:bodyPr/>
          <a:lstStyle/>
          <a:p>
            <a:r>
              <a:rPr lang="en-US" dirty="0"/>
              <a:t>Shape Summary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90E8DEE-FE90-37D4-543B-61558BA29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2531868"/>
              </p:ext>
            </p:extLst>
          </p:nvPr>
        </p:nvGraphicFramePr>
        <p:xfrm>
          <a:off x="217438" y="1000267"/>
          <a:ext cx="8844012" cy="5516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359">
                  <a:extLst>
                    <a:ext uri="{9D8B030D-6E8A-4147-A177-3AD203B41FA5}">
                      <a16:colId xmlns:a16="http://schemas.microsoft.com/office/drawing/2014/main" val="996526161"/>
                    </a:ext>
                  </a:extLst>
                </a:gridCol>
                <a:gridCol w="1838394">
                  <a:extLst>
                    <a:ext uri="{9D8B030D-6E8A-4147-A177-3AD203B41FA5}">
                      <a16:colId xmlns:a16="http://schemas.microsoft.com/office/drawing/2014/main" val="1906569574"/>
                    </a:ext>
                  </a:extLst>
                </a:gridCol>
                <a:gridCol w="1100174">
                  <a:extLst>
                    <a:ext uri="{9D8B030D-6E8A-4147-A177-3AD203B41FA5}">
                      <a16:colId xmlns:a16="http://schemas.microsoft.com/office/drawing/2014/main" val="2090934411"/>
                    </a:ext>
                  </a:extLst>
                </a:gridCol>
                <a:gridCol w="1685543">
                  <a:extLst>
                    <a:ext uri="{9D8B030D-6E8A-4147-A177-3AD203B41FA5}">
                      <a16:colId xmlns:a16="http://schemas.microsoft.com/office/drawing/2014/main" val="1534403288"/>
                    </a:ext>
                  </a:extLst>
                </a:gridCol>
                <a:gridCol w="1583610">
                  <a:extLst>
                    <a:ext uri="{9D8B030D-6E8A-4147-A177-3AD203B41FA5}">
                      <a16:colId xmlns:a16="http://schemas.microsoft.com/office/drawing/2014/main" val="2032961260"/>
                    </a:ext>
                  </a:extLst>
                </a:gridCol>
                <a:gridCol w="1574932">
                  <a:extLst>
                    <a:ext uri="{9D8B030D-6E8A-4147-A177-3AD203B41FA5}">
                      <a16:colId xmlns:a16="http://schemas.microsoft.com/office/drawing/2014/main" val="1314389017"/>
                    </a:ext>
                  </a:extLst>
                </a:gridCol>
              </a:tblGrid>
              <a:tr h="362807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# of Electron Groups</a:t>
                      </a:r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Electron Group Symmetry</a:t>
                      </a:r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Ideal Bond Angle</a:t>
                      </a:r>
                    </a:p>
                  </a:txBody>
                  <a:tcPr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Molecular Geometry</a:t>
                      </a:r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359639"/>
                  </a:ext>
                </a:extLst>
              </a:tr>
              <a:tr h="3851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 lone pairs</a:t>
                      </a:r>
                    </a:p>
                  </a:txBody>
                  <a:tcPr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 lone pair</a:t>
                      </a:r>
                    </a:p>
                  </a:txBody>
                  <a:tcPr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 lone pairs</a:t>
                      </a:r>
                    </a:p>
                  </a:txBody>
                  <a:tcPr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513099"/>
                  </a:ext>
                </a:extLst>
              </a:tr>
              <a:tr h="8647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Linear</a:t>
                      </a:r>
                    </a:p>
                    <a:p>
                      <a:pPr algn="ctr"/>
                      <a:br>
                        <a:rPr lang="en-US" dirty="0"/>
                      </a:br>
                      <a:endParaRPr lang="en-US" b="1" dirty="0">
                        <a:solidFill>
                          <a:srgbClr val="33993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Linear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538612"/>
                  </a:ext>
                </a:extLst>
              </a:tr>
              <a:tr h="1669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Trigonal Planar</a:t>
                      </a:r>
                      <a:br>
                        <a:rPr lang="en-US" dirty="0"/>
                      </a:b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Trigonal Planar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669133"/>
                  </a:ext>
                </a:extLst>
              </a:tr>
              <a:tr h="19979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Tetrahedral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109.5°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Tetrahedral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Trigonal Pyramidal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06553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D2036-2185-AB85-0729-0AA2B2482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4050" y="641350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 baseline="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5B6962B3-FD4C-44AA-AB11-79423C828F3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81DE54-F9B6-F8E8-9732-1883A6E36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620" y="2173871"/>
            <a:ext cx="1323975" cy="3714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FF0249-6443-CB6A-5487-65615EAC6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245" y="3211020"/>
            <a:ext cx="1276350" cy="1095375"/>
          </a:xfrm>
          <a:prstGeom prst="rect">
            <a:avLst/>
          </a:prstGeom>
        </p:spPr>
      </p:pic>
      <p:pic>
        <p:nvPicPr>
          <p:cNvPr id="22" name="Picture 21" descr="A green symbol with letters and numbers&#10;&#10;AI-generated content may be incorrect.">
            <a:extLst>
              <a:ext uri="{FF2B5EF4-FFF2-40B4-BE49-F238E27FC236}">
                <a16:creationId xmlns:a16="http://schemas.microsoft.com/office/drawing/2014/main" id="{6847C163-A06E-D5D2-DC9A-24831F84C2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286" y="4860925"/>
            <a:ext cx="1704975" cy="15525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F350CE4-0660-1FE0-932E-E7BD60FEE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942" y="2256317"/>
            <a:ext cx="1323975" cy="3714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5F02F9C-B45A-6E8D-D3CE-623A281CF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567" y="3373174"/>
            <a:ext cx="1276350" cy="10953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E4C79BA-2960-6983-A1C6-669357CEE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093" y="3672165"/>
            <a:ext cx="1424590" cy="661867"/>
          </a:xfrm>
          <a:prstGeom prst="rect">
            <a:avLst/>
          </a:prstGeom>
        </p:spPr>
      </p:pic>
      <p:pic>
        <p:nvPicPr>
          <p:cNvPr id="33" name="Picture 32" descr="A green symbol with letters and numbers&#10;&#10;AI-generated content may be incorrect.">
            <a:extLst>
              <a:ext uri="{FF2B5EF4-FFF2-40B4-BE49-F238E27FC236}">
                <a16:creationId xmlns:a16="http://schemas.microsoft.com/office/drawing/2014/main" id="{A27F2F0B-748B-078B-8FF8-1E4F1FC24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254" y="4860925"/>
            <a:ext cx="1704975" cy="155257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62D90DF-A456-2036-9471-F5EEA78CA8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2585" y="5346445"/>
            <a:ext cx="1437980" cy="91580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F1FDD22-3265-C4C9-EB48-F10BB129FD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4922" y="5111808"/>
            <a:ext cx="1437980" cy="128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196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3C777-AC05-5132-FF2B-F5A02DA5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9CB47-2ED6-F129-56DC-E0ADE3F3E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80A77-3A72-788B-6A53-1E27D08AE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22984"/>
            <a:ext cx="8421512" cy="830997"/>
          </a:xfrm>
        </p:spPr>
        <p:txBody>
          <a:bodyPr/>
          <a:lstStyle/>
          <a:p>
            <a:r>
              <a:rPr lang="en-US" dirty="0"/>
              <a:t>Equipment You Will Use</a:t>
            </a:r>
          </a:p>
        </p:txBody>
      </p:sp>
      <p:pic>
        <p:nvPicPr>
          <p:cNvPr id="1026" name="Picture 2" descr="Molymod Organic Chemistry Student Edition Molecular Model Set, Set of 112">
            <a:extLst>
              <a:ext uri="{FF2B5EF4-FFF2-40B4-BE49-F238E27FC236}">
                <a16:creationId xmlns:a16="http://schemas.microsoft.com/office/drawing/2014/main" id="{56586DEB-E6C1-5910-F4CC-F9DE4D88D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327" y="2648396"/>
            <a:ext cx="4602094" cy="272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EAB865-43B2-3388-0728-B0AEE4F02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D2053-A9F4-4414-A3FB-98959FE1F87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8" name="Picture 4" descr="Chemistry set pencils can turn life-saving tests into child's play">
            <a:extLst>
              <a:ext uri="{FF2B5EF4-FFF2-40B4-BE49-F238E27FC236}">
                <a16:creationId xmlns:a16="http://schemas.microsoft.com/office/drawing/2014/main" id="{D01034F9-E0E0-5C08-D8AD-DB9472065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79" y="2859252"/>
            <a:ext cx="3588329" cy="239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70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A83F-7B22-8A01-2FE3-CCC1C22C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B132-4F9B-3FA6-3604-1ACDFE9F4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68387-E25A-7C7C-241B-25887E4EA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0" indent="0">
              <a:buNone/>
            </a:pPr>
            <a:r>
              <a:rPr lang="en-US" sz="2800" i="1" dirty="0">
                <a:solidFill>
                  <a:srgbClr val="00FF00"/>
                </a:solidFill>
              </a:rPr>
              <a:t>Drawing Lewis Structures First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table with 10 rows representing 10 different molecules will have the Lewis structure drawn first in the lab report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Using the molecular model kit, use the correct colored ball and connectors to construct what Lewis structure shows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 colored pencils to sketch the model and color it in in lab report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Count electron groups and indicate the geometry of electron groups and molecule. Use appropriate terms to indicate geometry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515DB0-26F5-DB42-3093-C567F97A27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D2053-A9F4-4414-A3FB-98959FE1F87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65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8CE41-318B-5787-CBEA-916EC1A8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ACA-6A5F-3356-7491-3DD5299D2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F09CA-0628-EE93-CEB9-64B98944D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0" indent="0">
              <a:buNone/>
            </a:pPr>
            <a:r>
              <a:rPr lang="en-US" sz="2800" i="1" dirty="0">
                <a:solidFill>
                  <a:srgbClr val="00FF00"/>
                </a:solidFill>
              </a:rPr>
              <a:t>Constructing Molecular Models First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table with 8 rows representing 8 different molecules requires the construction of molecules using modeling kit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Complete the lab report with a sketch of molecule from kit components, indicate valence electrons, draw Lewis dot structure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Indicate number of electron groups, the geometry of electron groups, and geometry of molecule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7B8F85-4768-0264-9585-C36B9A425F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D2053-A9F4-4414-A3FB-98959FE1F87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587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7E85B-DA5F-83B2-B9C0-435AFE9EB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ED9F-B6F5-8F29-4138-2CED9A461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9BDC5A-409C-D4AE-F7F7-4F8E8D06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0" indent="0">
              <a:buNone/>
            </a:pPr>
            <a:r>
              <a:rPr lang="en-US" sz="2800" i="1" dirty="0">
                <a:solidFill>
                  <a:srgbClr val="00FF00"/>
                </a:solidFill>
              </a:rPr>
              <a:t>Unknown Molecules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Models of five molecules will be presented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For each, there are entries to be made in the lab report as follows: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sz="2400" dirty="0"/>
              <a:t>Sketch the model with colored pencils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sz="2400" dirty="0"/>
              <a:t>Determine valence electrons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sz="2400" dirty="0"/>
              <a:t>Draw the Lewis structure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sz="2400" dirty="0"/>
              <a:t>Enter the chemical formula in the 1</a:t>
            </a:r>
            <a:r>
              <a:rPr lang="en-US" sz="2400" baseline="30000" dirty="0"/>
              <a:t>st</a:t>
            </a:r>
            <a:r>
              <a:rPr lang="en-US" sz="2400" dirty="0"/>
              <a:t> column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56A869-3E30-8FA5-7A00-865E4C0D5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D2053-A9F4-4414-A3FB-98959FE1F87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962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C79B0-B384-1533-BACA-0EA95D40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473B-F6C9-7A59-3DAB-7CBF32F68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 parts to modeling kits</a:t>
            </a:r>
          </a:p>
          <a:p>
            <a:r>
              <a:rPr lang="en-US" dirty="0"/>
              <a:t>Organize colored pencils back in storage containers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B13AE-8953-3B88-D10E-95186ADD63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1D2053-A9F4-4414-A3FB-98959FE1F87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91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82DB-0CB8-8B3F-17D8-79BDAD0BD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5BC04-7981-FD75-DE7C-78BE86426C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364288"/>
            <a:ext cx="2057400" cy="365125"/>
          </a:xfrm>
        </p:spPr>
        <p:txBody>
          <a:bodyPr/>
          <a:lstStyle/>
          <a:p>
            <a:fld id="{061D2053-A9F4-4414-A3FB-98959FE1F87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2D0970-FE0C-FEDB-C84C-A21184EE7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53" y="0"/>
            <a:ext cx="67922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40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B9DD-CCA3-A059-ACAF-C6DE3855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C0275-78FB-8843-43A0-827E8CFD92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364288"/>
            <a:ext cx="2057400" cy="365125"/>
          </a:xfrm>
        </p:spPr>
        <p:txBody>
          <a:bodyPr/>
          <a:lstStyle/>
          <a:p>
            <a:fld id="{061D2053-A9F4-4414-A3FB-98959FE1F87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5ED4D9-E560-ED90-C619-088AB04AC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252" y="0"/>
            <a:ext cx="66614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646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E4218-1ECC-6A6E-EA1B-8F1B5E445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085D1-F915-BD53-15BE-636DEF9406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364288"/>
            <a:ext cx="2057400" cy="365125"/>
          </a:xfrm>
        </p:spPr>
        <p:txBody>
          <a:bodyPr/>
          <a:lstStyle/>
          <a:p>
            <a:fld id="{061D2053-A9F4-4414-A3FB-98959FE1F87A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B1EA3B-1CB9-F651-F9CA-C65BB0DB2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643" y="0"/>
            <a:ext cx="6186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37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A084C-4FFD-0423-98CD-B2407516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2529F-6201-8FC7-D6FA-0CDF1E97EE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364288"/>
            <a:ext cx="2057400" cy="365125"/>
          </a:xfrm>
        </p:spPr>
        <p:txBody>
          <a:bodyPr/>
          <a:lstStyle/>
          <a:p>
            <a:fld id="{061D2053-A9F4-4414-A3FB-98959FE1F87A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484B51-79C1-E72E-02B8-A8D734DF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223"/>
            <a:ext cx="9144000" cy="661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20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E2176-2689-774D-5201-7C1A9B40B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F3295-789F-D71C-58C2-61AB7AD0DC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364288"/>
            <a:ext cx="2057400" cy="365125"/>
          </a:xfrm>
        </p:spPr>
        <p:txBody>
          <a:bodyPr/>
          <a:lstStyle/>
          <a:p>
            <a:fld id="{061D2053-A9F4-4414-A3FB-98959FE1F87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C9E0FA-6EA8-A975-9039-F3CDADE0E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0"/>
            <a:ext cx="5848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919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05E68-416C-54E5-B8E2-0FD81DE2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B3FF7-81B7-140B-8C5D-4DF579750D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364288"/>
            <a:ext cx="2057400" cy="365125"/>
          </a:xfrm>
        </p:spPr>
        <p:txBody>
          <a:bodyPr/>
          <a:lstStyle/>
          <a:p>
            <a:fld id="{061D2053-A9F4-4414-A3FB-98959FE1F87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52B203-43A1-DCFC-6204-B7F73DFE6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694" y="0"/>
            <a:ext cx="55886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39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56C9-58D9-40D4-D4A9-93FC85BC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4E4C6-3D31-A920-43F1-2761B605A2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364288"/>
            <a:ext cx="2057400" cy="365125"/>
          </a:xfrm>
        </p:spPr>
        <p:txBody>
          <a:bodyPr/>
          <a:lstStyle/>
          <a:p>
            <a:fld id="{061D2053-A9F4-4414-A3FB-98959FE1F87A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09EBB4-4662-9623-BB2C-80A2849F0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41" y="0"/>
            <a:ext cx="8535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08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8CC41-8D55-A842-F423-756E85BC3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78B3B-FD69-0DB9-837C-DE449D9491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364288"/>
            <a:ext cx="2057400" cy="365125"/>
          </a:xfrm>
        </p:spPr>
        <p:txBody>
          <a:bodyPr/>
          <a:lstStyle/>
          <a:p>
            <a:fld id="{061D2053-A9F4-4414-A3FB-98959FE1F87A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300819-D892-9348-13D7-53B1EF237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595" y="0"/>
            <a:ext cx="5672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5102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31061</TotalTime>
  <Words>361</Words>
  <Application>Microsoft Office PowerPoint</Application>
  <PresentationFormat>On-screen Show (4:3)</PresentationFormat>
  <Paragraphs>88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Cambria</vt:lpstr>
      <vt:lpstr>Courier New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Introduction</vt:lpstr>
      <vt:lpstr>Background</vt:lpstr>
      <vt:lpstr>Shape Summary</vt:lpstr>
      <vt:lpstr>Equipment You Will Use</vt:lpstr>
      <vt:lpstr>Procedure</vt:lpstr>
      <vt:lpstr>Procedure</vt:lpstr>
      <vt:lpstr>Procedure</vt:lpstr>
      <vt:lpstr>Clean 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sm h</cp:lastModifiedBy>
  <cp:revision>1055</cp:revision>
  <cp:lastPrinted>2016-03-14T04:22:58Z</cp:lastPrinted>
  <dcterms:created xsi:type="dcterms:W3CDTF">2005-12-08T13:54:14Z</dcterms:created>
  <dcterms:modified xsi:type="dcterms:W3CDTF">2025-11-12T16:34:13Z</dcterms:modified>
</cp:coreProperties>
</file>