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37"/>
  </p:notesMasterIdLst>
  <p:sldIdLst>
    <p:sldId id="608" r:id="rId2"/>
    <p:sldId id="830" r:id="rId3"/>
    <p:sldId id="831" r:id="rId4"/>
    <p:sldId id="832" r:id="rId5"/>
    <p:sldId id="833" r:id="rId6"/>
    <p:sldId id="834" r:id="rId7"/>
    <p:sldId id="840" r:id="rId8"/>
    <p:sldId id="841" r:id="rId9"/>
    <p:sldId id="835" r:id="rId10"/>
    <p:sldId id="842" r:id="rId11"/>
    <p:sldId id="836" r:id="rId12"/>
    <p:sldId id="843" r:id="rId13"/>
    <p:sldId id="844" r:id="rId14"/>
    <p:sldId id="845" r:id="rId15"/>
    <p:sldId id="837" r:id="rId16"/>
    <p:sldId id="847" r:id="rId17"/>
    <p:sldId id="848" r:id="rId18"/>
    <p:sldId id="849" r:id="rId19"/>
    <p:sldId id="846" r:id="rId20"/>
    <p:sldId id="850" r:id="rId21"/>
    <p:sldId id="838" r:id="rId22"/>
    <p:sldId id="851" r:id="rId23"/>
    <p:sldId id="852" r:id="rId24"/>
    <p:sldId id="853" r:id="rId25"/>
    <p:sldId id="854" r:id="rId26"/>
    <p:sldId id="858" r:id="rId27"/>
    <p:sldId id="859" r:id="rId28"/>
    <p:sldId id="855" r:id="rId29"/>
    <p:sldId id="856" r:id="rId30"/>
    <p:sldId id="860" r:id="rId31"/>
    <p:sldId id="861" r:id="rId32"/>
    <p:sldId id="839" r:id="rId33"/>
    <p:sldId id="863" r:id="rId34"/>
    <p:sldId id="862" r:id="rId35"/>
    <p:sldId id="864" r:id="rId36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CC99FF"/>
    <a:srgbClr val="FF99FF"/>
    <a:srgbClr val="FFFFCC"/>
    <a:srgbClr val="339933"/>
    <a:srgbClr val="CCFFFF"/>
    <a:srgbClr val="FFFF99"/>
    <a:srgbClr val="99FFCC"/>
    <a:srgbClr val="99FF66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22" autoAdjust="0"/>
    <p:restoredTop sz="94620" autoAdjust="0"/>
  </p:normalViewPr>
  <p:slideViewPr>
    <p:cSldViewPr snapToGrid="0">
      <p:cViewPr varScale="1">
        <p:scale>
          <a:sx n="93" d="100"/>
          <a:sy n="93" d="100"/>
        </p:scale>
        <p:origin x="90" y="1146"/>
      </p:cViewPr>
      <p:guideLst>
        <p:guide orient="horz"/>
        <p:guide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329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587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520" y="4560570"/>
            <a:ext cx="5852160" cy="432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587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F80B39F9-9779-49E4-9061-3C452DBF8DE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6710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0B39F9-9779-49E4-9061-3C452DBF8DE4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8000" y="1355676"/>
            <a:ext cx="8111067" cy="2308324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1208" y="4297679"/>
            <a:ext cx="6793992" cy="1157901"/>
          </a:xfrm>
        </p:spPr>
        <p:txBody>
          <a:bodyPr/>
          <a:lstStyle>
            <a:lvl1pPr marL="0" indent="0" algn="l">
              <a:buNone/>
              <a:defRPr sz="3200" i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14629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633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ubtitle+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246" y="307480"/>
            <a:ext cx="8421512" cy="76944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927" y="1611086"/>
            <a:ext cx="8464730" cy="49364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331016" y="1114697"/>
            <a:ext cx="8439150" cy="435428"/>
          </a:xfrm>
        </p:spPr>
        <p:txBody>
          <a:bodyPr/>
          <a:lstStyle>
            <a:lvl1pPr>
              <a:buNone/>
              <a:defRPr sz="2200" i="1">
                <a:solidFill>
                  <a:srgbClr val="CCFFFF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06351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0066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246" y="1512554"/>
            <a:ext cx="8167688" cy="1754326"/>
          </a:xfrm>
        </p:spPr>
        <p:txBody>
          <a:bodyPr anchor="ctr" anchorCtr="0"/>
          <a:lstStyle>
            <a:lvl1pPr algn="l">
              <a:defRPr sz="5400" b="0" i="0" cap="none" baseline="0">
                <a:solidFill>
                  <a:srgbClr val="FFFF99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600" y="4075113"/>
            <a:ext cx="816186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7805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8500" y="1617663"/>
            <a:ext cx="3810000" cy="4732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0900" y="1617663"/>
            <a:ext cx="3810000" cy="4732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27344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003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67905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8690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8594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81713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62476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27800" y="612775"/>
            <a:ext cx="1943100" cy="57372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8500" y="612775"/>
            <a:ext cx="5676900" cy="57372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186436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98500" y="612775"/>
            <a:ext cx="7772400" cy="5737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801593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612775"/>
            <a:ext cx="7772400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98500" y="1617663"/>
            <a:ext cx="7772400" cy="2289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8500" y="4059238"/>
            <a:ext cx="7772400" cy="22907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110213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612775"/>
            <a:ext cx="7772400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8500" y="1617663"/>
            <a:ext cx="3810000" cy="4732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60900" y="1617663"/>
            <a:ext cx="3810000" cy="2289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60900" y="4059238"/>
            <a:ext cx="3810000" cy="22907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610624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+Subtitle+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246" y="307480"/>
            <a:ext cx="8421512" cy="76944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927" y="1611086"/>
            <a:ext cx="8464730" cy="49364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331016" y="1114697"/>
            <a:ext cx="8439150" cy="435428"/>
          </a:xfrm>
        </p:spPr>
        <p:txBody>
          <a:bodyPr/>
          <a:lstStyle>
            <a:lvl1pPr>
              <a:buNone/>
              <a:defRPr sz="2200" i="1">
                <a:solidFill>
                  <a:srgbClr val="CCFFFF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chemeClr val="tx1"/>
            </a:gs>
            <a:gs pos="100000">
              <a:srgbClr val="333399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49955" y="363788"/>
            <a:ext cx="842151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/>
              <a:t>This is the Master </a:t>
            </a:r>
            <a:r>
              <a:rPr lang="en-US" dirty="0" err="1"/>
              <a:t>supraTitle</a:t>
            </a:r>
            <a:endParaRPr lang="en-US" dirty="0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72533" y="1332090"/>
            <a:ext cx="8387645" cy="5215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2443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  <p:sldLayoutId id="2147483815" r:id="rId12"/>
    <p:sldLayoutId id="2147483816" r:id="rId13"/>
    <p:sldLayoutId id="2147483817" r:id="rId14"/>
    <p:sldLayoutId id="2147483818" r:id="rId15"/>
    <p:sldLayoutId id="2147483802" r:id="rId16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800">
          <a:solidFill>
            <a:srgbClr val="FFFF99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9pPr>
    </p:titleStyle>
    <p:bodyStyle>
      <a:lvl1pPr marL="282575" indent="-282575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  <a:ea typeface="+mn-ea"/>
          <a:cs typeface="+mn-cs"/>
        </a:defRPr>
      </a:lvl1pPr>
      <a:lvl2pPr marL="519113" indent="-287338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§"/>
        <a:defRPr sz="2000">
          <a:solidFill>
            <a:schemeClr val="bg1"/>
          </a:solidFill>
          <a:latin typeface="+mn-lt"/>
        </a:defRPr>
      </a:lvl2pPr>
      <a:lvl3pPr marL="801688" indent="-225425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1800">
          <a:solidFill>
            <a:schemeClr val="bg1"/>
          </a:solidFill>
          <a:latin typeface="+mn-lt"/>
        </a:defRPr>
      </a:lvl3pPr>
      <a:lvl4pPr marL="1084263" indent="-288925" algn="l" rtl="0" eaLnBrk="1" fontAlgn="base" hangingPunct="1">
        <a:spcBef>
          <a:spcPct val="20000"/>
        </a:spcBef>
        <a:spcAft>
          <a:spcPct val="0"/>
        </a:spcAft>
        <a:buFont typeface="Courier New" pitchFamily="49" charset="0"/>
        <a:buChar char="o"/>
        <a:defRPr sz="1600">
          <a:solidFill>
            <a:schemeClr val="bg1"/>
          </a:solidFill>
          <a:latin typeface="+mn-lt"/>
        </a:defRPr>
      </a:lvl4pPr>
      <a:lvl5pPr marL="1377950" indent="-293688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bg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ukSR_2D_7Ug?feature=oembed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452436" y="2274838"/>
            <a:ext cx="8111067" cy="2308324"/>
          </a:xfrm>
        </p:spPr>
        <p:txBody>
          <a:bodyPr/>
          <a:lstStyle/>
          <a:p>
            <a:r>
              <a:rPr lang="en-US" sz="7200" dirty="0"/>
              <a:t>Introductory General Chemistry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4933" y="335982"/>
            <a:ext cx="6793992" cy="1466314"/>
          </a:xfrm>
        </p:spPr>
        <p:txBody>
          <a:bodyPr/>
          <a:lstStyle/>
          <a:p>
            <a:r>
              <a:rPr lang="en-US" sz="4800" dirty="0">
                <a:latin typeface="Cambria" panose="02040503050406030204" pitchFamily="18" charset="0"/>
                <a:ea typeface="Cambria" panose="02040503050406030204" pitchFamily="18" charset="0"/>
              </a:rPr>
              <a:t>Chemistry 3A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52436" y="6183465"/>
            <a:ext cx="821259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99FFCC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S. M. Halloran</a:t>
            </a:r>
          </a:p>
        </p:txBody>
      </p:sp>
      <p:grpSp>
        <p:nvGrpSpPr>
          <p:cNvPr id="7" name="Graphic 5">
            <a:extLst>
              <a:ext uri="{FF2B5EF4-FFF2-40B4-BE49-F238E27FC236}">
                <a16:creationId xmlns:a16="http://schemas.microsoft.com/office/drawing/2014/main" id="{5B52E0F6-8842-2F84-F5D5-89B62A99B5B8}"/>
              </a:ext>
            </a:extLst>
          </p:cNvPr>
          <p:cNvGrpSpPr/>
          <p:nvPr/>
        </p:nvGrpSpPr>
        <p:grpSpPr>
          <a:xfrm>
            <a:off x="6173698" y="6065033"/>
            <a:ext cx="2491329" cy="325030"/>
            <a:chOff x="3790393" y="2022509"/>
            <a:chExt cx="3776519" cy="492702"/>
          </a:xfrm>
          <a:solidFill>
            <a:schemeClr val="bg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445359E-6CDB-90C0-FF05-8856FBB015CC}"/>
                </a:ext>
              </a:extLst>
            </p:cNvPr>
            <p:cNvSpPr/>
            <p:nvPr/>
          </p:nvSpPr>
          <p:spPr>
            <a:xfrm>
              <a:off x="3790393" y="2022509"/>
              <a:ext cx="492702" cy="492702"/>
            </a:xfrm>
            <a:custGeom>
              <a:avLst/>
              <a:gdLst>
                <a:gd name="connsiteX0" fmla="*/ 21214 w 492702"/>
                <a:gd name="connsiteY0" fmla="*/ 0 h 492702"/>
                <a:gd name="connsiteX1" fmla="*/ 471489 w 492702"/>
                <a:gd name="connsiteY1" fmla="*/ 0 h 492702"/>
                <a:gd name="connsiteX2" fmla="*/ 492703 w 492702"/>
                <a:gd name="connsiteY2" fmla="*/ 21122 h 492702"/>
                <a:gd name="connsiteX3" fmla="*/ 492703 w 492702"/>
                <a:gd name="connsiteY3" fmla="*/ 471580 h 492702"/>
                <a:gd name="connsiteX4" fmla="*/ 471489 w 492702"/>
                <a:gd name="connsiteY4" fmla="*/ 492703 h 492702"/>
                <a:gd name="connsiteX5" fmla="*/ 21214 w 492702"/>
                <a:gd name="connsiteY5" fmla="*/ 492703 h 492702"/>
                <a:gd name="connsiteX6" fmla="*/ 0 w 492702"/>
                <a:gd name="connsiteY6" fmla="*/ 471580 h 492702"/>
                <a:gd name="connsiteX7" fmla="*/ 0 w 492702"/>
                <a:gd name="connsiteY7" fmla="*/ 21122 h 492702"/>
                <a:gd name="connsiteX8" fmla="*/ 21214 w 492702"/>
                <a:gd name="connsiteY8" fmla="*/ 0 h 49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2702" h="492702">
                  <a:moveTo>
                    <a:pt x="21214" y="0"/>
                  </a:moveTo>
                  <a:lnTo>
                    <a:pt x="471489" y="0"/>
                  </a:lnTo>
                  <a:cubicBezTo>
                    <a:pt x="483182" y="-27"/>
                    <a:pt x="492675" y="9430"/>
                    <a:pt x="492703" y="21122"/>
                  </a:cubicBezTo>
                  <a:lnTo>
                    <a:pt x="492703" y="471580"/>
                  </a:lnTo>
                  <a:cubicBezTo>
                    <a:pt x="492675" y="483273"/>
                    <a:pt x="483182" y="492725"/>
                    <a:pt x="471489" y="492703"/>
                  </a:cubicBezTo>
                  <a:lnTo>
                    <a:pt x="21214" y="492703"/>
                  </a:lnTo>
                  <a:cubicBezTo>
                    <a:pt x="9523" y="492730"/>
                    <a:pt x="25" y="483273"/>
                    <a:pt x="0" y="471580"/>
                  </a:cubicBezTo>
                  <a:lnTo>
                    <a:pt x="0" y="21122"/>
                  </a:lnTo>
                  <a:cubicBezTo>
                    <a:pt x="25" y="9430"/>
                    <a:pt x="9523" y="-27"/>
                    <a:pt x="21214" y="0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909A04D-0D5D-01FD-7DB9-AC8C8BC673AF}"/>
                </a:ext>
              </a:extLst>
            </p:cNvPr>
            <p:cNvSpPr/>
            <p:nvPr/>
          </p:nvSpPr>
          <p:spPr>
            <a:xfrm>
              <a:off x="3790393" y="2022509"/>
              <a:ext cx="492702" cy="492702"/>
            </a:xfrm>
            <a:custGeom>
              <a:avLst/>
              <a:gdLst>
                <a:gd name="connsiteX0" fmla="*/ 21214 w 492702"/>
                <a:gd name="connsiteY0" fmla="*/ 0 h 492702"/>
                <a:gd name="connsiteX1" fmla="*/ 471489 w 492702"/>
                <a:gd name="connsiteY1" fmla="*/ 0 h 492702"/>
                <a:gd name="connsiteX2" fmla="*/ 492703 w 492702"/>
                <a:gd name="connsiteY2" fmla="*/ 21122 h 492702"/>
                <a:gd name="connsiteX3" fmla="*/ 492703 w 492702"/>
                <a:gd name="connsiteY3" fmla="*/ 471580 h 492702"/>
                <a:gd name="connsiteX4" fmla="*/ 471489 w 492702"/>
                <a:gd name="connsiteY4" fmla="*/ 492703 h 492702"/>
                <a:gd name="connsiteX5" fmla="*/ 21214 w 492702"/>
                <a:gd name="connsiteY5" fmla="*/ 492703 h 492702"/>
                <a:gd name="connsiteX6" fmla="*/ 0 w 492702"/>
                <a:gd name="connsiteY6" fmla="*/ 471580 h 492702"/>
                <a:gd name="connsiteX7" fmla="*/ 0 w 492702"/>
                <a:gd name="connsiteY7" fmla="*/ 21122 h 492702"/>
                <a:gd name="connsiteX8" fmla="*/ 21214 w 492702"/>
                <a:gd name="connsiteY8" fmla="*/ 0 h 49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2702" h="492702">
                  <a:moveTo>
                    <a:pt x="21214" y="0"/>
                  </a:moveTo>
                  <a:lnTo>
                    <a:pt x="471489" y="0"/>
                  </a:lnTo>
                  <a:cubicBezTo>
                    <a:pt x="483182" y="-27"/>
                    <a:pt x="492675" y="9430"/>
                    <a:pt x="492703" y="21122"/>
                  </a:cubicBezTo>
                  <a:lnTo>
                    <a:pt x="492703" y="471580"/>
                  </a:lnTo>
                  <a:cubicBezTo>
                    <a:pt x="492675" y="483273"/>
                    <a:pt x="483182" y="492725"/>
                    <a:pt x="471489" y="492703"/>
                  </a:cubicBezTo>
                  <a:lnTo>
                    <a:pt x="21214" y="492703"/>
                  </a:lnTo>
                  <a:cubicBezTo>
                    <a:pt x="9523" y="492730"/>
                    <a:pt x="25" y="483273"/>
                    <a:pt x="0" y="471580"/>
                  </a:cubicBezTo>
                  <a:lnTo>
                    <a:pt x="0" y="21122"/>
                  </a:lnTo>
                  <a:cubicBezTo>
                    <a:pt x="25" y="9430"/>
                    <a:pt x="9523" y="-27"/>
                    <a:pt x="21214" y="0"/>
                  </a:cubicBezTo>
                  <a:close/>
                </a:path>
              </a:pathLst>
            </a:custGeom>
            <a:grpFill/>
            <a:ln w="7968" cap="flat">
              <a:solidFill>
                <a:srgbClr val="2320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6EE4331-1540-5318-0722-CE5188B33B81}"/>
                </a:ext>
              </a:extLst>
            </p:cNvPr>
            <p:cNvSpPr/>
            <p:nvPr/>
          </p:nvSpPr>
          <p:spPr>
            <a:xfrm>
              <a:off x="3825932" y="2058504"/>
              <a:ext cx="421762" cy="419709"/>
            </a:xfrm>
            <a:custGeom>
              <a:avLst/>
              <a:gdLst>
                <a:gd name="connsiteX0" fmla="*/ 59717 w 421762"/>
                <a:gd name="connsiteY0" fmla="*/ 0 h 419709"/>
                <a:gd name="connsiteX1" fmla="*/ 421489 w 421762"/>
                <a:gd name="connsiteY1" fmla="*/ 0 h 419709"/>
                <a:gd name="connsiteX2" fmla="*/ 421489 w 421762"/>
                <a:gd name="connsiteY2" fmla="*/ 57117 h 419709"/>
                <a:gd name="connsiteX3" fmla="*/ 57391 w 421762"/>
                <a:gd name="connsiteY3" fmla="*/ 57117 h 419709"/>
                <a:gd name="connsiteX4" fmla="*/ 57391 w 421762"/>
                <a:gd name="connsiteY4" fmla="*/ 167656 h 419709"/>
                <a:gd name="connsiteX5" fmla="*/ 91059 w 421762"/>
                <a:gd name="connsiteY5" fmla="*/ 167656 h 419709"/>
                <a:gd name="connsiteX6" fmla="*/ 91059 w 421762"/>
                <a:gd name="connsiteY6" fmla="*/ 144024 h 419709"/>
                <a:gd name="connsiteX7" fmla="*/ 150913 w 421762"/>
                <a:gd name="connsiteY7" fmla="*/ 90648 h 419709"/>
                <a:gd name="connsiteX8" fmla="*/ 421626 w 421762"/>
                <a:gd name="connsiteY8" fmla="*/ 90648 h 419709"/>
                <a:gd name="connsiteX9" fmla="*/ 421626 w 421762"/>
                <a:gd name="connsiteY9" fmla="*/ 147902 h 419709"/>
                <a:gd name="connsiteX10" fmla="*/ 149681 w 421762"/>
                <a:gd name="connsiteY10" fmla="*/ 147902 h 419709"/>
                <a:gd name="connsiteX11" fmla="*/ 149681 w 421762"/>
                <a:gd name="connsiteY11" fmla="*/ 167793 h 419709"/>
                <a:gd name="connsiteX12" fmla="*/ 421626 w 421762"/>
                <a:gd name="connsiteY12" fmla="*/ 167793 h 419709"/>
                <a:gd name="connsiteX13" fmla="*/ 421626 w 421762"/>
                <a:gd name="connsiteY13" fmla="*/ 224910 h 419709"/>
                <a:gd name="connsiteX14" fmla="*/ 225776 w 421762"/>
                <a:gd name="connsiteY14" fmla="*/ 224910 h 419709"/>
                <a:gd name="connsiteX15" fmla="*/ 225776 w 421762"/>
                <a:gd name="connsiteY15" fmla="*/ 284490 h 419709"/>
                <a:gd name="connsiteX16" fmla="*/ 421626 w 421762"/>
                <a:gd name="connsiteY16" fmla="*/ 284490 h 419709"/>
                <a:gd name="connsiteX17" fmla="*/ 421626 w 421762"/>
                <a:gd name="connsiteY17" fmla="*/ 342702 h 419709"/>
                <a:gd name="connsiteX18" fmla="*/ 220895 w 421762"/>
                <a:gd name="connsiteY18" fmla="*/ 342702 h 419709"/>
                <a:gd name="connsiteX19" fmla="*/ 168523 w 421762"/>
                <a:gd name="connsiteY19" fmla="*/ 284353 h 419709"/>
                <a:gd name="connsiteX20" fmla="*/ 168523 w 421762"/>
                <a:gd name="connsiteY20" fmla="*/ 224773 h 419709"/>
                <a:gd name="connsiteX21" fmla="*/ 149818 w 421762"/>
                <a:gd name="connsiteY21" fmla="*/ 224773 h 419709"/>
                <a:gd name="connsiteX22" fmla="*/ 149818 w 421762"/>
                <a:gd name="connsiteY22" fmla="*/ 362593 h 419709"/>
                <a:gd name="connsiteX23" fmla="*/ 421763 w 421762"/>
                <a:gd name="connsiteY23" fmla="*/ 362593 h 419709"/>
                <a:gd name="connsiteX24" fmla="*/ 421763 w 421762"/>
                <a:gd name="connsiteY24" fmla="*/ 419710 h 419709"/>
                <a:gd name="connsiteX25" fmla="*/ 144845 w 421762"/>
                <a:gd name="connsiteY25" fmla="*/ 419710 h 419709"/>
                <a:gd name="connsiteX26" fmla="*/ 91196 w 421762"/>
                <a:gd name="connsiteY26" fmla="*/ 364969 h 419709"/>
                <a:gd name="connsiteX27" fmla="*/ 91196 w 421762"/>
                <a:gd name="connsiteY27" fmla="*/ 364965 h 419709"/>
                <a:gd name="connsiteX28" fmla="*/ 91196 w 421762"/>
                <a:gd name="connsiteY28" fmla="*/ 224773 h 419709"/>
                <a:gd name="connsiteX29" fmla="*/ 57528 w 421762"/>
                <a:gd name="connsiteY29" fmla="*/ 224773 h 419709"/>
                <a:gd name="connsiteX30" fmla="*/ 57528 w 421762"/>
                <a:gd name="connsiteY30" fmla="*/ 419710 h 419709"/>
                <a:gd name="connsiteX31" fmla="*/ 0 w 421762"/>
                <a:gd name="connsiteY31" fmla="*/ 419710 h 419709"/>
                <a:gd name="connsiteX32" fmla="*/ 0 w 421762"/>
                <a:gd name="connsiteY32" fmla="*/ 53422 h 419709"/>
                <a:gd name="connsiteX33" fmla="*/ 59854 w 421762"/>
                <a:gd name="connsiteY33" fmla="*/ 0 h 419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1762" h="419709">
                  <a:moveTo>
                    <a:pt x="59717" y="0"/>
                  </a:moveTo>
                  <a:lnTo>
                    <a:pt x="421489" y="0"/>
                  </a:lnTo>
                  <a:lnTo>
                    <a:pt x="421489" y="57117"/>
                  </a:lnTo>
                  <a:lnTo>
                    <a:pt x="57391" y="57117"/>
                  </a:lnTo>
                  <a:lnTo>
                    <a:pt x="57391" y="167656"/>
                  </a:lnTo>
                  <a:lnTo>
                    <a:pt x="91059" y="167656"/>
                  </a:lnTo>
                  <a:lnTo>
                    <a:pt x="91059" y="144024"/>
                  </a:lnTo>
                  <a:cubicBezTo>
                    <a:pt x="91059" y="112865"/>
                    <a:pt x="119572" y="90648"/>
                    <a:pt x="150913" y="90648"/>
                  </a:cubicBezTo>
                  <a:lnTo>
                    <a:pt x="421626" y="90648"/>
                  </a:lnTo>
                  <a:lnTo>
                    <a:pt x="421626" y="147902"/>
                  </a:lnTo>
                  <a:lnTo>
                    <a:pt x="149681" y="147902"/>
                  </a:lnTo>
                  <a:lnTo>
                    <a:pt x="149681" y="167793"/>
                  </a:lnTo>
                  <a:lnTo>
                    <a:pt x="421626" y="167793"/>
                  </a:lnTo>
                  <a:lnTo>
                    <a:pt x="421626" y="224910"/>
                  </a:lnTo>
                  <a:lnTo>
                    <a:pt x="225776" y="224910"/>
                  </a:lnTo>
                  <a:lnTo>
                    <a:pt x="225776" y="284490"/>
                  </a:lnTo>
                  <a:lnTo>
                    <a:pt x="421626" y="284490"/>
                  </a:lnTo>
                  <a:lnTo>
                    <a:pt x="421626" y="342702"/>
                  </a:lnTo>
                  <a:lnTo>
                    <a:pt x="220895" y="342702"/>
                  </a:lnTo>
                  <a:cubicBezTo>
                    <a:pt x="190192" y="342702"/>
                    <a:pt x="168523" y="314919"/>
                    <a:pt x="168523" y="284353"/>
                  </a:cubicBezTo>
                  <a:lnTo>
                    <a:pt x="168523" y="224773"/>
                  </a:lnTo>
                  <a:lnTo>
                    <a:pt x="149818" y="224773"/>
                  </a:lnTo>
                  <a:lnTo>
                    <a:pt x="149818" y="362593"/>
                  </a:lnTo>
                  <a:lnTo>
                    <a:pt x="421763" y="362593"/>
                  </a:lnTo>
                  <a:lnTo>
                    <a:pt x="421763" y="419710"/>
                  </a:lnTo>
                  <a:lnTo>
                    <a:pt x="144845" y="419710"/>
                  </a:lnTo>
                  <a:cubicBezTo>
                    <a:pt x="114914" y="419408"/>
                    <a:pt x="90894" y="394901"/>
                    <a:pt x="91196" y="364969"/>
                  </a:cubicBezTo>
                  <a:cubicBezTo>
                    <a:pt x="91196" y="364969"/>
                    <a:pt x="91196" y="364965"/>
                    <a:pt x="91196" y="364965"/>
                  </a:cubicBezTo>
                  <a:lnTo>
                    <a:pt x="91196" y="224773"/>
                  </a:lnTo>
                  <a:lnTo>
                    <a:pt x="57528" y="224773"/>
                  </a:lnTo>
                  <a:lnTo>
                    <a:pt x="57528" y="419710"/>
                  </a:lnTo>
                  <a:lnTo>
                    <a:pt x="0" y="419710"/>
                  </a:lnTo>
                  <a:lnTo>
                    <a:pt x="0" y="53422"/>
                  </a:lnTo>
                  <a:cubicBezTo>
                    <a:pt x="0" y="22217"/>
                    <a:pt x="28513" y="0"/>
                    <a:pt x="59854" y="0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72C943D-29C0-01D5-C496-31B31C02ECE3}"/>
                </a:ext>
              </a:extLst>
            </p:cNvPr>
            <p:cNvSpPr/>
            <p:nvPr/>
          </p:nvSpPr>
          <p:spPr>
            <a:xfrm>
              <a:off x="3825932" y="2058504"/>
              <a:ext cx="421762" cy="419709"/>
            </a:xfrm>
            <a:custGeom>
              <a:avLst/>
              <a:gdLst>
                <a:gd name="connsiteX0" fmla="*/ 59717 w 421762"/>
                <a:gd name="connsiteY0" fmla="*/ 0 h 419709"/>
                <a:gd name="connsiteX1" fmla="*/ 421489 w 421762"/>
                <a:gd name="connsiteY1" fmla="*/ 0 h 419709"/>
                <a:gd name="connsiteX2" fmla="*/ 421489 w 421762"/>
                <a:gd name="connsiteY2" fmla="*/ 57117 h 419709"/>
                <a:gd name="connsiteX3" fmla="*/ 57391 w 421762"/>
                <a:gd name="connsiteY3" fmla="*/ 57117 h 419709"/>
                <a:gd name="connsiteX4" fmla="*/ 57391 w 421762"/>
                <a:gd name="connsiteY4" fmla="*/ 167656 h 419709"/>
                <a:gd name="connsiteX5" fmla="*/ 91059 w 421762"/>
                <a:gd name="connsiteY5" fmla="*/ 167656 h 419709"/>
                <a:gd name="connsiteX6" fmla="*/ 91059 w 421762"/>
                <a:gd name="connsiteY6" fmla="*/ 144024 h 419709"/>
                <a:gd name="connsiteX7" fmla="*/ 150913 w 421762"/>
                <a:gd name="connsiteY7" fmla="*/ 90648 h 419709"/>
                <a:gd name="connsiteX8" fmla="*/ 421626 w 421762"/>
                <a:gd name="connsiteY8" fmla="*/ 90648 h 419709"/>
                <a:gd name="connsiteX9" fmla="*/ 421626 w 421762"/>
                <a:gd name="connsiteY9" fmla="*/ 147902 h 419709"/>
                <a:gd name="connsiteX10" fmla="*/ 149681 w 421762"/>
                <a:gd name="connsiteY10" fmla="*/ 147902 h 419709"/>
                <a:gd name="connsiteX11" fmla="*/ 149681 w 421762"/>
                <a:gd name="connsiteY11" fmla="*/ 167793 h 419709"/>
                <a:gd name="connsiteX12" fmla="*/ 421626 w 421762"/>
                <a:gd name="connsiteY12" fmla="*/ 167793 h 419709"/>
                <a:gd name="connsiteX13" fmla="*/ 421626 w 421762"/>
                <a:gd name="connsiteY13" fmla="*/ 224910 h 419709"/>
                <a:gd name="connsiteX14" fmla="*/ 225776 w 421762"/>
                <a:gd name="connsiteY14" fmla="*/ 224910 h 419709"/>
                <a:gd name="connsiteX15" fmla="*/ 225776 w 421762"/>
                <a:gd name="connsiteY15" fmla="*/ 284490 h 419709"/>
                <a:gd name="connsiteX16" fmla="*/ 421626 w 421762"/>
                <a:gd name="connsiteY16" fmla="*/ 284490 h 419709"/>
                <a:gd name="connsiteX17" fmla="*/ 421626 w 421762"/>
                <a:gd name="connsiteY17" fmla="*/ 342702 h 419709"/>
                <a:gd name="connsiteX18" fmla="*/ 220895 w 421762"/>
                <a:gd name="connsiteY18" fmla="*/ 342702 h 419709"/>
                <a:gd name="connsiteX19" fmla="*/ 168523 w 421762"/>
                <a:gd name="connsiteY19" fmla="*/ 284353 h 419709"/>
                <a:gd name="connsiteX20" fmla="*/ 168523 w 421762"/>
                <a:gd name="connsiteY20" fmla="*/ 224773 h 419709"/>
                <a:gd name="connsiteX21" fmla="*/ 149818 w 421762"/>
                <a:gd name="connsiteY21" fmla="*/ 224773 h 419709"/>
                <a:gd name="connsiteX22" fmla="*/ 149818 w 421762"/>
                <a:gd name="connsiteY22" fmla="*/ 362593 h 419709"/>
                <a:gd name="connsiteX23" fmla="*/ 421763 w 421762"/>
                <a:gd name="connsiteY23" fmla="*/ 362593 h 419709"/>
                <a:gd name="connsiteX24" fmla="*/ 421763 w 421762"/>
                <a:gd name="connsiteY24" fmla="*/ 419710 h 419709"/>
                <a:gd name="connsiteX25" fmla="*/ 144845 w 421762"/>
                <a:gd name="connsiteY25" fmla="*/ 419710 h 419709"/>
                <a:gd name="connsiteX26" fmla="*/ 91196 w 421762"/>
                <a:gd name="connsiteY26" fmla="*/ 364969 h 419709"/>
                <a:gd name="connsiteX27" fmla="*/ 91196 w 421762"/>
                <a:gd name="connsiteY27" fmla="*/ 364965 h 419709"/>
                <a:gd name="connsiteX28" fmla="*/ 91196 w 421762"/>
                <a:gd name="connsiteY28" fmla="*/ 224773 h 419709"/>
                <a:gd name="connsiteX29" fmla="*/ 57528 w 421762"/>
                <a:gd name="connsiteY29" fmla="*/ 224773 h 419709"/>
                <a:gd name="connsiteX30" fmla="*/ 57528 w 421762"/>
                <a:gd name="connsiteY30" fmla="*/ 419710 h 419709"/>
                <a:gd name="connsiteX31" fmla="*/ 0 w 421762"/>
                <a:gd name="connsiteY31" fmla="*/ 419710 h 419709"/>
                <a:gd name="connsiteX32" fmla="*/ 0 w 421762"/>
                <a:gd name="connsiteY32" fmla="*/ 53422 h 419709"/>
                <a:gd name="connsiteX33" fmla="*/ 59717 w 421762"/>
                <a:gd name="connsiteY33" fmla="*/ 0 h 419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1762" h="419709">
                  <a:moveTo>
                    <a:pt x="59717" y="0"/>
                  </a:moveTo>
                  <a:lnTo>
                    <a:pt x="421489" y="0"/>
                  </a:lnTo>
                  <a:lnTo>
                    <a:pt x="421489" y="57117"/>
                  </a:lnTo>
                  <a:lnTo>
                    <a:pt x="57391" y="57117"/>
                  </a:lnTo>
                  <a:lnTo>
                    <a:pt x="57391" y="167656"/>
                  </a:lnTo>
                  <a:lnTo>
                    <a:pt x="91059" y="167656"/>
                  </a:lnTo>
                  <a:lnTo>
                    <a:pt x="91059" y="144024"/>
                  </a:lnTo>
                  <a:cubicBezTo>
                    <a:pt x="91059" y="112865"/>
                    <a:pt x="119572" y="90648"/>
                    <a:pt x="150913" y="90648"/>
                  </a:cubicBezTo>
                  <a:lnTo>
                    <a:pt x="421626" y="90648"/>
                  </a:lnTo>
                  <a:lnTo>
                    <a:pt x="421626" y="147902"/>
                  </a:lnTo>
                  <a:lnTo>
                    <a:pt x="149681" y="147902"/>
                  </a:lnTo>
                  <a:lnTo>
                    <a:pt x="149681" y="167793"/>
                  </a:lnTo>
                  <a:lnTo>
                    <a:pt x="421626" y="167793"/>
                  </a:lnTo>
                  <a:lnTo>
                    <a:pt x="421626" y="224910"/>
                  </a:lnTo>
                  <a:lnTo>
                    <a:pt x="225776" y="224910"/>
                  </a:lnTo>
                  <a:lnTo>
                    <a:pt x="225776" y="284490"/>
                  </a:lnTo>
                  <a:lnTo>
                    <a:pt x="421626" y="284490"/>
                  </a:lnTo>
                  <a:lnTo>
                    <a:pt x="421626" y="342702"/>
                  </a:lnTo>
                  <a:lnTo>
                    <a:pt x="220895" y="342702"/>
                  </a:lnTo>
                  <a:cubicBezTo>
                    <a:pt x="190192" y="342702"/>
                    <a:pt x="168523" y="314919"/>
                    <a:pt x="168523" y="284353"/>
                  </a:cubicBezTo>
                  <a:lnTo>
                    <a:pt x="168523" y="224773"/>
                  </a:lnTo>
                  <a:lnTo>
                    <a:pt x="149818" y="224773"/>
                  </a:lnTo>
                  <a:lnTo>
                    <a:pt x="149818" y="362593"/>
                  </a:lnTo>
                  <a:lnTo>
                    <a:pt x="421763" y="362593"/>
                  </a:lnTo>
                  <a:lnTo>
                    <a:pt x="421763" y="419710"/>
                  </a:lnTo>
                  <a:lnTo>
                    <a:pt x="144845" y="419710"/>
                  </a:lnTo>
                  <a:cubicBezTo>
                    <a:pt x="114914" y="419408"/>
                    <a:pt x="90894" y="394901"/>
                    <a:pt x="91196" y="364969"/>
                  </a:cubicBezTo>
                  <a:cubicBezTo>
                    <a:pt x="91196" y="364969"/>
                    <a:pt x="91196" y="364965"/>
                    <a:pt x="91196" y="364965"/>
                  </a:cubicBezTo>
                  <a:lnTo>
                    <a:pt x="91196" y="224773"/>
                  </a:lnTo>
                  <a:lnTo>
                    <a:pt x="57528" y="224773"/>
                  </a:lnTo>
                  <a:lnTo>
                    <a:pt x="57528" y="419710"/>
                  </a:lnTo>
                  <a:lnTo>
                    <a:pt x="0" y="419710"/>
                  </a:lnTo>
                  <a:lnTo>
                    <a:pt x="0" y="53422"/>
                  </a:lnTo>
                  <a:cubicBezTo>
                    <a:pt x="0" y="22217"/>
                    <a:pt x="28513" y="0"/>
                    <a:pt x="59717" y="0"/>
                  </a:cubicBezTo>
                  <a:close/>
                </a:path>
              </a:pathLst>
            </a:custGeom>
            <a:solidFill>
              <a:srgbClr val="C00000"/>
            </a:solidFill>
            <a:ln w="820" cap="flat">
              <a:solidFill>
                <a:srgbClr val="DB003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0741ADA-80E5-F192-86C1-F7E0C41F5B41}"/>
                </a:ext>
              </a:extLst>
            </p:cNvPr>
            <p:cNvSpPr/>
            <p:nvPr/>
          </p:nvSpPr>
          <p:spPr>
            <a:xfrm>
              <a:off x="4352622" y="2133413"/>
              <a:ext cx="200183" cy="271807"/>
            </a:xfrm>
            <a:custGeom>
              <a:avLst/>
              <a:gdLst>
                <a:gd name="connsiteX0" fmla="*/ 75913 w 200183"/>
                <a:gd name="connsiteY0" fmla="*/ 14736 h 271807"/>
                <a:gd name="connsiteX1" fmla="*/ 75913 w 200183"/>
                <a:gd name="connsiteY1" fmla="*/ 121670 h 271807"/>
                <a:gd name="connsiteX2" fmla="*/ 124179 w 200183"/>
                <a:gd name="connsiteY2" fmla="*/ 121670 h 271807"/>
                <a:gd name="connsiteX3" fmla="*/ 148586 w 200183"/>
                <a:gd name="connsiteY3" fmla="*/ 114143 h 271807"/>
                <a:gd name="connsiteX4" fmla="*/ 158851 w 200183"/>
                <a:gd name="connsiteY4" fmla="*/ 84444 h 271807"/>
                <a:gd name="connsiteX5" fmla="*/ 166196 w 200183"/>
                <a:gd name="connsiteY5" fmla="*/ 84444 h 271807"/>
                <a:gd name="connsiteX6" fmla="*/ 166196 w 200183"/>
                <a:gd name="connsiteY6" fmla="*/ 176415 h 271807"/>
                <a:gd name="connsiteX7" fmla="*/ 158851 w 200183"/>
                <a:gd name="connsiteY7" fmla="*/ 176415 h 271807"/>
                <a:gd name="connsiteX8" fmla="*/ 154836 w 200183"/>
                <a:gd name="connsiteY8" fmla="*/ 153148 h 271807"/>
                <a:gd name="connsiteX9" fmla="*/ 144298 w 200183"/>
                <a:gd name="connsiteY9" fmla="*/ 142063 h 271807"/>
                <a:gd name="connsiteX10" fmla="*/ 124179 w 200183"/>
                <a:gd name="connsiteY10" fmla="*/ 138367 h 271807"/>
                <a:gd name="connsiteX11" fmla="*/ 75913 w 200183"/>
                <a:gd name="connsiteY11" fmla="*/ 138367 h 271807"/>
                <a:gd name="connsiteX12" fmla="*/ 75913 w 200183"/>
                <a:gd name="connsiteY12" fmla="*/ 223541 h 271807"/>
                <a:gd name="connsiteX13" fmla="*/ 78467 w 200183"/>
                <a:gd name="connsiteY13" fmla="*/ 250913 h 271807"/>
                <a:gd name="connsiteX14" fmla="*/ 86725 w 200183"/>
                <a:gd name="connsiteY14" fmla="*/ 259490 h 271807"/>
                <a:gd name="connsiteX15" fmla="*/ 104745 w 200183"/>
                <a:gd name="connsiteY15" fmla="*/ 264326 h 271807"/>
                <a:gd name="connsiteX16" fmla="*/ 114371 w 200183"/>
                <a:gd name="connsiteY16" fmla="*/ 264326 h 271807"/>
                <a:gd name="connsiteX17" fmla="*/ 114371 w 200183"/>
                <a:gd name="connsiteY17" fmla="*/ 271808 h 271807"/>
                <a:gd name="connsiteX18" fmla="*/ 319 w 200183"/>
                <a:gd name="connsiteY18" fmla="*/ 271808 h 271807"/>
                <a:gd name="connsiteX19" fmla="*/ 319 w 200183"/>
                <a:gd name="connsiteY19" fmla="*/ 264326 h 271807"/>
                <a:gd name="connsiteX20" fmla="*/ 9717 w 200183"/>
                <a:gd name="connsiteY20" fmla="*/ 264326 h 271807"/>
                <a:gd name="connsiteX21" fmla="*/ 33668 w 200183"/>
                <a:gd name="connsiteY21" fmla="*/ 254517 h 271807"/>
                <a:gd name="connsiteX22" fmla="*/ 38230 w 200183"/>
                <a:gd name="connsiteY22" fmla="*/ 223678 h 271807"/>
                <a:gd name="connsiteX23" fmla="*/ 38230 w 200183"/>
                <a:gd name="connsiteY23" fmla="*/ 48084 h 271807"/>
                <a:gd name="connsiteX24" fmla="*/ 35675 w 200183"/>
                <a:gd name="connsiteY24" fmla="*/ 20712 h 271807"/>
                <a:gd name="connsiteX25" fmla="*/ 27646 w 200183"/>
                <a:gd name="connsiteY25" fmla="*/ 12089 h 271807"/>
                <a:gd name="connsiteX26" fmla="*/ 9398 w 200183"/>
                <a:gd name="connsiteY26" fmla="*/ 7299 h 271807"/>
                <a:gd name="connsiteX27" fmla="*/ 0 w 200183"/>
                <a:gd name="connsiteY27" fmla="*/ 7299 h 271807"/>
                <a:gd name="connsiteX28" fmla="*/ 0 w 200183"/>
                <a:gd name="connsiteY28" fmla="*/ 0 h 271807"/>
                <a:gd name="connsiteX29" fmla="*/ 197446 w 200183"/>
                <a:gd name="connsiteY29" fmla="*/ 0 h 271807"/>
                <a:gd name="connsiteX30" fmla="*/ 200183 w 200183"/>
                <a:gd name="connsiteY30" fmla="*/ 59672 h 271807"/>
                <a:gd name="connsiteX31" fmla="*/ 193295 w 200183"/>
                <a:gd name="connsiteY31" fmla="*/ 59672 h 271807"/>
                <a:gd name="connsiteX32" fmla="*/ 181479 w 200183"/>
                <a:gd name="connsiteY32" fmla="*/ 31706 h 271807"/>
                <a:gd name="connsiteX33" fmla="*/ 164827 w 200183"/>
                <a:gd name="connsiteY33" fmla="*/ 18750 h 271807"/>
                <a:gd name="connsiteX34" fmla="*/ 134170 w 200183"/>
                <a:gd name="connsiteY34" fmla="*/ 14736 h 271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00183" h="271807">
                  <a:moveTo>
                    <a:pt x="75913" y="14736"/>
                  </a:moveTo>
                  <a:lnTo>
                    <a:pt x="75913" y="121670"/>
                  </a:lnTo>
                  <a:lnTo>
                    <a:pt x="124179" y="121670"/>
                  </a:lnTo>
                  <a:cubicBezTo>
                    <a:pt x="135311" y="121670"/>
                    <a:pt x="143445" y="119161"/>
                    <a:pt x="148586" y="114143"/>
                  </a:cubicBezTo>
                  <a:cubicBezTo>
                    <a:pt x="153728" y="109125"/>
                    <a:pt x="157149" y="99225"/>
                    <a:pt x="158851" y="84444"/>
                  </a:cubicBezTo>
                  <a:lnTo>
                    <a:pt x="166196" y="84444"/>
                  </a:lnTo>
                  <a:lnTo>
                    <a:pt x="166196" y="176415"/>
                  </a:lnTo>
                  <a:lnTo>
                    <a:pt x="158851" y="176415"/>
                  </a:lnTo>
                  <a:cubicBezTo>
                    <a:pt x="159234" y="168459"/>
                    <a:pt x="157866" y="160516"/>
                    <a:pt x="154836" y="153148"/>
                  </a:cubicBezTo>
                  <a:cubicBezTo>
                    <a:pt x="152523" y="148472"/>
                    <a:pt x="148851" y="144608"/>
                    <a:pt x="144298" y="142063"/>
                  </a:cubicBezTo>
                  <a:cubicBezTo>
                    <a:pt x="137984" y="139239"/>
                    <a:pt x="131086" y="137970"/>
                    <a:pt x="124179" y="138367"/>
                  </a:cubicBezTo>
                  <a:lnTo>
                    <a:pt x="75913" y="138367"/>
                  </a:lnTo>
                  <a:lnTo>
                    <a:pt x="75913" y="223541"/>
                  </a:lnTo>
                  <a:cubicBezTo>
                    <a:pt x="75393" y="232743"/>
                    <a:pt x="76255" y="241967"/>
                    <a:pt x="78467" y="250913"/>
                  </a:cubicBezTo>
                  <a:cubicBezTo>
                    <a:pt x="80146" y="254641"/>
                    <a:pt x="83066" y="257670"/>
                    <a:pt x="86725" y="259490"/>
                  </a:cubicBezTo>
                  <a:cubicBezTo>
                    <a:pt x="92213" y="262638"/>
                    <a:pt x="98422" y="264303"/>
                    <a:pt x="104745" y="264326"/>
                  </a:cubicBezTo>
                  <a:lnTo>
                    <a:pt x="114371" y="264326"/>
                  </a:lnTo>
                  <a:lnTo>
                    <a:pt x="114371" y="271808"/>
                  </a:lnTo>
                  <a:lnTo>
                    <a:pt x="319" y="271808"/>
                  </a:lnTo>
                  <a:lnTo>
                    <a:pt x="319" y="264326"/>
                  </a:lnTo>
                  <a:lnTo>
                    <a:pt x="9717" y="264326"/>
                  </a:lnTo>
                  <a:cubicBezTo>
                    <a:pt x="20698" y="264326"/>
                    <a:pt x="28682" y="261055"/>
                    <a:pt x="33668" y="254517"/>
                  </a:cubicBezTo>
                  <a:cubicBezTo>
                    <a:pt x="36770" y="250229"/>
                    <a:pt x="38230" y="239964"/>
                    <a:pt x="38230" y="223678"/>
                  </a:cubicBezTo>
                  <a:lnTo>
                    <a:pt x="38230" y="48084"/>
                  </a:lnTo>
                  <a:cubicBezTo>
                    <a:pt x="38759" y="38882"/>
                    <a:pt x="37897" y="29658"/>
                    <a:pt x="35675" y="20712"/>
                  </a:cubicBezTo>
                  <a:cubicBezTo>
                    <a:pt x="34024" y="17030"/>
                    <a:pt x="31204" y="13996"/>
                    <a:pt x="27646" y="12089"/>
                  </a:cubicBezTo>
                  <a:cubicBezTo>
                    <a:pt x="22099" y="8901"/>
                    <a:pt x="15798" y="7249"/>
                    <a:pt x="9398" y="7299"/>
                  </a:cubicBezTo>
                  <a:lnTo>
                    <a:pt x="0" y="7299"/>
                  </a:lnTo>
                  <a:lnTo>
                    <a:pt x="0" y="0"/>
                  </a:lnTo>
                  <a:lnTo>
                    <a:pt x="197446" y="0"/>
                  </a:lnTo>
                  <a:lnTo>
                    <a:pt x="200183" y="59672"/>
                  </a:lnTo>
                  <a:lnTo>
                    <a:pt x="193295" y="59672"/>
                  </a:lnTo>
                  <a:cubicBezTo>
                    <a:pt x="191109" y="49704"/>
                    <a:pt x="187104" y="40224"/>
                    <a:pt x="181479" y="31706"/>
                  </a:cubicBezTo>
                  <a:cubicBezTo>
                    <a:pt x="177227" y="25940"/>
                    <a:pt x="171465" y="21455"/>
                    <a:pt x="164827" y="18750"/>
                  </a:cubicBezTo>
                  <a:cubicBezTo>
                    <a:pt x="154928" y="15602"/>
                    <a:pt x="144544" y="14243"/>
                    <a:pt x="134170" y="14736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C2904AC-BC83-A3A1-4615-D3F6C57D071B}"/>
                </a:ext>
              </a:extLst>
            </p:cNvPr>
            <p:cNvSpPr/>
            <p:nvPr/>
          </p:nvSpPr>
          <p:spPr>
            <a:xfrm>
              <a:off x="4572239" y="2216155"/>
              <a:ext cx="133308" cy="189156"/>
            </a:xfrm>
            <a:custGeom>
              <a:avLst/>
              <a:gdLst>
                <a:gd name="connsiteX0" fmla="*/ 62683 w 133308"/>
                <a:gd name="connsiteY0" fmla="*/ 14 h 189156"/>
                <a:gd name="connsiteX1" fmla="*/ 62683 w 133308"/>
                <a:gd name="connsiteY1" fmla="*/ 41072 h 189156"/>
                <a:gd name="connsiteX2" fmla="*/ 108577 w 133308"/>
                <a:gd name="connsiteY2" fmla="*/ 14 h 189156"/>
                <a:gd name="connsiteX3" fmla="*/ 126278 w 133308"/>
                <a:gd name="connsiteY3" fmla="*/ 6720 h 189156"/>
                <a:gd name="connsiteX4" fmla="*/ 133303 w 133308"/>
                <a:gd name="connsiteY4" fmla="*/ 22231 h 189156"/>
                <a:gd name="connsiteX5" fmla="*/ 128239 w 133308"/>
                <a:gd name="connsiteY5" fmla="*/ 35461 h 189156"/>
                <a:gd name="connsiteX6" fmla="*/ 116196 w 133308"/>
                <a:gd name="connsiteY6" fmla="*/ 40844 h 189156"/>
                <a:gd name="connsiteX7" fmla="*/ 100913 w 133308"/>
                <a:gd name="connsiteY7" fmla="*/ 34001 h 189156"/>
                <a:gd name="connsiteX8" fmla="*/ 88367 w 133308"/>
                <a:gd name="connsiteY8" fmla="*/ 27158 h 189156"/>
                <a:gd name="connsiteX9" fmla="*/ 80749 w 133308"/>
                <a:gd name="connsiteY9" fmla="*/ 31173 h 189156"/>
                <a:gd name="connsiteX10" fmla="*/ 62500 w 133308"/>
                <a:gd name="connsiteY10" fmla="*/ 58089 h 189156"/>
                <a:gd name="connsiteX11" fmla="*/ 62500 w 133308"/>
                <a:gd name="connsiteY11" fmla="*/ 146045 h 189156"/>
                <a:gd name="connsiteX12" fmla="*/ 66196 w 133308"/>
                <a:gd name="connsiteY12" fmla="*/ 169175 h 189156"/>
                <a:gd name="connsiteX13" fmla="*/ 75320 w 133308"/>
                <a:gd name="connsiteY13" fmla="*/ 178299 h 189156"/>
                <a:gd name="connsiteX14" fmla="*/ 93933 w 133308"/>
                <a:gd name="connsiteY14" fmla="*/ 181857 h 189156"/>
                <a:gd name="connsiteX15" fmla="*/ 93933 w 133308"/>
                <a:gd name="connsiteY15" fmla="*/ 189157 h 189156"/>
                <a:gd name="connsiteX16" fmla="*/ 1779 w 133308"/>
                <a:gd name="connsiteY16" fmla="*/ 189157 h 189156"/>
                <a:gd name="connsiteX17" fmla="*/ 1779 w 133308"/>
                <a:gd name="connsiteY17" fmla="*/ 181857 h 189156"/>
                <a:gd name="connsiteX18" fmla="*/ 22126 w 133308"/>
                <a:gd name="connsiteY18" fmla="*/ 177295 h 189156"/>
                <a:gd name="connsiteX19" fmla="*/ 29015 w 133308"/>
                <a:gd name="connsiteY19" fmla="*/ 167031 h 189156"/>
                <a:gd name="connsiteX20" fmla="*/ 29973 w 133308"/>
                <a:gd name="connsiteY20" fmla="*/ 147505 h 189156"/>
                <a:gd name="connsiteX21" fmla="*/ 29973 w 133308"/>
                <a:gd name="connsiteY21" fmla="*/ 76565 h 189156"/>
                <a:gd name="connsiteX22" fmla="*/ 28695 w 133308"/>
                <a:gd name="connsiteY22" fmla="*/ 38426 h 189156"/>
                <a:gd name="connsiteX23" fmla="*/ 24133 w 133308"/>
                <a:gd name="connsiteY23" fmla="*/ 29530 h 189156"/>
                <a:gd name="connsiteX24" fmla="*/ 15648 w 133308"/>
                <a:gd name="connsiteY24" fmla="*/ 26702 h 189156"/>
                <a:gd name="connsiteX25" fmla="*/ 1962 w 133308"/>
                <a:gd name="connsiteY25" fmla="*/ 29713 h 189156"/>
                <a:gd name="connsiteX26" fmla="*/ 0 w 133308"/>
                <a:gd name="connsiteY26" fmla="*/ 22459 h 189156"/>
                <a:gd name="connsiteX27" fmla="*/ 54471 w 133308"/>
                <a:gd name="connsiteY27" fmla="*/ 14 h 189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3308" h="189156">
                  <a:moveTo>
                    <a:pt x="62683" y="14"/>
                  </a:moveTo>
                  <a:lnTo>
                    <a:pt x="62683" y="41072"/>
                  </a:lnTo>
                  <a:cubicBezTo>
                    <a:pt x="77555" y="13700"/>
                    <a:pt x="92852" y="14"/>
                    <a:pt x="108577" y="14"/>
                  </a:cubicBezTo>
                  <a:cubicBezTo>
                    <a:pt x="115137" y="-205"/>
                    <a:pt x="121511" y="2208"/>
                    <a:pt x="126278" y="6720"/>
                  </a:cubicBezTo>
                  <a:cubicBezTo>
                    <a:pt x="130712" y="10661"/>
                    <a:pt x="133262" y="16300"/>
                    <a:pt x="133303" y="22231"/>
                  </a:cubicBezTo>
                  <a:cubicBezTo>
                    <a:pt x="133422" y="27135"/>
                    <a:pt x="131602" y="31889"/>
                    <a:pt x="128239" y="35461"/>
                  </a:cubicBezTo>
                  <a:cubicBezTo>
                    <a:pt x="125192" y="38914"/>
                    <a:pt x="120799" y="40876"/>
                    <a:pt x="116196" y="40844"/>
                  </a:cubicBezTo>
                  <a:cubicBezTo>
                    <a:pt x="110475" y="40351"/>
                    <a:pt x="105092" y="37938"/>
                    <a:pt x="100913" y="34001"/>
                  </a:cubicBezTo>
                  <a:cubicBezTo>
                    <a:pt x="97482" y="30552"/>
                    <a:pt x="93125" y="28171"/>
                    <a:pt x="88367" y="27158"/>
                  </a:cubicBezTo>
                  <a:cubicBezTo>
                    <a:pt x="85402" y="27450"/>
                    <a:pt x="82665" y="28891"/>
                    <a:pt x="80749" y="31173"/>
                  </a:cubicBezTo>
                  <a:cubicBezTo>
                    <a:pt x="73166" y="39028"/>
                    <a:pt x="66994" y="48134"/>
                    <a:pt x="62500" y="58089"/>
                  </a:cubicBezTo>
                  <a:lnTo>
                    <a:pt x="62500" y="146045"/>
                  </a:lnTo>
                  <a:cubicBezTo>
                    <a:pt x="62090" y="153928"/>
                    <a:pt x="63349" y="161812"/>
                    <a:pt x="66196" y="169175"/>
                  </a:cubicBezTo>
                  <a:cubicBezTo>
                    <a:pt x="68162" y="173126"/>
                    <a:pt x="71369" y="176333"/>
                    <a:pt x="75320" y="178299"/>
                  </a:cubicBezTo>
                  <a:cubicBezTo>
                    <a:pt x="81141" y="180991"/>
                    <a:pt x="87532" y="182213"/>
                    <a:pt x="93933" y="181857"/>
                  </a:cubicBezTo>
                  <a:lnTo>
                    <a:pt x="93933" y="189157"/>
                  </a:lnTo>
                  <a:lnTo>
                    <a:pt x="1779" y="189157"/>
                  </a:lnTo>
                  <a:lnTo>
                    <a:pt x="1779" y="181857"/>
                  </a:lnTo>
                  <a:cubicBezTo>
                    <a:pt x="8859" y="182313"/>
                    <a:pt x="15922" y="180731"/>
                    <a:pt x="22126" y="177295"/>
                  </a:cubicBezTo>
                  <a:cubicBezTo>
                    <a:pt x="25616" y="174846"/>
                    <a:pt x="28070" y="171187"/>
                    <a:pt x="29015" y="167031"/>
                  </a:cubicBezTo>
                  <a:cubicBezTo>
                    <a:pt x="29923" y="160566"/>
                    <a:pt x="30242" y="154029"/>
                    <a:pt x="29973" y="147505"/>
                  </a:cubicBezTo>
                  <a:lnTo>
                    <a:pt x="29973" y="76565"/>
                  </a:lnTo>
                  <a:cubicBezTo>
                    <a:pt x="30361" y="63837"/>
                    <a:pt x="29936" y="51100"/>
                    <a:pt x="28695" y="38426"/>
                  </a:cubicBezTo>
                  <a:cubicBezTo>
                    <a:pt x="28244" y="35023"/>
                    <a:pt x="26633" y="31884"/>
                    <a:pt x="24133" y="29530"/>
                  </a:cubicBezTo>
                  <a:cubicBezTo>
                    <a:pt x="21729" y="27610"/>
                    <a:pt x="18723" y="26606"/>
                    <a:pt x="15648" y="26702"/>
                  </a:cubicBezTo>
                  <a:cubicBezTo>
                    <a:pt x="10940" y="26871"/>
                    <a:pt x="6305" y="27892"/>
                    <a:pt x="1962" y="29713"/>
                  </a:cubicBezTo>
                  <a:lnTo>
                    <a:pt x="0" y="22459"/>
                  </a:lnTo>
                  <a:lnTo>
                    <a:pt x="54471" y="14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5C475EE-EFC4-76F2-B18E-BD376DF85512}"/>
                </a:ext>
              </a:extLst>
            </p:cNvPr>
            <p:cNvSpPr/>
            <p:nvPr/>
          </p:nvSpPr>
          <p:spPr>
            <a:xfrm>
              <a:off x="4717951" y="2216088"/>
              <a:ext cx="151916" cy="194663"/>
            </a:xfrm>
            <a:custGeom>
              <a:avLst/>
              <a:gdLst>
                <a:gd name="connsiteX0" fmla="*/ 27783 w 151916"/>
                <a:gd name="connsiteY0" fmla="*/ 74716 h 194663"/>
                <a:gd name="connsiteX1" fmla="*/ 47217 w 151916"/>
                <a:gd name="connsiteY1" fmla="*/ 138585 h 194663"/>
                <a:gd name="connsiteX2" fmla="*/ 93294 w 151916"/>
                <a:gd name="connsiteY2" fmla="*/ 161760 h 194663"/>
                <a:gd name="connsiteX3" fmla="*/ 123951 w 151916"/>
                <a:gd name="connsiteY3" fmla="*/ 151906 h 194663"/>
                <a:gd name="connsiteX4" fmla="*/ 145849 w 151916"/>
                <a:gd name="connsiteY4" fmla="*/ 117919 h 194663"/>
                <a:gd name="connsiteX5" fmla="*/ 151917 w 151916"/>
                <a:gd name="connsiteY5" fmla="*/ 121933 h 194663"/>
                <a:gd name="connsiteX6" fmla="*/ 127966 w 151916"/>
                <a:gd name="connsiteY6" fmla="*/ 172116 h 194663"/>
                <a:gd name="connsiteX7" fmla="*/ 78376 w 151916"/>
                <a:gd name="connsiteY7" fmla="*/ 194653 h 194663"/>
                <a:gd name="connsiteX8" fmla="*/ 23038 w 151916"/>
                <a:gd name="connsiteY8" fmla="*/ 168923 h 194663"/>
                <a:gd name="connsiteX9" fmla="*/ 0 w 151916"/>
                <a:gd name="connsiteY9" fmla="*/ 99716 h 194663"/>
                <a:gd name="connsiteX10" fmla="*/ 23586 w 151916"/>
                <a:gd name="connsiteY10" fmla="*/ 26358 h 194663"/>
                <a:gd name="connsiteX11" fmla="*/ 82893 w 151916"/>
                <a:gd name="connsiteY11" fmla="*/ 35 h 194663"/>
                <a:gd name="connsiteX12" fmla="*/ 132482 w 151916"/>
                <a:gd name="connsiteY12" fmla="*/ 20336 h 194663"/>
                <a:gd name="connsiteX13" fmla="*/ 151917 w 151916"/>
                <a:gd name="connsiteY13" fmla="*/ 74670 h 194663"/>
                <a:gd name="connsiteX14" fmla="*/ 27783 w 151916"/>
                <a:gd name="connsiteY14" fmla="*/ 63174 h 194663"/>
                <a:gd name="connsiteX15" fmla="*/ 111132 w 151916"/>
                <a:gd name="connsiteY15" fmla="*/ 63174 h 194663"/>
                <a:gd name="connsiteX16" fmla="*/ 107026 w 151916"/>
                <a:gd name="connsiteY16" fmla="*/ 38402 h 194663"/>
                <a:gd name="connsiteX17" fmla="*/ 92382 w 151916"/>
                <a:gd name="connsiteY17" fmla="*/ 20792 h 194663"/>
                <a:gd name="connsiteX18" fmla="*/ 72035 w 151916"/>
                <a:gd name="connsiteY18" fmla="*/ 14406 h 194663"/>
                <a:gd name="connsiteX19" fmla="*/ 42838 w 151916"/>
                <a:gd name="connsiteY19" fmla="*/ 27316 h 194663"/>
                <a:gd name="connsiteX20" fmla="*/ 27783 w 151916"/>
                <a:gd name="connsiteY20" fmla="*/ 63174 h 194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1916" h="194663">
                  <a:moveTo>
                    <a:pt x="27783" y="74716"/>
                  </a:moveTo>
                  <a:cubicBezTo>
                    <a:pt x="27783" y="101906"/>
                    <a:pt x="34261" y="123197"/>
                    <a:pt x="47217" y="138585"/>
                  </a:cubicBezTo>
                  <a:cubicBezTo>
                    <a:pt x="60174" y="153973"/>
                    <a:pt x="75534" y="161701"/>
                    <a:pt x="93294" y="161760"/>
                  </a:cubicBezTo>
                  <a:cubicBezTo>
                    <a:pt x="104325" y="161993"/>
                    <a:pt x="115119" y="158521"/>
                    <a:pt x="123951" y="151906"/>
                  </a:cubicBezTo>
                  <a:cubicBezTo>
                    <a:pt x="132651" y="145337"/>
                    <a:pt x="139950" y="134009"/>
                    <a:pt x="145849" y="117919"/>
                  </a:cubicBezTo>
                  <a:lnTo>
                    <a:pt x="151917" y="121933"/>
                  </a:lnTo>
                  <a:cubicBezTo>
                    <a:pt x="149029" y="140647"/>
                    <a:pt x="140699" y="158101"/>
                    <a:pt x="127966" y="172116"/>
                  </a:cubicBezTo>
                  <a:cubicBezTo>
                    <a:pt x="115685" y="186728"/>
                    <a:pt x="97459" y="195008"/>
                    <a:pt x="78376" y="194653"/>
                  </a:cubicBezTo>
                  <a:cubicBezTo>
                    <a:pt x="57021" y="194744"/>
                    <a:pt x="36734" y="185310"/>
                    <a:pt x="23038" y="168923"/>
                  </a:cubicBezTo>
                  <a:cubicBezTo>
                    <a:pt x="7651" y="151769"/>
                    <a:pt x="-32" y="128699"/>
                    <a:pt x="0" y="99716"/>
                  </a:cubicBezTo>
                  <a:cubicBezTo>
                    <a:pt x="0" y="68361"/>
                    <a:pt x="7860" y="43909"/>
                    <a:pt x="23586" y="26358"/>
                  </a:cubicBezTo>
                  <a:cubicBezTo>
                    <a:pt x="38449" y="9196"/>
                    <a:pt x="60192" y="-458"/>
                    <a:pt x="82893" y="35"/>
                  </a:cubicBezTo>
                  <a:cubicBezTo>
                    <a:pt x="101561" y="-576"/>
                    <a:pt x="119604" y="6810"/>
                    <a:pt x="132482" y="20336"/>
                  </a:cubicBezTo>
                  <a:cubicBezTo>
                    <a:pt x="145439" y="33899"/>
                    <a:pt x="151917" y="52011"/>
                    <a:pt x="151917" y="74670"/>
                  </a:cubicBezTo>
                  <a:close/>
                  <a:moveTo>
                    <a:pt x="27783" y="63174"/>
                  </a:moveTo>
                  <a:lnTo>
                    <a:pt x="111132" y="63174"/>
                  </a:lnTo>
                  <a:cubicBezTo>
                    <a:pt x="111091" y="54752"/>
                    <a:pt x="109709" y="46386"/>
                    <a:pt x="107026" y="38402"/>
                  </a:cubicBezTo>
                  <a:cubicBezTo>
                    <a:pt x="103979" y="31221"/>
                    <a:pt x="98887" y="25099"/>
                    <a:pt x="92382" y="20792"/>
                  </a:cubicBezTo>
                  <a:cubicBezTo>
                    <a:pt x="86378" y="16700"/>
                    <a:pt x="79298" y="14479"/>
                    <a:pt x="72035" y="14406"/>
                  </a:cubicBezTo>
                  <a:cubicBezTo>
                    <a:pt x="60936" y="14483"/>
                    <a:pt x="50365" y="19159"/>
                    <a:pt x="42838" y="27316"/>
                  </a:cubicBezTo>
                  <a:cubicBezTo>
                    <a:pt x="33695" y="37084"/>
                    <a:pt x="28353" y="49807"/>
                    <a:pt x="27783" y="63174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42E6D0B-515E-6869-B7D3-2582328136FD}"/>
                </a:ext>
              </a:extLst>
            </p:cNvPr>
            <p:cNvSpPr/>
            <p:nvPr/>
          </p:nvSpPr>
          <p:spPr>
            <a:xfrm>
              <a:off x="4900760" y="2216169"/>
              <a:ext cx="122511" cy="194800"/>
            </a:xfrm>
            <a:custGeom>
              <a:avLst/>
              <a:gdLst>
                <a:gd name="connsiteX0" fmla="*/ 108890 w 122511"/>
                <a:gd name="connsiteY0" fmla="*/ 0 h 194800"/>
                <a:gd name="connsiteX1" fmla="*/ 108890 w 122511"/>
                <a:gd name="connsiteY1" fmla="*/ 62637 h 194800"/>
                <a:gd name="connsiteX2" fmla="*/ 102594 w 122511"/>
                <a:gd name="connsiteY2" fmla="*/ 62637 h 194800"/>
                <a:gd name="connsiteX3" fmla="*/ 83570 w 122511"/>
                <a:gd name="connsiteY3" fmla="*/ 22400 h 194800"/>
                <a:gd name="connsiteX4" fmla="*/ 53917 w 122511"/>
                <a:gd name="connsiteY4" fmla="*/ 11770 h 194800"/>
                <a:gd name="connsiteX5" fmla="*/ 31837 w 122511"/>
                <a:gd name="connsiteY5" fmla="*/ 19161 h 194800"/>
                <a:gd name="connsiteX6" fmla="*/ 23214 w 122511"/>
                <a:gd name="connsiteY6" fmla="*/ 35858 h 194800"/>
                <a:gd name="connsiteX7" fmla="*/ 29464 w 122511"/>
                <a:gd name="connsiteY7" fmla="*/ 55110 h 194800"/>
                <a:gd name="connsiteX8" fmla="*/ 54100 w 122511"/>
                <a:gd name="connsiteY8" fmla="*/ 72537 h 194800"/>
                <a:gd name="connsiteX9" fmla="*/ 82749 w 122511"/>
                <a:gd name="connsiteY9" fmla="*/ 86770 h 194800"/>
                <a:gd name="connsiteX10" fmla="*/ 122485 w 122511"/>
                <a:gd name="connsiteY10" fmla="*/ 139097 h 194800"/>
                <a:gd name="connsiteX11" fmla="*/ 103963 w 122511"/>
                <a:gd name="connsiteY11" fmla="*/ 179471 h 194800"/>
                <a:gd name="connsiteX12" fmla="*/ 62585 w 122511"/>
                <a:gd name="connsiteY12" fmla="*/ 194800 h 194800"/>
                <a:gd name="connsiteX13" fmla="*/ 24994 w 122511"/>
                <a:gd name="connsiteY13" fmla="*/ 188732 h 194800"/>
                <a:gd name="connsiteX14" fmla="*/ 14410 w 122511"/>
                <a:gd name="connsiteY14" fmla="*/ 186679 h 194800"/>
                <a:gd name="connsiteX15" fmla="*/ 7338 w 122511"/>
                <a:gd name="connsiteY15" fmla="*/ 192063 h 194800"/>
                <a:gd name="connsiteX16" fmla="*/ 860 w 122511"/>
                <a:gd name="connsiteY16" fmla="*/ 192063 h 194800"/>
                <a:gd name="connsiteX17" fmla="*/ 860 w 122511"/>
                <a:gd name="connsiteY17" fmla="*/ 126369 h 194800"/>
                <a:gd name="connsiteX18" fmla="*/ 7338 w 122511"/>
                <a:gd name="connsiteY18" fmla="*/ 126369 h 194800"/>
                <a:gd name="connsiteX19" fmla="*/ 28278 w 122511"/>
                <a:gd name="connsiteY19" fmla="*/ 168796 h 194800"/>
                <a:gd name="connsiteX20" fmla="*/ 62904 w 122511"/>
                <a:gd name="connsiteY20" fmla="*/ 183076 h 194800"/>
                <a:gd name="connsiteX21" fmla="*/ 84939 w 122511"/>
                <a:gd name="connsiteY21" fmla="*/ 174955 h 194800"/>
                <a:gd name="connsiteX22" fmla="*/ 93425 w 122511"/>
                <a:gd name="connsiteY22" fmla="*/ 155384 h 194800"/>
                <a:gd name="connsiteX23" fmla="*/ 83981 w 122511"/>
                <a:gd name="connsiteY23" fmla="*/ 132117 h 194800"/>
                <a:gd name="connsiteX24" fmla="*/ 46070 w 122511"/>
                <a:gd name="connsiteY24" fmla="*/ 108303 h 194800"/>
                <a:gd name="connsiteX25" fmla="*/ 8844 w 122511"/>
                <a:gd name="connsiteY25" fmla="*/ 82299 h 194800"/>
                <a:gd name="connsiteX26" fmla="*/ 39 w 122511"/>
                <a:gd name="connsiteY26" fmla="*/ 53422 h 194800"/>
                <a:gd name="connsiteX27" fmla="*/ 15231 w 122511"/>
                <a:gd name="connsiteY27" fmla="*/ 15465 h 194800"/>
                <a:gd name="connsiteX28" fmla="*/ 54465 w 122511"/>
                <a:gd name="connsiteY28" fmla="*/ 228 h 194800"/>
                <a:gd name="connsiteX29" fmla="*/ 80103 w 122511"/>
                <a:gd name="connsiteY29" fmla="*/ 4790 h 194800"/>
                <a:gd name="connsiteX30" fmla="*/ 93425 w 122511"/>
                <a:gd name="connsiteY30" fmla="*/ 7847 h 194800"/>
                <a:gd name="connsiteX31" fmla="*/ 98306 w 122511"/>
                <a:gd name="connsiteY31" fmla="*/ 6432 h 194800"/>
                <a:gd name="connsiteX32" fmla="*/ 102412 w 122511"/>
                <a:gd name="connsiteY32" fmla="*/ 137 h 19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22511" h="194800">
                  <a:moveTo>
                    <a:pt x="108890" y="0"/>
                  </a:moveTo>
                  <a:lnTo>
                    <a:pt x="108890" y="62637"/>
                  </a:lnTo>
                  <a:lnTo>
                    <a:pt x="102594" y="62637"/>
                  </a:lnTo>
                  <a:cubicBezTo>
                    <a:pt x="97667" y="42929"/>
                    <a:pt x="91326" y="29516"/>
                    <a:pt x="83570" y="22400"/>
                  </a:cubicBezTo>
                  <a:cubicBezTo>
                    <a:pt x="75418" y="15182"/>
                    <a:pt x="64798" y="11378"/>
                    <a:pt x="53917" y="11770"/>
                  </a:cubicBezTo>
                  <a:cubicBezTo>
                    <a:pt x="45893" y="11396"/>
                    <a:pt x="38018" y="14028"/>
                    <a:pt x="31837" y="19161"/>
                  </a:cubicBezTo>
                  <a:cubicBezTo>
                    <a:pt x="26590" y="23139"/>
                    <a:pt x="23420" y="29275"/>
                    <a:pt x="23214" y="35858"/>
                  </a:cubicBezTo>
                  <a:cubicBezTo>
                    <a:pt x="23041" y="42801"/>
                    <a:pt x="25249" y="49590"/>
                    <a:pt x="29464" y="55110"/>
                  </a:cubicBezTo>
                  <a:cubicBezTo>
                    <a:pt x="33479" y="60584"/>
                    <a:pt x="41691" y="66424"/>
                    <a:pt x="54100" y="72537"/>
                  </a:cubicBezTo>
                  <a:lnTo>
                    <a:pt x="82749" y="86770"/>
                  </a:lnTo>
                  <a:cubicBezTo>
                    <a:pt x="109269" y="100000"/>
                    <a:pt x="122517" y="117441"/>
                    <a:pt x="122485" y="139097"/>
                  </a:cubicBezTo>
                  <a:cubicBezTo>
                    <a:pt x="122991" y="154718"/>
                    <a:pt x="116134" y="169668"/>
                    <a:pt x="103963" y="179471"/>
                  </a:cubicBezTo>
                  <a:cubicBezTo>
                    <a:pt x="92462" y="189389"/>
                    <a:pt x="77772" y="194832"/>
                    <a:pt x="62585" y="194800"/>
                  </a:cubicBezTo>
                  <a:cubicBezTo>
                    <a:pt x="49834" y="194526"/>
                    <a:pt x="37183" y="192487"/>
                    <a:pt x="24994" y="188732"/>
                  </a:cubicBezTo>
                  <a:cubicBezTo>
                    <a:pt x="21586" y="187533"/>
                    <a:pt x="18018" y="186839"/>
                    <a:pt x="14410" y="186679"/>
                  </a:cubicBezTo>
                  <a:cubicBezTo>
                    <a:pt x="11175" y="186862"/>
                    <a:pt x="8374" y="188993"/>
                    <a:pt x="7338" y="192063"/>
                  </a:cubicBezTo>
                  <a:lnTo>
                    <a:pt x="860" y="192063"/>
                  </a:lnTo>
                  <a:lnTo>
                    <a:pt x="860" y="126369"/>
                  </a:lnTo>
                  <a:lnTo>
                    <a:pt x="7338" y="126369"/>
                  </a:lnTo>
                  <a:cubicBezTo>
                    <a:pt x="10988" y="145165"/>
                    <a:pt x="17968" y="159261"/>
                    <a:pt x="28278" y="168796"/>
                  </a:cubicBezTo>
                  <a:cubicBezTo>
                    <a:pt x="37544" y="177847"/>
                    <a:pt x="49953" y="182961"/>
                    <a:pt x="62904" y="183076"/>
                  </a:cubicBezTo>
                  <a:cubicBezTo>
                    <a:pt x="71034" y="183399"/>
                    <a:pt x="78963" y="180480"/>
                    <a:pt x="84939" y="174955"/>
                  </a:cubicBezTo>
                  <a:cubicBezTo>
                    <a:pt x="90423" y="169937"/>
                    <a:pt x="93507" y="162815"/>
                    <a:pt x="93425" y="155384"/>
                  </a:cubicBezTo>
                  <a:cubicBezTo>
                    <a:pt x="93625" y="146656"/>
                    <a:pt x="90204" y="138235"/>
                    <a:pt x="83981" y="132117"/>
                  </a:cubicBezTo>
                  <a:cubicBezTo>
                    <a:pt x="77626" y="125821"/>
                    <a:pt x="64989" y="117884"/>
                    <a:pt x="46070" y="108303"/>
                  </a:cubicBezTo>
                  <a:cubicBezTo>
                    <a:pt x="27152" y="98723"/>
                    <a:pt x="14743" y="90055"/>
                    <a:pt x="8844" y="82299"/>
                  </a:cubicBezTo>
                  <a:cubicBezTo>
                    <a:pt x="2717" y="73951"/>
                    <a:pt x="-390" y="63768"/>
                    <a:pt x="39" y="53422"/>
                  </a:cubicBezTo>
                  <a:cubicBezTo>
                    <a:pt x="-335" y="39220"/>
                    <a:pt x="5162" y="25488"/>
                    <a:pt x="15231" y="15465"/>
                  </a:cubicBezTo>
                  <a:cubicBezTo>
                    <a:pt x="25632" y="5169"/>
                    <a:pt x="39839" y="-347"/>
                    <a:pt x="54465" y="228"/>
                  </a:cubicBezTo>
                  <a:cubicBezTo>
                    <a:pt x="63187" y="488"/>
                    <a:pt x="71828" y="2026"/>
                    <a:pt x="80103" y="4790"/>
                  </a:cubicBezTo>
                  <a:cubicBezTo>
                    <a:pt x="84415" y="6309"/>
                    <a:pt x="88881" y="7336"/>
                    <a:pt x="93425" y="7847"/>
                  </a:cubicBezTo>
                  <a:cubicBezTo>
                    <a:pt x="95163" y="7938"/>
                    <a:pt x="96883" y="7441"/>
                    <a:pt x="98306" y="6432"/>
                  </a:cubicBezTo>
                  <a:cubicBezTo>
                    <a:pt x="100071" y="4621"/>
                    <a:pt x="101467" y="2482"/>
                    <a:pt x="102412" y="137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9BDD159-DC9A-CECF-B4BD-755C737B9356}"/>
                </a:ext>
              </a:extLst>
            </p:cNvPr>
            <p:cNvSpPr/>
            <p:nvPr/>
          </p:nvSpPr>
          <p:spPr>
            <a:xfrm>
              <a:off x="5039531" y="2216032"/>
              <a:ext cx="196488" cy="189279"/>
            </a:xfrm>
            <a:custGeom>
              <a:avLst/>
              <a:gdLst>
                <a:gd name="connsiteX0" fmla="*/ 62957 w 196488"/>
                <a:gd name="connsiteY0" fmla="*/ 38960 h 189279"/>
                <a:gd name="connsiteX1" fmla="*/ 122993 w 196488"/>
                <a:gd name="connsiteY1" fmla="*/ 137 h 189279"/>
                <a:gd name="connsiteX2" fmla="*/ 148176 w 196488"/>
                <a:gd name="connsiteY2" fmla="*/ 7664 h 189279"/>
                <a:gd name="connsiteX3" fmla="*/ 165010 w 196488"/>
                <a:gd name="connsiteY3" fmla="*/ 32391 h 189279"/>
                <a:gd name="connsiteX4" fmla="*/ 169298 w 196488"/>
                <a:gd name="connsiteY4" fmla="*/ 69298 h 189279"/>
                <a:gd name="connsiteX5" fmla="*/ 169298 w 196488"/>
                <a:gd name="connsiteY5" fmla="*/ 147674 h 189279"/>
                <a:gd name="connsiteX6" fmla="*/ 172035 w 196488"/>
                <a:gd name="connsiteY6" fmla="*/ 171305 h 189279"/>
                <a:gd name="connsiteX7" fmla="*/ 178970 w 196488"/>
                <a:gd name="connsiteY7" fmla="*/ 179107 h 189279"/>
                <a:gd name="connsiteX8" fmla="*/ 196488 w 196488"/>
                <a:gd name="connsiteY8" fmla="*/ 181981 h 189279"/>
                <a:gd name="connsiteX9" fmla="*/ 196488 w 196488"/>
                <a:gd name="connsiteY9" fmla="*/ 189280 h 189279"/>
                <a:gd name="connsiteX10" fmla="*/ 107665 w 196488"/>
                <a:gd name="connsiteY10" fmla="*/ 189280 h 189279"/>
                <a:gd name="connsiteX11" fmla="*/ 107665 w 196488"/>
                <a:gd name="connsiteY11" fmla="*/ 181981 h 189279"/>
                <a:gd name="connsiteX12" fmla="*/ 111406 w 196488"/>
                <a:gd name="connsiteY12" fmla="*/ 181981 h 189279"/>
                <a:gd name="connsiteX13" fmla="*/ 128970 w 196488"/>
                <a:gd name="connsiteY13" fmla="*/ 178103 h 189279"/>
                <a:gd name="connsiteX14" fmla="*/ 135950 w 196488"/>
                <a:gd name="connsiteY14" fmla="*/ 166607 h 189279"/>
                <a:gd name="connsiteX15" fmla="*/ 136725 w 196488"/>
                <a:gd name="connsiteY15" fmla="*/ 147765 h 189279"/>
                <a:gd name="connsiteX16" fmla="*/ 136725 w 196488"/>
                <a:gd name="connsiteY16" fmla="*/ 72491 h 189279"/>
                <a:gd name="connsiteX17" fmla="*/ 130384 w 196488"/>
                <a:gd name="connsiteY17" fmla="*/ 35995 h 189279"/>
                <a:gd name="connsiteX18" fmla="*/ 109079 w 196488"/>
                <a:gd name="connsiteY18" fmla="*/ 24681 h 189279"/>
                <a:gd name="connsiteX19" fmla="*/ 62957 w 196488"/>
                <a:gd name="connsiteY19" fmla="*/ 50730 h 189279"/>
                <a:gd name="connsiteX20" fmla="*/ 62957 w 196488"/>
                <a:gd name="connsiteY20" fmla="*/ 147628 h 189279"/>
                <a:gd name="connsiteX21" fmla="*/ 65101 w 196488"/>
                <a:gd name="connsiteY21" fmla="*/ 170439 h 189279"/>
                <a:gd name="connsiteX22" fmla="*/ 72674 w 196488"/>
                <a:gd name="connsiteY22" fmla="*/ 178924 h 189279"/>
                <a:gd name="connsiteX23" fmla="*/ 92199 w 196488"/>
                <a:gd name="connsiteY23" fmla="*/ 181616 h 189279"/>
                <a:gd name="connsiteX24" fmla="*/ 92199 w 196488"/>
                <a:gd name="connsiteY24" fmla="*/ 188915 h 189279"/>
                <a:gd name="connsiteX25" fmla="*/ 3193 w 196488"/>
                <a:gd name="connsiteY25" fmla="*/ 188915 h 189279"/>
                <a:gd name="connsiteX26" fmla="*/ 3193 w 196488"/>
                <a:gd name="connsiteY26" fmla="*/ 181981 h 189279"/>
                <a:gd name="connsiteX27" fmla="*/ 7117 w 196488"/>
                <a:gd name="connsiteY27" fmla="*/ 181981 h 189279"/>
                <a:gd name="connsiteX28" fmla="*/ 25365 w 196488"/>
                <a:gd name="connsiteY28" fmla="*/ 174910 h 189279"/>
                <a:gd name="connsiteX29" fmla="*/ 30155 w 196488"/>
                <a:gd name="connsiteY29" fmla="*/ 147765 h 189279"/>
                <a:gd name="connsiteX30" fmla="*/ 30155 w 196488"/>
                <a:gd name="connsiteY30" fmla="*/ 79334 h 189279"/>
                <a:gd name="connsiteX31" fmla="*/ 28695 w 196488"/>
                <a:gd name="connsiteY31" fmla="*/ 39097 h 189279"/>
                <a:gd name="connsiteX32" fmla="*/ 24133 w 196488"/>
                <a:gd name="connsiteY32" fmla="*/ 29334 h 189279"/>
                <a:gd name="connsiteX33" fmla="*/ 16013 w 196488"/>
                <a:gd name="connsiteY33" fmla="*/ 26734 h 189279"/>
                <a:gd name="connsiteX34" fmla="*/ 2920 w 196488"/>
                <a:gd name="connsiteY34" fmla="*/ 29699 h 189279"/>
                <a:gd name="connsiteX35" fmla="*/ 0 w 196488"/>
                <a:gd name="connsiteY35" fmla="*/ 22445 h 189279"/>
                <a:gd name="connsiteX36" fmla="*/ 54243 w 196488"/>
                <a:gd name="connsiteY36" fmla="*/ 0 h 189279"/>
                <a:gd name="connsiteX37" fmla="*/ 62683 w 196488"/>
                <a:gd name="connsiteY37" fmla="*/ 0 h 189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96488" h="189279">
                  <a:moveTo>
                    <a:pt x="62957" y="38960"/>
                  </a:moveTo>
                  <a:cubicBezTo>
                    <a:pt x="83942" y="13107"/>
                    <a:pt x="103956" y="169"/>
                    <a:pt x="122993" y="137"/>
                  </a:cubicBezTo>
                  <a:cubicBezTo>
                    <a:pt x="131976" y="-100"/>
                    <a:pt x="140799" y="2537"/>
                    <a:pt x="148176" y="7664"/>
                  </a:cubicBezTo>
                  <a:cubicBezTo>
                    <a:pt x="156168" y="14006"/>
                    <a:pt x="162045" y="22628"/>
                    <a:pt x="165010" y="32391"/>
                  </a:cubicBezTo>
                  <a:cubicBezTo>
                    <a:pt x="168390" y="44389"/>
                    <a:pt x="169836" y="56848"/>
                    <a:pt x="169298" y="69298"/>
                  </a:cubicBezTo>
                  <a:lnTo>
                    <a:pt x="169298" y="147674"/>
                  </a:lnTo>
                  <a:cubicBezTo>
                    <a:pt x="168805" y="155653"/>
                    <a:pt x="169732" y="163650"/>
                    <a:pt x="172035" y="171305"/>
                  </a:cubicBezTo>
                  <a:cubicBezTo>
                    <a:pt x="173440" y="174590"/>
                    <a:pt x="175872" y="177327"/>
                    <a:pt x="178970" y="179107"/>
                  </a:cubicBezTo>
                  <a:cubicBezTo>
                    <a:pt x="184508" y="181410"/>
                    <a:pt x="190503" y="182396"/>
                    <a:pt x="196488" y="181981"/>
                  </a:cubicBezTo>
                  <a:lnTo>
                    <a:pt x="196488" y="189280"/>
                  </a:lnTo>
                  <a:lnTo>
                    <a:pt x="107665" y="189280"/>
                  </a:lnTo>
                  <a:lnTo>
                    <a:pt x="107665" y="181981"/>
                  </a:lnTo>
                  <a:lnTo>
                    <a:pt x="111406" y="181981"/>
                  </a:lnTo>
                  <a:cubicBezTo>
                    <a:pt x="117523" y="182546"/>
                    <a:pt x="123659" y="181192"/>
                    <a:pt x="128970" y="178103"/>
                  </a:cubicBezTo>
                  <a:cubicBezTo>
                    <a:pt x="132514" y="175160"/>
                    <a:pt x="134973" y="171109"/>
                    <a:pt x="135950" y="166607"/>
                  </a:cubicBezTo>
                  <a:cubicBezTo>
                    <a:pt x="136689" y="160357"/>
                    <a:pt x="136949" y="154056"/>
                    <a:pt x="136725" y="147765"/>
                  </a:cubicBezTo>
                  <a:lnTo>
                    <a:pt x="136725" y="72491"/>
                  </a:lnTo>
                  <a:cubicBezTo>
                    <a:pt x="136725" y="55794"/>
                    <a:pt x="134613" y="43627"/>
                    <a:pt x="130384" y="35995"/>
                  </a:cubicBezTo>
                  <a:cubicBezTo>
                    <a:pt x="126086" y="28403"/>
                    <a:pt x="117774" y="23992"/>
                    <a:pt x="109079" y="24681"/>
                  </a:cubicBezTo>
                  <a:cubicBezTo>
                    <a:pt x="93659" y="24681"/>
                    <a:pt x="78239" y="33349"/>
                    <a:pt x="62957" y="50730"/>
                  </a:cubicBezTo>
                  <a:lnTo>
                    <a:pt x="62957" y="147628"/>
                  </a:lnTo>
                  <a:cubicBezTo>
                    <a:pt x="62957" y="160037"/>
                    <a:pt x="63686" y="167701"/>
                    <a:pt x="65101" y="170439"/>
                  </a:cubicBezTo>
                  <a:cubicBezTo>
                    <a:pt x="66656" y="174002"/>
                    <a:pt x="69311" y="176976"/>
                    <a:pt x="72674" y="178924"/>
                  </a:cubicBezTo>
                  <a:cubicBezTo>
                    <a:pt x="78910" y="181233"/>
                    <a:pt x="85571" y="182154"/>
                    <a:pt x="92199" y="181616"/>
                  </a:cubicBezTo>
                  <a:lnTo>
                    <a:pt x="92199" y="188915"/>
                  </a:lnTo>
                  <a:lnTo>
                    <a:pt x="3193" y="188915"/>
                  </a:lnTo>
                  <a:lnTo>
                    <a:pt x="3193" y="181981"/>
                  </a:lnTo>
                  <a:lnTo>
                    <a:pt x="7117" y="181981"/>
                  </a:lnTo>
                  <a:cubicBezTo>
                    <a:pt x="16241" y="181981"/>
                    <a:pt x="22400" y="179608"/>
                    <a:pt x="25365" y="174910"/>
                  </a:cubicBezTo>
                  <a:cubicBezTo>
                    <a:pt x="28331" y="170210"/>
                    <a:pt x="30155" y="161223"/>
                    <a:pt x="30155" y="147765"/>
                  </a:cubicBezTo>
                  <a:lnTo>
                    <a:pt x="30155" y="79334"/>
                  </a:lnTo>
                  <a:cubicBezTo>
                    <a:pt x="30575" y="65904"/>
                    <a:pt x="30087" y="52459"/>
                    <a:pt x="28695" y="39097"/>
                  </a:cubicBezTo>
                  <a:cubicBezTo>
                    <a:pt x="28257" y="35438"/>
                    <a:pt x="26656" y="32017"/>
                    <a:pt x="24133" y="29334"/>
                  </a:cubicBezTo>
                  <a:cubicBezTo>
                    <a:pt x="21834" y="27505"/>
                    <a:pt x="18946" y="26583"/>
                    <a:pt x="16013" y="26734"/>
                  </a:cubicBezTo>
                  <a:cubicBezTo>
                    <a:pt x="11501" y="26902"/>
                    <a:pt x="7062" y="27911"/>
                    <a:pt x="2920" y="29699"/>
                  </a:cubicBezTo>
                  <a:lnTo>
                    <a:pt x="0" y="22445"/>
                  </a:lnTo>
                  <a:lnTo>
                    <a:pt x="54243" y="0"/>
                  </a:lnTo>
                  <a:lnTo>
                    <a:pt x="62683" y="0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19D5DED-3EF9-AF86-EB61-9CD3E816C78F}"/>
                </a:ext>
              </a:extLst>
            </p:cNvPr>
            <p:cNvSpPr/>
            <p:nvPr/>
          </p:nvSpPr>
          <p:spPr>
            <a:xfrm>
              <a:off x="5251388" y="2216137"/>
              <a:ext cx="173326" cy="194631"/>
            </a:xfrm>
            <a:custGeom>
              <a:avLst/>
              <a:gdLst>
                <a:gd name="connsiteX0" fmla="*/ 86912 w 173326"/>
                <a:gd name="connsiteY0" fmla="*/ 32 h 194631"/>
                <a:gd name="connsiteX1" fmla="*/ 152332 w 173326"/>
                <a:gd name="connsiteY1" fmla="*/ 31693 h 194631"/>
                <a:gd name="connsiteX2" fmla="*/ 173318 w 173326"/>
                <a:gd name="connsiteY2" fmla="*/ 93828 h 194631"/>
                <a:gd name="connsiteX3" fmla="*/ 161730 w 173326"/>
                <a:gd name="connsiteY3" fmla="*/ 143737 h 194631"/>
                <a:gd name="connsiteX4" fmla="*/ 129796 w 173326"/>
                <a:gd name="connsiteY4" fmla="*/ 181784 h 194631"/>
                <a:gd name="connsiteX5" fmla="*/ 84631 w 173326"/>
                <a:gd name="connsiteY5" fmla="*/ 194604 h 194631"/>
                <a:gd name="connsiteX6" fmla="*/ 20169 w 173326"/>
                <a:gd name="connsiteY6" fmla="*/ 161574 h 194631"/>
                <a:gd name="connsiteX7" fmla="*/ 5 w 173326"/>
                <a:gd name="connsiteY7" fmla="*/ 99029 h 194631"/>
                <a:gd name="connsiteX8" fmla="*/ 12231 w 173326"/>
                <a:gd name="connsiteY8" fmla="*/ 48846 h 194631"/>
                <a:gd name="connsiteX9" fmla="*/ 44485 w 173326"/>
                <a:gd name="connsiteY9" fmla="*/ 11939 h 194631"/>
                <a:gd name="connsiteX10" fmla="*/ 86821 w 173326"/>
                <a:gd name="connsiteY10" fmla="*/ 32 h 194631"/>
                <a:gd name="connsiteX11" fmla="*/ 80799 w 173326"/>
                <a:gd name="connsiteY11" fmla="*/ 13079 h 194631"/>
                <a:gd name="connsiteX12" fmla="*/ 59905 w 173326"/>
                <a:gd name="connsiteY12" fmla="*/ 19375 h 194631"/>
                <a:gd name="connsiteX13" fmla="*/ 42934 w 173326"/>
                <a:gd name="connsiteY13" fmla="*/ 41501 h 194631"/>
                <a:gd name="connsiteX14" fmla="*/ 36456 w 173326"/>
                <a:gd name="connsiteY14" fmla="*/ 82149 h 194631"/>
                <a:gd name="connsiteX15" fmla="*/ 52058 w 173326"/>
                <a:gd name="connsiteY15" fmla="*/ 151264 h 194631"/>
                <a:gd name="connsiteX16" fmla="*/ 93117 w 173326"/>
                <a:gd name="connsiteY16" fmla="*/ 180279 h 194631"/>
                <a:gd name="connsiteX17" fmla="*/ 124549 w 173326"/>
                <a:gd name="connsiteY17" fmla="*/ 164266 h 194631"/>
                <a:gd name="connsiteX18" fmla="*/ 136912 w 173326"/>
                <a:gd name="connsiteY18" fmla="*/ 109202 h 194631"/>
                <a:gd name="connsiteX19" fmla="*/ 116292 w 173326"/>
                <a:gd name="connsiteY19" fmla="*/ 32286 h 194631"/>
                <a:gd name="connsiteX20" fmla="*/ 80753 w 173326"/>
                <a:gd name="connsiteY20" fmla="*/ 13079 h 194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3326" h="194631">
                  <a:moveTo>
                    <a:pt x="86912" y="32"/>
                  </a:moveTo>
                  <a:cubicBezTo>
                    <a:pt x="112574" y="-698"/>
                    <a:pt x="136981" y="11118"/>
                    <a:pt x="152332" y="31693"/>
                  </a:cubicBezTo>
                  <a:cubicBezTo>
                    <a:pt x="166224" y="49398"/>
                    <a:pt x="173628" y="71328"/>
                    <a:pt x="173318" y="93828"/>
                  </a:cubicBezTo>
                  <a:cubicBezTo>
                    <a:pt x="173117" y="111109"/>
                    <a:pt x="169162" y="128134"/>
                    <a:pt x="161730" y="143737"/>
                  </a:cubicBezTo>
                  <a:cubicBezTo>
                    <a:pt x="155092" y="159303"/>
                    <a:pt x="143975" y="172546"/>
                    <a:pt x="129796" y="181784"/>
                  </a:cubicBezTo>
                  <a:cubicBezTo>
                    <a:pt x="116301" y="190343"/>
                    <a:pt x="100612" y="194800"/>
                    <a:pt x="84631" y="194604"/>
                  </a:cubicBezTo>
                  <a:cubicBezTo>
                    <a:pt x="58919" y="195302"/>
                    <a:pt x="34622" y="182852"/>
                    <a:pt x="20169" y="161574"/>
                  </a:cubicBezTo>
                  <a:cubicBezTo>
                    <a:pt x="6862" y="143454"/>
                    <a:pt x="-214" y="121510"/>
                    <a:pt x="5" y="99029"/>
                  </a:cubicBezTo>
                  <a:cubicBezTo>
                    <a:pt x="142" y="81579"/>
                    <a:pt x="4330" y="64403"/>
                    <a:pt x="12231" y="48846"/>
                  </a:cubicBezTo>
                  <a:cubicBezTo>
                    <a:pt x="19134" y="33650"/>
                    <a:pt x="30352" y="20817"/>
                    <a:pt x="44485" y="11939"/>
                  </a:cubicBezTo>
                  <a:cubicBezTo>
                    <a:pt x="57236" y="4156"/>
                    <a:pt x="71885" y="36"/>
                    <a:pt x="86821" y="32"/>
                  </a:cubicBezTo>
                  <a:moveTo>
                    <a:pt x="80799" y="13079"/>
                  </a:moveTo>
                  <a:cubicBezTo>
                    <a:pt x="73390" y="13216"/>
                    <a:pt x="66159" y="15397"/>
                    <a:pt x="59905" y="19375"/>
                  </a:cubicBezTo>
                  <a:cubicBezTo>
                    <a:pt x="51985" y="24704"/>
                    <a:pt x="46027" y="32473"/>
                    <a:pt x="42934" y="41501"/>
                  </a:cubicBezTo>
                  <a:cubicBezTo>
                    <a:pt x="38194" y="54512"/>
                    <a:pt x="35995" y="68312"/>
                    <a:pt x="36456" y="82149"/>
                  </a:cubicBezTo>
                  <a:cubicBezTo>
                    <a:pt x="35817" y="106127"/>
                    <a:pt x="41182" y="129886"/>
                    <a:pt x="52058" y="151264"/>
                  </a:cubicBezTo>
                  <a:cubicBezTo>
                    <a:pt x="62460" y="170607"/>
                    <a:pt x="76146" y="180279"/>
                    <a:pt x="93117" y="180279"/>
                  </a:cubicBezTo>
                  <a:cubicBezTo>
                    <a:pt x="105580" y="180398"/>
                    <a:pt x="117318" y="174421"/>
                    <a:pt x="124549" y="164266"/>
                  </a:cubicBezTo>
                  <a:cubicBezTo>
                    <a:pt x="132761" y="153591"/>
                    <a:pt x="136880" y="135238"/>
                    <a:pt x="136912" y="109202"/>
                  </a:cubicBezTo>
                  <a:cubicBezTo>
                    <a:pt x="136912" y="76629"/>
                    <a:pt x="130037" y="50990"/>
                    <a:pt x="116292" y="32286"/>
                  </a:cubicBezTo>
                  <a:cubicBezTo>
                    <a:pt x="108468" y="20274"/>
                    <a:pt x="95087" y="13043"/>
                    <a:pt x="80753" y="13079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EF4E4A4-7E69-F563-3842-24536A42E614}"/>
                </a:ext>
              </a:extLst>
            </p:cNvPr>
            <p:cNvSpPr/>
            <p:nvPr/>
          </p:nvSpPr>
          <p:spPr>
            <a:xfrm>
              <a:off x="5553456" y="2127023"/>
              <a:ext cx="239088" cy="284304"/>
            </a:xfrm>
            <a:custGeom>
              <a:avLst/>
              <a:gdLst>
                <a:gd name="connsiteX0" fmla="*/ 226863 w 239088"/>
                <a:gd name="connsiteY0" fmla="*/ 185 h 284304"/>
                <a:gd name="connsiteX1" fmla="*/ 232930 w 239088"/>
                <a:gd name="connsiteY1" fmla="*/ 92567 h 284304"/>
                <a:gd name="connsiteX2" fmla="*/ 226863 w 239088"/>
                <a:gd name="connsiteY2" fmla="*/ 92567 h 284304"/>
                <a:gd name="connsiteX3" fmla="*/ 192282 w 239088"/>
                <a:gd name="connsiteY3" fmla="*/ 32758 h 284304"/>
                <a:gd name="connsiteX4" fmla="*/ 138313 w 239088"/>
                <a:gd name="connsiteY4" fmla="*/ 14510 h 284304"/>
                <a:gd name="connsiteX5" fmla="*/ 90594 w 239088"/>
                <a:gd name="connsiteY5" fmla="*/ 28196 h 284304"/>
                <a:gd name="connsiteX6" fmla="*/ 57108 w 239088"/>
                <a:gd name="connsiteY6" fmla="*/ 71992 h 284304"/>
                <a:gd name="connsiteX7" fmla="*/ 44882 w 239088"/>
                <a:gd name="connsiteY7" fmla="*/ 146719 h 284304"/>
                <a:gd name="connsiteX8" fmla="*/ 56424 w 239088"/>
                <a:gd name="connsiteY8" fmla="*/ 210588 h 284304"/>
                <a:gd name="connsiteX9" fmla="*/ 91096 w 239088"/>
                <a:gd name="connsiteY9" fmla="*/ 252057 h 284304"/>
                <a:gd name="connsiteX10" fmla="*/ 143970 w 239088"/>
                <a:gd name="connsiteY10" fmla="*/ 266519 h 284304"/>
                <a:gd name="connsiteX11" fmla="*/ 189591 w 239088"/>
                <a:gd name="connsiteY11" fmla="*/ 255204 h 284304"/>
                <a:gd name="connsiteX12" fmla="*/ 233021 w 239088"/>
                <a:gd name="connsiteY12" fmla="*/ 210268 h 284304"/>
                <a:gd name="connsiteX13" fmla="*/ 239089 w 239088"/>
                <a:gd name="connsiteY13" fmla="*/ 214329 h 284304"/>
                <a:gd name="connsiteX14" fmla="*/ 192465 w 239088"/>
                <a:gd name="connsiteY14" fmla="*/ 267431 h 284304"/>
                <a:gd name="connsiteX15" fmla="*/ 129234 w 239088"/>
                <a:gd name="connsiteY15" fmla="*/ 284265 h 284304"/>
                <a:gd name="connsiteX16" fmla="*/ 27044 w 239088"/>
                <a:gd name="connsiteY16" fmla="*/ 234082 h 284304"/>
                <a:gd name="connsiteX17" fmla="*/ 37 w 239088"/>
                <a:gd name="connsiteY17" fmla="*/ 146308 h 284304"/>
                <a:gd name="connsiteX18" fmla="*/ 17875 w 239088"/>
                <a:gd name="connsiteY18" fmla="*/ 71536 h 284304"/>
                <a:gd name="connsiteX19" fmla="*/ 135120 w 239088"/>
                <a:gd name="connsiteY19" fmla="*/ 3 h 284304"/>
                <a:gd name="connsiteX20" fmla="*/ 191872 w 239088"/>
                <a:gd name="connsiteY20" fmla="*/ 14419 h 284304"/>
                <a:gd name="connsiteX21" fmla="*/ 203642 w 239088"/>
                <a:gd name="connsiteY21" fmla="*/ 18981 h 284304"/>
                <a:gd name="connsiteX22" fmla="*/ 212766 w 239088"/>
                <a:gd name="connsiteY22" fmla="*/ 15194 h 284304"/>
                <a:gd name="connsiteX23" fmla="*/ 220019 w 239088"/>
                <a:gd name="connsiteY23" fmla="*/ 185 h 284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39088" h="284304">
                  <a:moveTo>
                    <a:pt x="226863" y="185"/>
                  </a:moveTo>
                  <a:lnTo>
                    <a:pt x="232930" y="92567"/>
                  </a:lnTo>
                  <a:lnTo>
                    <a:pt x="226863" y="92567"/>
                  </a:lnTo>
                  <a:cubicBezTo>
                    <a:pt x="218802" y="64862"/>
                    <a:pt x="207278" y="44925"/>
                    <a:pt x="192282" y="32758"/>
                  </a:cubicBezTo>
                  <a:cubicBezTo>
                    <a:pt x="177013" y="20491"/>
                    <a:pt x="157893" y="14027"/>
                    <a:pt x="138313" y="14510"/>
                  </a:cubicBezTo>
                  <a:cubicBezTo>
                    <a:pt x="121406" y="14291"/>
                    <a:pt x="104814" y="19049"/>
                    <a:pt x="90594" y="28196"/>
                  </a:cubicBezTo>
                  <a:cubicBezTo>
                    <a:pt x="76406" y="37321"/>
                    <a:pt x="65229" y="51965"/>
                    <a:pt x="57108" y="71992"/>
                  </a:cubicBezTo>
                  <a:cubicBezTo>
                    <a:pt x="48988" y="92020"/>
                    <a:pt x="44882" y="116929"/>
                    <a:pt x="44882" y="146719"/>
                  </a:cubicBezTo>
                  <a:cubicBezTo>
                    <a:pt x="44380" y="168571"/>
                    <a:pt x="48308" y="190296"/>
                    <a:pt x="56424" y="210588"/>
                  </a:cubicBezTo>
                  <a:cubicBezTo>
                    <a:pt x="63345" y="227705"/>
                    <a:pt x="75475" y="242212"/>
                    <a:pt x="91096" y="252057"/>
                  </a:cubicBezTo>
                  <a:cubicBezTo>
                    <a:pt x="106981" y="261815"/>
                    <a:pt x="125329" y="266833"/>
                    <a:pt x="143970" y="266519"/>
                  </a:cubicBezTo>
                  <a:cubicBezTo>
                    <a:pt x="159910" y="266856"/>
                    <a:pt x="175653" y="262951"/>
                    <a:pt x="189591" y="255204"/>
                  </a:cubicBezTo>
                  <a:cubicBezTo>
                    <a:pt x="202761" y="247632"/>
                    <a:pt x="217237" y="232654"/>
                    <a:pt x="233021" y="210268"/>
                  </a:cubicBezTo>
                  <a:lnTo>
                    <a:pt x="239089" y="214329"/>
                  </a:lnTo>
                  <a:cubicBezTo>
                    <a:pt x="225768" y="238507"/>
                    <a:pt x="210225" y="256208"/>
                    <a:pt x="192465" y="267431"/>
                  </a:cubicBezTo>
                  <a:cubicBezTo>
                    <a:pt x="173445" y="279000"/>
                    <a:pt x="151493" y="284849"/>
                    <a:pt x="129234" y="284265"/>
                  </a:cubicBezTo>
                  <a:cubicBezTo>
                    <a:pt x="85256" y="284265"/>
                    <a:pt x="51191" y="267536"/>
                    <a:pt x="27044" y="234082"/>
                  </a:cubicBezTo>
                  <a:cubicBezTo>
                    <a:pt x="8805" y="208507"/>
                    <a:pt x="-670" y="177713"/>
                    <a:pt x="37" y="146308"/>
                  </a:cubicBezTo>
                  <a:cubicBezTo>
                    <a:pt x="-241" y="120300"/>
                    <a:pt x="5886" y="94620"/>
                    <a:pt x="17875" y="71536"/>
                  </a:cubicBezTo>
                  <a:cubicBezTo>
                    <a:pt x="40220" y="27380"/>
                    <a:pt x="85630" y="-326"/>
                    <a:pt x="135120" y="3"/>
                  </a:cubicBezTo>
                  <a:cubicBezTo>
                    <a:pt x="154923" y="153"/>
                    <a:pt x="174399" y="5099"/>
                    <a:pt x="191872" y="14419"/>
                  </a:cubicBezTo>
                  <a:cubicBezTo>
                    <a:pt x="195435" y="16746"/>
                    <a:pt x="199440" y="18301"/>
                    <a:pt x="203642" y="18981"/>
                  </a:cubicBezTo>
                  <a:cubicBezTo>
                    <a:pt x="207072" y="19008"/>
                    <a:pt x="210366" y="17644"/>
                    <a:pt x="212766" y="15194"/>
                  </a:cubicBezTo>
                  <a:cubicBezTo>
                    <a:pt x="216502" y="10943"/>
                    <a:pt x="219011" y="5756"/>
                    <a:pt x="220019" y="185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B2DAFA1-CC4A-1850-5E4F-AC454EEBD689}"/>
                </a:ext>
              </a:extLst>
            </p:cNvPr>
            <p:cNvSpPr/>
            <p:nvPr/>
          </p:nvSpPr>
          <p:spPr>
            <a:xfrm>
              <a:off x="5818275" y="2120133"/>
              <a:ext cx="89826" cy="284996"/>
            </a:xfrm>
            <a:custGeom>
              <a:avLst/>
              <a:gdLst>
                <a:gd name="connsiteX0" fmla="*/ 62683 w 89826"/>
                <a:gd name="connsiteY0" fmla="*/ 96036 h 284996"/>
                <a:gd name="connsiteX1" fmla="*/ 62683 w 89826"/>
                <a:gd name="connsiteY1" fmla="*/ 243573 h 284996"/>
                <a:gd name="connsiteX2" fmla="*/ 65146 w 89826"/>
                <a:gd name="connsiteY2" fmla="*/ 266383 h 284996"/>
                <a:gd name="connsiteX3" fmla="*/ 72354 w 89826"/>
                <a:gd name="connsiteY3" fmla="*/ 274914 h 284996"/>
                <a:gd name="connsiteX4" fmla="*/ 89827 w 89826"/>
                <a:gd name="connsiteY4" fmla="*/ 277697 h 284996"/>
                <a:gd name="connsiteX5" fmla="*/ 89827 w 89826"/>
                <a:gd name="connsiteY5" fmla="*/ 284997 h 284996"/>
                <a:gd name="connsiteX6" fmla="*/ 2737 w 89826"/>
                <a:gd name="connsiteY6" fmla="*/ 284997 h 284996"/>
                <a:gd name="connsiteX7" fmla="*/ 2737 w 89826"/>
                <a:gd name="connsiteY7" fmla="*/ 277880 h 284996"/>
                <a:gd name="connsiteX8" fmla="*/ 20301 w 89826"/>
                <a:gd name="connsiteY8" fmla="*/ 275279 h 284996"/>
                <a:gd name="connsiteX9" fmla="*/ 27464 w 89826"/>
                <a:gd name="connsiteY9" fmla="*/ 266703 h 284996"/>
                <a:gd name="connsiteX10" fmla="*/ 30109 w 89826"/>
                <a:gd name="connsiteY10" fmla="*/ 243892 h 284996"/>
                <a:gd name="connsiteX11" fmla="*/ 30109 w 89826"/>
                <a:gd name="connsiteY11" fmla="*/ 172952 h 284996"/>
                <a:gd name="connsiteX12" fmla="*/ 28331 w 89826"/>
                <a:gd name="connsiteY12" fmla="*/ 134312 h 284996"/>
                <a:gd name="connsiteX13" fmla="*/ 24042 w 89826"/>
                <a:gd name="connsiteY13" fmla="*/ 125188 h 284996"/>
                <a:gd name="connsiteX14" fmla="*/ 16013 w 89826"/>
                <a:gd name="connsiteY14" fmla="*/ 122724 h 284996"/>
                <a:gd name="connsiteX15" fmla="*/ 2737 w 89826"/>
                <a:gd name="connsiteY15" fmla="*/ 125690 h 284996"/>
                <a:gd name="connsiteX16" fmla="*/ 0 w 89826"/>
                <a:gd name="connsiteY16" fmla="*/ 118436 h 284996"/>
                <a:gd name="connsiteX17" fmla="*/ 54060 w 89826"/>
                <a:gd name="connsiteY17" fmla="*/ 95990 h 284996"/>
                <a:gd name="connsiteX18" fmla="*/ 46487 w 89826"/>
                <a:gd name="connsiteY18" fmla="*/ 5 h 284996"/>
                <a:gd name="connsiteX19" fmla="*/ 60493 w 89826"/>
                <a:gd name="connsiteY19" fmla="*/ 5935 h 284996"/>
                <a:gd name="connsiteX20" fmla="*/ 66241 w 89826"/>
                <a:gd name="connsiteY20" fmla="*/ 20215 h 284996"/>
                <a:gd name="connsiteX21" fmla="*/ 60493 w 89826"/>
                <a:gd name="connsiteY21" fmla="*/ 34631 h 284996"/>
                <a:gd name="connsiteX22" fmla="*/ 46487 w 89826"/>
                <a:gd name="connsiteY22" fmla="*/ 40653 h 284996"/>
                <a:gd name="connsiteX23" fmla="*/ 32391 w 89826"/>
                <a:gd name="connsiteY23" fmla="*/ 34631 h 284996"/>
                <a:gd name="connsiteX24" fmla="*/ 26551 w 89826"/>
                <a:gd name="connsiteY24" fmla="*/ 20215 h 284996"/>
                <a:gd name="connsiteX25" fmla="*/ 32299 w 89826"/>
                <a:gd name="connsiteY25" fmla="*/ 5935 h 284996"/>
                <a:gd name="connsiteX26" fmla="*/ 46487 w 89826"/>
                <a:gd name="connsiteY26" fmla="*/ 5 h 284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9826" h="284996">
                  <a:moveTo>
                    <a:pt x="62683" y="96036"/>
                  </a:moveTo>
                  <a:lnTo>
                    <a:pt x="62683" y="243573"/>
                  </a:lnTo>
                  <a:cubicBezTo>
                    <a:pt x="62213" y="251260"/>
                    <a:pt x="63048" y="258975"/>
                    <a:pt x="65146" y="266383"/>
                  </a:cubicBezTo>
                  <a:cubicBezTo>
                    <a:pt x="66533" y="269951"/>
                    <a:pt x="69070" y="272953"/>
                    <a:pt x="72354" y="274914"/>
                  </a:cubicBezTo>
                  <a:cubicBezTo>
                    <a:pt x="77879" y="277209"/>
                    <a:pt x="83864" y="278163"/>
                    <a:pt x="89827" y="277697"/>
                  </a:cubicBezTo>
                  <a:lnTo>
                    <a:pt x="89827" y="284997"/>
                  </a:lnTo>
                  <a:lnTo>
                    <a:pt x="2737" y="284997"/>
                  </a:lnTo>
                  <a:lnTo>
                    <a:pt x="2737" y="277880"/>
                  </a:lnTo>
                  <a:cubicBezTo>
                    <a:pt x="8713" y="278354"/>
                    <a:pt x="14717" y="277465"/>
                    <a:pt x="20301" y="275279"/>
                  </a:cubicBezTo>
                  <a:cubicBezTo>
                    <a:pt x="23545" y="273258"/>
                    <a:pt x="26054" y="270252"/>
                    <a:pt x="27464" y="266703"/>
                  </a:cubicBezTo>
                  <a:cubicBezTo>
                    <a:pt x="29653" y="259308"/>
                    <a:pt x="30552" y="251593"/>
                    <a:pt x="30109" y="243892"/>
                  </a:cubicBezTo>
                  <a:lnTo>
                    <a:pt x="30109" y="172952"/>
                  </a:lnTo>
                  <a:cubicBezTo>
                    <a:pt x="30507" y="160046"/>
                    <a:pt x="29909" y="147127"/>
                    <a:pt x="28331" y="134312"/>
                  </a:cubicBezTo>
                  <a:cubicBezTo>
                    <a:pt x="27929" y="130886"/>
                    <a:pt x="26423" y="127683"/>
                    <a:pt x="24042" y="125188"/>
                  </a:cubicBezTo>
                  <a:cubicBezTo>
                    <a:pt x="21747" y="123431"/>
                    <a:pt x="18896" y="122560"/>
                    <a:pt x="16013" y="122724"/>
                  </a:cubicBezTo>
                  <a:cubicBezTo>
                    <a:pt x="11446" y="122902"/>
                    <a:pt x="6948" y="123910"/>
                    <a:pt x="2737" y="125690"/>
                  </a:cubicBezTo>
                  <a:lnTo>
                    <a:pt x="0" y="118436"/>
                  </a:lnTo>
                  <a:lnTo>
                    <a:pt x="54060" y="95990"/>
                  </a:lnTo>
                  <a:close/>
                  <a:moveTo>
                    <a:pt x="46487" y="5"/>
                  </a:moveTo>
                  <a:cubicBezTo>
                    <a:pt x="51784" y="-73"/>
                    <a:pt x="56866" y="2080"/>
                    <a:pt x="60493" y="5935"/>
                  </a:cubicBezTo>
                  <a:cubicBezTo>
                    <a:pt x="64270" y="9717"/>
                    <a:pt x="66346" y="14872"/>
                    <a:pt x="66241" y="20215"/>
                  </a:cubicBezTo>
                  <a:cubicBezTo>
                    <a:pt x="66332" y="25593"/>
                    <a:pt x="64261" y="30790"/>
                    <a:pt x="60493" y="34631"/>
                  </a:cubicBezTo>
                  <a:cubicBezTo>
                    <a:pt x="56889" y="38531"/>
                    <a:pt x="51798" y="40721"/>
                    <a:pt x="46487" y="40653"/>
                  </a:cubicBezTo>
                  <a:cubicBezTo>
                    <a:pt x="41150" y="40712"/>
                    <a:pt x="36036" y="38527"/>
                    <a:pt x="32391" y="34631"/>
                  </a:cubicBezTo>
                  <a:cubicBezTo>
                    <a:pt x="28581" y="30808"/>
                    <a:pt x="26474" y="25612"/>
                    <a:pt x="26551" y="20215"/>
                  </a:cubicBezTo>
                  <a:cubicBezTo>
                    <a:pt x="26446" y="14872"/>
                    <a:pt x="28522" y="9717"/>
                    <a:pt x="32299" y="5935"/>
                  </a:cubicBezTo>
                  <a:cubicBezTo>
                    <a:pt x="35976" y="2039"/>
                    <a:pt x="41132" y="-114"/>
                    <a:pt x="46487" y="5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E5C8E78-CE94-DB29-587C-3136C70F4E76}"/>
                </a:ext>
              </a:extLst>
            </p:cNvPr>
            <p:cNvSpPr/>
            <p:nvPr/>
          </p:nvSpPr>
          <p:spPr>
            <a:xfrm>
              <a:off x="5921606" y="2161196"/>
              <a:ext cx="108257" cy="246989"/>
            </a:xfrm>
            <a:custGeom>
              <a:avLst/>
              <a:gdLst>
                <a:gd name="connsiteX0" fmla="*/ 61223 w 108257"/>
                <a:gd name="connsiteY0" fmla="*/ 0 h 246989"/>
                <a:gd name="connsiteX1" fmla="*/ 61223 w 108257"/>
                <a:gd name="connsiteY1" fmla="*/ 60310 h 246989"/>
                <a:gd name="connsiteX2" fmla="*/ 103102 w 108257"/>
                <a:gd name="connsiteY2" fmla="*/ 60310 h 246989"/>
                <a:gd name="connsiteX3" fmla="*/ 103102 w 108257"/>
                <a:gd name="connsiteY3" fmla="*/ 74407 h 246989"/>
                <a:gd name="connsiteX4" fmla="*/ 61223 w 108257"/>
                <a:gd name="connsiteY4" fmla="*/ 74407 h 246989"/>
                <a:gd name="connsiteX5" fmla="*/ 61223 w 108257"/>
                <a:gd name="connsiteY5" fmla="*/ 193431 h 246989"/>
                <a:gd name="connsiteX6" fmla="*/ 66150 w 108257"/>
                <a:gd name="connsiteY6" fmla="*/ 217474 h 246989"/>
                <a:gd name="connsiteX7" fmla="*/ 78924 w 108257"/>
                <a:gd name="connsiteY7" fmla="*/ 223678 h 246989"/>
                <a:gd name="connsiteX8" fmla="*/ 91378 w 108257"/>
                <a:gd name="connsiteY8" fmla="*/ 219572 h 246989"/>
                <a:gd name="connsiteX9" fmla="*/ 100502 w 108257"/>
                <a:gd name="connsiteY9" fmla="*/ 207437 h 246989"/>
                <a:gd name="connsiteX10" fmla="*/ 108258 w 108257"/>
                <a:gd name="connsiteY10" fmla="*/ 207437 h 246989"/>
                <a:gd name="connsiteX11" fmla="*/ 88823 w 108257"/>
                <a:gd name="connsiteY11" fmla="*/ 237045 h 246989"/>
                <a:gd name="connsiteX12" fmla="*/ 62956 w 108257"/>
                <a:gd name="connsiteY12" fmla="*/ 246990 h 246989"/>
                <a:gd name="connsiteX13" fmla="*/ 45301 w 108257"/>
                <a:gd name="connsiteY13" fmla="*/ 241880 h 246989"/>
                <a:gd name="connsiteX14" fmla="*/ 32527 w 108257"/>
                <a:gd name="connsiteY14" fmla="*/ 227282 h 246989"/>
                <a:gd name="connsiteX15" fmla="*/ 28422 w 108257"/>
                <a:gd name="connsiteY15" fmla="*/ 197902 h 246989"/>
                <a:gd name="connsiteX16" fmla="*/ 28422 w 108257"/>
                <a:gd name="connsiteY16" fmla="*/ 74407 h 246989"/>
                <a:gd name="connsiteX17" fmla="*/ 0 w 108257"/>
                <a:gd name="connsiteY17" fmla="*/ 74407 h 246989"/>
                <a:gd name="connsiteX18" fmla="*/ 0 w 108257"/>
                <a:gd name="connsiteY18" fmla="*/ 68020 h 246989"/>
                <a:gd name="connsiteX19" fmla="*/ 22080 w 108257"/>
                <a:gd name="connsiteY19" fmla="*/ 53057 h 246989"/>
                <a:gd name="connsiteX20" fmla="*/ 42290 w 108257"/>
                <a:gd name="connsiteY20" fmla="*/ 28102 h 246989"/>
                <a:gd name="connsiteX21" fmla="*/ 54973 w 108257"/>
                <a:gd name="connsiteY21" fmla="*/ 228 h 24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8257" h="246989">
                  <a:moveTo>
                    <a:pt x="61223" y="0"/>
                  </a:moveTo>
                  <a:lnTo>
                    <a:pt x="61223" y="60310"/>
                  </a:lnTo>
                  <a:lnTo>
                    <a:pt x="103102" y="60310"/>
                  </a:lnTo>
                  <a:lnTo>
                    <a:pt x="103102" y="74407"/>
                  </a:lnTo>
                  <a:lnTo>
                    <a:pt x="61223" y="74407"/>
                  </a:lnTo>
                  <a:lnTo>
                    <a:pt x="61223" y="193431"/>
                  </a:lnTo>
                  <a:cubicBezTo>
                    <a:pt x="61223" y="205338"/>
                    <a:pt x="62865" y="213322"/>
                    <a:pt x="66150" y="217474"/>
                  </a:cubicBezTo>
                  <a:cubicBezTo>
                    <a:pt x="69165" y="221470"/>
                    <a:pt x="73919" y="223778"/>
                    <a:pt x="78924" y="223678"/>
                  </a:cubicBezTo>
                  <a:cubicBezTo>
                    <a:pt x="83394" y="223605"/>
                    <a:pt x="87738" y="222172"/>
                    <a:pt x="91378" y="219572"/>
                  </a:cubicBezTo>
                  <a:cubicBezTo>
                    <a:pt x="95548" y="216515"/>
                    <a:pt x="98723" y="212291"/>
                    <a:pt x="100502" y="207437"/>
                  </a:cubicBezTo>
                  <a:lnTo>
                    <a:pt x="108258" y="207437"/>
                  </a:lnTo>
                  <a:cubicBezTo>
                    <a:pt x="104731" y="218956"/>
                    <a:pt x="97988" y="229225"/>
                    <a:pt x="88823" y="237045"/>
                  </a:cubicBezTo>
                  <a:cubicBezTo>
                    <a:pt x="81615" y="243258"/>
                    <a:pt x="72473" y="246771"/>
                    <a:pt x="62956" y="246990"/>
                  </a:cubicBezTo>
                  <a:cubicBezTo>
                    <a:pt x="56715" y="246935"/>
                    <a:pt x="50607" y="245170"/>
                    <a:pt x="45301" y="241880"/>
                  </a:cubicBezTo>
                  <a:cubicBezTo>
                    <a:pt x="39571" y="238532"/>
                    <a:pt x="35087" y="233409"/>
                    <a:pt x="32527" y="227282"/>
                  </a:cubicBezTo>
                  <a:cubicBezTo>
                    <a:pt x="29311" y="217839"/>
                    <a:pt x="27920" y="207866"/>
                    <a:pt x="28422" y="197902"/>
                  </a:cubicBezTo>
                  <a:lnTo>
                    <a:pt x="28422" y="74407"/>
                  </a:lnTo>
                  <a:lnTo>
                    <a:pt x="0" y="74407"/>
                  </a:lnTo>
                  <a:lnTo>
                    <a:pt x="0" y="68020"/>
                  </a:lnTo>
                  <a:cubicBezTo>
                    <a:pt x="8198" y="64398"/>
                    <a:pt x="15675" y="59330"/>
                    <a:pt x="22080" y="53057"/>
                  </a:cubicBezTo>
                  <a:cubicBezTo>
                    <a:pt x="29895" y="45671"/>
                    <a:pt x="36693" y="37281"/>
                    <a:pt x="42290" y="28102"/>
                  </a:cubicBezTo>
                  <a:cubicBezTo>
                    <a:pt x="47121" y="19097"/>
                    <a:pt x="51360" y="9786"/>
                    <a:pt x="54973" y="228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82FE560-55AF-791C-CF8A-410455028AF7}"/>
                </a:ext>
              </a:extLst>
            </p:cNvPr>
            <p:cNvSpPr/>
            <p:nvPr/>
          </p:nvSpPr>
          <p:spPr>
            <a:xfrm>
              <a:off x="6031186" y="2221506"/>
              <a:ext cx="195940" cy="272599"/>
            </a:xfrm>
            <a:custGeom>
              <a:avLst/>
              <a:gdLst>
                <a:gd name="connsiteX0" fmla="*/ 228 w 195940"/>
                <a:gd name="connsiteY0" fmla="*/ 0 h 272599"/>
                <a:gd name="connsiteX1" fmla="*/ 83988 w 195940"/>
                <a:gd name="connsiteY1" fmla="*/ 0 h 272599"/>
                <a:gd name="connsiteX2" fmla="*/ 83988 w 195940"/>
                <a:gd name="connsiteY2" fmla="*/ 7254 h 272599"/>
                <a:gd name="connsiteX3" fmla="*/ 79882 w 195940"/>
                <a:gd name="connsiteY3" fmla="*/ 7254 h 272599"/>
                <a:gd name="connsiteX4" fmla="*/ 66652 w 195940"/>
                <a:gd name="connsiteY4" fmla="*/ 11223 h 272599"/>
                <a:gd name="connsiteX5" fmla="*/ 62090 w 195940"/>
                <a:gd name="connsiteY5" fmla="*/ 20986 h 272599"/>
                <a:gd name="connsiteX6" fmla="*/ 68568 w 195940"/>
                <a:gd name="connsiteY6" fmla="*/ 42746 h 272599"/>
                <a:gd name="connsiteX7" fmla="*/ 112364 w 195940"/>
                <a:gd name="connsiteY7" fmla="*/ 135813 h 272599"/>
                <a:gd name="connsiteX8" fmla="*/ 152327 w 195940"/>
                <a:gd name="connsiteY8" fmla="*/ 33896 h 272599"/>
                <a:gd name="connsiteX9" fmla="*/ 155658 w 195940"/>
                <a:gd name="connsiteY9" fmla="*/ 17564 h 272599"/>
                <a:gd name="connsiteX10" fmla="*/ 154289 w 195940"/>
                <a:gd name="connsiteY10" fmla="*/ 12135 h 272599"/>
                <a:gd name="connsiteX11" fmla="*/ 149408 w 195940"/>
                <a:gd name="connsiteY11" fmla="*/ 8577 h 272599"/>
                <a:gd name="connsiteX12" fmla="*/ 137637 w 195940"/>
                <a:gd name="connsiteY12" fmla="*/ 7254 h 272599"/>
                <a:gd name="connsiteX13" fmla="*/ 137637 w 195940"/>
                <a:gd name="connsiteY13" fmla="*/ 0 h 272599"/>
                <a:gd name="connsiteX14" fmla="*/ 195941 w 195940"/>
                <a:gd name="connsiteY14" fmla="*/ 0 h 272599"/>
                <a:gd name="connsiteX15" fmla="*/ 195941 w 195940"/>
                <a:gd name="connsiteY15" fmla="*/ 7254 h 272599"/>
                <a:gd name="connsiteX16" fmla="*/ 184763 w 195940"/>
                <a:gd name="connsiteY16" fmla="*/ 10493 h 272599"/>
                <a:gd name="connsiteX17" fmla="*/ 176141 w 195940"/>
                <a:gd name="connsiteY17" fmla="*/ 19617 h 272599"/>
                <a:gd name="connsiteX18" fmla="*/ 169481 w 195940"/>
                <a:gd name="connsiteY18" fmla="*/ 35128 h 272599"/>
                <a:gd name="connsiteX19" fmla="*/ 96488 w 195940"/>
                <a:gd name="connsiteY19" fmla="*/ 218660 h 272599"/>
                <a:gd name="connsiteX20" fmla="*/ 68796 w 195940"/>
                <a:gd name="connsiteY20" fmla="*/ 258897 h 272599"/>
                <a:gd name="connsiteX21" fmla="*/ 35812 w 195940"/>
                <a:gd name="connsiteY21" fmla="*/ 272583 h 272599"/>
                <a:gd name="connsiteX22" fmla="*/ 16788 w 195940"/>
                <a:gd name="connsiteY22" fmla="*/ 265786 h 272599"/>
                <a:gd name="connsiteX23" fmla="*/ 9352 w 195940"/>
                <a:gd name="connsiteY23" fmla="*/ 250138 h 272599"/>
                <a:gd name="connsiteX24" fmla="*/ 14736 w 195940"/>
                <a:gd name="connsiteY24" fmla="*/ 236452 h 272599"/>
                <a:gd name="connsiteX25" fmla="*/ 29517 w 195940"/>
                <a:gd name="connsiteY25" fmla="*/ 231342 h 272599"/>
                <a:gd name="connsiteX26" fmla="*/ 47172 w 195940"/>
                <a:gd name="connsiteY26" fmla="*/ 235904 h 272599"/>
                <a:gd name="connsiteX27" fmla="*/ 56935 w 195940"/>
                <a:gd name="connsiteY27" fmla="*/ 238961 h 272599"/>
                <a:gd name="connsiteX28" fmla="*/ 69754 w 195940"/>
                <a:gd name="connsiteY28" fmla="*/ 232711 h 272599"/>
                <a:gd name="connsiteX29" fmla="*/ 83759 w 195940"/>
                <a:gd name="connsiteY29" fmla="*/ 208623 h 272599"/>
                <a:gd name="connsiteX30" fmla="*/ 96396 w 195940"/>
                <a:gd name="connsiteY30" fmla="*/ 176689 h 272599"/>
                <a:gd name="connsiteX31" fmla="*/ 31934 w 195940"/>
                <a:gd name="connsiteY31" fmla="*/ 38367 h 272599"/>
                <a:gd name="connsiteX32" fmla="*/ 22537 w 195940"/>
                <a:gd name="connsiteY32" fmla="*/ 22765 h 272599"/>
                <a:gd name="connsiteX33" fmla="*/ 14462 w 195940"/>
                <a:gd name="connsiteY33" fmla="*/ 13276 h 272599"/>
                <a:gd name="connsiteX34" fmla="*/ 0 w 195940"/>
                <a:gd name="connsiteY34" fmla="*/ 7573 h 272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95940" h="272599">
                  <a:moveTo>
                    <a:pt x="228" y="0"/>
                  </a:moveTo>
                  <a:lnTo>
                    <a:pt x="83988" y="0"/>
                  </a:lnTo>
                  <a:lnTo>
                    <a:pt x="83988" y="7254"/>
                  </a:lnTo>
                  <a:lnTo>
                    <a:pt x="79882" y="7254"/>
                  </a:lnTo>
                  <a:cubicBezTo>
                    <a:pt x="75133" y="6893"/>
                    <a:pt x="70420" y="8308"/>
                    <a:pt x="66652" y="11223"/>
                  </a:cubicBezTo>
                  <a:cubicBezTo>
                    <a:pt x="63737" y="13622"/>
                    <a:pt x="62058" y="17208"/>
                    <a:pt x="62090" y="20986"/>
                  </a:cubicBezTo>
                  <a:cubicBezTo>
                    <a:pt x="62742" y="28604"/>
                    <a:pt x="64950" y="36008"/>
                    <a:pt x="68568" y="42746"/>
                  </a:cubicBezTo>
                  <a:lnTo>
                    <a:pt x="112364" y="135813"/>
                  </a:lnTo>
                  <a:lnTo>
                    <a:pt x="152327" y="33896"/>
                  </a:lnTo>
                  <a:cubicBezTo>
                    <a:pt x="154490" y="28723"/>
                    <a:pt x="155621" y="23171"/>
                    <a:pt x="155658" y="17564"/>
                  </a:cubicBezTo>
                  <a:cubicBezTo>
                    <a:pt x="155781" y="15657"/>
                    <a:pt x="155302" y="13755"/>
                    <a:pt x="154289" y="12135"/>
                  </a:cubicBezTo>
                  <a:cubicBezTo>
                    <a:pt x="153048" y="10493"/>
                    <a:pt x="151351" y="9252"/>
                    <a:pt x="149408" y="8577"/>
                  </a:cubicBezTo>
                  <a:cubicBezTo>
                    <a:pt x="145580" y="7495"/>
                    <a:pt x="141607" y="7053"/>
                    <a:pt x="137637" y="7254"/>
                  </a:cubicBezTo>
                  <a:lnTo>
                    <a:pt x="137637" y="0"/>
                  </a:lnTo>
                  <a:lnTo>
                    <a:pt x="195941" y="0"/>
                  </a:lnTo>
                  <a:lnTo>
                    <a:pt x="195941" y="7254"/>
                  </a:lnTo>
                  <a:cubicBezTo>
                    <a:pt x="192026" y="7527"/>
                    <a:pt x="188217" y="8631"/>
                    <a:pt x="184763" y="10493"/>
                  </a:cubicBezTo>
                  <a:cubicBezTo>
                    <a:pt x="181333" y="12956"/>
                    <a:pt x="178404" y="16049"/>
                    <a:pt x="176141" y="19617"/>
                  </a:cubicBezTo>
                  <a:cubicBezTo>
                    <a:pt x="173596" y="24640"/>
                    <a:pt x="171374" y="29822"/>
                    <a:pt x="169481" y="35128"/>
                  </a:cubicBezTo>
                  <a:lnTo>
                    <a:pt x="96488" y="218660"/>
                  </a:lnTo>
                  <a:cubicBezTo>
                    <a:pt x="90945" y="234266"/>
                    <a:pt x="81392" y="248144"/>
                    <a:pt x="68796" y="258897"/>
                  </a:cubicBezTo>
                  <a:cubicBezTo>
                    <a:pt x="57391" y="268021"/>
                    <a:pt x="46396" y="272583"/>
                    <a:pt x="35812" y="272583"/>
                  </a:cubicBezTo>
                  <a:cubicBezTo>
                    <a:pt x="28837" y="272825"/>
                    <a:pt x="22030" y="270393"/>
                    <a:pt x="16788" y="265786"/>
                  </a:cubicBezTo>
                  <a:cubicBezTo>
                    <a:pt x="12158" y="261894"/>
                    <a:pt x="9444" y="256187"/>
                    <a:pt x="9352" y="250138"/>
                  </a:cubicBezTo>
                  <a:cubicBezTo>
                    <a:pt x="9101" y="245015"/>
                    <a:pt x="11063" y="240028"/>
                    <a:pt x="14736" y="236452"/>
                  </a:cubicBezTo>
                  <a:cubicBezTo>
                    <a:pt x="18800" y="232870"/>
                    <a:pt x="24111" y="231032"/>
                    <a:pt x="29517" y="231342"/>
                  </a:cubicBezTo>
                  <a:cubicBezTo>
                    <a:pt x="35625" y="231794"/>
                    <a:pt x="41606" y="233340"/>
                    <a:pt x="47172" y="235904"/>
                  </a:cubicBezTo>
                  <a:cubicBezTo>
                    <a:pt x="50283" y="237337"/>
                    <a:pt x="53563" y="238363"/>
                    <a:pt x="56935" y="238961"/>
                  </a:cubicBezTo>
                  <a:cubicBezTo>
                    <a:pt x="61830" y="238514"/>
                    <a:pt x="66387" y="236287"/>
                    <a:pt x="69754" y="232711"/>
                  </a:cubicBezTo>
                  <a:cubicBezTo>
                    <a:pt x="76091" y="225776"/>
                    <a:pt x="80867" y="217560"/>
                    <a:pt x="83759" y="208623"/>
                  </a:cubicBezTo>
                  <a:lnTo>
                    <a:pt x="96396" y="176689"/>
                  </a:lnTo>
                  <a:lnTo>
                    <a:pt x="31934" y="38367"/>
                  </a:lnTo>
                  <a:cubicBezTo>
                    <a:pt x="29225" y="32924"/>
                    <a:pt x="26081" y="27705"/>
                    <a:pt x="22537" y="22765"/>
                  </a:cubicBezTo>
                  <a:cubicBezTo>
                    <a:pt x="20297" y="19243"/>
                    <a:pt x="17578" y="16049"/>
                    <a:pt x="14462" y="13276"/>
                  </a:cubicBezTo>
                  <a:cubicBezTo>
                    <a:pt x="10032" y="10502"/>
                    <a:pt x="5128" y="8568"/>
                    <a:pt x="0" y="7573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4FA22E4-5909-9CFC-550C-0DF99FF7FC49}"/>
                </a:ext>
              </a:extLst>
            </p:cNvPr>
            <p:cNvSpPr/>
            <p:nvPr/>
          </p:nvSpPr>
          <p:spPr>
            <a:xfrm>
              <a:off x="6344882" y="2127024"/>
              <a:ext cx="239043" cy="284304"/>
            </a:xfrm>
            <a:custGeom>
              <a:avLst/>
              <a:gdLst>
                <a:gd name="connsiteX0" fmla="*/ 226862 w 239043"/>
                <a:gd name="connsiteY0" fmla="*/ 185 h 284304"/>
                <a:gd name="connsiteX1" fmla="*/ 232930 w 239043"/>
                <a:gd name="connsiteY1" fmla="*/ 92567 h 284304"/>
                <a:gd name="connsiteX2" fmla="*/ 226862 w 239043"/>
                <a:gd name="connsiteY2" fmla="*/ 92567 h 284304"/>
                <a:gd name="connsiteX3" fmla="*/ 192237 w 239043"/>
                <a:gd name="connsiteY3" fmla="*/ 32758 h 284304"/>
                <a:gd name="connsiteX4" fmla="*/ 138313 w 239043"/>
                <a:gd name="connsiteY4" fmla="*/ 14510 h 284304"/>
                <a:gd name="connsiteX5" fmla="*/ 90594 w 239043"/>
                <a:gd name="connsiteY5" fmla="*/ 28196 h 284304"/>
                <a:gd name="connsiteX6" fmla="*/ 57063 w 239043"/>
                <a:gd name="connsiteY6" fmla="*/ 71992 h 284304"/>
                <a:gd name="connsiteX7" fmla="*/ 44836 w 239043"/>
                <a:gd name="connsiteY7" fmla="*/ 146718 h 284304"/>
                <a:gd name="connsiteX8" fmla="*/ 56378 w 239043"/>
                <a:gd name="connsiteY8" fmla="*/ 210587 h 284304"/>
                <a:gd name="connsiteX9" fmla="*/ 91096 w 239043"/>
                <a:gd name="connsiteY9" fmla="*/ 252056 h 284304"/>
                <a:gd name="connsiteX10" fmla="*/ 143970 w 239043"/>
                <a:gd name="connsiteY10" fmla="*/ 266518 h 284304"/>
                <a:gd name="connsiteX11" fmla="*/ 189590 w 239043"/>
                <a:gd name="connsiteY11" fmla="*/ 255204 h 284304"/>
                <a:gd name="connsiteX12" fmla="*/ 232976 w 239043"/>
                <a:gd name="connsiteY12" fmla="*/ 210268 h 284304"/>
                <a:gd name="connsiteX13" fmla="*/ 239043 w 239043"/>
                <a:gd name="connsiteY13" fmla="*/ 214328 h 284304"/>
                <a:gd name="connsiteX14" fmla="*/ 192465 w 239043"/>
                <a:gd name="connsiteY14" fmla="*/ 267430 h 284304"/>
                <a:gd name="connsiteX15" fmla="*/ 129235 w 239043"/>
                <a:gd name="connsiteY15" fmla="*/ 284264 h 284304"/>
                <a:gd name="connsiteX16" fmla="*/ 27044 w 239043"/>
                <a:gd name="connsiteY16" fmla="*/ 234082 h 284304"/>
                <a:gd name="connsiteX17" fmla="*/ 37 w 239043"/>
                <a:gd name="connsiteY17" fmla="*/ 146308 h 284304"/>
                <a:gd name="connsiteX18" fmla="*/ 17829 w 239043"/>
                <a:gd name="connsiteY18" fmla="*/ 71535 h 284304"/>
                <a:gd name="connsiteX19" fmla="*/ 135074 w 239043"/>
                <a:gd name="connsiteY19" fmla="*/ 2 h 284304"/>
                <a:gd name="connsiteX20" fmla="*/ 191872 w 239043"/>
                <a:gd name="connsiteY20" fmla="*/ 14418 h 284304"/>
                <a:gd name="connsiteX21" fmla="*/ 203596 w 239043"/>
                <a:gd name="connsiteY21" fmla="*/ 18981 h 284304"/>
                <a:gd name="connsiteX22" fmla="*/ 212720 w 239043"/>
                <a:gd name="connsiteY22" fmla="*/ 15194 h 284304"/>
                <a:gd name="connsiteX23" fmla="*/ 219928 w 239043"/>
                <a:gd name="connsiteY23" fmla="*/ 185 h 284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39043" h="284304">
                  <a:moveTo>
                    <a:pt x="226862" y="185"/>
                  </a:moveTo>
                  <a:lnTo>
                    <a:pt x="232930" y="92567"/>
                  </a:lnTo>
                  <a:lnTo>
                    <a:pt x="226862" y="92567"/>
                  </a:lnTo>
                  <a:cubicBezTo>
                    <a:pt x="218742" y="64861"/>
                    <a:pt x="207200" y="44925"/>
                    <a:pt x="192237" y="32758"/>
                  </a:cubicBezTo>
                  <a:cubicBezTo>
                    <a:pt x="176986" y="20491"/>
                    <a:pt x="157880" y="14026"/>
                    <a:pt x="138313" y="14510"/>
                  </a:cubicBezTo>
                  <a:cubicBezTo>
                    <a:pt x="121406" y="14286"/>
                    <a:pt x="104809" y="19044"/>
                    <a:pt x="90594" y="28196"/>
                  </a:cubicBezTo>
                  <a:cubicBezTo>
                    <a:pt x="76406" y="37320"/>
                    <a:pt x="65229" y="51964"/>
                    <a:pt x="57063" y="71992"/>
                  </a:cubicBezTo>
                  <a:cubicBezTo>
                    <a:pt x="48897" y="92019"/>
                    <a:pt x="44836" y="116928"/>
                    <a:pt x="44836" y="146718"/>
                  </a:cubicBezTo>
                  <a:cubicBezTo>
                    <a:pt x="44357" y="168566"/>
                    <a:pt x="48281" y="190286"/>
                    <a:pt x="56378" y="210587"/>
                  </a:cubicBezTo>
                  <a:cubicBezTo>
                    <a:pt x="63317" y="227708"/>
                    <a:pt x="75462" y="242216"/>
                    <a:pt x="91096" y="252056"/>
                  </a:cubicBezTo>
                  <a:cubicBezTo>
                    <a:pt x="106981" y="261824"/>
                    <a:pt x="125325" y="266842"/>
                    <a:pt x="143970" y="266518"/>
                  </a:cubicBezTo>
                  <a:cubicBezTo>
                    <a:pt x="159910" y="266846"/>
                    <a:pt x="175653" y="262941"/>
                    <a:pt x="189590" y="255204"/>
                  </a:cubicBezTo>
                  <a:cubicBezTo>
                    <a:pt x="202761" y="247631"/>
                    <a:pt x="217223" y="232654"/>
                    <a:pt x="232976" y="210268"/>
                  </a:cubicBezTo>
                  <a:lnTo>
                    <a:pt x="239043" y="214328"/>
                  </a:lnTo>
                  <a:cubicBezTo>
                    <a:pt x="225722" y="238507"/>
                    <a:pt x="210197" y="256208"/>
                    <a:pt x="192465" y="267430"/>
                  </a:cubicBezTo>
                  <a:cubicBezTo>
                    <a:pt x="173445" y="279000"/>
                    <a:pt x="151493" y="284848"/>
                    <a:pt x="129235" y="284264"/>
                  </a:cubicBezTo>
                  <a:cubicBezTo>
                    <a:pt x="85256" y="284264"/>
                    <a:pt x="51191" y="267535"/>
                    <a:pt x="27044" y="234082"/>
                  </a:cubicBezTo>
                  <a:cubicBezTo>
                    <a:pt x="8805" y="208507"/>
                    <a:pt x="-670" y="177713"/>
                    <a:pt x="37" y="146308"/>
                  </a:cubicBezTo>
                  <a:cubicBezTo>
                    <a:pt x="-237" y="120304"/>
                    <a:pt x="5872" y="94629"/>
                    <a:pt x="17829" y="71535"/>
                  </a:cubicBezTo>
                  <a:cubicBezTo>
                    <a:pt x="40201" y="27402"/>
                    <a:pt x="85594" y="-294"/>
                    <a:pt x="135074" y="2"/>
                  </a:cubicBezTo>
                  <a:cubicBezTo>
                    <a:pt x="154891" y="148"/>
                    <a:pt x="174381" y="5094"/>
                    <a:pt x="191872" y="14418"/>
                  </a:cubicBezTo>
                  <a:cubicBezTo>
                    <a:pt x="195421" y="16736"/>
                    <a:pt x="199413" y="18292"/>
                    <a:pt x="203596" y="18981"/>
                  </a:cubicBezTo>
                  <a:cubicBezTo>
                    <a:pt x="207022" y="18999"/>
                    <a:pt x="210311" y="17635"/>
                    <a:pt x="212720" y="15194"/>
                  </a:cubicBezTo>
                  <a:cubicBezTo>
                    <a:pt x="216429" y="10928"/>
                    <a:pt x="218915" y="5746"/>
                    <a:pt x="219928" y="185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F3FA0E1-3054-E30B-F974-F2373423682A}"/>
                </a:ext>
              </a:extLst>
            </p:cNvPr>
            <p:cNvSpPr/>
            <p:nvPr/>
          </p:nvSpPr>
          <p:spPr>
            <a:xfrm>
              <a:off x="6611248" y="2216137"/>
              <a:ext cx="173325" cy="194631"/>
            </a:xfrm>
            <a:custGeom>
              <a:avLst/>
              <a:gdLst>
                <a:gd name="connsiteX0" fmla="*/ 86911 w 173325"/>
                <a:gd name="connsiteY0" fmla="*/ 32 h 194631"/>
                <a:gd name="connsiteX1" fmla="*/ 152377 w 173325"/>
                <a:gd name="connsiteY1" fmla="*/ 31693 h 194631"/>
                <a:gd name="connsiteX2" fmla="*/ 173317 w 173325"/>
                <a:gd name="connsiteY2" fmla="*/ 93828 h 194631"/>
                <a:gd name="connsiteX3" fmla="*/ 161775 w 173325"/>
                <a:gd name="connsiteY3" fmla="*/ 143737 h 194631"/>
                <a:gd name="connsiteX4" fmla="*/ 129840 w 173325"/>
                <a:gd name="connsiteY4" fmla="*/ 181785 h 194631"/>
                <a:gd name="connsiteX5" fmla="*/ 84676 w 173325"/>
                <a:gd name="connsiteY5" fmla="*/ 194604 h 194631"/>
                <a:gd name="connsiteX6" fmla="*/ 20214 w 173325"/>
                <a:gd name="connsiteY6" fmla="*/ 161575 h 194631"/>
                <a:gd name="connsiteX7" fmla="*/ 4 w 173325"/>
                <a:gd name="connsiteY7" fmla="*/ 99029 h 194631"/>
                <a:gd name="connsiteX8" fmla="*/ 12276 w 173325"/>
                <a:gd name="connsiteY8" fmla="*/ 48846 h 194631"/>
                <a:gd name="connsiteX9" fmla="*/ 44484 w 173325"/>
                <a:gd name="connsiteY9" fmla="*/ 11939 h 194631"/>
                <a:gd name="connsiteX10" fmla="*/ 86820 w 173325"/>
                <a:gd name="connsiteY10" fmla="*/ 32 h 194631"/>
                <a:gd name="connsiteX11" fmla="*/ 80844 w 173325"/>
                <a:gd name="connsiteY11" fmla="*/ 13080 h 194631"/>
                <a:gd name="connsiteX12" fmla="*/ 59904 w 173325"/>
                <a:gd name="connsiteY12" fmla="*/ 19375 h 194631"/>
                <a:gd name="connsiteX13" fmla="*/ 42933 w 173325"/>
                <a:gd name="connsiteY13" fmla="*/ 41501 h 194631"/>
                <a:gd name="connsiteX14" fmla="*/ 36455 w 173325"/>
                <a:gd name="connsiteY14" fmla="*/ 82149 h 194631"/>
                <a:gd name="connsiteX15" fmla="*/ 52057 w 173325"/>
                <a:gd name="connsiteY15" fmla="*/ 151265 h 194631"/>
                <a:gd name="connsiteX16" fmla="*/ 93116 w 173325"/>
                <a:gd name="connsiteY16" fmla="*/ 180279 h 194631"/>
                <a:gd name="connsiteX17" fmla="*/ 124503 w 173325"/>
                <a:gd name="connsiteY17" fmla="*/ 164267 h 194631"/>
                <a:gd name="connsiteX18" fmla="*/ 136866 w 173325"/>
                <a:gd name="connsiteY18" fmla="*/ 109202 h 194631"/>
                <a:gd name="connsiteX19" fmla="*/ 116245 w 173325"/>
                <a:gd name="connsiteY19" fmla="*/ 32286 h 194631"/>
                <a:gd name="connsiteX20" fmla="*/ 80753 w 173325"/>
                <a:gd name="connsiteY20" fmla="*/ 13080 h 194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3325" h="194631">
                  <a:moveTo>
                    <a:pt x="86911" y="32"/>
                  </a:moveTo>
                  <a:cubicBezTo>
                    <a:pt x="112587" y="-702"/>
                    <a:pt x="137012" y="11109"/>
                    <a:pt x="152377" y="31693"/>
                  </a:cubicBezTo>
                  <a:cubicBezTo>
                    <a:pt x="166236" y="49412"/>
                    <a:pt x="173623" y="71337"/>
                    <a:pt x="173317" y="93828"/>
                  </a:cubicBezTo>
                  <a:cubicBezTo>
                    <a:pt x="173134" y="111105"/>
                    <a:pt x="169193" y="128135"/>
                    <a:pt x="161775" y="143737"/>
                  </a:cubicBezTo>
                  <a:cubicBezTo>
                    <a:pt x="155119" y="159294"/>
                    <a:pt x="144010" y="172533"/>
                    <a:pt x="129840" y="181785"/>
                  </a:cubicBezTo>
                  <a:cubicBezTo>
                    <a:pt x="116341" y="190334"/>
                    <a:pt x="100652" y="194787"/>
                    <a:pt x="84676" y="194604"/>
                  </a:cubicBezTo>
                  <a:cubicBezTo>
                    <a:pt x="58964" y="195302"/>
                    <a:pt x="34667" y="182852"/>
                    <a:pt x="20214" y="161575"/>
                  </a:cubicBezTo>
                  <a:cubicBezTo>
                    <a:pt x="6893" y="143459"/>
                    <a:pt x="-197" y="121515"/>
                    <a:pt x="4" y="99029"/>
                  </a:cubicBezTo>
                  <a:cubicBezTo>
                    <a:pt x="159" y="81579"/>
                    <a:pt x="4361" y="64398"/>
                    <a:pt x="12276" y="48846"/>
                  </a:cubicBezTo>
                  <a:cubicBezTo>
                    <a:pt x="19160" y="33655"/>
                    <a:pt x="30360" y="20817"/>
                    <a:pt x="44484" y="11939"/>
                  </a:cubicBezTo>
                  <a:cubicBezTo>
                    <a:pt x="57235" y="4156"/>
                    <a:pt x="71884" y="37"/>
                    <a:pt x="86820" y="32"/>
                  </a:cubicBezTo>
                  <a:moveTo>
                    <a:pt x="80844" y="13080"/>
                  </a:moveTo>
                  <a:cubicBezTo>
                    <a:pt x="73421" y="13226"/>
                    <a:pt x="66177" y="15402"/>
                    <a:pt x="59904" y="19375"/>
                  </a:cubicBezTo>
                  <a:cubicBezTo>
                    <a:pt x="52011" y="24731"/>
                    <a:pt x="46058" y="32491"/>
                    <a:pt x="42933" y="41501"/>
                  </a:cubicBezTo>
                  <a:cubicBezTo>
                    <a:pt x="38193" y="54512"/>
                    <a:pt x="35994" y="68313"/>
                    <a:pt x="36455" y="82149"/>
                  </a:cubicBezTo>
                  <a:cubicBezTo>
                    <a:pt x="35816" y="106128"/>
                    <a:pt x="41181" y="129887"/>
                    <a:pt x="52057" y="151265"/>
                  </a:cubicBezTo>
                  <a:cubicBezTo>
                    <a:pt x="62459" y="170608"/>
                    <a:pt x="76145" y="180279"/>
                    <a:pt x="93116" y="180279"/>
                  </a:cubicBezTo>
                  <a:cubicBezTo>
                    <a:pt x="105566" y="180393"/>
                    <a:pt x="117286" y="174413"/>
                    <a:pt x="124503" y="164267"/>
                  </a:cubicBezTo>
                  <a:cubicBezTo>
                    <a:pt x="132774" y="153591"/>
                    <a:pt x="136898" y="135238"/>
                    <a:pt x="136866" y="109202"/>
                  </a:cubicBezTo>
                  <a:cubicBezTo>
                    <a:pt x="136866" y="76629"/>
                    <a:pt x="129991" y="50990"/>
                    <a:pt x="116245" y="32286"/>
                  </a:cubicBezTo>
                  <a:cubicBezTo>
                    <a:pt x="108449" y="20270"/>
                    <a:pt x="95077" y="13034"/>
                    <a:pt x="80753" y="13080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AA0948F-C7F0-344B-8FBA-3F08EAAC389D}"/>
                </a:ext>
              </a:extLst>
            </p:cNvPr>
            <p:cNvSpPr/>
            <p:nvPr/>
          </p:nvSpPr>
          <p:spPr>
            <a:xfrm>
              <a:off x="6810341" y="2120137"/>
              <a:ext cx="91651" cy="285083"/>
            </a:xfrm>
            <a:custGeom>
              <a:avLst/>
              <a:gdLst>
                <a:gd name="connsiteX0" fmla="*/ 62637 w 91651"/>
                <a:gd name="connsiteY0" fmla="*/ 0 h 285083"/>
                <a:gd name="connsiteX1" fmla="*/ 62637 w 91651"/>
                <a:gd name="connsiteY1" fmla="*/ 243568 h 285083"/>
                <a:gd name="connsiteX2" fmla="*/ 65055 w 91651"/>
                <a:gd name="connsiteY2" fmla="*/ 266379 h 285083"/>
                <a:gd name="connsiteX3" fmla="*/ 72628 w 91651"/>
                <a:gd name="connsiteY3" fmla="*/ 274910 h 285083"/>
                <a:gd name="connsiteX4" fmla="*/ 91652 w 91651"/>
                <a:gd name="connsiteY4" fmla="*/ 277784 h 285083"/>
                <a:gd name="connsiteX5" fmla="*/ 91652 w 91651"/>
                <a:gd name="connsiteY5" fmla="*/ 285083 h 285083"/>
                <a:gd name="connsiteX6" fmla="*/ 3285 w 91651"/>
                <a:gd name="connsiteY6" fmla="*/ 285083 h 285083"/>
                <a:gd name="connsiteX7" fmla="*/ 3285 w 91651"/>
                <a:gd name="connsiteY7" fmla="*/ 277875 h 285083"/>
                <a:gd name="connsiteX8" fmla="*/ 20301 w 91651"/>
                <a:gd name="connsiteY8" fmla="*/ 275275 h 285083"/>
                <a:gd name="connsiteX9" fmla="*/ 27463 w 91651"/>
                <a:gd name="connsiteY9" fmla="*/ 266698 h 285083"/>
                <a:gd name="connsiteX10" fmla="*/ 30018 w 91651"/>
                <a:gd name="connsiteY10" fmla="*/ 243888 h 285083"/>
                <a:gd name="connsiteX11" fmla="*/ 30018 w 91651"/>
                <a:gd name="connsiteY11" fmla="*/ 76780 h 285083"/>
                <a:gd name="connsiteX12" fmla="*/ 28650 w 91651"/>
                <a:gd name="connsiteY12" fmla="*/ 38823 h 285083"/>
                <a:gd name="connsiteX13" fmla="*/ 24088 w 91651"/>
                <a:gd name="connsiteY13" fmla="*/ 29106 h 285083"/>
                <a:gd name="connsiteX14" fmla="*/ 16332 w 91651"/>
                <a:gd name="connsiteY14" fmla="*/ 26506 h 285083"/>
                <a:gd name="connsiteX15" fmla="*/ 3330 w 91651"/>
                <a:gd name="connsiteY15" fmla="*/ 29745 h 285083"/>
                <a:gd name="connsiteX16" fmla="*/ 0 w 91651"/>
                <a:gd name="connsiteY16" fmla="*/ 22445 h 285083"/>
                <a:gd name="connsiteX17" fmla="*/ 53650 w 91651"/>
                <a:gd name="connsiteY17" fmla="*/ 0 h 28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1651" h="285083">
                  <a:moveTo>
                    <a:pt x="62637" y="0"/>
                  </a:moveTo>
                  <a:lnTo>
                    <a:pt x="62637" y="243568"/>
                  </a:lnTo>
                  <a:cubicBezTo>
                    <a:pt x="62163" y="251255"/>
                    <a:pt x="62984" y="258965"/>
                    <a:pt x="65055" y="266379"/>
                  </a:cubicBezTo>
                  <a:cubicBezTo>
                    <a:pt x="66570" y="269978"/>
                    <a:pt x="69234" y="272976"/>
                    <a:pt x="72628" y="274910"/>
                  </a:cubicBezTo>
                  <a:cubicBezTo>
                    <a:pt x="78673" y="277287"/>
                    <a:pt x="85174" y="278272"/>
                    <a:pt x="91652" y="277784"/>
                  </a:cubicBezTo>
                  <a:lnTo>
                    <a:pt x="91652" y="285083"/>
                  </a:lnTo>
                  <a:lnTo>
                    <a:pt x="3285" y="285083"/>
                  </a:lnTo>
                  <a:lnTo>
                    <a:pt x="3285" y="277875"/>
                  </a:lnTo>
                  <a:cubicBezTo>
                    <a:pt x="9083" y="278322"/>
                    <a:pt x="14904" y="277433"/>
                    <a:pt x="20301" y="275275"/>
                  </a:cubicBezTo>
                  <a:cubicBezTo>
                    <a:pt x="23567" y="273281"/>
                    <a:pt x="26086" y="270266"/>
                    <a:pt x="27463" y="266698"/>
                  </a:cubicBezTo>
                  <a:cubicBezTo>
                    <a:pt x="29589" y="259294"/>
                    <a:pt x="30452" y="251580"/>
                    <a:pt x="30018" y="243888"/>
                  </a:cubicBezTo>
                  <a:lnTo>
                    <a:pt x="30018" y="76780"/>
                  </a:lnTo>
                  <a:cubicBezTo>
                    <a:pt x="30383" y="64111"/>
                    <a:pt x="29927" y="51433"/>
                    <a:pt x="28650" y="38823"/>
                  </a:cubicBezTo>
                  <a:cubicBezTo>
                    <a:pt x="28234" y="35173"/>
                    <a:pt x="26629" y="31757"/>
                    <a:pt x="24088" y="29106"/>
                  </a:cubicBezTo>
                  <a:cubicBezTo>
                    <a:pt x="21907" y="27322"/>
                    <a:pt x="19147" y="26396"/>
                    <a:pt x="16332" y="26506"/>
                  </a:cubicBezTo>
                  <a:cubicBezTo>
                    <a:pt x="11834" y="26766"/>
                    <a:pt x="7427" y="27865"/>
                    <a:pt x="3330" y="29745"/>
                  </a:cubicBezTo>
                  <a:lnTo>
                    <a:pt x="0" y="22445"/>
                  </a:lnTo>
                  <a:lnTo>
                    <a:pt x="53650" y="0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ADAAF86-E777-6606-9547-36B0E3A5AB12}"/>
                </a:ext>
              </a:extLst>
            </p:cNvPr>
            <p:cNvSpPr/>
            <p:nvPr/>
          </p:nvSpPr>
          <p:spPr>
            <a:xfrm>
              <a:off x="6921792" y="2120137"/>
              <a:ext cx="91651" cy="285083"/>
            </a:xfrm>
            <a:custGeom>
              <a:avLst/>
              <a:gdLst>
                <a:gd name="connsiteX0" fmla="*/ 62637 w 91651"/>
                <a:gd name="connsiteY0" fmla="*/ 0 h 285083"/>
                <a:gd name="connsiteX1" fmla="*/ 62637 w 91651"/>
                <a:gd name="connsiteY1" fmla="*/ 243568 h 285083"/>
                <a:gd name="connsiteX2" fmla="*/ 65100 w 91651"/>
                <a:gd name="connsiteY2" fmla="*/ 266379 h 285083"/>
                <a:gd name="connsiteX3" fmla="*/ 72628 w 91651"/>
                <a:gd name="connsiteY3" fmla="*/ 274910 h 285083"/>
                <a:gd name="connsiteX4" fmla="*/ 91652 w 91651"/>
                <a:gd name="connsiteY4" fmla="*/ 277784 h 285083"/>
                <a:gd name="connsiteX5" fmla="*/ 91652 w 91651"/>
                <a:gd name="connsiteY5" fmla="*/ 285083 h 285083"/>
                <a:gd name="connsiteX6" fmla="*/ 3285 w 91651"/>
                <a:gd name="connsiteY6" fmla="*/ 285083 h 285083"/>
                <a:gd name="connsiteX7" fmla="*/ 3285 w 91651"/>
                <a:gd name="connsiteY7" fmla="*/ 277875 h 285083"/>
                <a:gd name="connsiteX8" fmla="*/ 20301 w 91651"/>
                <a:gd name="connsiteY8" fmla="*/ 275275 h 285083"/>
                <a:gd name="connsiteX9" fmla="*/ 27463 w 91651"/>
                <a:gd name="connsiteY9" fmla="*/ 266698 h 285083"/>
                <a:gd name="connsiteX10" fmla="*/ 30018 w 91651"/>
                <a:gd name="connsiteY10" fmla="*/ 243888 h 285083"/>
                <a:gd name="connsiteX11" fmla="*/ 30018 w 91651"/>
                <a:gd name="connsiteY11" fmla="*/ 76780 h 285083"/>
                <a:gd name="connsiteX12" fmla="*/ 28650 w 91651"/>
                <a:gd name="connsiteY12" fmla="*/ 38823 h 285083"/>
                <a:gd name="connsiteX13" fmla="*/ 24088 w 91651"/>
                <a:gd name="connsiteY13" fmla="*/ 29106 h 285083"/>
                <a:gd name="connsiteX14" fmla="*/ 16332 w 91651"/>
                <a:gd name="connsiteY14" fmla="*/ 26506 h 285083"/>
                <a:gd name="connsiteX15" fmla="*/ 3376 w 91651"/>
                <a:gd name="connsiteY15" fmla="*/ 29745 h 285083"/>
                <a:gd name="connsiteX16" fmla="*/ 0 w 91651"/>
                <a:gd name="connsiteY16" fmla="*/ 22445 h 285083"/>
                <a:gd name="connsiteX17" fmla="*/ 53650 w 91651"/>
                <a:gd name="connsiteY17" fmla="*/ 0 h 28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1651" h="285083">
                  <a:moveTo>
                    <a:pt x="62637" y="0"/>
                  </a:moveTo>
                  <a:lnTo>
                    <a:pt x="62637" y="243568"/>
                  </a:lnTo>
                  <a:cubicBezTo>
                    <a:pt x="62149" y="251255"/>
                    <a:pt x="62984" y="258970"/>
                    <a:pt x="65100" y="266379"/>
                  </a:cubicBezTo>
                  <a:cubicBezTo>
                    <a:pt x="66602" y="269974"/>
                    <a:pt x="69247" y="272976"/>
                    <a:pt x="72628" y="274910"/>
                  </a:cubicBezTo>
                  <a:cubicBezTo>
                    <a:pt x="78673" y="277287"/>
                    <a:pt x="85174" y="278272"/>
                    <a:pt x="91652" y="277784"/>
                  </a:cubicBezTo>
                  <a:lnTo>
                    <a:pt x="91652" y="285083"/>
                  </a:lnTo>
                  <a:lnTo>
                    <a:pt x="3285" y="285083"/>
                  </a:lnTo>
                  <a:lnTo>
                    <a:pt x="3285" y="277875"/>
                  </a:lnTo>
                  <a:cubicBezTo>
                    <a:pt x="9083" y="278322"/>
                    <a:pt x="14904" y="277433"/>
                    <a:pt x="20301" y="275275"/>
                  </a:cubicBezTo>
                  <a:cubicBezTo>
                    <a:pt x="23567" y="273281"/>
                    <a:pt x="26086" y="270266"/>
                    <a:pt x="27463" y="266698"/>
                  </a:cubicBezTo>
                  <a:cubicBezTo>
                    <a:pt x="29589" y="259294"/>
                    <a:pt x="30452" y="251580"/>
                    <a:pt x="30018" y="243888"/>
                  </a:cubicBezTo>
                  <a:lnTo>
                    <a:pt x="30018" y="76780"/>
                  </a:lnTo>
                  <a:cubicBezTo>
                    <a:pt x="30383" y="64111"/>
                    <a:pt x="29927" y="51433"/>
                    <a:pt x="28650" y="38823"/>
                  </a:cubicBezTo>
                  <a:cubicBezTo>
                    <a:pt x="28234" y="35173"/>
                    <a:pt x="26629" y="31757"/>
                    <a:pt x="24088" y="29106"/>
                  </a:cubicBezTo>
                  <a:cubicBezTo>
                    <a:pt x="21911" y="27313"/>
                    <a:pt x="19152" y="26387"/>
                    <a:pt x="16332" y="26506"/>
                  </a:cubicBezTo>
                  <a:cubicBezTo>
                    <a:pt x="11848" y="26761"/>
                    <a:pt x="7454" y="27860"/>
                    <a:pt x="3376" y="29745"/>
                  </a:cubicBezTo>
                  <a:lnTo>
                    <a:pt x="0" y="22445"/>
                  </a:lnTo>
                  <a:lnTo>
                    <a:pt x="53650" y="0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DEE901E-7A41-7C7F-DD7B-9D29A15C4950}"/>
                </a:ext>
              </a:extLst>
            </p:cNvPr>
            <p:cNvSpPr/>
            <p:nvPr/>
          </p:nvSpPr>
          <p:spPr>
            <a:xfrm>
              <a:off x="7036345" y="2216089"/>
              <a:ext cx="151916" cy="194661"/>
            </a:xfrm>
            <a:custGeom>
              <a:avLst/>
              <a:gdLst>
                <a:gd name="connsiteX0" fmla="*/ 27555 w 151916"/>
                <a:gd name="connsiteY0" fmla="*/ 74715 h 194661"/>
                <a:gd name="connsiteX1" fmla="*/ 46989 w 151916"/>
                <a:gd name="connsiteY1" fmla="*/ 138584 h 194661"/>
                <a:gd name="connsiteX2" fmla="*/ 93066 w 151916"/>
                <a:gd name="connsiteY2" fmla="*/ 161759 h 194661"/>
                <a:gd name="connsiteX3" fmla="*/ 123769 w 151916"/>
                <a:gd name="connsiteY3" fmla="*/ 151905 h 194661"/>
                <a:gd name="connsiteX4" fmla="*/ 145621 w 151916"/>
                <a:gd name="connsiteY4" fmla="*/ 117918 h 194661"/>
                <a:gd name="connsiteX5" fmla="*/ 151689 w 151916"/>
                <a:gd name="connsiteY5" fmla="*/ 121932 h 194661"/>
                <a:gd name="connsiteX6" fmla="*/ 127783 w 151916"/>
                <a:gd name="connsiteY6" fmla="*/ 172115 h 194661"/>
                <a:gd name="connsiteX7" fmla="*/ 78194 w 151916"/>
                <a:gd name="connsiteY7" fmla="*/ 194652 h 194661"/>
                <a:gd name="connsiteX8" fmla="*/ 22810 w 151916"/>
                <a:gd name="connsiteY8" fmla="*/ 168922 h 194661"/>
                <a:gd name="connsiteX9" fmla="*/ 0 w 151916"/>
                <a:gd name="connsiteY9" fmla="*/ 99715 h 194661"/>
                <a:gd name="connsiteX10" fmla="*/ 23631 w 151916"/>
                <a:gd name="connsiteY10" fmla="*/ 26357 h 194661"/>
                <a:gd name="connsiteX11" fmla="*/ 82938 w 151916"/>
                <a:gd name="connsiteY11" fmla="*/ 34 h 194661"/>
                <a:gd name="connsiteX12" fmla="*/ 132528 w 151916"/>
                <a:gd name="connsiteY12" fmla="*/ 20335 h 194661"/>
                <a:gd name="connsiteX13" fmla="*/ 151917 w 151916"/>
                <a:gd name="connsiteY13" fmla="*/ 74669 h 194661"/>
                <a:gd name="connsiteX14" fmla="*/ 27555 w 151916"/>
                <a:gd name="connsiteY14" fmla="*/ 63173 h 194661"/>
                <a:gd name="connsiteX15" fmla="*/ 111177 w 151916"/>
                <a:gd name="connsiteY15" fmla="*/ 63173 h 194661"/>
                <a:gd name="connsiteX16" fmla="*/ 107026 w 151916"/>
                <a:gd name="connsiteY16" fmla="*/ 38401 h 194661"/>
                <a:gd name="connsiteX17" fmla="*/ 92382 w 151916"/>
                <a:gd name="connsiteY17" fmla="*/ 20791 h 194661"/>
                <a:gd name="connsiteX18" fmla="*/ 72035 w 151916"/>
                <a:gd name="connsiteY18" fmla="*/ 14405 h 194661"/>
                <a:gd name="connsiteX19" fmla="*/ 42838 w 151916"/>
                <a:gd name="connsiteY19" fmla="*/ 27315 h 194661"/>
                <a:gd name="connsiteX20" fmla="*/ 27783 w 151916"/>
                <a:gd name="connsiteY20" fmla="*/ 63173 h 194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1916" h="194661">
                  <a:moveTo>
                    <a:pt x="27555" y="74715"/>
                  </a:moveTo>
                  <a:cubicBezTo>
                    <a:pt x="27555" y="101905"/>
                    <a:pt x="34033" y="123196"/>
                    <a:pt x="46989" y="138584"/>
                  </a:cubicBezTo>
                  <a:cubicBezTo>
                    <a:pt x="59946" y="153972"/>
                    <a:pt x="75306" y="161700"/>
                    <a:pt x="93066" y="161759"/>
                  </a:cubicBezTo>
                  <a:cubicBezTo>
                    <a:pt x="104111" y="161992"/>
                    <a:pt x="114918" y="158520"/>
                    <a:pt x="123769" y="151905"/>
                  </a:cubicBezTo>
                  <a:cubicBezTo>
                    <a:pt x="132436" y="145336"/>
                    <a:pt x="139722" y="134008"/>
                    <a:pt x="145621" y="117918"/>
                  </a:cubicBezTo>
                  <a:lnTo>
                    <a:pt x="151689" y="121932"/>
                  </a:lnTo>
                  <a:cubicBezTo>
                    <a:pt x="148837" y="140651"/>
                    <a:pt x="140521" y="158110"/>
                    <a:pt x="127783" y="172115"/>
                  </a:cubicBezTo>
                  <a:cubicBezTo>
                    <a:pt x="115489" y="186709"/>
                    <a:pt x="97272" y="194989"/>
                    <a:pt x="78194" y="194652"/>
                  </a:cubicBezTo>
                  <a:cubicBezTo>
                    <a:pt x="56825" y="194743"/>
                    <a:pt x="36524" y="185313"/>
                    <a:pt x="22810" y="168922"/>
                  </a:cubicBezTo>
                  <a:cubicBezTo>
                    <a:pt x="7605" y="151768"/>
                    <a:pt x="0" y="128698"/>
                    <a:pt x="0" y="99715"/>
                  </a:cubicBezTo>
                  <a:cubicBezTo>
                    <a:pt x="0" y="68360"/>
                    <a:pt x="7879" y="43908"/>
                    <a:pt x="23631" y="26357"/>
                  </a:cubicBezTo>
                  <a:cubicBezTo>
                    <a:pt x="38495" y="9186"/>
                    <a:pt x="60237" y="-463"/>
                    <a:pt x="82938" y="34"/>
                  </a:cubicBezTo>
                  <a:cubicBezTo>
                    <a:pt x="101606" y="-568"/>
                    <a:pt x="119640" y="6818"/>
                    <a:pt x="132528" y="20335"/>
                  </a:cubicBezTo>
                  <a:cubicBezTo>
                    <a:pt x="145452" y="33898"/>
                    <a:pt x="151917" y="52010"/>
                    <a:pt x="151917" y="74669"/>
                  </a:cubicBezTo>
                  <a:close/>
                  <a:moveTo>
                    <a:pt x="27555" y="63173"/>
                  </a:moveTo>
                  <a:lnTo>
                    <a:pt x="111177" y="63173"/>
                  </a:lnTo>
                  <a:cubicBezTo>
                    <a:pt x="111127" y="54747"/>
                    <a:pt x="109727" y="46385"/>
                    <a:pt x="107026" y="38401"/>
                  </a:cubicBezTo>
                  <a:cubicBezTo>
                    <a:pt x="104010" y="31202"/>
                    <a:pt x="98910" y="25071"/>
                    <a:pt x="92382" y="20791"/>
                  </a:cubicBezTo>
                  <a:cubicBezTo>
                    <a:pt x="86387" y="16686"/>
                    <a:pt x="79302" y="14459"/>
                    <a:pt x="72035" y="14405"/>
                  </a:cubicBezTo>
                  <a:cubicBezTo>
                    <a:pt x="60935" y="14491"/>
                    <a:pt x="50370" y="19167"/>
                    <a:pt x="42838" y="27315"/>
                  </a:cubicBezTo>
                  <a:cubicBezTo>
                    <a:pt x="33727" y="37105"/>
                    <a:pt x="28394" y="49815"/>
                    <a:pt x="27783" y="63173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1F4C010-6487-1B56-B492-F585DC2F0D68}"/>
                </a:ext>
              </a:extLst>
            </p:cNvPr>
            <p:cNvSpPr/>
            <p:nvPr/>
          </p:nvSpPr>
          <p:spPr>
            <a:xfrm>
              <a:off x="7211391" y="2216256"/>
              <a:ext cx="181796" cy="277621"/>
            </a:xfrm>
            <a:custGeom>
              <a:avLst/>
              <a:gdLst>
                <a:gd name="connsiteX0" fmla="*/ 48586 w 181796"/>
                <a:gd name="connsiteY0" fmla="*/ 121948 h 277621"/>
                <a:gd name="connsiteX1" fmla="*/ 23312 w 181796"/>
                <a:gd name="connsiteY1" fmla="*/ 99137 h 277621"/>
                <a:gd name="connsiteX2" fmla="*/ 14507 w 181796"/>
                <a:gd name="connsiteY2" fmla="*/ 66564 h 277621"/>
                <a:gd name="connsiteX3" fmla="*/ 34626 w 181796"/>
                <a:gd name="connsiteY3" fmla="*/ 19666 h 277621"/>
                <a:gd name="connsiteX4" fmla="*/ 86132 w 181796"/>
                <a:gd name="connsiteY4" fmla="*/ 50 h 277621"/>
                <a:gd name="connsiteX5" fmla="*/ 130657 w 181796"/>
                <a:gd name="connsiteY5" fmla="*/ 12869 h 277621"/>
                <a:gd name="connsiteX6" fmla="*/ 168796 w 181796"/>
                <a:gd name="connsiteY6" fmla="*/ 12869 h 277621"/>
                <a:gd name="connsiteX7" fmla="*/ 178605 w 181796"/>
                <a:gd name="connsiteY7" fmla="*/ 13371 h 277621"/>
                <a:gd name="connsiteX8" fmla="*/ 180566 w 181796"/>
                <a:gd name="connsiteY8" fmla="*/ 15059 h 277621"/>
                <a:gd name="connsiteX9" fmla="*/ 181753 w 181796"/>
                <a:gd name="connsiteY9" fmla="*/ 21445 h 277621"/>
                <a:gd name="connsiteX10" fmla="*/ 180749 w 181796"/>
                <a:gd name="connsiteY10" fmla="*/ 28654 h 277621"/>
                <a:gd name="connsiteX11" fmla="*/ 178696 w 181796"/>
                <a:gd name="connsiteY11" fmla="*/ 30250 h 277621"/>
                <a:gd name="connsiteX12" fmla="*/ 168705 w 181796"/>
                <a:gd name="connsiteY12" fmla="*/ 30843 h 277621"/>
                <a:gd name="connsiteX13" fmla="*/ 145302 w 181796"/>
                <a:gd name="connsiteY13" fmla="*/ 30843 h 277621"/>
                <a:gd name="connsiteX14" fmla="*/ 156251 w 181796"/>
                <a:gd name="connsiteY14" fmla="*/ 67796 h 277621"/>
                <a:gd name="connsiteX15" fmla="*/ 137044 w 181796"/>
                <a:gd name="connsiteY15" fmla="*/ 111774 h 277621"/>
                <a:gd name="connsiteX16" fmla="*/ 85539 w 181796"/>
                <a:gd name="connsiteY16" fmla="*/ 130022 h 277621"/>
                <a:gd name="connsiteX17" fmla="*/ 58166 w 181796"/>
                <a:gd name="connsiteY17" fmla="*/ 125917 h 277621"/>
                <a:gd name="connsiteX18" fmla="*/ 46533 w 181796"/>
                <a:gd name="connsiteY18" fmla="*/ 139238 h 277621"/>
                <a:gd name="connsiteX19" fmla="*/ 43522 w 181796"/>
                <a:gd name="connsiteY19" fmla="*/ 148955 h 277621"/>
                <a:gd name="connsiteX20" fmla="*/ 46715 w 181796"/>
                <a:gd name="connsiteY20" fmla="*/ 155570 h 277621"/>
                <a:gd name="connsiteX21" fmla="*/ 59352 w 181796"/>
                <a:gd name="connsiteY21" fmla="*/ 160132 h 277621"/>
                <a:gd name="connsiteX22" fmla="*/ 86725 w 181796"/>
                <a:gd name="connsiteY22" fmla="*/ 161546 h 277621"/>
                <a:gd name="connsiteX23" fmla="*/ 138960 w 181796"/>
                <a:gd name="connsiteY23" fmla="*/ 164421 h 277621"/>
                <a:gd name="connsiteX24" fmla="*/ 168021 w 181796"/>
                <a:gd name="connsiteY24" fmla="*/ 178107 h 277621"/>
                <a:gd name="connsiteX25" fmla="*/ 178879 w 181796"/>
                <a:gd name="connsiteY25" fmla="*/ 205799 h 277621"/>
                <a:gd name="connsiteX26" fmla="*/ 158167 w 181796"/>
                <a:gd name="connsiteY26" fmla="*/ 248317 h 277621"/>
                <a:gd name="connsiteX27" fmla="*/ 78559 w 181796"/>
                <a:gd name="connsiteY27" fmla="*/ 277560 h 277621"/>
                <a:gd name="connsiteX28" fmla="*/ 14690 w 181796"/>
                <a:gd name="connsiteY28" fmla="*/ 260087 h 277621"/>
                <a:gd name="connsiteX29" fmla="*/ 0 w 181796"/>
                <a:gd name="connsiteY29" fmla="*/ 239193 h 277621"/>
                <a:gd name="connsiteX30" fmla="*/ 2144 w 181796"/>
                <a:gd name="connsiteY30" fmla="*/ 229567 h 277621"/>
                <a:gd name="connsiteX31" fmla="*/ 15830 w 181796"/>
                <a:gd name="connsiteY31" fmla="*/ 208901 h 277621"/>
                <a:gd name="connsiteX32" fmla="*/ 35767 w 181796"/>
                <a:gd name="connsiteY32" fmla="*/ 187185 h 277621"/>
                <a:gd name="connsiteX33" fmla="*/ 21350 w 181796"/>
                <a:gd name="connsiteY33" fmla="*/ 176054 h 277621"/>
                <a:gd name="connsiteX34" fmla="*/ 17108 w 181796"/>
                <a:gd name="connsiteY34" fmla="*/ 164922 h 277621"/>
                <a:gd name="connsiteX35" fmla="*/ 22719 w 181796"/>
                <a:gd name="connsiteY35" fmla="*/ 148499 h 277621"/>
                <a:gd name="connsiteX36" fmla="*/ 48495 w 181796"/>
                <a:gd name="connsiteY36" fmla="*/ 121811 h 277621"/>
                <a:gd name="connsiteX37" fmla="*/ 46533 w 181796"/>
                <a:gd name="connsiteY37" fmla="*/ 188827 h 277621"/>
                <a:gd name="connsiteX38" fmla="*/ 32847 w 181796"/>
                <a:gd name="connsiteY38" fmla="*/ 207851 h 277621"/>
                <a:gd name="connsiteX39" fmla="*/ 28285 w 181796"/>
                <a:gd name="connsiteY39" fmla="*/ 224092 h 277621"/>
                <a:gd name="connsiteX40" fmla="*/ 39644 w 181796"/>
                <a:gd name="connsiteY40" fmla="*/ 240972 h 277621"/>
                <a:gd name="connsiteX41" fmla="*/ 96214 w 181796"/>
                <a:gd name="connsiteY41" fmla="*/ 253381 h 277621"/>
                <a:gd name="connsiteX42" fmla="*/ 148176 w 181796"/>
                <a:gd name="connsiteY42" fmla="*/ 240652 h 277621"/>
                <a:gd name="connsiteX43" fmla="*/ 164919 w 181796"/>
                <a:gd name="connsiteY43" fmla="*/ 213554 h 277621"/>
                <a:gd name="connsiteX44" fmla="*/ 154928 w 181796"/>
                <a:gd name="connsiteY44" fmla="*/ 198727 h 277621"/>
                <a:gd name="connsiteX45" fmla="*/ 114553 w 181796"/>
                <a:gd name="connsiteY45" fmla="*/ 193527 h 277621"/>
                <a:gd name="connsiteX46" fmla="*/ 46807 w 181796"/>
                <a:gd name="connsiteY46" fmla="*/ 188964 h 277621"/>
                <a:gd name="connsiteX47" fmla="*/ 82893 w 181796"/>
                <a:gd name="connsiteY47" fmla="*/ 9539 h 277621"/>
                <a:gd name="connsiteX48" fmla="*/ 58531 w 181796"/>
                <a:gd name="connsiteY48" fmla="*/ 21354 h 277621"/>
                <a:gd name="connsiteX49" fmla="*/ 48723 w 181796"/>
                <a:gd name="connsiteY49" fmla="*/ 57577 h 277621"/>
                <a:gd name="connsiteX50" fmla="*/ 62090 w 181796"/>
                <a:gd name="connsiteY50" fmla="*/ 106665 h 277621"/>
                <a:gd name="connsiteX51" fmla="*/ 87957 w 181796"/>
                <a:gd name="connsiteY51" fmla="*/ 119895 h 277621"/>
                <a:gd name="connsiteX52" fmla="*/ 112455 w 181796"/>
                <a:gd name="connsiteY52" fmla="*/ 108444 h 277621"/>
                <a:gd name="connsiteX53" fmla="*/ 122081 w 181796"/>
                <a:gd name="connsiteY53" fmla="*/ 72586 h 277621"/>
                <a:gd name="connsiteX54" fmla="*/ 108395 w 181796"/>
                <a:gd name="connsiteY54" fmla="*/ 22768 h 277621"/>
                <a:gd name="connsiteX55" fmla="*/ 82756 w 181796"/>
                <a:gd name="connsiteY55" fmla="*/ 9539 h 27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181796" h="277621">
                  <a:moveTo>
                    <a:pt x="48586" y="121948"/>
                  </a:moveTo>
                  <a:cubicBezTo>
                    <a:pt x="38134" y="116948"/>
                    <a:pt x="29357" y="109023"/>
                    <a:pt x="23312" y="99137"/>
                  </a:cubicBezTo>
                  <a:cubicBezTo>
                    <a:pt x="17432" y="89297"/>
                    <a:pt x="14389" y="78024"/>
                    <a:pt x="14507" y="66564"/>
                  </a:cubicBezTo>
                  <a:cubicBezTo>
                    <a:pt x="14334" y="48800"/>
                    <a:pt x="21633" y="31783"/>
                    <a:pt x="34626" y="19666"/>
                  </a:cubicBezTo>
                  <a:cubicBezTo>
                    <a:pt x="48422" y="6414"/>
                    <a:pt x="67012" y="-667"/>
                    <a:pt x="86132" y="50"/>
                  </a:cubicBezTo>
                  <a:cubicBezTo>
                    <a:pt x="101935" y="-316"/>
                    <a:pt x="117469" y="4160"/>
                    <a:pt x="130657" y="12869"/>
                  </a:cubicBezTo>
                  <a:lnTo>
                    <a:pt x="168796" y="12869"/>
                  </a:lnTo>
                  <a:cubicBezTo>
                    <a:pt x="172076" y="12714"/>
                    <a:pt x="175361" y="12883"/>
                    <a:pt x="178605" y="13371"/>
                  </a:cubicBezTo>
                  <a:cubicBezTo>
                    <a:pt x="179462" y="13640"/>
                    <a:pt x="180169" y="14251"/>
                    <a:pt x="180566" y="15059"/>
                  </a:cubicBezTo>
                  <a:cubicBezTo>
                    <a:pt x="181515" y="17048"/>
                    <a:pt x="181921" y="19251"/>
                    <a:pt x="181753" y="21445"/>
                  </a:cubicBezTo>
                  <a:cubicBezTo>
                    <a:pt x="181926" y="23891"/>
                    <a:pt x="181584" y="26345"/>
                    <a:pt x="180749" y="28654"/>
                  </a:cubicBezTo>
                  <a:cubicBezTo>
                    <a:pt x="180261" y="29397"/>
                    <a:pt x="179540" y="29958"/>
                    <a:pt x="178696" y="30250"/>
                  </a:cubicBezTo>
                  <a:cubicBezTo>
                    <a:pt x="175402" y="30834"/>
                    <a:pt x="172049" y="31035"/>
                    <a:pt x="168705" y="30843"/>
                  </a:cubicBezTo>
                  <a:lnTo>
                    <a:pt x="145302" y="30843"/>
                  </a:lnTo>
                  <a:cubicBezTo>
                    <a:pt x="152961" y="41601"/>
                    <a:pt x="156816" y="54603"/>
                    <a:pt x="156251" y="67796"/>
                  </a:cubicBezTo>
                  <a:cubicBezTo>
                    <a:pt x="156442" y="84530"/>
                    <a:pt x="149448" y="100543"/>
                    <a:pt x="137044" y="111774"/>
                  </a:cubicBezTo>
                  <a:cubicBezTo>
                    <a:pt x="124271" y="123941"/>
                    <a:pt x="107103" y="130022"/>
                    <a:pt x="85539" y="130022"/>
                  </a:cubicBezTo>
                  <a:cubicBezTo>
                    <a:pt x="76264" y="129986"/>
                    <a:pt x="67044" y="128604"/>
                    <a:pt x="58166" y="125917"/>
                  </a:cubicBezTo>
                  <a:cubicBezTo>
                    <a:pt x="53559" y="129662"/>
                    <a:pt x="49622" y="134165"/>
                    <a:pt x="46533" y="139238"/>
                  </a:cubicBezTo>
                  <a:cubicBezTo>
                    <a:pt x="44772" y="142190"/>
                    <a:pt x="43741" y="145524"/>
                    <a:pt x="43522" y="148955"/>
                  </a:cubicBezTo>
                  <a:cubicBezTo>
                    <a:pt x="43641" y="151505"/>
                    <a:pt x="44795" y="153891"/>
                    <a:pt x="46715" y="155570"/>
                  </a:cubicBezTo>
                  <a:cubicBezTo>
                    <a:pt x="50397" y="158284"/>
                    <a:pt x="54786" y="159872"/>
                    <a:pt x="59352" y="160132"/>
                  </a:cubicBezTo>
                  <a:cubicBezTo>
                    <a:pt x="63002" y="160680"/>
                    <a:pt x="72126" y="161149"/>
                    <a:pt x="86725" y="161546"/>
                  </a:cubicBezTo>
                  <a:cubicBezTo>
                    <a:pt x="113609" y="162245"/>
                    <a:pt x="131022" y="163202"/>
                    <a:pt x="138960" y="164421"/>
                  </a:cubicBezTo>
                  <a:cubicBezTo>
                    <a:pt x="149918" y="165547"/>
                    <a:pt x="160169" y="170374"/>
                    <a:pt x="168021" y="178107"/>
                  </a:cubicBezTo>
                  <a:cubicBezTo>
                    <a:pt x="175233" y="185488"/>
                    <a:pt x="179152" y="195479"/>
                    <a:pt x="178879" y="205799"/>
                  </a:cubicBezTo>
                  <a:cubicBezTo>
                    <a:pt x="178879" y="221004"/>
                    <a:pt x="171976" y="235178"/>
                    <a:pt x="158167" y="248317"/>
                  </a:cubicBezTo>
                  <a:cubicBezTo>
                    <a:pt x="137879" y="267810"/>
                    <a:pt x="111346" y="277560"/>
                    <a:pt x="78559" y="277560"/>
                  </a:cubicBezTo>
                  <a:cubicBezTo>
                    <a:pt x="55995" y="278312"/>
                    <a:pt x="33727" y="272222"/>
                    <a:pt x="14690" y="260087"/>
                  </a:cubicBezTo>
                  <a:cubicBezTo>
                    <a:pt x="4881" y="253381"/>
                    <a:pt x="0" y="246401"/>
                    <a:pt x="0" y="239193"/>
                  </a:cubicBezTo>
                  <a:cubicBezTo>
                    <a:pt x="14" y="235867"/>
                    <a:pt x="748" y="232582"/>
                    <a:pt x="2144" y="229567"/>
                  </a:cubicBezTo>
                  <a:cubicBezTo>
                    <a:pt x="5899" y="222176"/>
                    <a:pt x="10493" y="215242"/>
                    <a:pt x="15830" y="208901"/>
                  </a:cubicBezTo>
                  <a:cubicBezTo>
                    <a:pt x="16743" y="207669"/>
                    <a:pt x="23358" y="200461"/>
                    <a:pt x="35767" y="187185"/>
                  </a:cubicBezTo>
                  <a:cubicBezTo>
                    <a:pt x="30424" y="184224"/>
                    <a:pt x="25566" y="180474"/>
                    <a:pt x="21350" y="176054"/>
                  </a:cubicBezTo>
                  <a:cubicBezTo>
                    <a:pt x="18600" y="173002"/>
                    <a:pt x="17089" y="169033"/>
                    <a:pt x="17108" y="164922"/>
                  </a:cubicBezTo>
                  <a:cubicBezTo>
                    <a:pt x="17496" y="159046"/>
                    <a:pt x="19434" y="153380"/>
                    <a:pt x="22719" y="148499"/>
                  </a:cubicBezTo>
                  <a:cubicBezTo>
                    <a:pt x="26414" y="142203"/>
                    <a:pt x="35037" y="133307"/>
                    <a:pt x="48495" y="121811"/>
                  </a:cubicBezTo>
                  <a:moveTo>
                    <a:pt x="46533" y="188827"/>
                  </a:moveTo>
                  <a:cubicBezTo>
                    <a:pt x="41223" y="194594"/>
                    <a:pt x="36624" y="200981"/>
                    <a:pt x="32847" y="207851"/>
                  </a:cubicBezTo>
                  <a:cubicBezTo>
                    <a:pt x="30037" y="212815"/>
                    <a:pt x="28472" y="218390"/>
                    <a:pt x="28285" y="224092"/>
                  </a:cubicBezTo>
                  <a:cubicBezTo>
                    <a:pt x="28285" y="230538"/>
                    <a:pt x="32071" y="236168"/>
                    <a:pt x="39644" y="240972"/>
                  </a:cubicBezTo>
                  <a:cubicBezTo>
                    <a:pt x="52692" y="249243"/>
                    <a:pt x="71547" y="253381"/>
                    <a:pt x="96214" y="253381"/>
                  </a:cubicBezTo>
                  <a:cubicBezTo>
                    <a:pt x="119722" y="253381"/>
                    <a:pt x="137044" y="249138"/>
                    <a:pt x="148176" y="240652"/>
                  </a:cubicBezTo>
                  <a:cubicBezTo>
                    <a:pt x="159353" y="232213"/>
                    <a:pt x="164919" y="223134"/>
                    <a:pt x="164919" y="213554"/>
                  </a:cubicBezTo>
                  <a:cubicBezTo>
                    <a:pt x="165170" y="206962"/>
                    <a:pt x="161132" y="200967"/>
                    <a:pt x="154928" y="198727"/>
                  </a:cubicBezTo>
                  <a:cubicBezTo>
                    <a:pt x="148116" y="195684"/>
                    <a:pt x="134658" y="193951"/>
                    <a:pt x="114553" y="193527"/>
                  </a:cubicBezTo>
                  <a:cubicBezTo>
                    <a:pt x="91907" y="193230"/>
                    <a:pt x="69289" y="191706"/>
                    <a:pt x="46807" y="188964"/>
                  </a:cubicBezTo>
                  <a:moveTo>
                    <a:pt x="82893" y="9539"/>
                  </a:moveTo>
                  <a:cubicBezTo>
                    <a:pt x="73372" y="9447"/>
                    <a:pt x="64357" y="13822"/>
                    <a:pt x="58531" y="21354"/>
                  </a:cubicBezTo>
                  <a:cubicBezTo>
                    <a:pt x="52008" y="29247"/>
                    <a:pt x="48723" y="41290"/>
                    <a:pt x="48723" y="57577"/>
                  </a:cubicBezTo>
                  <a:cubicBezTo>
                    <a:pt x="48723" y="78713"/>
                    <a:pt x="53180" y="95077"/>
                    <a:pt x="62090" y="106665"/>
                  </a:cubicBezTo>
                  <a:cubicBezTo>
                    <a:pt x="68029" y="115041"/>
                    <a:pt x="77687" y="119981"/>
                    <a:pt x="87957" y="119895"/>
                  </a:cubicBezTo>
                  <a:cubicBezTo>
                    <a:pt x="97459" y="120096"/>
                    <a:pt x="106515" y="115862"/>
                    <a:pt x="112455" y="108444"/>
                  </a:cubicBezTo>
                  <a:cubicBezTo>
                    <a:pt x="118874" y="100871"/>
                    <a:pt x="122081" y="88918"/>
                    <a:pt x="122081" y="72586"/>
                  </a:cubicBezTo>
                  <a:cubicBezTo>
                    <a:pt x="122081" y="51295"/>
                    <a:pt x="117519" y="34689"/>
                    <a:pt x="108395" y="22768"/>
                  </a:cubicBezTo>
                  <a:cubicBezTo>
                    <a:pt x="102583" y="14370"/>
                    <a:pt x="92970" y="9406"/>
                    <a:pt x="82756" y="9539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A188572-6908-5846-7F7A-EA9130A2071E}"/>
                </a:ext>
              </a:extLst>
            </p:cNvPr>
            <p:cNvSpPr/>
            <p:nvPr/>
          </p:nvSpPr>
          <p:spPr>
            <a:xfrm>
              <a:off x="7414996" y="2216089"/>
              <a:ext cx="151916" cy="194662"/>
            </a:xfrm>
            <a:custGeom>
              <a:avLst/>
              <a:gdLst>
                <a:gd name="connsiteX0" fmla="*/ 27600 w 151916"/>
                <a:gd name="connsiteY0" fmla="*/ 74715 h 194662"/>
                <a:gd name="connsiteX1" fmla="*/ 46989 w 151916"/>
                <a:gd name="connsiteY1" fmla="*/ 138584 h 194662"/>
                <a:gd name="connsiteX2" fmla="*/ 93066 w 151916"/>
                <a:gd name="connsiteY2" fmla="*/ 161759 h 194662"/>
                <a:gd name="connsiteX3" fmla="*/ 123769 w 151916"/>
                <a:gd name="connsiteY3" fmla="*/ 151905 h 194662"/>
                <a:gd name="connsiteX4" fmla="*/ 145621 w 151916"/>
                <a:gd name="connsiteY4" fmla="*/ 117918 h 194662"/>
                <a:gd name="connsiteX5" fmla="*/ 151689 w 151916"/>
                <a:gd name="connsiteY5" fmla="*/ 121932 h 194662"/>
                <a:gd name="connsiteX6" fmla="*/ 127783 w 151916"/>
                <a:gd name="connsiteY6" fmla="*/ 172115 h 194662"/>
                <a:gd name="connsiteX7" fmla="*/ 78194 w 151916"/>
                <a:gd name="connsiteY7" fmla="*/ 194652 h 194662"/>
                <a:gd name="connsiteX8" fmla="*/ 22810 w 151916"/>
                <a:gd name="connsiteY8" fmla="*/ 168922 h 194662"/>
                <a:gd name="connsiteX9" fmla="*/ 0 w 151916"/>
                <a:gd name="connsiteY9" fmla="*/ 99715 h 194662"/>
                <a:gd name="connsiteX10" fmla="*/ 23631 w 151916"/>
                <a:gd name="connsiteY10" fmla="*/ 26357 h 194662"/>
                <a:gd name="connsiteX11" fmla="*/ 82938 w 151916"/>
                <a:gd name="connsiteY11" fmla="*/ 34 h 194662"/>
                <a:gd name="connsiteX12" fmla="*/ 132528 w 151916"/>
                <a:gd name="connsiteY12" fmla="*/ 20335 h 194662"/>
                <a:gd name="connsiteX13" fmla="*/ 151917 w 151916"/>
                <a:gd name="connsiteY13" fmla="*/ 74669 h 194662"/>
                <a:gd name="connsiteX14" fmla="*/ 27600 w 151916"/>
                <a:gd name="connsiteY14" fmla="*/ 63173 h 194662"/>
                <a:gd name="connsiteX15" fmla="*/ 111177 w 151916"/>
                <a:gd name="connsiteY15" fmla="*/ 63173 h 194662"/>
                <a:gd name="connsiteX16" fmla="*/ 107071 w 151916"/>
                <a:gd name="connsiteY16" fmla="*/ 38401 h 194662"/>
                <a:gd name="connsiteX17" fmla="*/ 92382 w 151916"/>
                <a:gd name="connsiteY17" fmla="*/ 20791 h 194662"/>
                <a:gd name="connsiteX18" fmla="*/ 72035 w 151916"/>
                <a:gd name="connsiteY18" fmla="*/ 14405 h 194662"/>
                <a:gd name="connsiteX19" fmla="*/ 42838 w 151916"/>
                <a:gd name="connsiteY19" fmla="*/ 27315 h 194662"/>
                <a:gd name="connsiteX20" fmla="*/ 27828 w 151916"/>
                <a:gd name="connsiteY20" fmla="*/ 63173 h 194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1916" h="194662">
                  <a:moveTo>
                    <a:pt x="27600" y="74715"/>
                  </a:moveTo>
                  <a:cubicBezTo>
                    <a:pt x="27600" y="101905"/>
                    <a:pt x="34065" y="123196"/>
                    <a:pt x="46989" y="138584"/>
                  </a:cubicBezTo>
                  <a:cubicBezTo>
                    <a:pt x="59914" y="153972"/>
                    <a:pt x="75274" y="161700"/>
                    <a:pt x="93066" y="161759"/>
                  </a:cubicBezTo>
                  <a:cubicBezTo>
                    <a:pt x="104111" y="161992"/>
                    <a:pt x="114918" y="158520"/>
                    <a:pt x="123769" y="151905"/>
                  </a:cubicBezTo>
                  <a:cubicBezTo>
                    <a:pt x="132436" y="145336"/>
                    <a:pt x="139722" y="134008"/>
                    <a:pt x="145621" y="117918"/>
                  </a:cubicBezTo>
                  <a:lnTo>
                    <a:pt x="151689" y="121932"/>
                  </a:lnTo>
                  <a:cubicBezTo>
                    <a:pt x="148837" y="140651"/>
                    <a:pt x="140521" y="158110"/>
                    <a:pt x="127783" y="172115"/>
                  </a:cubicBezTo>
                  <a:cubicBezTo>
                    <a:pt x="115493" y="186718"/>
                    <a:pt x="97277" y="194999"/>
                    <a:pt x="78194" y="194652"/>
                  </a:cubicBezTo>
                  <a:cubicBezTo>
                    <a:pt x="56825" y="194743"/>
                    <a:pt x="36524" y="185313"/>
                    <a:pt x="22810" y="168922"/>
                  </a:cubicBezTo>
                  <a:cubicBezTo>
                    <a:pt x="7605" y="151768"/>
                    <a:pt x="0" y="128698"/>
                    <a:pt x="0" y="99715"/>
                  </a:cubicBezTo>
                  <a:cubicBezTo>
                    <a:pt x="0" y="68360"/>
                    <a:pt x="7879" y="43908"/>
                    <a:pt x="23631" y="26357"/>
                  </a:cubicBezTo>
                  <a:cubicBezTo>
                    <a:pt x="38495" y="9195"/>
                    <a:pt x="60237" y="-459"/>
                    <a:pt x="82938" y="34"/>
                  </a:cubicBezTo>
                  <a:cubicBezTo>
                    <a:pt x="101606" y="-568"/>
                    <a:pt x="119640" y="6818"/>
                    <a:pt x="132528" y="20335"/>
                  </a:cubicBezTo>
                  <a:cubicBezTo>
                    <a:pt x="145452" y="33898"/>
                    <a:pt x="151917" y="52010"/>
                    <a:pt x="151917" y="74669"/>
                  </a:cubicBezTo>
                  <a:close/>
                  <a:moveTo>
                    <a:pt x="27600" y="63173"/>
                  </a:moveTo>
                  <a:lnTo>
                    <a:pt x="111177" y="63173"/>
                  </a:lnTo>
                  <a:cubicBezTo>
                    <a:pt x="111114" y="54751"/>
                    <a:pt x="109731" y="46394"/>
                    <a:pt x="107071" y="38401"/>
                  </a:cubicBezTo>
                  <a:cubicBezTo>
                    <a:pt x="104024" y="31207"/>
                    <a:pt x="98910" y="25080"/>
                    <a:pt x="92382" y="20791"/>
                  </a:cubicBezTo>
                  <a:cubicBezTo>
                    <a:pt x="86387" y="16686"/>
                    <a:pt x="79302" y="14459"/>
                    <a:pt x="72035" y="14405"/>
                  </a:cubicBezTo>
                  <a:cubicBezTo>
                    <a:pt x="60935" y="14491"/>
                    <a:pt x="50370" y="19167"/>
                    <a:pt x="42838" y="27315"/>
                  </a:cubicBezTo>
                  <a:cubicBezTo>
                    <a:pt x="33727" y="37101"/>
                    <a:pt x="28403" y="49815"/>
                    <a:pt x="27828" y="63173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78178-09A5-760C-4B2B-FE5DCFDCD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24B865D-5DA3-6C23-2A19-B874111D5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endParaRPr lang="en-US" sz="40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61649CD-26F3-FDAC-6641-475A24C14B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Stoichiometry: mass, solution, gas, acid-base titration</a:t>
            </a:r>
          </a:p>
          <a:p>
            <a:r>
              <a:rPr lang="en-US" sz="2800" dirty="0"/>
              <a:t>Limiting Reagent/Reactant</a:t>
            </a:r>
          </a:p>
          <a:p>
            <a:r>
              <a:rPr lang="en-US" sz="2800" dirty="0"/>
              <a:t>Theoretical and Percent Yield</a:t>
            </a:r>
          </a:p>
          <a:p>
            <a:r>
              <a:rPr lang="en-US" sz="2800" dirty="0"/>
              <a:t>Changes </a:t>
            </a:r>
            <a:r>
              <a:rPr lang="en-US" sz="2800"/>
              <a:t>in Enthalpy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69390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3B6C6-71F8-C827-D325-EF6901463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Stoichiometry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9C8125-3D70-BA62-139F-B8A026CC33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Stoichiometry: study of quantities in chemical reactions</a:t>
                </a:r>
              </a:p>
              <a:p>
                <a:pPr marL="0" indent="0" algn="ctr">
                  <a:buNone/>
                </a:pPr>
                <a:r>
                  <a:rPr lang="en-US" dirty="0">
                    <a:solidFill>
                      <a:srgbClr val="FFC000"/>
                    </a:solidFill>
                  </a:rPr>
                  <a:t>2 H</a:t>
                </a:r>
                <a:r>
                  <a:rPr lang="en-US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dirty="0">
                    <a:solidFill>
                      <a:srgbClr val="FFC000"/>
                    </a:solidFill>
                  </a:rPr>
                  <a:t> + O</a:t>
                </a:r>
                <a:r>
                  <a:rPr lang="en-US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dirty="0">
                    <a:solidFill>
                      <a:srgbClr val="FFC000"/>
                    </a:solidFill>
                  </a:rPr>
                  <a:t> 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 2 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O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“two moles hydrogen react with one mole oxygen to produce two moles of water”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Ratios we can deduce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mol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H</m:t>
                        </m:r>
                        <m:r>
                          <a:rPr lang="en-US" b="0" i="0" baseline="-2500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mol</m:t>
                        </m:r>
                        <m:r>
                          <a:rPr lang="en-US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O</m:t>
                        </m:r>
                        <m:r>
                          <a:rPr lang="en-US" b="0" i="0" baseline="-2500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,</a:t>
                </a:r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mol</m:t>
                        </m:r>
                        <m:r>
                          <a:rPr lang="en-US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O</m:t>
                        </m:r>
                        <m:r>
                          <a:rPr lang="en-US" baseline="-2500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mol</m:t>
                        </m:r>
                        <m:r>
                          <a:rPr lang="en-US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H</m:t>
                        </m:r>
                        <m:r>
                          <a:rPr lang="en-US" baseline="-2500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mol</m:t>
                        </m:r>
                        <m:r>
                          <a:rPr lang="en-US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H</m:t>
                        </m:r>
                        <m:r>
                          <a:rPr lang="en-US" baseline="-2500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O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mol</m:t>
                        </m:r>
                        <m:r>
                          <a:rPr lang="en-US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O</m:t>
                        </m:r>
                        <m:r>
                          <a:rPr lang="en-US" baseline="-2500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mol</m:t>
                        </m:r>
                        <m:r>
                          <a:rPr lang="en-US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O</m:t>
                        </m:r>
                        <m:r>
                          <a:rPr lang="en-US" baseline="-2500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mol</m:t>
                        </m:r>
                        <m:r>
                          <a:rPr lang="en-US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H</m:t>
                        </m:r>
                        <m:r>
                          <a:rPr lang="en-US" baseline="-2500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O</m:t>
                        </m:r>
                      </m:den>
                    </m:f>
                  </m:oMath>
                </a14:m>
                <a:r>
                  <a:rPr lang="en-US" dirty="0"/>
                  <a:t>,</a:t>
                </a:r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mol</m:t>
                        </m:r>
                        <m:r>
                          <a:rPr lang="en-US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H</m:t>
                        </m:r>
                        <m:r>
                          <a:rPr lang="en-US" baseline="-2500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mol</m:t>
                        </m:r>
                        <m:r>
                          <a:rPr lang="en-US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H</m:t>
                        </m:r>
                        <m:r>
                          <a:rPr lang="en-US" baseline="-2500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O</m:t>
                        </m:r>
                      </m:den>
                    </m:f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mol</m:t>
                        </m:r>
                        <m:r>
                          <a:rPr lang="en-US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H</m:t>
                        </m:r>
                        <m:r>
                          <a:rPr lang="en-US" b="0" i="0" baseline="-2500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O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mol</m:t>
                        </m:r>
                        <m:r>
                          <a:rPr lang="en-US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H</m:t>
                        </m:r>
                        <m:r>
                          <a:rPr lang="en-US" baseline="-2500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>
                    <a:sym typeface="Wingdings" panose="05000000000000000000" pitchFamily="2" charset="2"/>
                  </a:rPr>
                  <a:t>These will be part of calculations that have been already done in this course and to estimate yields</a:t>
                </a:r>
              </a:p>
              <a:p>
                <a:pPr marL="0" indent="0" algn="ctr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9C8125-3D70-BA62-139F-B8A026CC33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0" t="-9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0548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2F596-7F14-C14B-3D5D-F6C4A81C6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37577-4113-4AFB-E8AC-0E47C9F68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955" y="394566"/>
            <a:ext cx="8421512" cy="769441"/>
          </a:xfrm>
        </p:spPr>
        <p:txBody>
          <a:bodyPr/>
          <a:lstStyle/>
          <a:p>
            <a:r>
              <a:rPr lang="en-US" sz="4400" dirty="0"/>
              <a:t>Moles Reactant / Moles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F39657-B6C4-3261-2C99-B8A68B24E1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How many moles of oxygen (O</a:t>
                </a:r>
                <a:r>
                  <a:rPr lang="en-US" baseline="-25000" dirty="0"/>
                  <a:t>2</a:t>
                </a:r>
                <a:r>
                  <a:rPr lang="en-US" dirty="0"/>
                  <a:t>) will react with hydrogen (H</a:t>
                </a:r>
                <a:r>
                  <a:rPr lang="en-US" baseline="-25000" dirty="0"/>
                  <a:t>2</a:t>
                </a:r>
                <a:r>
                  <a:rPr lang="en-US" dirty="0"/>
                  <a:t>) to produce 27.6 mol H</a:t>
                </a:r>
                <a:r>
                  <a:rPr lang="en-US" baseline="-25000" dirty="0"/>
                  <a:t>2</a:t>
                </a:r>
                <a:r>
                  <a:rPr lang="en-US" dirty="0"/>
                  <a:t>O?</a:t>
                </a:r>
              </a:p>
              <a:p>
                <a:pPr>
                  <a:buClr>
                    <a:srgbClr val="FFFF00"/>
                  </a:buClr>
                </a:pPr>
                <a:r>
                  <a:rPr lang="en-US" sz="1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To solve:  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moles O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</a:p>
              <a:p>
                <a:pPr>
                  <a:buClr>
                    <a:srgbClr val="FFFF00"/>
                  </a:buClr>
                </a:pPr>
                <a:r>
                  <a:rPr lang="en-US" sz="1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Determine the BALANCED reaction: </a:t>
                </a:r>
              </a:p>
              <a:p>
                <a:pPr lvl="1">
                  <a:buClr>
                    <a:srgbClr val="FFFF00"/>
                  </a:buClr>
                </a:pPr>
                <a:r>
                  <a:rPr lang="en-US" sz="1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Skeletal reaction:  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H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+ O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  H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O</a:t>
                </a:r>
              </a:p>
              <a:p>
                <a:pPr lvl="1">
                  <a:buClr>
                    <a:srgbClr val="FFFF00"/>
                  </a:buClr>
                </a:pPr>
                <a:r>
                  <a:rPr lang="en-US" sz="1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Balanced reaction:  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 H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+ O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 2 H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O</a:t>
                </a:r>
                <a:endParaRPr lang="en-US" sz="1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Wingdings" panose="05000000000000000000" pitchFamily="2" charset="2"/>
                </a:endParaRPr>
              </a:p>
              <a:p>
                <a:pPr>
                  <a:buClr>
                    <a:srgbClr val="FFFF00"/>
                  </a:buClr>
                </a:pPr>
                <a:r>
                  <a:rPr lang="en-US" sz="1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Identify needed quantities:   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27.6 mol H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O product</a:t>
                </a:r>
              </a:p>
              <a:p>
                <a:pPr>
                  <a:buClr>
                    <a:srgbClr val="FFFF00"/>
                  </a:buClr>
                </a:pPr>
                <a:r>
                  <a:rPr lang="en-US" sz="1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Conversion factor:  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1 mol O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/ 2 mol H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O</a:t>
                </a:r>
              </a:p>
              <a:p>
                <a:pPr>
                  <a:buClr>
                    <a:srgbClr val="FFFF00"/>
                  </a:buClr>
                </a:pPr>
                <a:r>
                  <a:rPr lang="en-US" sz="1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Substitute values &amp; solve:</a:t>
                </a:r>
                <a:br>
                  <a:rPr lang="en-US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</a:br>
                <a14:m>
                  <m:oMath xmlns:m="http://schemas.openxmlformats.org/officeDocument/2006/math">
                    <m:r>
                      <a:rPr lang="en-US" sz="18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27.6 </m:t>
                    </m:r>
                    <m:r>
                      <m:rPr>
                        <m:sty m:val="p"/>
                      </m:rPr>
                      <a:rPr lang="en-US" sz="18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mol</m:t>
                    </m:r>
                    <m:r>
                      <a:rPr lang="en-US" sz="18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8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800" b="0" i="0" baseline="-250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18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sz="1800" i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18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m:rPr>
                            <m:sty m:val="p"/>
                          </m:rPr>
                          <a:rPr lang="en-US" sz="18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en-US" sz="18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a:rPr lang="en-US" sz="1800" b="0" i="0" baseline="-2500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18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2 </m:t>
                        </m:r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en-US" sz="18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800" b="0" i="0" baseline="-2500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den>
                    </m:f>
                    <m:r>
                      <a:rPr lang="en-US" sz="18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=13.8 </m:t>
                    </m:r>
                    <m:r>
                      <m:rPr>
                        <m:sty m:val="p"/>
                      </m:rPr>
                      <a:rPr lang="en-US" sz="18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mol</m:t>
                    </m:r>
                    <m:r>
                      <a:rPr lang="en-US" sz="18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8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sz="1800" b="0" i="0" baseline="-250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sz="1800" baseline="-25000" dirty="0">
                  <a:solidFill>
                    <a:srgbClr val="FFFF00"/>
                  </a:solidFill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dirty="0">
                  <a:sym typeface="Wingdings" panose="05000000000000000000" pitchFamily="2" charset="2"/>
                </a:endParaRPr>
              </a:p>
              <a:p>
                <a:pPr marL="0" indent="0" algn="ctr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F39657-B6C4-3261-2C99-B8A68B24E1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0" t="-9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4021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AF749-6EDA-B0A6-6476-D6A360F36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ABB04-F81B-74B4-ED0B-19848B371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99" y="307121"/>
            <a:ext cx="8421512" cy="769441"/>
          </a:xfrm>
        </p:spPr>
        <p:txBody>
          <a:bodyPr/>
          <a:lstStyle/>
          <a:p>
            <a:r>
              <a:rPr lang="en-US" sz="4400" dirty="0"/>
              <a:t>Stoichiometry 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F5D5B-4743-17BD-C598-D52B2D00F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To reinforce understanding of how certain conversions are done in quantitative chemistry, this visual “map” is found useful to some</a:t>
            </a:r>
          </a:p>
          <a:p>
            <a:pPr marL="0" indent="0" algn="ctr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0993BD-F041-8874-9B07-3FBA21681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517" y="2612588"/>
            <a:ext cx="7276966" cy="3850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043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02AB1-5FA5-2F4E-CB86-E8BE22192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0C0C5-60DC-2109-9799-E356F715D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66" y="310445"/>
            <a:ext cx="8421512" cy="769441"/>
          </a:xfrm>
        </p:spPr>
        <p:txBody>
          <a:bodyPr/>
          <a:lstStyle/>
          <a:p>
            <a:r>
              <a:rPr lang="en-US" sz="4400" dirty="0"/>
              <a:t>The Mass-to-Mass Pathway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A5965-E047-C1FC-DB4D-F29BFAD88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599" y="1150935"/>
            <a:ext cx="8387645" cy="5215465"/>
          </a:xfrm>
        </p:spPr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The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mass</a:t>
            </a:r>
            <a:r>
              <a:rPr lang="en-US" dirty="0">
                <a:sym typeface="Wingdings" panose="05000000000000000000" pitchFamily="2" charset="2"/>
              </a:rPr>
              <a:t> (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grams</a:t>
            </a:r>
            <a:r>
              <a:rPr lang="en-US" dirty="0">
                <a:sym typeface="Wingdings" panose="05000000000000000000" pitchFamily="2" charset="2"/>
              </a:rPr>
              <a:t>) of 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compound A</a:t>
            </a:r>
            <a:r>
              <a:rPr lang="en-US" dirty="0">
                <a:sym typeface="Wingdings" panose="05000000000000000000" pitchFamily="2" charset="2"/>
              </a:rPr>
              <a:t> to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mass</a:t>
            </a:r>
            <a:r>
              <a:rPr lang="en-US" dirty="0">
                <a:sym typeface="Wingdings" panose="05000000000000000000" pitchFamily="2" charset="2"/>
              </a:rPr>
              <a:t> (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grams</a:t>
            </a:r>
            <a:r>
              <a:rPr lang="en-US" dirty="0">
                <a:sym typeface="Wingdings" panose="05000000000000000000" pitchFamily="2" charset="2"/>
              </a:rPr>
              <a:t>) of 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compound B </a:t>
            </a:r>
            <a:r>
              <a:rPr lang="en-US" dirty="0">
                <a:sym typeface="Wingdings" panose="05000000000000000000" pitchFamily="2" charset="2"/>
              </a:rPr>
              <a:t>shows that it is first necessary to convert to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moles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sym typeface="Wingdings" panose="05000000000000000000" pitchFamily="2" charset="2"/>
              </a:rPr>
              <a:t>in order to relate atom-for-atom reaction in a chemical reaction equation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6ABDBBF-B7F5-2762-4437-DFA95717EC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040" y="2930789"/>
            <a:ext cx="6773919" cy="3330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468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F8279-7E27-95C4-A725-42E48F480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4AA8D-8B6C-2505-951C-2585C8CD2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66" y="310445"/>
            <a:ext cx="8421512" cy="769441"/>
          </a:xfrm>
        </p:spPr>
        <p:txBody>
          <a:bodyPr/>
          <a:lstStyle/>
          <a:p>
            <a:r>
              <a:rPr lang="en-US" sz="4400" dirty="0"/>
              <a:t>Example: Mass-to-Mass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0E85DD-B190-FBE5-3797-D169CDEAF2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5599" y="1150935"/>
                <a:ext cx="8387645" cy="5474152"/>
              </a:xfrm>
            </p:spPr>
            <p:txBody>
              <a:bodyPr/>
              <a:lstStyle/>
              <a:p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Ammonium nitrate </a:t>
                </a:r>
                <a:r>
                  <a:rPr lang="en-US" sz="2000" dirty="0">
                    <a:sym typeface="Wingdings" panose="05000000000000000000" pitchFamily="2" charset="2"/>
                  </a:rPr>
                  <a:t>decomposes to 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dinitrogen</a:t>
                </a:r>
                <a:r>
                  <a:rPr lang="en-US" sz="2000" dirty="0">
                    <a:sym typeface="Wingdings" panose="05000000000000000000" pitchFamily="2" charset="2"/>
                  </a:rPr>
                  <a:t> 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monoxide</a:t>
                </a:r>
                <a:r>
                  <a:rPr lang="en-US" sz="2000" dirty="0">
                    <a:sym typeface="Wingdings" panose="05000000000000000000" pitchFamily="2" charset="2"/>
                  </a:rPr>
                  <a:t> and 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water</a:t>
                </a:r>
                <a:r>
                  <a:rPr lang="en-US" sz="2000" dirty="0">
                    <a:sym typeface="Wingdings" panose="05000000000000000000" pitchFamily="2" charset="2"/>
                  </a:rPr>
                  <a:t>. </a:t>
                </a:r>
                <a:r>
                  <a:rPr lang="en-US" sz="2000" b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45.7 g</a:t>
                </a:r>
                <a:r>
                  <a:rPr lang="en-US" sz="2000" dirty="0">
                    <a:sym typeface="Wingdings" panose="05000000000000000000" pitchFamily="2" charset="2"/>
                  </a:rPr>
                  <a:t> 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NH</a:t>
                </a:r>
                <a:r>
                  <a:rPr lang="en-US" sz="2000" baseline="-25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4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NO</a:t>
                </a:r>
                <a:r>
                  <a:rPr lang="en-US" sz="2000" baseline="-25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sz="2000" dirty="0">
                    <a:sym typeface="Wingdings" panose="05000000000000000000" pitchFamily="2" charset="2"/>
                  </a:rPr>
                  <a:t> is decomposed: find mass of each product</a:t>
                </a:r>
              </a:p>
              <a:p>
                <a:pPr>
                  <a:buClr>
                    <a:srgbClr val="FFFF00"/>
                  </a:buClr>
                </a:pPr>
                <a:r>
                  <a:rPr lang="en-US" sz="1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To solve:  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mass, i.e. grams, of products N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O and H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O from given data</a:t>
                </a:r>
                <a:endParaRPr lang="en-US" sz="1800" baseline="-25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Wingdings" panose="05000000000000000000" pitchFamily="2" charset="2"/>
                </a:endParaRPr>
              </a:p>
              <a:p>
                <a:pPr>
                  <a:buClr>
                    <a:srgbClr val="FFFF00"/>
                  </a:buClr>
                </a:pPr>
                <a:r>
                  <a:rPr lang="en-US" sz="1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Determine the BALANCED reaction: </a:t>
                </a:r>
              </a:p>
              <a:p>
                <a:pPr lvl="1">
                  <a:buClr>
                    <a:srgbClr val="FFFF00"/>
                  </a:buClr>
                </a:pPr>
                <a:r>
                  <a:rPr lang="en-US" sz="1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Skeletal reaction:  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NH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4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NO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3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 N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O + H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O</a:t>
                </a:r>
              </a:p>
              <a:p>
                <a:pPr lvl="1">
                  <a:buClr>
                    <a:srgbClr val="FFFF00"/>
                  </a:buClr>
                </a:pPr>
                <a:r>
                  <a:rPr lang="en-US" sz="1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Balanced reaction:  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NH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4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NO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3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(</a:t>
                </a:r>
                <a:r>
                  <a:rPr lang="en-US" sz="1600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s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)  N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O (</a:t>
                </a:r>
                <a:r>
                  <a:rPr lang="en-US" sz="1600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g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) + 2 H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O (</a:t>
                </a:r>
                <a:r>
                  <a:rPr lang="en-US" sz="1600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l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)</a:t>
                </a:r>
              </a:p>
              <a:p>
                <a:pPr>
                  <a:buClr>
                    <a:srgbClr val="FFFF00"/>
                  </a:buClr>
                </a:pPr>
                <a:r>
                  <a:rPr lang="en-US" sz="1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Identify given data and needed quantities:</a:t>
                </a:r>
              </a:p>
              <a:p>
                <a:pPr lvl="1">
                  <a:buClr>
                    <a:srgbClr val="FFFF00"/>
                  </a:buClr>
                </a:pP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provided = 45.7 g NH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4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NO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3,  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molar mass NH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4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NO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3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= 80.06 g/mol, molar mass N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O = 44.02 g/mol, molar mass H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O = 18.02 g/mol</a:t>
                </a:r>
              </a:p>
              <a:p>
                <a:pPr>
                  <a:buClr>
                    <a:srgbClr val="FFFF00"/>
                  </a:buClr>
                </a:pPr>
                <a:r>
                  <a:rPr lang="en-US" sz="1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Conversion factor: 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 mol H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O / 1 mol NH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4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NO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3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,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1 mol N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O / 1 mol NH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4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NO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3</a:t>
                </a:r>
                <a:endParaRPr lang="en-US" sz="1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Wingdings" panose="05000000000000000000" pitchFamily="2" charset="2"/>
                </a:endParaRPr>
              </a:p>
              <a:p>
                <a:pPr>
                  <a:buClr>
                    <a:srgbClr val="FFFF00"/>
                  </a:buClr>
                </a:pPr>
                <a:r>
                  <a:rPr lang="en-US" sz="1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Substitute values &amp; solve:</a:t>
                </a:r>
                <a:br>
                  <a:rPr lang="en-US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</a:br>
                <a14:m>
                  <m:oMath xmlns:m="http://schemas.openxmlformats.org/officeDocument/2006/math">
                    <m: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45.7 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sz="1600" i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NH</m:t>
                    </m:r>
                    <m:r>
                      <a:rPr lang="en-US" sz="1600" b="0" i="0" baseline="-250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NO</m:t>
                    </m:r>
                    <m:r>
                      <a:rPr lang="en-US" sz="1600" b="0" i="0" baseline="-250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600" i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m:rPr>
                            <m:sty m:val="p"/>
                          </m:rP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NH</m:t>
                        </m:r>
                        <m:r>
                          <a:rPr lang="en-US" sz="1600" b="0" i="0" baseline="-2500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NO</m:t>
                        </m:r>
                        <m:r>
                          <a:rPr lang="en-US" sz="1600" b="0" i="0" baseline="-2500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80.06 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NH</m:t>
                        </m:r>
                        <m:r>
                          <a:rPr lang="en-US" sz="1600" b="0" i="0" baseline="-2500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NO</m:t>
                        </m:r>
                        <m:r>
                          <a:rPr lang="en-US" sz="1600" b="0" i="0" baseline="-2500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1600" i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m:rPr>
                            <m:sty m:val="p"/>
                          </m:rP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1600" b="0" i="0" baseline="-2500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num>
                      <m:den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NH</m:t>
                        </m:r>
                        <m:r>
                          <a:rPr lang="en-US" sz="1600" b="0" i="0" baseline="-2500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NO</m:t>
                        </m:r>
                        <m:r>
                          <a:rPr lang="en-US" sz="1600" b="0" i="0" baseline="-2500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1600" i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44.02</m:t>
                        </m:r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1600" b="0" i="0" baseline="-2500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num>
                      <m:den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m:rPr>
                            <m:sty m:val="p"/>
                          </m:rP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1600" b="0" i="0" baseline="-2500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den>
                    </m:f>
                    <m:r>
                      <a:rPr lang="en-US" sz="1600" i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25.1</m:t>
                    </m:r>
                    <m:r>
                      <a:rPr lang="en-US" sz="1600" i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sz="1600" i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1600" b="0" i="0" baseline="-250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O</m:t>
                    </m:r>
                  </m:oMath>
                </a14:m>
                <a:br>
                  <a:rPr lang="en-US" sz="1800" dirty="0">
                    <a:solidFill>
                      <a:srgbClr val="FFFF00"/>
                    </a:solidFill>
                  </a:rPr>
                </a:br>
                <a:br>
                  <a:rPr lang="en-US" sz="1800" dirty="0">
                    <a:solidFill>
                      <a:srgbClr val="FFFF00"/>
                    </a:solidFill>
                  </a:rPr>
                </a:b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45.7 </m:t>
                    </m:r>
                    <m:r>
                      <m:rPr>
                        <m:sty m:val="p"/>
                      </m:rP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NH</m:t>
                    </m:r>
                    <m:r>
                      <a:rPr lang="en-US" sz="1600" baseline="-250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NO</m:t>
                    </m:r>
                    <m:r>
                      <a:rPr lang="en-US" sz="1600" baseline="-250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NH</m:t>
                        </m:r>
                        <m:r>
                          <a:rPr lang="en-US" sz="1600" baseline="-250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NO</m:t>
                        </m:r>
                        <m:r>
                          <a:rPr lang="en-US" sz="1600" baseline="-250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80.06 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  <m: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NH</m:t>
                        </m:r>
                        <m:r>
                          <a:rPr lang="en-US" sz="1600" baseline="-250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NO</m:t>
                        </m:r>
                        <m:r>
                          <a:rPr lang="en-US" sz="1600" baseline="-250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600" baseline="-250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num>
                      <m:den>
                        <m: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NH</m:t>
                        </m:r>
                        <m:r>
                          <a:rPr lang="en-US" sz="1600" baseline="-250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NO</m:t>
                        </m:r>
                        <m:r>
                          <a:rPr lang="en-US" sz="1600" baseline="-250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.02 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  <m: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600" baseline="-250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num>
                      <m:den>
                        <m: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600" baseline="-250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den>
                    </m:f>
                    <m: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20.6</m:t>
                    </m:r>
                    <m: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600" baseline="-250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O</m:t>
                    </m:r>
                  </m:oMath>
                </a14:m>
                <a:endParaRPr lang="en-US" sz="1800" dirty="0">
                  <a:solidFill>
                    <a:srgbClr val="FFFF00"/>
                  </a:solidFill>
                </a:endParaRPr>
              </a:p>
              <a:p>
                <a:pPr marL="0" indent="0">
                  <a:buClr>
                    <a:srgbClr val="FFFF00"/>
                  </a:buClr>
                  <a:buNone/>
                </a:pPr>
                <a:r>
                  <a:rPr lang="en-US" sz="1800" dirty="0">
                    <a:solidFill>
                      <a:srgbClr val="FF99FF"/>
                    </a:solidFill>
                  </a:rPr>
                  <a:t>mass conservation note: 25.1 g + 20.6 g = 45.7 g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0E85DD-B190-FBE5-3797-D169CDEAF2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5599" y="1150935"/>
                <a:ext cx="8387645" cy="5474152"/>
              </a:xfrm>
              <a:blipFill>
                <a:blip r:embed="rId2"/>
                <a:stretch>
                  <a:fillRect l="-799" t="-780" b="-2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3430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F3E67-3C06-3B52-3464-A163ABAA1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AAB47-A7F3-2E10-47F9-7EDE646CE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66" y="310445"/>
            <a:ext cx="8421512" cy="769441"/>
          </a:xfrm>
        </p:spPr>
        <p:txBody>
          <a:bodyPr/>
          <a:lstStyle/>
          <a:p>
            <a:r>
              <a:rPr lang="en-US" sz="4400" dirty="0"/>
              <a:t>Practice: Mass-to-Mass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AFC79F-1D03-F8FE-7824-7F048C3209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8347" y="1168187"/>
                <a:ext cx="8387645" cy="5474152"/>
              </a:xfrm>
            </p:spPr>
            <p:txBody>
              <a:bodyPr/>
              <a:lstStyle/>
              <a:p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Methane</a:t>
                </a:r>
                <a:r>
                  <a:rPr lang="en-US" sz="2000" dirty="0">
                    <a:sym typeface="Wingdings" panose="05000000000000000000" pitchFamily="2" charset="2"/>
                  </a:rPr>
                  <a:t> reacts with 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elemental chlorine </a:t>
                </a:r>
                <a:r>
                  <a:rPr lang="en-US" sz="2000" dirty="0">
                    <a:sym typeface="Wingdings" panose="05000000000000000000" pitchFamily="2" charset="2"/>
                  </a:rPr>
                  <a:t>to make 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carbon tetrachloride</a:t>
                </a:r>
                <a:r>
                  <a:rPr lang="en-US" sz="2000" dirty="0">
                    <a:sym typeface="Wingdings" panose="05000000000000000000" pitchFamily="2" charset="2"/>
                  </a:rPr>
                  <a:t>. How many </a:t>
                </a:r>
                <a:r>
                  <a:rPr lang="en-US" sz="2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grams</a:t>
                </a:r>
                <a:r>
                  <a:rPr lang="en-US" sz="2000" dirty="0">
                    <a:sym typeface="Wingdings" panose="05000000000000000000" pitchFamily="2" charset="2"/>
                  </a:rPr>
                  <a:t> 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HCl</a:t>
                </a:r>
                <a:r>
                  <a:rPr lang="en-US" sz="2000" dirty="0">
                    <a:sym typeface="Wingdings" panose="05000000000000000000" pitchFamily="2" charset="2"/>
                  </a:rPr>
                  <a:t> are produced</a:t>
                </a:r>
                <a:br>
                  <a:rPr lang="en-US" sz="2000" dirty="0">
                    <a:sym typeface="Wingdings" panose="05000000000000000000" pitchFamily="2" charset="2"/>
                  </a:rPr>
                </a:br>
                <a:r>
                  <a:rPr lang="en-US" sz="2000" dirty="0">
                    <a:sym typeface="Wingdings" panose="05000000000000000000" pitchFamily="2" charset="2"/>
                  </a:rPr>
                  <a:t>with </a:t>
                </a:r>
                <a:r>
                  <a:rPr lang="en-US" sz="2000" b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100.0 g</a:t>
                </a:r>
                <a:r>
                  <a:rPr lang="en-US" sz="2000" dirty="0">
                    <a:sym typeface="Wingdings" panose="05000000000000000000" pitchFamily="2" charset="2"/>
                  </a:rPr>
                  <a:t> 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methane</a:t>
                </a:r>
                <a:r>
                  <a:rPr lang="en-US" sz="2000" dirty="0">
                    <a:sym typeface="Wingdings" panose="05000000000000000000" pitchFamily="2" charset="2"/>
                  </a:rPr>
                  <a:t>?</a:t>
                </a:r>
              </a:p>
              <a:p>
                <a:pPr>
                  <a:buClr>
                    <a:srgbClr val="FFFF00"/>
                  </a:buClr>
                </a:pPr>
                <a:r>
                  <a:rPr lang="en-US" sz="1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To solve:  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mass, i.e. grams, of product HCl</a:t>
                </a:r>
                <a:endParaRPr lang="en-US" sz="1800" baseline="-25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Wingdings" panose="05000000000000000000" pitchFamily="2" charset="2"/>
                </a:endParaRPr>
              </a:p>
              <a:p>
                <a:pPr>
                  <a:buClr>
                    <a:srgbClr val="FFFF00"/>
                  </a:buClr>
                </a:pPr>
                <a:r>
                  <a:rPr lang="en-US" sz="1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Determine the BALANCED reaction: </a:t>
                </a:r>
              </a:p>
              <a:p>
                <a:pPr lvl="1">
                  <a:buClr>
                    <a:srgbClr val="FFFF00"/>
                  </a:buClr>
                </a:pPr>
                <a:r>
                  <a:rPr lang="en-US" sz="1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Skeletal reaction:  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CH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4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+ Cl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 CCl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4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+ HCl</a:t>
                </a:r>
              </a:p>
              <a:p>
                <a:pPr lvl="1">
                  <a:buClr>
                    <a:srgbClr val="FFFF00"/>
                  </a:buClr>
                </a:pPr>
                <a:r>
                  <a:rPr lang="en-US" sz="1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Balanced reaction:  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CH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4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(</a:t>
                </a:r>
                <a:r>
                  <a:rPr lang="en-US" sz="1600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g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) + 4 Cl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(</a:t>
                </a:r>
                <a:r>
                  <a:rPr lang="en-US" sz="1600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g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)  CCl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4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(</a:t>
                </a:r>
                <a:r>
                  <a:rPr lang="en-US" sz="1600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l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) + 4 HCl (</a:t>
                </a:r>
                <a:r>
                  <a:rPr lang="en-US" sz="1600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g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)</a:t>
                </a:r>
              </a:p>
              <a:p>
                <a:pPr>
                  <a:buClr>
                    <a:srgbClr val="FFFF00"/>
                  </a:buClr>
                </a:pPr>
                <a:r>
                  <a:rPr lang="en-US" sz="1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Identify given data and needed quantities:</a:t>
                </a:r>
              </a:p>
              <a:p>
                <a:pPr lvl="1">
                  <a:buClr>
                    <a:srgbClr val="FFFF00"/>
                  </a:buClr>
                </a:pP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provided=100.0 g CH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4,  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molar mass CH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4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=80.06 g/mol, molar mass HCl = 44.02 g/mol</a:t>
                </a:r>
              </a:p>
              <a:p>
                <a:pPr>
                  <a:buClr>
                    <a:srgbClr val="FFFF00"/>
                  </a:buClr>
                </a:pPr>
                <a:r>
                  <a:rPr lang="en-US" sz="1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Conversion factor: 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4 mol HCl / 1 mol CH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4</a:t>
                </a:r>
                <a:endParaRPr lang="en-US" sz="1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Wingdings" panose="05000000000000000000" pitchFamily="2" charset="2"/>
                </a:endParaRPr>
              </a:p>
              <a:p>
                <a:pPr>
                  <a:buClr>
                    <a:srgbClr val="FFFF00"/>
                  </a:buClr>
                </a:pPr>
                <a:r>
                  <a:rPr lang="en-US" sz="1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Substitute values &amp; solve:</a:t>
                </a:r>
                <a:br>
                  <a:rPr lang="en-US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</a:br>
                <a14:m>
                  <m:oMath xmlns:m="http://schemas.openxmlformats.org/officeDocument/2006/math">
                    <m: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100.0 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sz="1600" i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CH</m:t>
                    </m:r>
                    <m:r>
                      <a:rPr lang="en-US" sz="1600" b="0" i="0" baseline="-250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600" i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m:rPr>
                            <m:sty m:val="p"/>
                          </m:rP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CH</m:t>
                        </m:r>
                        <m:r>
                          <a:rPr lang="en-US" sz="1600" baseline="-250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16.04 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CH</m:t>
                        </m:r>
                        <m:r>
                          <a:rPr lang="en-US" sz="1600" baseline="-250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1600" i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HCl</m:t>
                        </m:r>
                      </m:num>
                      <m:den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CH</m:t>
                        </m:r>
                        <m:r>
                          <a:rPr lang="en-US" sz="1600" baseline="-250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1600" i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36.46</m:t>
                        </m:r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HCl</m:t>
                        </m:r>
                      </m:num>
                      <m:den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m:rPr>
                            <m:sty m:val="p"/>
                          </m:rP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HCl</m:t>
                        </m:r>
                      </m:den>
                    </m:f>
                    <m:r>
                      <a:rPr lang="en-US" sz="1600" i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909.2 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sz="1600" i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HCl</m:t>
                    </m:r>
                  </m:oMath>
                </a14:m>
                <a:br>
                  <a:rPr lang="en-US" sz="1800" dirty="0">
                    <a:solidFill>
                      <a:srgbClr val="FFFF00"/>
                    </a:solidFill>
                  </a:rPr>
                </a:br>
                <a:endParaRPr lang="en-US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AFC79F-1D03-F8FE-7824-7F048C3209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8347" y="1168187"/>
                <a:ext cx="8387645" cy="5474152"/>
              </a:xfrm>
              <a:blipFill>
                <a:blip r:embed="rId2"/>
                <a:stretch>
                  <a:fillRect l="-800" t="-780" r="-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5345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55FA6-7309-8CFC-0D74-B68EDE7E8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218C8-D1A4-B0AD-BD83-7B24B4EC6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66" y="310445"/>
            <a:ext cx="8421512" cy="830997"/>
          </a:xfrm>
        </p:spPr>
        <p:txBody>
          <a:bodyPr/>
          <a:lstStyle/>
          <a:p>
            <a:r>
              <a:rPr lang="en-US" sz="4400" dirty="0"/>
              <a:t>Solution Stoichiometry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EDF83-A3E4-0E1F-0825-430348892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41442"/>
            <a:ext cx="8387645" cy="5406113"/>
          </a:xfrm>
        </p:spPr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This conversion pathway uses a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volume</a:t>
            </a:r>
            <a:r>
              <a:rPr lang="en-US" dirty="0">
                <a:sym typeface="Wingdings" panose="05000000000000000000" pitchFamily="2" charset="2"/>
              </a:rPr>
              <a:t> to get the 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amount</a:t>
            </a:r>
            <a:r>
              <a:rPr lang="en-US" dirty="0">
                <a:sym typeface="Wingdings" panose="05000000000000000000" pitchFamily="2" charset="2"/>
              </a:rPr>
              <a:t> in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moles</a:t>
            </a:r>
            <a:r>
              <a:rPr lang="en-US" dirty="0">
                <a:sym typeface="Wingdings" panose="05000000000000000000" pitchFamily="2" charset="2"/>
              </a:rPr>
              <a:t> of a substance. It requires knowing a </a:t>
            </a:r>
            <a:r>
              <a:rPr lang="en-US" dirty="0">
                <a:solidFill>
                  <a:srgbClr val="00FF00"/>
                </a:solidFill>
                <a:sym typeface="Wingdings" panose="05000000000000000000" pitchFamily="2" charset="2"/>
              </a:rPr>
              <a:t>concentration</a:t>
            </a:r>
            <a:r>
              <a:rPr lang="en-US" dirty="0">
                <a:sym typeface="Wingdings" panose="05000000000000000000" pitchFamily="2" charset="2"/>
              </a:rPr>
              <a:t>—</a:t>
            </a:r>
            <a:r>
              <a:rPr lang="en-US" dirty="0">
                <a:solidFill>
                  <a:srgbClr val="00FF00"/>
                </a:solidFill>
                <a:sym typeface="Wingdings" panose="05000000000000000000" pitchFamily="2" charset="2"/>
              </a:rPr>
              <a:t>molarity</a:t>
            </a:r>
            <a:r>
              <a:rPr lang="en-US" dirty="0">
                <a:sym typeface="Wingdings" panose="05000000000000000000" pitchFamily="2" charset="2"/>
              </a:rPr>
              <a:t>—for the solution where the problem is to be solved</a:t>
            </a:r>
          </a:p>
          <a:p>
            <a:pPr marL="0" indent="0" algn="ctr">
              <a:buNone/>
            </a:pP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155CDAB-8A7D-D11B-269D-552E2972CB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281" y="2949570"/>
            <a:ext cx="7136281" cy="3286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1598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1464C-DF07-62B8-8E9E-6670C8C5F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CC398-64ED-B9F5-7CB3-78F6D15E7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66" y="310445"/>
            <a:ext cx="8421512" cy="769441"/>
          </a:xfrm>
        </p:spPr>
        <p:txBody>
          <a:bodyPr/>
          <a:lstStyle/>
          <a:p>
            <a:r>
              <a:rPr lang="en-US" sz="4400" dirty="0"/>
              <a:t>Example: Volume Calculations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5D09F7-6DDE-0DCE-E2B7-E82B77C29A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5599" y="1150935"/>
                <a:ext cx="8387645" cy="5474152"/>
              </a:xfrm>
            </p:spPr>
            <p:txBody>
              <a:bodyPr/>
              <a:lstStyle/>
              <a:p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How many liters of 0.500 M sodium sulfate in necessary to precipitate all the barium in a </a:t>
                </a:r>
                <a:r>
                  <a:rPr lang="en-US" sz="200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275 mL Ammonium 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nitrate </a:t>
                </a:r>
                <a:r>
                  <a:rPr lang="en-US" sz="2000" dirty="0">
                    <a:sym typeface="Wingdings" panose="05000000000000000000" pitchFamily="2" charset="2"/>
                  </a:rPr>
                  <a:t>decomposes to 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dinitrogen</a:t>
                </a:r>
                <a:r>
                  <a:rPr lang="en-US" sz="2000" dirty="0">
                    <a:sym typeface="Wingdings" panose="05000000000000000000" pitchFamily="2" charset="2"/>
                  </a:rPr>
                  <a:t> 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monoxide</a:t>
                </a:r>
                <a:r>
                  <a:rPr lang="en-US" sz="2000" dirty="0">
                    <a:sym typeface="Wingdings" panose="05000000000000000000" pitchFamily="2" charset="2"/>
                  </a:rPr>
                  <a:t> and 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water</a:t>
                </a:r>
                <a:r>
                  <a:rPr lang="en-US" sz="2000" dirty="0">
                    <a:sym typeface="Wingdings" panose="05000000000000000000" pitchFamily="2" charset="2"/>
                  </a:rPr>
                  <a:t>. </a:t>
                </a:r>
                <a:r>
                  <a:rPr lang="en-US" sz="2000" b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45.7 g</a:t>
                </a:r>
                <a:r>
                  <a:rPr lang="en-US" sz="2000" dirty="0">
                    <a:sym typeface="Wingdings" panose="05000000000000000000" pitchFamily="2" charset="2"/>
                  </a:rPr>
                  <a:t> 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NH</a:t>
                </a:r>
                <a:r>
                  <a:rPr lang="en-US" sz="2000" baseline="-25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4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NO</a:t>
                </a:r>
                <a:r>
                  <a:rPr lang="en-US" sz="2000" baseline="-25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sz="2000" dirty="0">
                    <a:sym typeface="Wingdings" panose="05000000000000000000" pitchFamily="2" charset="2"/>
                  </a:rPr>
                  <a:t> is decomposed: find mass of each product</a:t>
                </a:r>
              </a:p>
              <a:p>
                <a:pPr>
                  <a:buClr>
                    <a:srgbClr val="FFFF00"/>
                  </a:buClr>
                </a:pPr>
                <a:r>
                  <a:rPr lang="en-US" sz="1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To solve:  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mass, i.e. grams, of products N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O and H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O from given data</a:t>
                </a:r>
                <a:endParaRPr lang="en-US" sz="1800" baseline="-25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Wingdings" panose="05000000000000000000" pitchFamily="2" charset="2"/>
                </a:endParaRPr>
              </a:p>
              <a:p>
                <a:pPr>
                  <a:buClr>
                    <a:srgbClr val="FFFF00"/>
                  </a:buClr>
                </a:pPr>
                <a:r>
                  <a:rPr lang="en-US" sz="1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Determine the BALANCED reaction: </a:t>
                </a:r>
              </a:p>
              <a:p>
                <a:pPr lvl="1">
                  <a:buClr>
                    <a:srgbClr val="FFFF00"/>
                  </a:buClr>
                </a:pPr>
                <a:r>
                  <a:rPr lang="en-US" sz="1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Skeletal reaction:  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NH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4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NO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3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 N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O + H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O</a:t>
                </a:r>
              </a:p>
              <a:p>
                <a:pPr lvl="1">
                  <a:buClr>
                    <a:srgbClr val="FFFF00"/>
                  </a:buClr>
                </a:pPr>
                <a:r>
                  <a:rPr lang="en-US" sz="1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Balanced reaction:  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NH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4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NO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3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(</a:t>
                </a:r>
                <a:r>
                  <a:rPr lang="en-US" sz="1600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s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)  N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O (</a:t>
                </a:r>
                <a:r>
                  <a:rPr lang="en-US" sz="1600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g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) + 2 H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O (</a:t>
                </a:r>
                <a:r>
                  <a:rPr lang="en-US" sz="1600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l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)</a:t>
                </a:r>
              </a:p>
              <a:p>
                <a:pPr>
                  <a:buClr>
                    <a:srgbClr val="FFFF00"/>
                  </a:buClr>
                </a:pPr>
                <a:r>
                  <a:rPr lang="en-US" sz="1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Identify given data and needed quantities:</a:t>
                </a:r>
              </a:p>
              <a:p>
                <a:pPr lvl="1">
                  <a:buClr>
                    <a:srgbClr val="FFFF00"/>
                  </a:buClr>
                </a:pP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provided = 45.7 g NH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4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NO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3,  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molar mass NH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4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NO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3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= 80.06 g/mol, molar mass N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O = 44.02 g/mol, molar mass H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O = 18.02 g/mol</a:t>
                </a:r>
              </a:p>
              <a:p>
                <a:pPr>
                  <a:buClr>
                    <a:srgbClr val="FFFF00"/>
                  </a:buClr>
                </a:pPr>
                <a:r>
                  <a:rPr lang="en-US" sz="1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Conversion factor: 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 mol H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O / 1 mol NH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4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NO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3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,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1 mol N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O / 1 mol NH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4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NO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3</a:t>
                </a:r>
                <a:endParaRPr lang="en-US" sz="1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Wingdings" panose="05000000000000000000" pitchFamily="2" charset="2"/>
                </a:endParaRPr>
              </a:p>
              <a:p>
                <a:pPr>
                  <a:buClr>
                    <a:srgbClr val="FFFF00"/>
                  </a:buClr>
                </a:pPr>
                <a:r>
                  <a:rPr lang="en-US" sz="1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Substitute values &amp; solve:</a:t>
                </a:r>
                <a:br>
                  <a:rPr lang="en-US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</a:br>
                <a14:m>
                  <m:oMath xmlns:m="http://schemas.openxmlformats.org/officeDocument/2006/math">
                    <m: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45.7 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sz="1600" i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NH</m:t>
                    </m:r>
                    <m:r>
                      <a:rPr lang="en-US" sz="1600" b="0" i="0" baseline="-250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NO</m:t>
                    </m:r>
                    <m:r>
                      <a:rPr lang="en-US" sz="1600" b="0" i="0" baseline="-250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600" i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m:rPr>
                            <m:sty m:val="p"/>
                          </m:rP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NH</m:t>
                        </m:r>
                        <m:r>
                          <a:rPr lang="en-US" sz="1600" b="0" i="0" baseline="-2500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NO</m:t>
                        </m:r>
                        <m:r>
                          <a:rPr lang="en-US" sz="1600" b="0" i="0" baseline="-2500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80.06 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NH</m:t>
                        </m:r>
                        <m:r>
                          <a:rPr lang="en-US" sz="1600" b="0" i="0" baseline="-2500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NO</m:t>
                        </m:r>
                        <m:r>
                          <a:rPr lang="en-US" sz="1600" b="0" i="0" baseline="-2500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1600" i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m:rPr>
                            <m:sty m:val="p"/>
                          </m:rP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1600" b="0" i="0" baseline="-2500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num>
                      <m:den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NH</m:t>
                        </m:r>
                        <m:r>
                          <a:rPr lang="en-US" sz="1600" b="0" i="0" baseline="-2500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NO</m:t>
                        </m:r>
                        <m:r>
                          <a:rPr lang="en-US" sz="1600" b="0" i="0" baseline="-2500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1600" i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44.02</m:t>
                        </m:r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1600" b="0" i="0" baseline="-2500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num>
                      <m:den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m:rPr>
                            <m:sty m:val="p"/>
                          </m:rP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1600" b="0" i="0" baseline="-2500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den>
                    </m:f>
                    <m:r>
                      <a:rPr lang="en-US" sz="1600" i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25.1</m:t>
                    </m:r>
                    <m:r>
                      <a:rPr lang="en-US" sz="1600" i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sz="1600" i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1600" b="0" i="0" baseline="-250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O</m:t>
                    </m:r>
                  </m:oMath>
                </a14:m>
                <a:br>
                  <a:rPr lang="en-US" sz="1800" dirty="0">
                    <a:solidFill>
                      <a:srgbClr val="FFFF00"/>
                    </a:solidFill>
                  </a:rPr>
                </a:br>
                <a:br>
                  <a:rPr lang="en-US" sz="1800" dirty="0">
                    <a:solidFill>
                      <a:srgbClr val="FFFF00"/>
                    </a:solidFill>
                  </a:rPr>
                </a:b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45.7 </m:t>
                    </m:r>
                    <m:r>
                      <m:rPr>
                        <m:sty m:val="p"/>
                      </m:rP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NH</m:t>
                    </m:r>
                    <m:r>
                      <a:rPr lang="en-US" sz="1600" baseline="-250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NO</m:t>
                    </m:r>
                    <m:r>
                      <a:rPr lang="en-US" sz="1600" baseline="-250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NH</m:t>
                        </m:r>
                        <m:r>
                          <a:rPr lang="en-US" sz="1600" baseline="-250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NO</m:t>
                        </m:r>
                        <m:r>
                          <a:rPr lang="en-US" sz="1600" baseline="-250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80.06 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  <m: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NH</m:t>
                        </m:r>
                        <m:r>
                          <a:rPr lang="en-US" sz="1600" baseline="-250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NO</m:t>
                        </m:r>
                        <m:r>
                          <a:rPr lang="en-US" sz="1600" baseline="-250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600" baseline="-250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num>
                      <m:den>
                        <m: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NH</m:t>
                        </m:r>
                        <m:r>
                          <a:rPr lang="en-US" sz="1600" baseline="-250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NO</m:t>
                        </m:r>
                        <m:r>
                          <a:rPr lang="en-US" sz="1600" baseline="-250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.02 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  <m: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600" baseline="-250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num>
                      <m:den>
                        <m: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600" baseline="-250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den>
                    </m:f>
                    <m: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20.6</m:t>
                    </m:r>
                    <m: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600" baseline="-250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O</m:t>
                    </m:r>
                  </m:oMath>
                </a14:m>
                <a:endParaRPr lang="en-US" sz="1800" dirty="0">
                  <a:solidFill>
                    <a:srgbClr val="FFFF00"/>
                  </a:solidFill>
                </a:endParaRPr>
              </a:p>
              <a:p>
                <a:pPr marL="0" indent="0">
                  <a:buClr>
                    <a:srgbClr val="FFFF00"/>
                  </a:buClr>
                  <a:buNone/>
                </a:pPr>
                <a:r>
                  <a:rPr lang="en-US" sz="1800" dirty="0">
                    <a:solidFill>
                      <a:srgbClr val="FF99FF"/>
                    </a:solidFill>
                  </a:rPr>
                  <a:t>mass conservation note: 25.1 g + 20.6 g = 45.7 g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5D09F7-6DDE-0DCE-E2B7-E82B77C29A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5599" y="1150935"/>
                <a:ext cx="8387645" cy="5474152"/>
              </a:xfrm>
              <a:blipFill>
                <a:blip r:embed="rId2"/>
                <a:stretch>
                  <a:fillRect l="-799" t="-780" b="-57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8589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CF109-45B6-75E7-692D-6201C642E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A254C-FB80-EC53-F85D-F9ED07AB4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955" y="394566"/>
            <a:ext cx="8421512" cy="769441"/>
          </a:xfrm>
        </p:spPr>
        <p:txBody>
          <a:bodyPr/>
          <a:lstStyle/>
          <a:p>
            <a:r>
              <a:rPr lang="en-US" sz="4400" dirty="0"/>
              <a:t>Moles Reactant / Moles Product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000C7-32A7-3AA1-450A-B0ECA6D3F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dirty="0">
              <a:sym typeface="Wingdings" panose="05000000000000000000" pitchFamily="2" charset="2"/>
            </a:endParaRPr>
          </a:p>
          <a:p>
            <a:pPr marL="0" indent="0" algn="ctr">
              <a:buNone/>
            </a:pPr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22BE927-7D2D-2EB6-EF77-4B95767FFC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06500"/>
            <a:ext cx="9144000" cy="4443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4523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6AD76-D39B-5889-2CF6-90A4BF7AF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9F3E4-B4A9-C7FE-81DC-D67E7DA93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99" y="232913"/>
            <a:ext cx="8421512" cy="769441"/>
          </a:xfrm>
        </p:spPr>
        <p:txBody>
          <a:bodyPr/>
          <a:lstStyle/>
          <a:p>
            <a:r>
              <a:rPr lang="en-US" sz="4400" dirty="0"/>
              <a:t>Example: Gas Calculations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30C748-0E5C-74AD-A5A1-656F9DBF89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3988" y="1067045"/>
                <a:ext cx="8387645" cy="5474152"/>
              </a:xfrm>
            </p:spPr>
            <p:txBody>
              <a:bodyPr/>
              <a:lstStyle/>
              <a:p>
                <a:r>
                  <a:rPr lang="en-US" sz="1600" dirty="0">
                    <a:sym typeface="Wingdings" panose="05000000000000000000" pitchFamily="2" charset="2"/>
                  </a:rPr>
                  <a:t>The production of sulfuric acid (H</a:t>
                </a:r>
                <a:r>
                  <a:rPr lang="en-US" sz="1600" baseline="-25000" dirty="0">
                    <a:sym typeface="Wingdings" panose="05000000000000000000" pitchFamily="2" charset="2"/>
                  </a:rPr>
                  <a:t>2</a:t>
                </a:r>
                <a:r>
                  <a:rPr lang="en-US" sz="1600" dirty="0">
                    <a:sym typeface="Wingdings" panose="05000000000000000000" pitchFamily="2" charset="2"/>
                  </a:rPr>
                  <a:t>SO</a:t>
                </a:r>
                <a:r>
                  <a:rPr lang="en-US" sz="1600" baseline="-25000" dirty="0">
                    <a:sym typeface="Wingdings" panose="05000000000000000000" pitchFamily="2" charset="2"/>
                  </a:rPr>
                  <a:t>4</a:t>
                </a:r>
                <a:r>
                  <a:rPr lang="en-US" sz="1600" dirty="0">
                    <a:sym typeface="Wingdings" panose="05000000000000000000" pitchFamily="2" charset="2"/>
                  </a:rPr>
                  <a:t>) is achieved in two step by combustion of sulfur solid with oxygen (O</a:t>
                </a:r>
                <a:r>
                  <a:rPr lang="en-US" sz="1600" baseline="-25000" dirty="0">
                    <a:sym typeface="Wingdings" panose="05000000000000000000" pitchFamily="2" charset="2"/>
                  </a:rPr>
                  <a:t>2</a:t>
                </a:r>
                <a:r>
                  <a:rPr lang="en-US" sz="1600" dirty="0">
                    <a:sym typeface="Wingdings" panose="05000000000000000000" pitchFamily="2" charset="2"/>
                  </a:rPr>
                  <a:t>) to sulfur dioxide (SO</a:t>
                </a:r>
                <a:r>
                  <a:rPr lang="en-US" sz="1600" baseline="-25000" dirty="0">
                    <a:sym typeface="Wingdings" panose="05000000000000000000" pitchFamily="2" charset="2"/>
                  </a:rPr>
                  <a:t>2</a:t>
                </a:r>
                <a:r>
                  <a:rPr lang="en-US" sz="1600" dirty="0">
                    <a:sym typeface="Wingdings" panose="05000000000000000000" pitchFamily="2" charset="2"/>
                  </a:rPr>
                  <a:t>), further oxidized to sulfur trioxide (SO</a:t>
                </a:r>
                <a:r>
                  <a:rPr lang="en-US" sz="1600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sz="1600" dirty="0">
                    <a:sym typeface="Wingdings" panose="05000000000000000000" pitchFamily="2" charset="2"/>
                  </a:rPr>
                  <a:t>)</a:t>
                </a:r>
                <a:r>
                  <a:rPr lang="en-US" sz="2000" dirty="0">
                    <a:sym typeface="Wingdings" panose="05000000000000000000" pitchFamily="2" charset="2"/>
                  </a:rPr>
                  <a:t>:</a:t>
                </a:r>
              </a:p>
              <a:p>
                <a:pPr marL="0" indent="0" algn="ctr">
                  <a:buNone/>
                </a:pPr>
                <a:r>
                  <a:rPr lang="en-US" sz="2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2 S (</a:t>
                </a:r>
                <a:r>
                  <a:rPr lang="en-US" sz="2000" i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s</a:t>
                </a:r>
                <a:r>
                  <a:rPr lang="en-US" sz="2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 + 3 O</a:t>
                </a:r>
                <a:r>
                  <a:rPr lang="en-US" sz="2000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sz="2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(</a:t>
                </a:r>
                <a:r>
                  <a:rPr lang="en-US" sz="2000" i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g</a:t>
                </a:r>
                <a:r>
                  <a:rPr lang="en-US" sz="2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 + 2 H</a:t>
                </a:r>
                <a:r>
                  <a:rPr lang="en-US" sz="2000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sz="2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O (</a:t>
                </a:r>
                <a:r>
                  <a:rPr lang="en-US" sz="2000" i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l</a:t>
                </a:r>
                <a:r>
                  <a:rPr lang="en-US" sz="2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  2 H</a:t>
                </a:r>
                <a:r>
                  <a:rPr lang="en-US" sz="2000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sz="2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SO</a:t>
                </a:r>
                <a:r>
                  <a:rPr lang="en-US" sz="2000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4</a:t>
                </a:r>
                <a:r>
                  <a:rPr lang="en-US" sz="2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(</a:t>
                </a:r>
                <a:r>
                  <a:rPr lang="en-US" sz="2000" i="1" dirty="0" err="1">
                    <a:solidFill>
                      <a:srgbClr val="FFC000"/>
                    </a:solidFill>
                    <a:sym typeface="Wingdings" panose="05000000000000000000" pitchFamily="2" charset="2"/>
                  </a:rPr>
                  <a:t>aq</a:t>
                </a:r>
                <a:r>
                  <a:rPr lang="en-US" sz="2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</a:t>
                </a:r>
              </a:p>
              <a:p>
                <a:r>
                  <a:rPr lang="en-US" sz="2000" dirty="0">
                    <a:sym typeface="Wingdings" panose="05000000000000000000" pitchFamily="2" charset="2"/>
                  </a:rPr>
                  <a:t>To make </a:t>
                </a:r>
                <a:r>
                  <a:rPr lang="en-US" sz="2000" b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1.00 ton </a:t>
                </a:r>
                <a:r>
                  <a:rPr lang="en-US" sz="2000" dirty="0">
                    <a:sym typeface="Wingdings" panose="05000000000000000000" pitchFamily="2" charset="2"/>
                  </a:rPr>
                  <a:t>(</a:t>
                </a:r>
                <a:r>
                  <a:rPr lang="en-US" sz="2000" b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907.18 kg</a:t>
                </a:r>
                <a:r>
                  <a:rPr lang="en-US" sz="2000" dirty="0">
                    <a:sym typeface="Wingdings" panose="05000000000000000000" pitchFamily="2" charset="2"/>
                  </a:rPr>
                  <a:t>) 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H</a:t>
                </a:r>
                <a:r>
                  <a:rPr lang="en-US" sz="2000" baseline="-25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SO</a:t>
                </a:r>
                <a:r>
                  <a:rPr lang="en-US" sz="2000" baseline="-25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4</a:t>
                </a:r>
                <a:r>
                  <a:rPr lang="en-US" sz="2000" dirty="0">
                    <a:sym typeface="Wingdings" panose="05000000000000000000" pitchFamily="2" charset="2"/>
                  </a:rPr>
                  <a:t>, what </a:t>
                </a:r>
                <a:r>
                  <a:rPr lang="en-US" sz="2000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  <a:t>volume</a:t>
                </a:r>
                <a:r>
                  <a:rPr lang="en-US" sz="2000" dirty="0">
                    <a:sym typeface="Wingdings" panose="05000000000000000000" pitchFamily="2" charset="2"/>
                  </a:rPr>
                  <a:t> in </a:t>
                </a:r>
                <a:r>
                  <a:rPr lang="en-US" sz="2000" b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L</a:t>
                </a:r>
                <a:r>
                  <a:rPr lang="en-US" sz="2000" dirty="0">
                    <a:sym typeface="Wingdings" panose="05000000000000000000" pitchFamily="2" charset="2"/>
                  </a:rPr>
                  <a:t> of 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O</a:t>
                </a:r>
                <a:r>
                  <a:rPr lang="en-US" sz="2000" baseline="-25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sz="2000" dirty="0">
                    <a:sym typeface="Wingdings" panose="05000000000000000000" pitchFamily="2" charset="2"/>
                  </a:rPr>
                  <a:t> at </a:t>
                </a:r>
                <a:r>
                  <a:rPr lang="en-US" sz="2000" b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22°C</a:t>
                </a:r>
                <a:r>
                  <a:rPr lang="en-US" sz="2000" dirty="0">
                    <a:sym typeface="Wingdings" panose="05000000000000000000" pitchFamily="2" charset="2"/>
                  </a:rPr>
                  <a:t> with </a:t>
                </a:r>
                <a:r>
                  <a:rPr lang="en-US" sz="2000" b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745 mmHg </a:t>
                </a:r>
                <a:r>
                  <a:rPr lang="en-US" sz="2000" dirty="0">
                    <a:sym typeface="Wingdings" panose="05000000000000000000" pitchFamily="2" charset="2"/>
                  </a:rPr>
                  <a:t>pressure is required?</a:t>
                </a:r>
              </a:p>
              <a:p>
                <a:pPr>
                  <a:buClr>
                    <a:srgbClr val="FFFF00"/>
                  </a:buClr>
                </a:pPr>
                <a:r>
                  <a:rPr lang="en-US" sz="1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To solve:  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volume of reactant O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from moles O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from moles H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SO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4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product from mass H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SO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4</a:t>
                </a:r>
              </a:p>
              <a:p>
                <a:pPr>
                  <a:buClr>
                    <a:srgbClr val="FFFF00"/>
                  </a:buClr>
                </a:pPr>
                <a:r>
                  <a:rPr lang="en-US" sz="1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From the reaction: 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3 moles O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 2 moles H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SO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4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sz="1800" b="0" i="0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  <a:sym typeface="Wingdings" panose="05000000000000000000" pitchFamily="2" charset="2"/>
                          </a:rPr>
                          <m:t>2 </m:t>
                        </m:r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  <a:sym typeface="Wingdings" panose="05000000000000000000" pitchFamily="2" charset="2"/>
                          </a:rPr>
                          <m:t>mol</m:t>
                        </m:r>
                        <m:r>
                          <a:rPr lang="en-US" sz="1800" b="0" i="0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  <a:sym typeface="Wingdings" panose="05000000000000000000" pitchFamily="2" charset="2"/>
                          </a:rPr>
                          <m:t>H</m:t>
                        </m:r>
                        <m:r>
                          <a:rPr lang="en-US" sz="1800" b="0" i="0" baseline="-25000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  <a:sym typeface="Wingdings" panose="05000000000000000000" pitchFamily="2" charset="2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  <a:sym typeface="Wingdings" panose="05000000000000000000" pitchFamily="2" charset="2"/>
                          </a:rPr>
                          <m:t>SO</m:t>
                        </m:r>
                        <m:r>
                          <a:rPr lang="en-US" sz="1800" b="0" i="0" baseline="-25000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  <a:sym typeface="Wingdings" panose="05000000000000000000" pitchFamily="2" charset="2"/>
                          </a:rPr>
                          <m:t>4</m:t>
                        </m:r>
                      </m:num>
                      <m:den>
                        <m:r>
                          <a:rPr lang="en-US" sz="1800" b="0" i="0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  <a:sym typeface="Wingdings" panose="05000000000000000000" pitchFamily="2" charset="2"/>
                          </a:rPr>
                          <m:t>3 </m:t>
                        </m:r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  <a:sym typeface="Wingdings" panose="05000000000000000000" pitchFamily="2" charset="2"/>
                          </a:rPr>
                          <m:t>mol</m:t>
                        </m:r>
                        <m:r>
                          <a:rPr lang="en-US" sz="1800" b="0" i="0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  <a:sym typeface="Wingdings" panose="05000000000000000000" pitchFamily="2" charset="2"/>
                          </a:rPr>
                          <m:t>O</m:t>
                        </m:r>
                        <m:r>
                          <a:rPr lang="en-US" sz="1800" b="0" i="0" baseline="-25000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  <a:sym typeface="Wingdings" panose="05000000000000000000" pitchFamily="2" charset="2"/>
                          </a:rPr>
                          <m:t>2</m:t>
                        </m:r>
                      </m:den>
                    </m:f>
                  </m:oMath>
                </a14:m>
                <a:endParaRPr lang="en-US" sz="1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Wingdings" panose="05000000000000000000" pitchFamily="2" charset="2"/>
                </a:endParaRPr>
              </a:p>
              <a:p>
                <a:pPr>
                  <a:buClr>
                    <a:srgbClr val="FFFF00"/>
                  </a:buClr>
                </a:pPr>
                <a:r>
                  <a:rPr lang="en-US" sz="1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Identify given data and needed quantities:</a:t>
                </a:r>
              </a:p>
              <a:p>
                <a:pPr marL="461963" lvl="1" indent="-230188">
                  <a:buClr>
                    <a:srgbClr val="FFFF00"/>
                  </a:buClr>
                </a:pP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provided: 907.18 kg H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SO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4, </a:t>
                </a:r>
                <a:r>
                  <a:rPr lang="en-US" sz="1600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T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= 22°C, </a:t>
                </a:r>
                <a:r>
                  <a:rPr lang="en-US" sz="1600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P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= 745 mmHg, molar mass H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SO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4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= </a:t>
                </a:r>
                <a:b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</a:b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98.03 g/mol, molar mass O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= 32.00 g/mol; needed: </a:t>
                </a:r>
                <a:r>
                  <a:rPr lang="en-US" sz="1600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R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= 62.36 L mmHg/mol K</a:t>
                </a:r>
              </a:p>
              <a:p>
                <a:pPr>
                  <a:buClr>
                    <a:srgbClr val="FFFF00"/>
                  </a:buClr>
                </a:pPr>
                <a:r>
                  <a:rPr lang="en-US" sz="1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Substitute values &amp; solve:</a:t>
                </a:r>
                <a:br>
                  <a:rPr lang="en-US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</a:br>
                <a14:m>
                  <m:oMath xmlns:m="http://schemas.openxmlformats.org/officeDocument/2006/math">
                    <m:r>
                      <a:rPr lang="en-US" sz="1600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9</m:t>
                    </m:r>
                    <m:r>
                      <a:rPr lang="en-US" sz="1600" b="0" i="0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07.18</m:t>
                    </m:r>
                    <m: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kg</m:t>
                    </m:r>
                    <m:r>
                      <a:rPr lang="en-US" sz="1600" i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600" b="0" i="0" baseline="-250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SO</m:t>
                    </m:r>
                    <m:r>
                      <a:rPr lang="en-US" sz="1600" b="0" i="0" baseline="-250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600" i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60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600" b="0" i="0" baseline="-2500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SO</m:t>
                        </m:r>
                        <m:r>
                          <a:rPr lang="en-US" sz="1600" b="0" i="0" baseline="-2500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98.03 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kg</m:t>
                        </m:r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600" b="0" i="0" baseline="-2500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SO</m:t>
                        </m:r>
                        <m:r>
                          <a:rPr lang="en-US" sz="1600" b="0" i="0" baseline="-2500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1600" i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a:rPr lang="en-US" sz="1600" b="0" i="0" baseline="-2500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600" b="0" i="0" baseline="-2500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SO</m:t>
                        </m:r>
                        <m:r>
                          <a:rPr lang="en-US" sz="1600" b="0" i="0" baseline="-2500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1600" i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13881.16</m:t>
                    </m:r>
                    <m:r>
                      <a:rPr lang="en-US" sz="1600" i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mol</m:t>
                    </m:r>
                    <m:r>
                      <a:rPr lang="en-US" sz="1600" i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sz="1600" b="0" i="0" baseline="-250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sz="1800" dirty="0">
                  <a:solidFill>
                    <a:srgbClr val="FFFF00"/>
                  </a:solidFill>
                </a:endParaRPr>
              </a:p>
              <a:p>
                <a:pPr marL="0" indent="0">
                  <a:spcBef>
                    <a:spcPts val="1800"/>
                  </a:spcBef>
                  <a:buClr>
                    <a:srgbClr val="FFFF00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16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𝑛𝑅𝑇</m:t>
                          </m:r>
                        </m:num>
                        <m:den>
                          <m:r>
                            <a:rPr lang="en-US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  <m:r>
                        <a:rPr lang="en-US" sz="16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13881.16</m:t>
                          </m:r>
                          <m: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mol</m:t>
                          </m:r>
                        </m:num>
                        <m:den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62.36 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mmHg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mol</m:t>
                          </m:r>
                          <m: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den>
                      </m:f>
                      <m: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16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22+273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num>
                        <m:den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1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745 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mmHg</m:t>
                          </m:r>
                        </m:den>
                      </m:f>
                      <m:r>
                        <a:rPr lang="en-US" sz="16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342765.9 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en-US" sz="1600" b="0" i="0" baseline="-250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6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=342.8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kL</m:t>
                      </m:r>
                      <m:r>
                        <a:rPr lang="en-US" sz="16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en-US" sz="1600" b="0" i="0" baseline="-250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1800" baseline="-25000" dirty="0">
                  <a:solidFill>
                    <a:srgbClr val="FFFF00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30C748-0E5C-74AD-A5A1-656F9DBF89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3988" y="1067045"/>
                <a:ext cx="8387645" cy="5474152"/>
              </a:xfrm>
              <a:blipFill>
                <a:blip r:embed="rId2"/>
                <a:stretch>
                  <a:fillRect l="-799" t="-334" b="-3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572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1D715-EE7C-A49F-FD32-03E6DBCBB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C4070-78DA-4D95-3931-913BE3262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99" y="232913"/>
            <a:ext cx="8421512" cy="769441"/>
          </a:xfrm>
        </p:spPr>
        <p:txBody>
          <a:bodyPr/>
          <a:lstStyle/>
          <a:p>
            <a:r>
              <a:rPr lang="en-US" sz="4400" dirty="0"/>
              <a:t>Example: Gas Calculations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E08DD9-1796-B45C-D15F-49222137D0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5599" y="1075434"/>
                <a:ext cx="8387645" cy="5474152"/>
              </a:xfrm>
            </p:spPr>
            <p:txBody>
              <a:bodyPr/>
              <a:lstStyle/>
              <a:p>
                <a:r>
                  <a:rPr lang="en-US" sz="1600" dirty="0">
                    <a:sym typeface="Wingdings" panose="05000000000000000000" pitchFamily="2" charset="2"/>
                  </a:rPr>
                  <a:t>To produce H</a:t>
                </a:r>
                <a:r>
                  <a:rPr lang="en-US" sz="1600" baseline="-25000" dirty="0">
                    <a:sym typeface="Wingdings" panose="05000000000000000000" pitchFamily="2" charset="2"/>
                  </a:rPr>
                  <a:t>2</a:t>
                </a:r>
                <a:r>
                  <a:rPr lang="en-US" sz="1600" dirty="0">
                    <a:sym typeface="Wingdings" panose="05000000000000000000" pitchFamily="2" charset="2"/>
                  </a:rPr>
                  <a:t> gas for a balloon in 1783 with volume 31,150 L, metallic iron was placed in hydrochloric acid</a:t>
                </a:r>
                <a:endParaRPr lang="en-US" sz="2000" dirty="0">
                  <a:sym typeface="Wingdings" panose="05000000000000000000" pitchFamily="2" charset="2"/>
                </a:endParaRPr>
              </a:p>
              <a:p>
                <a:pPr marL="0" indent="0" algn="ctr">
                  <a:buNone/>
                </a:pPr>
                <a:r>
                  <a:rPr lang="en-US" sz="2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Fe (</a:t>
                </a:r>
                <a:r>
                  <a:rPr lang="en-US" sz="2000" i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s</a:t>
                </a:r>
                <a:r>
                  <a:rPr lang="en-US" sz="2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 + 2 HCl (</a:t>
                </a:r>
                <a:r>
                  <a:rPr lang="en-US" sz="2000" i="1" dirty="0" err="1">
                    <a:solidFill>
                      <a:srgbClr val="FFC000"/>
                    </a:solidFill>
                    <a:sym typeface="Wingdings" panose="05000000000000000000" pitchFamily="2" charset="2"/>
                  </a:rPr>
                  <a:t>aq</a:t>
                </a:r>
                <a:r>
                  <a:rPr lang="en-US" sz="2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  H</a:t>
                </a:r>
                <a:r>
                  <a:rPr lang="en-US" sz="2000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sz="2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(</a:t>
                </a:r>
                <a:r>
                  <a:rPr lang="en-US" sz="2000" i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g</a:t>
                </a:r>
                <a:r>
                  <a:rPr lang="en-US" sz="2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 + FeCl</a:t>
                </a:r>
                <a:r>
                  <a:rPr lang="en-US" sz="2000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sz="2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(</a:t>
                </a:r>
                <a:r>
                  <a:rPr lang="en-US" sz="2000" i="1" dirty="0" err="1">
                    <a:solidFill>
                      <a:srgbClr val="FFC000"/>
                    </a:solidFill>
                    <a:sym typeface="Wingdings" panose="05000000000000000000" pitchFamily="2" charset="2"/>
                  </a:rPr>
                  <a:t>aq</a:t>
                </a:r>
                <a:r>
                  <a:rPr lang="en-US" sz="2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</a:t>
                </a:r>
              </a:p>
              <a:p>
                <a:r>
                  <a:rPr lang="en-US" sz="2000" dirty="0">
                    <a:sym typeface="Wingdings" panose="05000000000000000000" pitchFamily="2" charset="2"/>
                  </a:rPr>
                  <a:t>How many kilograms of iron metal to make that </a:t>
                </a:r>
                <a:r>
                  <a:rPr lang="en-US" sz="2000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  <a:t>volume</a:t>
                </a:r>
                <a:r>
                  <a:rPr lang="en-US" sz="2000" dirty="0">
                    <a:sym typeface="Wingdings" panose="05000000000000000000" pitchFamily="2" charset="2"/>
                  </a:rPr>
                  <a:t> at </a:t>
                </a:r>
                <a:r>
                  <a:rPr lang="en-US" sz="2000" b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30°C</a:t>
                </a:r>
                <a:r>
                  <a:rPr lang="en-US" sz="2000" dirty="0">
                    <a:sym typeface="Wingdings" panose="05000000000000000000" pitchFamily="2" charset="2"/>
                  </a:rPr>
                  <a:t> with </a:t>
                </a:r>
                <a:r>
                  <a:rPr lang="en-US" sz="2000" b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745 mmHg </a:t>
                </a:r>
                <a:r>
                  <a:rPr lang="en-US" sz="2000" dirty="0">
                    <a:sym typeface="Wingdings" panose="05000000000000000000" pitchFamily="2" charset="2"/>
                  </a:rPr>
                  <a:t>pressure is needed?</a:t>
                </a:r>
              </a:p>
              <a:p>
                <a:pPr>
                  <a:buClr>
                    <a:srgbClr val="FFFF00"/>
                  </a:buClr>
                </a:pPr>
                <a:r>
                  <a:rPr lang="en-US" sz="1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To solve:  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kg Fe reactant from mol Fe from moles H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from L H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</a:p>
              <a:p>
                <a:pPr>
                  <a:buClr>
                    <a:srgbClr val="FFFF00"/>
                  </a:buClr>
                </a:pPr>
                <a:r>
                  <a:rPr lang="en-US" sz="1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From the reaction: 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1 mole H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 1 moles Fe: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sz="1800" b="0" i="0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  <a:sym typeface="Wingdings" panose="05000000000000000000" pitchFamily="2" charset="2"/>
                          </a:rPr>
                          <m:t>1 </m:t>
                        </m:r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  <a:sym typeface="Wingdings" panose="05000000000000000000" pitchFamily="2" charset="2"/>
                          </a:rPr>
                          <m:t>mol</m:t>
                        </m:r>
                        <m:r>
                          <a:rPr lang="en-US" sz="1800" b="0" i="0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  <a:sym typeface="Wingdings" panose="05000000000000000000" pitchFamily="2" charset="2"/>
                          </a:rPr>
                          <m:t>H</m:t>
                        </m:r>
                        <m:r>
                          <a:rPr lang="en-US" sz="1800" b="0" i="0" baseline="-25000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  <a:sym typeface="Wingdings" panose="05000000000000000000" pitchFamily="2" charset="2"/>
                          </a:rPr>
                          <m:t>2</m:t>
                        </m:r>
                      </m:num>
                      <m:den>
                        <m:r>
                          <a:rPr lang="en-US" sz="1800" b="0" i="0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  <a:sym typeface="Wingdings" panose="05000000000000000000" pitchFamily="2" charset="2"/>
                          </a:rPr>
                          <m:t> 1 </m:t>
                        </m:r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  <a:sym typeface="Wingdings" panose="05000000000000000000" pitchFamily="2" charset="2"/>
                          </a:rPr>
                          <m:t>mol</m:t>
                        </m:r>
                        <m:r>
                          <a:rPr lang="en-US" sz="1800" b="0" i="0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  <a:sym typeface="Wingdings" panose="05000000000000000000" pitchFamily="2" charset="2"/>
                          </a:rPr>
                          <m:t>Fe</m:t>
                        </m:r>
                      </m:den>
                    </m:f>
                  </m:oMath>
                </a14:m>
                <a:endParaRPr lang="en-US" sz="1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Wingdings" panose="05000000000000000000" pitchFamily="2" charset="2"/>
                </a:endParaRPr>
              </a:p>
              <a:p>
                <a:pPr>
                  <a:buClr>
                    <a:srgbClr val="FFFF00"/>
                  </a:buClr>
                </a:pPr>
                <a:r>
                  <a:rPr lang="en-US" sz="1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Identify given data and needed quantities:</a:t>
                </a:r>
              </a:p>
              <a:p>
                <a:pPr marL="461963" lvl="1" indent="-230188">
                  <a:buClr>
                    <a:srgbClr val="FFFF00"/>
                  </a:buClr>
                </a:pP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provided: </a:t>
                </a:r>
                <a:r>
                  <a:rPr lang="en-US" sz="1600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V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= 31150 L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, </a:t>
                </a:r>
                <a:r>
                  <a:rPr lang="en-US" sz="1600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T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= 30°C, </a:t>
                </a:r>
                <a:r>
                  <a:rPr lang="en-US" sz="1600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P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= 745 mmHg, molar mass H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= </a:t>
                </a:r>
                <a:b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</a:b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2.016 g/mol, molar mass Fe = 55.845 g/mol; needed: </a:t>
                </a:r>
                <a:r>
                  <a:rPr lang="en-US" sz="1600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R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= 62.36 L mmHg/mol K</a:t>
                </a:r>
              </a:p>
              <a:p>
                <a:pPr>
                  <a:buClr>
                    <a:srgbClr val="FFFF00"/>
                  </a:buClr>
                </a:pPr>
                <a:r>
                  <a:rPr lang="en-US" sz="1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Substitute values &amp; solve:</a:t>
                </a:r>
                <a:br>
                  <a:rPr lang="en-US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</a:b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𝑃𝑉</m:t>
                        </m:r>
                      </m:num>
                      <m:den>
                        <m:r>
                          <a:rPr lang="en-US" sz="1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𝑅𝑇</m:t>
                        </m:r>
                      </m:den>
                    </m:f>
                    <m: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: </m:t>
                    </m:r>
                    <m:f>
                      <m:fPr>
                        <m:ctrlPr>
                          <a:rPr lang="en-US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745</m:t>
                        </m:r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mmHg</m:t>
                        </m:r>
                      </m:num>
                      <m:den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US" sz="1600" i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num>
                      <m:den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62.36 </m:t>
                        </m:r>
                        <m:r>
                          <m:rPr>
                            <m:sty m:val="p"/>
                          </m:rP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L</m:t>
                        </m:r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mmHg</m:t>
                        </m:r>
                      </m:den>
                    </m:f>
                    <m:r>
                      <a:rPr lang="en-US" sz="1600" i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ctrlPr>
                              <a:rPr lang="en-US" sz="1600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30</m:t>
                            </m:r>
                            <m:r>
                              <a:rPr lang="en-US" sz="1600" i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+273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den>
                    </m:f>
                    <m:r>
                      <a:rPr lang="en-US" sz="1600" i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16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31150 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L</m:t>
                        </m:r>
                      </m:num>
                      <m:den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US" sz="16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122</m:t>
                    </m:r>
                    <m: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8.19 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mol</m:t>
                    </m:r>
                    <m: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600" b="0" i="0" baseline="-250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sz="1800" baseline="-25000" dirty="0">
                  <a:solidFill>
                    <a:srgbClr val="FFFF00"/>
                  </a:solidFill>
                </a:endParaRPr>
              </a:p>
              <a:p>
                <a:pPr>
                  <a:buClr>
                    <a:srgbClr val="FFFF00"/>
                  </a:buClr>
                </a:pPr>
                <a:endParaRPr lang="en-US" sz="1800" baseline="-25000" dirty="0">
                  <a:solidFill>
                    <a:srgbClr val="FFFF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0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1228.19 </m:t>
                      </m:r>
                      <m:r>
                        <m:rPr>
                          <m:sty m:val="p"/>
                        </m:rPr>
                        <a:rPr lang="en-US" sz="1800" b="0" i="0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mol</m:t>
                      </m:r>
                      <m:r>
                        <a:rPr lang="en-US" sz="18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1800" baseline="-250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8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1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mol</m:t>
                          </m:r>
                          <m:r>
                            <a:rPr lang="en-US" sz="18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8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Fe</m:t>
                          </m:r>
                        </m:num>
                        <m:den>
                          <m:r>
                            <a:rPr lang="en-US" sz="18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m:rPr>
                              <m:sty m:val="p"/>
                            </m:rPr>
                            <a:rPr lang="en-US" sz="18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mol</m:t>
                          </m:r>
                          <m:r>
                            <a:rPr lang="en-US" sz="18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8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800" b="0" i="0" baseline="-250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8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1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55.845</m:t>
                          </m:r>
                          <m:r>
                            <a:rPr lang="en-US" sz="18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8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kg</m:t>
                          </m:r>
                          <m:r>
                            <a:rPr lang="en-US" sz="1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8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Fe</m:t>
                          </m:r>
                        </m:num>
                        <m:den>
                          <m:sSup>
                            <m:sSupPr>
                              <m:ctrlPr>
                                <a:rPr lang="en-US" sz="180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sz="18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18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mol</m:t>
                          </m:r>
                          <m:r>
                            <a:rPr lang="en-US" sz="18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8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Fe</m:t>
                          </m:r>
                        </m:den>
                      </m:f>
                      <m:r>
                        <a:rPr lang="en-US" sz="18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68.588 </m:t>
                      </m:r>
                      <m:r>
                        <m:rPr>
                          <m:sty m:val="p"/>
                        </m:rPr>
                        <a:rPr lang="en-US" sz="18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kg</m:t>
                      </m:r>
                      <m:r>
                        <a:rPr lang="en-US" sz="18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8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Fe</m:t>
                      </m:r>
                      <m:r>
                        <a:rPr lang="en-US" sz="18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(~150 </m:t>
                      </m:r>
                      <m:r>
                        <m:rPr>
                          <m:sty m:val="p"/>
                        </m:rPr>
                        <a:rPr lang="en-US" sz="18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lb</m:t>
                      </m:r>
                      <m:r>
                        <a:rPr lang="en-US" sz="18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rgbClr val="FFFF00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E08DD9-1796-B45C-D15F-49222137D0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5599" y="1075434"/>
                <a:ext cx="8387645" cy="5474152"/>
              </a:xfrm>
              <a:blipFill>
                <a:blip r:embed="rId2"/>
                <a:stretch>
                  <a:fillRect l="-799" t="-3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73367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71B02-8E2F-FDD1-7252-EC81ED778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3CFFA-5D58-BB01-59AE-C034064CD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66" y="341223"/>
            <a:ext cx="8421512" cy="769441"/>
          </a:xfrm>
        </p:spPr>
        <p:txBody>
          <a:bodyPr/>
          <a:lstStyle/>
          <a:p>
            <a:r>
              <a:rPr lang="en-US" sz="4400" dirty="0"/>
              <a:t>Gas Stoichiometry at STP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2E148-6840-037B-1399-7C332E34D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41442"/>
            <a:ext cx="8387645" cy="5406113"/>
          </a:xfrm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Avogadro’s Law </a:t>
            </a:r>
            <a:r>
              <a:rPr lang="en-US" dirty="0">
                <a:sym typeface="Wingdings" panose="05000000000000000000" pitchFamily="2" charset="2"/>
              </a:rPr>
              <a:t>is about the 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amount</a:t>
            </a:r>
            <a:r>
              <a:rPr lang="en-US" dirty="0">
                <a:sym typeface="Wingdings" panose="05000000000000000000" pitchFamily="2" charset="2"/>
              </a:rPr>
              <a:t>, 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n</a:t>
            </a:r>
            <a:r>
              <a:rPr lang="en-US" dirty="0">
                <a:sym typeface="Wingdings" panose="05000000000000000000" pitchFamily="2" charset="2"/>
              </a:rPr>
              <a:t>, (in moles) of gas related to its 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volume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V</a:t>
            </a:r>
            <a:r>
              <a:rPr lang="en-US" dirty="0">
                <a:sym typeface="Wingdings" panose="05000000000000000000" pitchFamily="2" charset="2"/>
              </a:rPr>
              <a:t> when 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pressure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P</a:t>
            </a:r>
            <a:r>
              <a:rPr lang="en-US" dirty="0">
                <a:sym typeface="Wingdings" panose="05000000000000000000" pitchFamily="2" charset="2"/>
              </a:rPr>
              <a:t> and 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temperature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T</a:t>
            </a:r>
            <a:r>
              <a:rPr lang="en-US" dirty="0">
                <a:sym typeface="Wingdings" panose="05000000000000000000" pitchFamily="2" charset="2"/>
              </a:rPr>
              <a:t> are held constant</a:t>
            </a:r>
          </a:p>
          <a:p>
            <a:r>
              <a:rPr lang="en-US" dirty="0">
                <a:sym typeface="Wingdings" panose="05000000000000000000" pitchFamily="2" charset="2"/>
              </a:rPr>
              <a:t>But the 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V=</a:t>
            </a:r>
            <a:r>
              <a:rPr lang="en-US" b="1" i="1" dirty="0" err="1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kn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en-US" dirty="0">
                <a:sym typeface="Wingdings" panose="05000000000000000000" pitchFamily="2" charset="2"/>
              </a:rPr>
              <a:t>relationship can also be affected by what is set as 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P</a:t>
            </a:r>
            <a:r>
              <a:rPr lang="en-US" dirty="0">
                <a:sym typeface="Wingdings" panose="05000000000000000000" pitchFamily="2" charset="2"/>
              </a:rPr>
              <a:t> and 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T</a:t>
            </a:r>
            <a:r>
              <a:rPr lang="en-US" dirty="0">
                <a:sym typeface="Wingdings" panose="05000000000000000000" pitchFamily="2" charset="2"/>
              </a:rPr>
              <a:t>. It is for this reason scientists decided to study 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Avogadro’s Law </a:t>
            </a:r>
            <a:r>
              <a:rPr lang="en-US" dirty="0">
                <a:sym typeface="Wingdings" panose="05000000000000000000" pitchFamily="2" charset="2"/>
              </a:rPr>
              <a:t>from a reference 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T</a:t>
            </a:r>
            <a:r>
              <a:rPr lang="en-US" b="1" dirty="0">
                <a:sym typeface="Wingdings" panose="05000000000000000000" pitchFamily="2" charset="2"/>
              </a:rPr>
              <a:t> </a:t>
            </a:r>
            <a:r>
              <a:rPr lang="en-US" dirty="0">
                <a:sym typeface="Wingdings" panose="05000000000000000000" pitchFamily="2" charset="2"/>
              </a:rPr>
              <a:t>and 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P</a:t>
            </a:r>
            <a:r>
              <a:rPr lang="en-US" dirty="0">
                <a:sym typeface="Wingdings" panose="05000000000000000000" pitchFamily="2" charset="2"/>
              </a:rPr>
              <a:t>, which is 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STP</a:t>
            </a:r>
          </a:p>
          <a:p>
            <a:r>
              <a:rPr lang="en-US" dirty="0">
                <a:sym typeface="Wingdings" panose="05000000000000000000" pitchFamily="2" charset="2"/>
              </a:rPr>
              <a:t>After setting STP as a reference, it was found that when 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n</a:t>
            </a:r>
            <a:r>
              <a:rPr lang="en-US" dirty="0">
                <a:sym typeface="Wingdings" panose="05000000000000000000" pitchFamily="2" charset="2"/>
              </a:rPr>
              <a:t> = </a:t>
            </a:r>
            <a:r>
              <a:rPr lang="en-US" b="1" dirty="0">
                <a:solidFill>
                  <a:srgbClr val="FFC000"/>
                </a:solidFill>
                <a:sym typeface="Wingdings" panose="05000000000000000000" pitchFamily="2" charset="2"/>
              </a:rPr>
              <a:t>1 mol</a:t>
            </a:r>
            <a:r>
              <a:rPr lang="en-US" dirty="0">
                <a:sym typeface="Wingdings" panose="05000000000000000000" pitchFamily="2" charset="2"/>
              </a:rPr>
              <a:t> gas, 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V</a:t>
            </a:r>
            <a:r>
              <a:rPr lang="en-US" dirty="0">
                <a:sym typeface="Wingdings" panose="05000000000000000000" pitchFamily="2" charset="2"/>
              </a:rPr>
              <a:t> = </a:t>
            </a:r>
            <a:r>
              <a:rPr lang="en-US" b="1" dirty="0">
                <a:solidFill>
                  <a:srgbClr val="FFC000"/>
                </a:solidFill>
                <a:sym typeface="Wingdings" panose="05000000000000000000" pitchFamily="2" charset="2"/>
              </a:rPr>
              <a:t>22.4 L</a:t>
            </a:r>
          </a:p>
          <a:p>
            <a:r>
              <a:rPr lang="en-US" dirty="0">
                <a:sym typeface="Wingdings" panose="05000000000000000000" pitchFamily="2" charset="2"/>
              </a:rPr>
              <a:t>When “at STP” is used, it is a given that “1 mol gas = 22.4 L”</a:t>
            </a:r>
          </a:p>
        </p:txBody>
      </p:sp>
    </p:spTree>
    <p:extLst>
      <p:ext uri="{BB962C8B-B14F-4D97-AF65-F5344CB8AC3E}">
        <p14:creationId xmlns:p14="http://schemas.microsoft.com/office/powerpoint/2010/main" val="9209285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29427-7F08-2208-BCCA-00727CA03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FA4DA-C0D6-2AFE-EB3B-583C23DFE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99" y="254456"/>
            <a:ext cx="8421512" cy="769441"/>
          </a:xfrm>
        </p:spPr>
        <p:txBody>
          <a:bodyPr/>
          <a:lstStyle/>
          <a:p>
            <a:r>
              <a:rPr lang="en-US" sz="4400" dirty="0"/>
              <a:t>Titration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DA0F6-8280-9774-077B-7206954F7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65124"/>
            <a:ext cx="8387645" cy="5382432"/>
          </a:xfrm>
        </p:spPr>
        <p:txBody>
          <a:bodyPr/>
          <a:lstStyle/>
          <a:p>
            <a:r>
              <a:rPr lang="en-US" dirty="0">
                <a:solidFill>
                  <a:srgbClr val="00FF00"/>
                </a:solidFill>
                <a:sym typeface="Wingdings" panose="05000000000000000000" pitchFamily="2" charset="2"/>
              </a:rPr>
              <a:t>Titration</a:t>
            </a:r>
            <a:r>
              <a:rPr lang="en-US" dirty="0">
                <a:sym typeface="Wingdings" panose="05000000000000000000" pitchFamily="2" charset="2"/>
              </a:rPr>
              <a:t> is a technique to quantitatively determine an amount of a substance in a chemical reaction using a substance of known amount/concentration</a:t>
            </a:r>
          </a:p>
          <a:p>
            <a:r>
              <a:rPr lang="en-US" sz="2000" dirty="0">
                <a:sym typeface="Wingdings" panose="05000000000000000000" pitchFamily="2" charset="2"/>
              </a:rPr>
              <a:t>In an acid-base titration as example, a base solution of known concentration is added (from a volumetric instrument like a </a:t>
            </a:r>
            <a:r>
              <a:rPr lang="en-US" sz="2000" dirty="0" err="1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buret</a:t>
            </a:r>
            <a:r>
              <a:rPr lang="en-US" sz="2000" dirty="0">
                <a:sym typeface="Wingdings" panose="05000000000000000000" pitchFamily="2" charset="2"/>
              </a:rPr>
              <a:t>) to an acidic solution of unknown concentration to determine the concentration and amount of acid</a:t>
            </a:r>
          </a:p>
          <a:p>
            <a:r>
              <a:rPr lang="en-US" sz="2000" dirty="0">
                <a:sym typeface="Wingdings" panose="05000000000000000000" pitchFamily="2" charset="2"/>
              </a:rPr>
              <a:t>Presence of a pH-sensitive</a:t>
            </a:r>
            <a:br>
              <a:rPr lang="en-US" sz="2000" dirty="0">
                <a:sym typeface="Wingdings" panose="05000000000000000000" pitchFamily="2" charset="2"/>
              </a:rPr>
            </a:br>
            <a:r>
              <a:rPr lang="en-US" sz="2000" dirty="0">
                <a:sym typeface="Wingdings" panose="05000000000000000000" pitchFamily="2" charset="2"/>
              </a:rPr>
              <a:t>color indicator like</a:t>
            </a:r>
            <a:br>
              <a:rPr lang="en-US" sz="2000" dirty="0">
                <a:sym typeface="Wingdings" panose="05000000000000000000" pitchFamily="2" charset="2"/>
              </a:rPr>
            </a:br>
            <a:r>
              <a:rPr lang="en-US" sz="2000" dirty="0">
                <a:sym typeface="Wingdings" panose="05000000000000000000" pitchFamily="2" charset="2"/>
              </a:rPr>
              <a:t>phenolphthalein can help</a:t>
            </a:r>
            <a:br>
              <a:rPr lang="en-US" sz="2000" dirty="0">
                <a:sym typeface="Wingdings" panose="05000000000000000000" pitchFamily="2" charset="2"/>
              </a:rPr>
            </a:br>
            <a:r>
              <a:rPr lang="en-US" sz="2000" dirty="0">
                <a:sym typeface="Wingdings" panose="05000000000000000000" pitchFamily="2" charset="2"/>
              </a:rPr>
              <a:t>determine the </a:t>
            </a:r>
            <a:r>
              <a:rPr lang="en-US" sz="2000" dirty="0">
                <a:solidFill>
                  <a:srgbClr val="00FF00"/>
                </a:solidFill>
                <a:sym typeface="Wingdings" panose="05000000000000000000" pitchFamily="2" charset="2"/>
              </a:rPr>
              <a:t>end point </a:t>
            </a:r>
            <a:br>
              <a:rPr lang="en-US" sz="2000" dirty="0">
                <a:sym typeface="Wingdings" panose="05000000000000000000" pitchFamily="2" charset="2"/>
              </a:rPr>
            </a:br>
            <a:r>
              <a:rPr lang="en-US" sz="2000" dirty="0">
                <a:sym typeface="Wingdings" panose="05000000000000000000" pitchFamily="2" charset="2"/>
              </a:rPr>
              <a:t>or </a:t>
            </a:r>
            <a:r>
              <a:rPr lang="en-US" sz="2000" dirty="0">
                <a:solidFill>
                  <a:srgbClr val="00FF00"/>
                </a:solidFill>
                <a:sym typeface="Wingdings" panose="05000000000000000000" pitchFamily="2" charset="2"/>
              </a:rPr>
              <a:t>equivalence point </a:t>
            </a:r>
            <a:r>
              <a:rPr lang="en-US" sz="2000" dirty="0">
                <a:sym typeface="Wingdings" panose="05000000000000000000" pitchFamily="2" charset="2"/>
              </a:rPr>
              <a:t>for </a:t>
            </a:r>
            <a:br>
              <a:rPr lang="en-US" sz="2000" dirty="0">
                <a:sym typeface="Wingdings" panose="05000000000000000000" pitchFamily="2" charset="2"/>
              </a:rPr>
            </a:br>
            <a:r>
              <a:rPr lang="en-US" sz="2000" dirty="0">
                <a:sym typeface="Wingdings" panose="05000000000000000000" pitchFamily="2" charset="2"/>
              </a:rPr>
              <a:t>when acid and base are</a:t>
            </a:r>
            <a:br>
              <a:rPr lang="en-US" sz="2000" dirty="0">
                <a:sym typeface="Wingdings" panose="05000000000000000000" pitchFamily="2" charset="2"/>
              </a:rPr>
            </a:br>
            <a:r>
              <a:rPr lang="en-US" sz="2000" dirty="0">
                <a:sym typeface="Wingdings" panose="05000000000000000000" pitchFamily="2" charset="2"/>
              </a:rPr>
              <a:t>equal (neutralizing)</a:t>
            </a:r>
          </a:p>
        </p:txBody>
      </p:sp>
      <p:pic>
        <p:nvPicPr>
          <p:cNvPr id="7" name="Online Media 6" title="Titration Using Phenolphthalein">
            <a:hlinkClick r:id="" action="ppaction://media"/>
            <a:extLst>
              <a:ext uri="{FF2B5EF4-FFF2-40B4-BE49-F238E27FC236}">
                <a16:creationId xmlns:a16="http://schemas.microsoft.com/office/drawing/2014/main" id="{B39651D5-7113-CD00-5004-CECDA2BE7D85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4170125" y="3785016"/>
            <a:ext cx="4727878" cy="2670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386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29427-7F08-2208-BCCA-00727CA03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FA4DA-C0D6-2AFE-EB3B-583C23DFE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99" y="254456"/>
            <a:ext cx="8421512" cy="769441"/>
          </a:xfrm>
        </p:spPr>
        <p:txBody>
          <a:bodyPr/>
          <a:lstStyle/>
          <a:p>
            <a:r>
              <a:rPr lang="en-US" sz="4400" dirty="0"/>
              <a:t>Titration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5DA0F6-8280-9774-077B-7206954F7B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9466" y="1165124"/>
                <a:ext cx="8387645" cy="538243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25.66 mL</a:t>
                </a:r>
                <a:r>
                  <a:rPr lang="en-US" dirty="0">
                    <a:sym typeface="Wingdings" panose="05000000000000000000" pitchFamily="2" charset="2"/>
                  </a:rPr>
                  <a:t> of </a:t>
                </a:r>
                <a:r>
                  <a:rPr lang="en-US" b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0.1078 M</a:t>
                </a:r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HCl</a:t>
                </a:r>
                <a:r>
                  <a:rPr lang="en-US" dirty="0">
                    <a:sym typeface="Wingdings" panose="05000000000000000000" pitchFamily="2" charset="2"/>
                  </a:rPr>
                  <a:t> was used to titrate solution of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NaOH</a:t>
                </a:r>
                <a:r>
                  <a:rPr lang="en-US" dirty="0">
                    <a:sym typeface="Wingdings" panose="05000000000000000000" pitchFamily="2" charset="2"/>
                  </a:rPr>
                  <a:t> of unknown amount and mass</a:t>
                </a:r>
              </a:p>
              <a:p>
                <a:pPr>
                  <a:buClr>
                    <a:srgbClr val="FFFF00"/>
                  </a:buClr>
                </a:pPr>
                <a:r>
                  <a:rPr lang="en-US" sz="1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To solve:  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amount (moles) and mass (grams) of NaOH in solution</a:t>
                </a:r>
                <a:endParaRPr lang="en-US" sz="1800" baseline="-25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Wingdings" panose="05000000000000000000" pitchFamily="2" charset="2"/>
                </a:endParaRPr>
              </a:p>
              <a:p>
                <a:pPr>
                  <a:buClr>
                    <a:srgbClr val="FFFF00"/>
                  </a:buClr>
                </a:pPr>
                <a:r>
                  <a:rPr lang="en-US" sz="1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What principle of chemistry: 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Concentration times volume = amount (</a:t>
                </a:r>
                <a:r>
                  <a:rPr lang="en-US" sz="1800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CV=m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),</a:t>
                </a:r>
                <a:b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</a:b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Acid-base neutralization: 1 mol HCl neutralizes 1 mol NaOH</a:t>
                </a:r>
              </a:p>
              <a:p>
                <a:pPr marL="0" indent="0" algn="ctr">
                  <a:buClr>
                    <a:srgbClr val="FFFF00"/>
                  </a:buClr>
                  <a:buNone/>
                </a:pP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HCl + NaOH  H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O + NaCl</a:t>
                </a:r>
              </a:p>
              <a:p>
                <a:pPr>
                  <a:buClr>
                    <a:srgbClr val="FFFF00"/>
                  </a:buClr>
                </a:pPr>
                <a:r>
                  <a:rPr lang="en-US" sz="1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Identify given data and needed quantities:</a:t>
                </a:r>
              </a:p>
              <a:p>
                <a:pPr marL="461963" lvl="1" indent="-230188">
                  <a:buClr>
                    <a:srgbClr val="FFFF00"/>
                  </a:buClr>
                </a:pP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provided: </a:t>
                </a:r>
                <a:r>
                  <a:rPr lang="en-US" sz="1600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C= 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0.1078</a:t>
                </a:r>
                <a:r>
                  <a:rPr lang="en-US" sz="1600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M = 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0.1078 </a:t>
                </a:r>
                <a:r>
                  <a:rPr lang="en-US" sz="1600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mol/L, V = 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25.66 mL</a:t>
                </a:r>
                <a:r>
                  <a:rPr lang="en-US" sz="1600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= 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0.02566 L</a:t>
                </a:r>
                <a:r>
                  <a:rPr lang="en-US" sz="1600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,</a:t>
                </a:r>
                <a:br>
                  <a:rPr lang="en-US" sz="1600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</a:b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molar mass NaOH = 40.00 g/mol</a:t>
                </a:r>
              </a:p>
              <a:p>
                <a:pPr>
                  <a:buClr>
                    <a:srgbClr val="FFFF00"/>
                  </a:buClr>
                </a:pPr>
                <a:r>
                  <a:rPr lang="en-US" sz="1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Substitute values &amp; solve:</a:t>
                </a:r>
                <a:br>
                  <a:rPr lang="en-US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US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US" sz="1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02566 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L</m:t>
                        </m:r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solution</m:t>
                        </m:r>
                      </m:num>
                      <m:den>
                        <m: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0.1078 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HCl</m:t>
                        </m:r>
                      </m:num>
                      <m:den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L</m:t>
                        </m:r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solution</m:t>
                        </m:r>
                      </m:den>
                    </m:f>
                    <m: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NaOH</m:t>
                        </m:r>
                      </m:num>
                      <m:den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HCl</m:t>
                        </m:r>
                      </m:den>
                    </m:f>
                    <m: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0.002766</m:t>
                    </m:r>
                    <m: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mol</m:t>
                    </m:r>
                    <m: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NaOH</m:t>
                    </m:r>
                  </m:oMath>
                </a14:m>
                <a:endParaRPr lang="en-US" sz="1800" baseline="-25000" dirty="0">
                  <a:solidFill>
                    <a:srgbClr val="FFFF00"/>
                  </a:solidFill>
                </a:endParaRPr>
              </a:p>
              <a:p>
                <a:pPr>
                  <a:buClr>
                    <a:srgbClr val="FFFF00"/>
                  </a:buClr>
                </a:pPr>
                <a:endParaRPr lang="en-US" sz="1800" baseline="-25000" dirty="0">
                  <a:solidFill>
                    <a:srgbClr val="FFFF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0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0.002766 </m:t>
                      </m:r>
                      <m:r>
                        <m:rPr>
                          <m:sty m:val="p"/>
                        </m:rPr>
                        <a:rPr lang="en-US" sz="1800" b="0" i="0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mol</m:t>
                      </m:r>
                      <m:r>
                        <a:rPr lang="en-US" sz="1800" b="0" i="0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800" b="0" i="0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NaOH</m:t>
                      </m:r>
                      <m:r>
                        <a:rPr lang="en-US" sz="1800" b="0" i="0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×</m:t>
                      </m:r>
                      <m:f>
                        <m:fPr>
                          <m:ctrlPr>
                            <a:rPr lang="en-US" sz="18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r>
                            <a:rPr lang="en-US" sz="1800" b="0" i="0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40.00 </m:t>
                          </m:r>
                          <m:r>
                            <m:rPr>
                              <m:sty m:val="p"/>
                            </m:rPr>
                            <a:rPr lang="en-US" sz="1800" b="0" i="0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g</m:t>
                          </m:r>
                          <m:r>
                            <a:rPr lang="en-US" sz="1800" b="0" i="0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800" b="0" i="0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NaOH</m:t>
                          </m:r>
                        </m:num>
                        <m:den>
                          <m:r>
                            <a:rPr lang="en-US" sz="1800" b="0" i="0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1 </m:t>
                          </m:r>
                          <m:r>
                            <m:rPr>
                              <m:sty m:val="p"/>
                            </m:rPr>
                            <a:rPr lang="en-US" sz="1800" b="0" i="0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mol</m:t>
                          </m:r>
                          <m:r>
                            <a:rPr lang="en-US" sz="1800" b="0" i="0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800" b="0" i="0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NaOH</m:t>
                          </m:r>
                        </m:den>
                      </m:f>
                      <m:r>
                        <a:rPr lang="en-US" sz="1800" b="0" i="0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=0.1106 </m:t>
                      </m:r>
                      <m:r>
                        <m:rPr>
                          <m:sty m:val="p"/>
                        </m:rPr>
                        <a:rPr lang="en-US" sz="1800" b="0" i="0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g</m:t>
                      </m:r>
                      <m:r>
                        <a:rPr lang="en-US" sz="1800" b="0" i="0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800" b="0" i="0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NaOH</m:t>
                      </m:r>
                    </m:oMath>
                  </m:oMathPara>
                </a14:m>
                <a:endParaRPr lang="en-US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5DA0F6-8280-9774-077B-7206954F7B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9466" y="1165124"/>
                <a:ext cx="8387645" cy="5382432"/>
              </a:xfrm>
              <a:blipFill>
                <a:blip r:embed="rId2"/>
                <a:stretch>
                  <a:fillRect l="-1163" t="-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44585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2E4A6-B699-0E2D-F503-3A986A144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42925-E08E-235A-4656-B8ACB1103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99" y="254456"/>
            <a:ext cx="8421512" cy="769441"/>
          </a:xfrm>
        </p:spPr>
        <p:txBody>
          <a:bodyPr/>
          <a:lstStyle/>
          <a:p>
            <a:r>
              <a:rPr lang="en-US" sz="4400" dirty="0"/>
              <a:t>Titration Indicators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1E6D4-3205-EB84-6B69-DF60EEB93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599" y="1127648"/>
            <a:ext cx="8387645" cy="5382432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Titrations would usually be done using strong acids or bases in a </a:t>
            </a:r>
            <a:r>
              <a:rPr lang="en-US" dirty="0" err="1">
                <a:sym typeface="Wingdings" panose="05000000000000000000" pitchFamily="2" charset="2"/>
              </a:rPr>
              <a:t>buret</a:t>
            </a:r>
            <a:r>
              <a:rPr lang="en-US" dirty="0">
                <a:sym typeface="Wingdings" panose="05000000000000000000" pitchFamily="2" charset="2"/>
              </a:rPr>
              <a:t> to quantify levels of a weak acid or weak base with a pH indicator to indicate a transition from one delineating pH to another (such from acidic to neutral to basic or the other way around</a:t>
            </a:r>
          </a:p>
          <a:p>
            <a:pPr marL="0" indent="0">
              <a:buNone/>
            </a:pPr>
            <a:r>
              <a:rPr lang="en-US">
                <a:sym typeface="Wingdings" panose="05000000000000000000" pitchFamily="2" charset="2"/>
              </a:rPr>
              <a:t>Indicator will used </a:t>
            </a:r>
            <a:r>
              <a:rPr lang="en-US" dirty="0">
                <a:sym typeface="Wingdings" panose="05000000000000000000" pitchFamily="2" charset="2"/>
              </a:rPr>
              <a:t>in the Determination of Citric Acid Levels in a Soft Drink laboratory experiment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DE2AF7-57D9-A323-EE29-D503C4274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57" y="4547968"/>
            <a:ext cx="8078327" cy="188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4886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B8130-06F1-A541-CCEF-291709407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EA2DA-747D-6016-0170-9951C2AFB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99" y="254456"/>
            <a:ext cx="8421512" cy="769441"/>
          </a:xfrm>
        </p:spPr>
        <p:txBody>
          <a:bodyPr/>
          <a:lstStyle/>
          <a:p>
            <a:r>
              <a:rPr lang="en-US" sz="4400" dirty="0"/>
              <a:t>Limiting Reactant (Reagent)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47C17-F638-6689-6899-51BA1AE8B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599" y="1097668"/>
            <a:ext cx="8387645" cy="5382432"/>
          </a:xfrm>
        </p:spPr>
        <p:txBody>
          <a:bodyPr/>
          <a:lstStyle/>
          <a:p>
            <a:r>
              <a:rPr lang="en-US" sz="2200" dirty="0">
                <a:sym typeface="Wingdings" panose="05000000000000000000" pitchFamily="2" charset="2"/>
              </a:rPr>
              <a:t>Chemical reactions done in a laboratory do not have perfect amounts of reactants in a ratio for the chemical reaction equation</a:t>
            </a:r>
          </a:p>
          <a:p>
            <a:r>
              <a:rPr lang="en-US" sz="2200" dirty="0">
                <a:sym typeface="Wingdings" panose="05000000000000000000" pitchFamily="2" charset="2"/>
              </a:rPr>
              <a:t>Usually one reactant may be present in fewer/smaller mole amounts compared to another</a:t>
            </a:r>
          </a:p>
          <a:p>
            <a:r>
              <a:rPr lang="en-US" sz="2200" dirty="0">
                <a:sym typeface="Wingdings" panose="05000000000000000000" pitchFamily="2" charset="2"/>
              </a:rPr>
              <a:t>The reactant that is consumed first compared to other reactants is called the </a:t>
            </a:r>
            <a:r>
              <a:rPr lang="en-US" sz="2200" b="1" dirty="0">
                <a:solidFill>
                  <a:srgbClr val="00FF00"/>
                </a:solidFill>
                <a:sym typeface="Wingdings" panose="05000000000000000000" pitchFamily="2" charset="2"/>
              </a:rPr>
              <a:t>limiting reactant </a:t>
            </a:r>
            <a:r>
              <a:rPr lang="en-US" sz="2200" dirty="0">
                <a:sym typeface="Wingdings" panose="05000000000000000000" pitchFamily="2" charset="2"/>
              </a:rPr>
              <a:t>or limiting reagent. All other reactants are </a:t>
            </a:r>
            <a:r>
              <a:rPr lang="en-US" sz="2200" b="1" dirty="0">
                <a:solidFill>
                  <a:srgbClr val="00FF00"/>
                </a:solidFill>
                <a:sym typeface="Wingdings" panose="05000000000000000000" pitchFamily="2" charset="2"/>
              </a:rPr>
              <a:t>excess reactants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BBFE495-7FA5-4E0E-56E0-7BB053D74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531" y="4078971"/>
            <a:ext cx="5956922" cy="2534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86846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9A049-3DBE-4741-B8E9-BD730D8F7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A2193-7993-EF3E-02B0-AED5C9116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955" y="394566"/>
            <a:ext cx="8421512" cy="769441"/>
          </a:xfrm>
        </p:spPr>
        <p:txBody>
          <a:bodyPr/>
          <a:lstStyle/>
          <a:p>
            <a:r>
              <a:rPr lang="en-US" sz="4400" dirty="0"/>
              <a:t>Identifying the Limiting Reactant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E10C1-09BC-7803-35D7-61CD00E04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800" dirty="0">
                <a:solidFill>
                  <a:srgbClr val="00FF00"/>
                </a:solidFill>
                <a:sym typeface="Wingdings" panose="05000000000000000000" pitchFamily="2" charset="2"/>
              </a:rPr>
              <a:t>Reactant Mole Ratio Method</a:t>
            </a:r>
          </a:p>
          <a:p>
            <a:pPr marL="569913" lvl="1" indent="-393700">
              <a:buFont typeface="+mj-lt"/>
              <a:buAutoNum type="alphaLcPeriod"/>
            </a:pPr>
            <a:r>
              <a:rPr lang="en-US" sz="2400" dirty="0">
                <a:sym typeface="Wingdings" panose="05000000000000000000" pitchFamily="2" charset="2"/>
              </a:rPr>
              <a:t>Balance the chemical reaction equation</a:t>
            </a:r>
          </a:p>
          <a:p>
            <a:pPr marL="569913" lvl="1" indent="-393700">
              <a:buFont typeface="+mj-lt"/>
              <a:buAutoNum type="alphaLcPeriod"/>
            </a:pPr>
            <a:r>
              <a:rPr lang="en-US" sz="2400" dirty="0">
                <a:sym typeface="Wingdings" panose="05000000000000000000" pitchFamily="2" charset="2"/>
              </a:rPr>
              <a:t>Make sure everything is in moles: if masses (grams) given, use molar mass to convert</a:t>
            </a:r>
          </a:p>
          <a:p>
            <a:pPr marL="569913" lvl="1" indent="-393700">
              <a:buFont typeface="+mj-lt"/>
              <a:buAutoNum type="alphaLcPeriod"/>
            </a:pPr>
            <a:r>
              <a:rPr lang="en-US" sz="2400" dirty="0">
                <a:sym typeface="Wingdings" panose="05000000000000000000" pitchFamily="2" charset="2"/>
              </a:rPr>
              <a:t>Use info to calculate mole ratio: compare calculated ratio to actual ratio</a:t>
            </a:r>
          </a:p>
          <a:p>
            <a:pPr marL="569913" lvl="1" indent="-393700">
              <a:buFont typeface="+mj-lt"/>
              <a:buAutoNum type="alphaLcPeriod"/>
            </a:pPr>
            <a:r>
              <a:rPr lang="en-US" sz="2400" dirty="0">
                <a:sym typeface="Wingdings" panose="05000000000000000000" pitchFamily="2" charset="2"/>
              </a:rPr>
              <a:t>Now compute/estimate product amount from limiting reactant</a:t>
            </a:r>
          </a:p>
          <a:p>
            <a:pPr marL="569913" lvl="1" indent="-393700">
              <a:buFont typeface="+mj-lt"/>
              <a:buAutoNum type="alphaLcPeriod"/>
            </a:pPr>
            <a:r>
              <a:rPr lang="en-US" sz="2400" dirty="0">
                <a:sym typeface="Wingdings" panose="05000000000000000000" pitchFamily="2" charset="2"/>
              </a:rPr>
              <a:t>Determine as well amounts not reactant (left over) in the excess reactants/reagents</a:t>
            </a:r>
          </a:p>
          <a:p>
            <a:pPr marL="569913" lvl="1" indent="-393700">
              <a:buFont typeface="+mj-lt"/>
              <a:buAutoNum type="alphaLcPeriod"/>
            </a:pPr>
            <a:endParaRPr lang="en-US" dirty="0">
              <a:sym typeface="Wingdings" panose="05000000000000000000" pitchFamily="2" charset="2"/>
            </a:endParaRPr>
          </a:p>
          <a:p>
            <a:pPr marL="0" indent="0" algn="ctr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815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E83E6-1310-C568-0651-59D945D11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14C3F-3BBB-CC20-6A2E-CBBDFE4B1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955" y="394566"/>
            <a:ext cx="8421512" cy="769441"/>
          </a:xfrm>
        </p:spPr>
        <p:txBody>
          <a:bodyPr/>
          <a:lstStyle/>
          <a:p>
            <a:r>
              <a:rPr lang="en-US" sz="4400" dirty="0"/>
              <a:t>Identifying the Limiting Reactant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2DBF7-7BDB-34AF-426C-66176685C2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en-US" sz="2800" dirty="0">
                <a:solidFill>
                  <a:srgbClr val="00FF00"/>
                </a:solidFill>
                <a:sym typeface="Wingdings" panose="05000000000000000000" pitchFamily="2" charset="2"/>
              </a:rPr>
              <a:t>Product Method</a:t>
            </a:r>
          </a:p>
          <a:p>
            <a:pPr marL="569913" lvl="1" indent="-393700">
              <a:buFont typeface="+mj-lt"/>
              <a:buAutoNum type="alphaLcPeriod"/>
            </a:pPr>
            <a:r>
              <a:rPr lang="en-US" sz="2400" dirty="0">
                <a:sym typeface="Wingdings" panose="05000000000000000000" pitchFamily="2" charset="2"/>
              </a:rPr>
              <a:t>Balance the chemical reaction equation</a:t>
            </a:r>
          </a:p>
          <a:p>
            <a:pPr marL="569913" lvl="1" indent="-393700">
              <a:buFont typeface="+mj-lt"/>
              <a:buAutoNum type="alphaLcPeriod"/>
            </a:pPr>
            <a:r>
              <a:rPr lang="en-US" sz="2400" dirty="0">
                <a:sym typeface="Wingdings" panose="05000000000000000000" pitchFamily="2" charset="2"/>
              </a:rPr>
              <a:t>If necessary, convert all to moles</a:t>
            </a:r>
          </a:p>
          <a:p>
            <a:pPr marL="569913" lvl="1" indent="-393700">
              <a:buFont typeface="+mj-lt"/>
              <a:buAutoNum type="alphaLcPeriod"/>
            </a:pPr>
            <a:r>
              <a:rPr lang="en-US" sz="2400" dirty="0">
                <a:sym typeface="Wingdings" panose="05000000000000000000" pitchFamily="2" charset="2"/>
              </a:rPr>
              <a:t>Use stoichiometry for each reactant to find mass of product that will be produced</a:t>
            </a:r>
          </a:p>
          <a:p>
            <a:pPr marL="569913" lvl="1" indent="-393700">
              <a:buFont typeface="+mj-lt"/>
              <a:buAutoNum type="alphaLcPeriod"/>
            </a:pPr>
            <a:r>
              <a:rPr lang="en-US" sz="2400" dirty="0">
                <a:sym typeface="Wingdings" panose="05000000000000000000" pitchFamily="2" charset="2"/>
              </a:rPr>
              <a:t>The reactant producing lesser amount of product is the limiting reactant</a:t>
            </a:r>
          </a:p>
          <a:p>
            <a:pPr marL="569913" lvl="1" indent="-393700">
              <a:buFont typeface="+mj-lt"/>
              <a:buAutoNum type="alphaLcPeriod"/>
            </a:pPr>
            <a:r>
              <a:rPr lang="en-US" sz="2400" dirty="0">
                <a:sym typeface="Wingdings" panose="05000000000000000000" pitchFamily="2" charset="2"/>
              </a:rPr>
              <a:t>Reactant(s) producing larger amounts of product are the excess reactants</a:t>
            </a:r>
          </a:p>
          <a:p>
            <a:pPr marL="569913" lvl="1" indent="-393700">
              <a:buFont typeface="+mj-lt"/>
              <a:buAutoNum type="alphaLcPeriod"/>
            </a:pPr>
            <a:r>
              <a:rPr lang="en-US" sz="2400" dirty="0">
                <a:sym typeface="Wingdings" panose="05000000000000000000" pitchFamily="2" charset="2"/>
              </a:rPr>
              <a:t>If needed (perhaps to guard against waste), subtract excess reactant consumed from total excess reactant to be utilized</a:t>
            </a:r>
            <a:endParaRPr lang="en-US" dirty="0">
              <a:sym typeface="Wingdings" panose="05000000000000000000" pitchFamily="2" charset="2"/>
            </a:endParaRPr>
          </a:p>
          <a:p>
            <a:pPr marL="0" indent="0" algn="ctr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2788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A9EC2-6E11-7F8D-62F9-9390083C8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8B18-9230-F64C-9266-6994FA8B9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955" y="394566"/>
            <a:ext cx="8421512" cy="769441"/>
          </a:xfrm>
        </p:spPr>
        <p:txBody>
          <a:bodyPr/>
          <a:lstStyle/>
          <a:p>
            <a:r>
              <a:rPr lang="en-US" sz="4400" dirty="0"/>
              <a:t>Moles Reactant / Moles Product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08493-E4B6-DAF4-D8B2-8E4A92886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dirty="0">
              <a:sym typeface="Wingdings" panose="05000000000000000000" pitchFamily="2" charset="2"/>
            </a:endParaRPr>
          </a:p>
          <a:p>
            <a:pPr marL="0" indent="0" algn="ctr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F138D-680B-7B73-2B41-9FD9CE33E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558" y="1491121"/>
            <a:ext cx="6211484" cy="4976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5798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7BA8B-8F4F-F92F-EEFC-D074E6D63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FF557-4361-E1D0-B2A2-50819B2E4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99" y="254456"/>
            <a:ext cx="8421512" cy="769441"/>
          </a:xfrm>
        </p:spPr>
        <p:txBody>
          <a:bodyPr/>
          <a:lstStyle/>
          <a:p>
            <a:r>
              <a:rPr lang="en-US" sz="4400" dirty="0"/>
              <a:t>Practice: Reactant Limit/Excess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63B6EC-8B70-98A6-BA41-658AC328B6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532" y="1023897"/>
                <a:ext cx="8387645" cy="538243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76.4 g</a:t>
                </a:r>
                <a:r>
                  <a:rPr lang="en-US" sz="2000" dirty="0">
                    <a:sym typeface="Wingdings" panose="05000000000000000000" pitchFamily="2" charset="2"/>
                  </a:rPr>
                  <a:t> </a:t>
                </a:r>
                <a:r>
                  <a:rPr lang="en-US" sz="2000" dirty="0" err="1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tribromoethane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 </a:t>
                </a:r>
                <a:r>
                  <a:rPr lang="en-US" sz="2000" dirty="0">
                    <a:sym typeface="Wingdings" panose="05000000000000000000" pitchFamily="2" charset="2"/>
                  </a:rPr>
                  <a:t>reacts with </a:t>
                </a:r>
                <a:r>
                  <a:rPr lang="en-US" sz="2000" b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49.1 g</a:t>
                </a:r>
                <a:r>
                  <a:rPr lang="en-US" sz="2000" dirty="0">
                    <a:sym typeface="Wingdings" panose="05000000000000000000" pitchFamily="2" charset="2"/>
                  </a:rPr>
                  <a:t> 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oxygen</a:t>
                </a:r>
                <a:r>
                  <a:rPr lang="en-US" sz="2000" dirty="0">
                    <a:sym typeface="Wingdings" panose="05000000000000000000" pitchFamily="2" charset="2"/>
                  </a:rPr>
                  <a:t> in the reaction below. Which is limiting?</a:t>
                </a:r>
              </a:p>
              <a:p>
                <a:pPr marL="0" indent="0" algn="ctr">
                  <a:buNone/>
                </a:pPr>
                <a:r>
                  <a:rPr lang="en-US" sz="2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4 C</a:t>
                </a:r>
                <a:r>
                  <a:rPr lang="en-US" sz="2000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sz="2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H</a:t>
                </a:r>
                <a:r>
                  <a:rPr lang="en-US" sz="2000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sz="2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Br</a:t>
                </a:r>
                <a:r>
                  <a:rPr lang="en-US" sz="2000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sz="2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+ 11 O</a:t>
                </a:r>
                <a:r>
                  <a:rPr lang="en-US" sz="2000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sz="2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 8 CO</a:t>
                </a:r>
                <a:r>
                  <a:rPr lang="en-US" sz="2000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sz="2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+ 6 H</a:t>
                </a:r>
                <a:r>
                  <a:rPr lang="en-US" sz="2000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sz="2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O + 6 Br</a:t>
                </a:r>
                <a:r>
                  <a:rPr lang="en-US" sz="2000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2</a:t>
                </a:r>
              </a:p>
              <a:p>
                <a:pPr>
                  <a:buClr>
                    <a:srgbClr val="FFFF00"/>
                  </a:buClr>
                </a:pPr>
                <a:r>
                  <a:rPr lang="en-US" sz="1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To solve:  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convert reactants actual moles, compare one reactant to another in consumption</a:t>
                </a:r>
                <a:endParaRPr lang="en-US" sz="1800" baseline="-25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Wingdings" panose="05000000000000000000" pitchFamily="2" charset="2"/>
                </a:endParaRPr>
              </a:p>
              <a:p>
                <a:pPr>
                  <a:buClr>
                    <a:srgbClr val="FFFF00"/>
                  </a:buClr>
                </a:pPr>
                <a:r>
                  <a:rPr lang="en-US" sz="1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Identify given data and needed quantities:</a:t>
                </a:r>
              </a:p>
              <a:p>
                <a:pPr marL="461963" lvl="1" indent="-230188">
                  <a:buClr>
                    <a:srgbClr val="FFFF00"/>
                  </a:buClr>
                </a:pP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provided: masses: C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H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3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Br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3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= 76.4 g</a:t>
                </a:r>
                <a:r>
                  <a:rPr lang="en-US" sz="1600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, 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O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= 49.1 g; reaction ratio:  11 mol O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/ 4 mol C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H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3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Br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3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; molar masses: C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H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3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Br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3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= 266.72 g/mol</a:t>
                </a:r>
                <a:r>
                  <a:rPr lang="en-US" sz="1600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, 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O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= 32.00 g/mol, </a:t>
                </a:r>
              </a:p>
              <a:p>
                <a:pPr>
                  <a:buClr>
                    <a:srgbClr val="FFFF00"/>
                  </a:buClr>
                </a:pPr>
                <a:r>
                  <a:rPr lang="en-US" sz="1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Substitute values &amp; solve:</a:t>
                </a:r>
                <a:br>
                  <a:rPr lang="en-US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</a:b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76.4 </m:t>
                    </m:r>
                    <m:r>
                      <m:rPr>
                        <m:sty m:val="p"/>
                      </m:rP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sz="1600" baseline="-250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600" baseline="-250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Br</m:t>
                    </m:r>
                    <m:r>
                      <a:rPr lang="en-US" sz="1600" baseline="-250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sz="1600" baseline="-250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600" baseline="-250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Br</m:t>
                        </m:r>
                        <m:r>
                          <a:rPr lang="en-US" sz="1600" baseline="-250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266.72 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sz="1600" baseline="-250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600" baseline="-250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Br</m:t>
                        </m:r>
                        <m:r>
                          <a:rPr lang="en-US" sz="1600" baseline="-250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11 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a:rPr lang="en-US" sz="1600" b="0" i="0" baseline="-2500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4 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sz="1600" baseline="-250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600" baseline="-250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Br</m:t>
                        </m:r>
                        <m:r>
                          <a:rPr lang="en-US" sz="1600" baseline="-250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0.788</m:t>
                    </m:r>
                    <m: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mol</m:t>
                    </m:r>
                    <m: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sz="1600" b="0" i="0" baseline="-250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2  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needed</m:t>
                    </m:r>
                    <m:r>
                      <a:rPr lang="en-US" sz="16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consumed</m:t>
                    </m:r>
                  </m:oMath>
                </a14:m>
                <a:endParaRPr lang="en-US" sz="1600" dirty="0">
                  <a:solidFill>
                    <a:srgbClr val="FFFF00"/>
                  </a:solidFill>
                </a:endParaRPr>
              </a:p>
              <a:p>
                <a:pPr>
                  <a:buClr>
                    <a:srgbClr val="FFFF00"/>
                  </a:buClr>
                </a:pPr>
                <a:endParaRPr lang="en-US" sz="1600" baseline="-25000" dirty="0">
                  <a:solidFill>
                    <a:srgbClr val="FFFF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0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49.1 </m:t>
                      </m:r>
                      <m:r>
                        <m:rPr>
                          <m:sty m:val="p"/>
                        </m:rPr>
                        <a:rPr lang="en-US" sz="1600" b="0" i="0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g</m:t>
                      </m:r>
                      <m:r>
                        <a:rPr lang="en-US" sz="1600" b="0" i="0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O</m:t>
                      </m:r>
                      <m:r>
                        <a:rPr lang="en-US" sz="1600" b="0" i="0" baseline="-25000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2</m:t>
                      </m:r>
                      <m:r>
                        <a:rPr lang="en-US" sz="1600" b="0" i="0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×</m:t>
                      </m:r>
                      <m:f>
                        <m:fPr>
                          <m:ctrlPr>
                            <a:rPr lang="en-US" sz="16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r>
                            <a:rPr lang="en-US" sz="1600" b="0" i="0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1 </m:t>
                          </m:r>
                          <m:r>
                            <m:rPr>
                              <m:sty m:val="p"/>
                            </m:rPr>
                            <a:rPr lang="en-US" sz="1600" b="0" i="0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mol</m:t>
                          </m:r>
                          <m:r>
                            <a:rPr lang="en-US" sz="1600" b="0" i="0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b="0" i="0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O</m:t>
                          </m:r>
                          <m:r>
                            <a:rPr lang="en-US" sz="1600" b="0" i="0" baseline="-25000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2</m:t>
                          </m:r>
                        </m:num>
                        <m:den>
                          <m:r>
                            <a:rPr lang="en-US" sz="1600" b="0" i="0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32.00 </m:t>
                          </m:r>
                          <m:r>
                            <m:rPr>
                              <m:sty m:val="p"/>
                            </m:rPr>
                            <a:rPr lang="en-US" sz="1600" b="0" i="0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g</m:t>
                          </m:r>
                          <m:r>
                            <a:rPr lang="en-US" sz="1600" b="0" i="0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b="0" i="0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O</m:t>
                          </m:r>
                          <m:r>
                            <a:rPr lang="en-US" sz="1600" b="0" i="0" baseline="-25000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2</m:t>
                          </m:r>
                        </m:den>
                      </m:f>
                      <m:r>
                        <a:rPr lang="en-US" sz="1600" b="0" i="0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=1.53 </m:t>
                      </m:r>
                      <m:r>
                        <m:rPr>
                          <m:sty m:val="p"/>
                        </m:rPr>
                        <a:rPr lang="en-US" sz="1600" b="0" i="0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mol</m:t>
                      </m:r>
                      <m:r>
                        <a:rPr lang="en-US" sz="1600" b="0" i="0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O</m:t>
                      </m:r>
                      <m:r>
                        <a:rPr lang="en-US" sz="1600" b="0" i="0" baseline="-25000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2 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available</m:t>
                      </m:r>
                    </m:oMath>
                  </m:oMathPara>
                </a14:m>
                <a:endParaRPr lang="en-US" sz="1600" b="0" dirty="0"/>
              </a:p>
              <a:p>
                <a:pPr marL="0" indent="0">
                  <a:buNone/>
                </a:pPr>
                <a:endParaRPr lang="en-US" sz="1600" baseline="-25000" dirty="0">
                  <a:sym typeface="Wingdings" panose="05000000000000000000" pitchFamily="2" charset="2"/>
                </a:endParaRPr>
              </a:p>
              <a:p>
                <a:pPr marL="0" indent="0">
                  <a:buClr>
                    <a:srgbClr val="FFFF00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49.1</m:t>
                      </m:r>
                      <m:r>
                        <a:rPr lang="en-US" sz="16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g</m:t>
                      </m:r>
                      <m: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en-US" sz="1600" b="0" i="0" baseline="-250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mol</m:t>
                          </m:r>
                          <m: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  <m:r>
                            <a:rPr lang="en-US" sz="1600" b="0" i="0" baseline="-250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32.00 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g</m:t>
                          </m:r>
                          <m: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  <m:r>
                            <a:rPr lang="en-US" sz="1600" b="0" i="0" baseline="-250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mol</m:t>
                          </m:r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1600" baseline="-250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600" baseline="-250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Br</m:t>
                          </m:r>
                          <m:r>
                            <a:rPr lang="en-US" sz="1600" baseline="-250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11 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mol</m:t>
                          </m:r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  <m:r>
                            <a:rPr lang="en-US" sz="1600" baseline="-250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sz="16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558 </m:t>
                      </m:r>
                      <m:r>
                        <m:rPr>
                          <m:sty m:val="p"/>
                        </m:rP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mol</m:t>
                      </m:r>
                      <m:r>
                        <a:rPr lang="en-US" sz="16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sz="1600" baseline="-250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1600" baseline="-250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m:rPr>
                          <m:sty m:val="p"/>
                        </m:rP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Br</m:t>
                      </m:r>
                      <m:r>
                        <a:rPr lang="en-US" sz="1600" baseline="-250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600" b="0" i="0" baseline="-250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needed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consumed</m:t>
                      </m:r>
                    </m:oMath>
                  </m:oMathPara>
                </a14:m>
                <a:endParaRPr lang="en-US" sz="1600" dirty="0">
                  <a:solidFill>
                    <a:srgbClr val="FFFF00"/>
                  </a:solidFill>
                </a:endParaRPr>
              </a:p>
              <a:p>
                <a:pPr>
                  <a:buClr>
                    <a:srgbClr val="FFFF00"/>
                  </a:buClr>
                </a:pPr>
                <a:endParaRPr lang="en-US" sz="1600" baseline="-25000" dirty="0">
                  <a:solidFill>
                    <a:srgbClr val="FFFF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0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76.4</m:t>
                      </m:r>
                      <m:r>
                        <a:rPr lang="en-US" sz="1600" dirty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dirty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g</m:t>
                      </m:r>
                      <m:r>
                        <a:rPr lang="en-US" sz="1600" b="0" i="0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sz="1600" baseline="-250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1600" baseline="-250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m:rPr>
                          <m:sty m:val="p"/>
                        </m:rP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Br</m:t>
                      </m:r>
                      <m:r>
                        <a:rPr lang="en-US" sz="1600" baseline="-250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600" dirty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×</m:t>
                      </m:r>
                      <m:f>
                        <m:fPr>
                          <m:ctrlPr>
                            <a:rPr lang="en-US" sz="1600" i="1" dirty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r>
                            <a:rPr lang="en-US" sz="1600" dirty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1 </m:t>
                          </m:r>
                          <m:r>
                            <m:rPr>
                              <m:sty m:val="p"/>
                            </m:rPr>
                            <a:rPr lang="en-US" sz="1600" dirty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mol</m:t>
                          </m:r>
                          <m:r>
                            <a:rPr lang="en-US" sz="1600" b="0" i="0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1600" baseline="-250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600" baseline="-250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Br</m:t>
                          </m:r>
                          <m:r>
                            <a:rPr lang="en-US" sz="1600" baseline="-250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1600" b="0" i="0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266.72</m:t>
                          </m:r>
                          <m:r>
                            <a:rPr lang="en-US" sz="1600" dirty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dirty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g</m:t>
                          </m:r>
                          <m:r>
                            <a:rPr lang="en-US" sz="1600" b="0" i="0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1600" baseline="-250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600" baseline="-250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Br</m:t>
                          </m:r>
                          <m:r>
                            <a:rPr lang="en-US" sz="1600" baseline="-250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1600" dirty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US" sz="1600" b="0" i="0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0.286</m:t>
                      </m:r>
                      <m:r>
                        <a:rPr lang="en-US" sz="1600" dirty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dirty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mol</m:t>
                      </m:r>
                      <m:r>
                        <a:rPr lang="en-US" sz="1600" b="0" i="0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sz="1600" baseline="-250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1600" baseline="-250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m:rPr>
                          <m:sty m:val="p"/>
                        </m:rP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Br</m:t>
                      </m:r>
                      <m:r>
                        <a:rPr lang="en-US" sz="1600" baseline="-250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600" b="0" i="0" baseline="-250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>
                          <a:latin typeface="Cambria Math" panose="02040503050406030204" pitchFamily="18" charset="0"/>
                        </a:rPr>
                        <m:t>available</m:t>
                      </m:r>
                    </m:oMath>
                  </m:oMathPara>
                </a14:m>
                <a:endParaRPr lang="en-US" sz="1600" baseline="-250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en-US" sz="1600" baseline="-250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63B6EC-8B70-98A6-BA41-658AC328B6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532" y="1023897"/>
                <a:ext cx="8387645" cy="5382432"/>
              </a:xfrm>
              <a:blipFill>
                <a:blip r:embed="rId2"/>
                <a:stretch>
                  <a:fillRect l="-727" t="-680" r="-945" b="-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24295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AD147-E6A1-F158-52E2-E63D7FF79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2CAFF-8D38-1CDC-61CA-034CC9C14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99" y="254456"/>
            <a:ext cx="8421512" cy="769441"/>
          </a:xfrm>
        </p:spPr>
        <p:txBody>
          <a:bodyPr/>
          <a:lstStyle/>
          <a:p>
            <a:r>
              <a:rPr lang="en-US" sz="4400" dirty="0"/>
              <a:t>Practice: Reactant Limit/Excess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58CCB1-B9F2-2ABC-9610-915621906C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7522" y="1023897"/>
                <a:ext cx="8387645" cy="538243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2.40 g</a:t>
                </a:r>
                <a:r>
                  <a:rPr lang="en-US" sz="1800" dirty="0">
                    <a:sym typeface="Wingdings" panose="05000000000000000000" pitchFamily="2" charset="2"/>
                  </a:rPr>
                  <a:t> </a:t>
                </a:r>
                <a:r>
                  <a:rPr lang="en-US" sz="18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magnesium </a:t>
                </a:r>
                <a:r>
                  <a:rPr lang="en-US" sz="1800" dirty="0">
                    <a:sym typeface="Wingdings" panose="05000000000000000000" pitchFamily="2" charset="2"/>
                  </a:rPr>
                  <a:t>reacts with </a:t>
                </a:r>
                <a:r>
                  <a:rPr lang="en-US" sz="1800" b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10.0 g</a:t>
                </a:r>
                <a:r>
                  <a:rPr lang="en-US" sz="1800" dirty="0">
                    <a:sym typeface="Wingdings" panose="05000000000000000000" pitchFamily="2" charset="2"/>
                  </a:rPr>
                  <a:t> </a:t>
                </a:r>
                <a:r>
                  <a:rPr lang="en-US" sz="18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oxygen</a:t>
                </a:r>
                <a:r>
                  <a:rPr lang="en-US" sz="1800" dirty="0">
                    <a:sym typeface="Wingdings" panose="05000000000000000000" pitchFamily="2" charset="2"/>
                  </a:rPr>
                  <a:t> to make MgO. Which is limiting?</a:t>
                </a:r>
              </a:p>
              <a:p>
                <a:pPr marL="0" indent="0" algn="ctr">
                  <a:buNone/>
                </a:pPr>
                <a:r>
                  <a:rPr lang="en-US" sz="18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2 Mg (s) + O</a:t>
                </a:r>
                <a:r>
                  <a:rPr lang="en-US" sz="1800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sz="18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(g)  2 MgO (s)</a:t>
                </a:r>
                <a:endParaRPr lang="en-US" sz="1800" baseline="-25000" dirty="0">
                  <a:solidFill>
                    <a:srgbClr val="FFC000"/>
                  </a:solidFill>
                  <a:sym typeface="Wingdings" panose="05000000000000000000" pitchFamily="2" charset="2"/>
                </a:endParaRPr>
              </a:p>
              <a:p>
                <a:pPr>
                  <a:buClr>
                    <a:srgbClr val="FFFF00"/>
                  </a:buClr>
                </a:pPr>
                <a:r>
                  <a:rPr lang="en-US" sz="1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Identify given data and needed quantities:</a:t>
                </a:r>
              </a:p>
              <a:p>
                <a:pPr marL="461963" lvl="1" indent="-230188">
                  <a:buClr>
                    <a:srgbClr val="FFFF00"/>
                  </a:buClr>
                </a:pP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provided: Mg: mass = 76.4 g</a:t>
                </a:r>
                <a:r>
                  <a:rPr lang="en-US" sz="1800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, 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molar mass = 24.31 g/mol; O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: mass = 10.0 g; molar mass = 32.00 g/mol, MgO: molar mass = 40.31 g/mol</a:t>
                </a:r>
              </a:p>
              <a:p>
                <a:pPr>
                  <a:buClr>
                    <a:srgbClr val="FFFF00"/>
                  </a:buClr>
                </a:pPr>
                <a:r>
                  <a:rPr lang="en-US" sz="1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Substitute values &amp; solve:</a:t>
                </a:r>
              </a:p>
              <a:p>
                <a:pPr marL="0" indent="0">
                  <a:buClr>
                    <a:srgbClr val="FFFF00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6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.4</m:t>
                      </m:r>
                      <m:r>
                        <a:rPr lang="en-US" sz="16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6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g</m:t>
                      </m:r>
                      <m: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Mg</m:t>
                      </m:r>
                      <m: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mol</m:t>
                          </m:r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Mg</m:t>
                          </m:r>
                        </m:num>
                        <m:den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24.31 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g</m:t>
                          </m:r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Mg</m:t>
                          </m:r>
                        </m:den>
                      </m:f>
                      <m: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mol</m:t>
                          </m:r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  <m:r>
                            <a:rPr lang="en-US" sz="1600" b="0" i="0" baseline="-250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mol</m:t>
                          </m:r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Mg</m:t>
                          </m:r>
                        </m:den>
                      </m:f>
                      <m: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32.00 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g</m:t>
                          </m:r>
                          <m: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  <m:r>
                            <a:rPr lang="en-US" sz="1600" baseline="-250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mol</m:t>
                          </m:r>
                          <m: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  <m:r>
                            <a:rPr lang="en-US" sz="1600" b="0" i="0" baseline="-250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1.</m:t>
                      </m:r>
                      <m:r>
                        <a:rPr lang="en-US" sz="16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58</m:t>
                      </m:r>
                      <m: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g</m:t>
                      </m:r>
                      <m: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en-US" sz="1600" b="0" i="0" baseline="-250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2  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needed</m:t>
                      </m:r>
                      <m:r>
                        <a:rPr lang="en-US" sz="1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consumed</m:t>
                      </m:r>
                    </m:oMath>
                  </m:oMathPara>
                </a14:m>
                <a:endParaRPr lang="en-US" sz="1600" dirty="0">
                  <a:solidFill>
                    <a:srgbClr val="FFFF00"/>
                  </a:solidFill>
                </a:endParaRPr>
              </a:p>
              <a:p>
                <a:pPr>
                  <a:buClr>
                    <a:srgbClr val="FFFF00"/>
                  </a:buClr>
                </a:pPr>
                <a:endParaRPr lang="en-US" sz="1600" baseline="-25000" dirty="0">
                  <a:solidFill>
                    <a:srgbClr val="FFFF00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b="0" i="0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10.0 </m:t>
                    </m:r>
                    <m:r>
                      <m:rPr>
                        <m:sty m:val="p"/>
                      </m:rPr>
                      <a:rPr lang="en-US" sz="1600" b="0" i="0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g</m:t>
                    </m:r>
                    <m:r>
                      <a:rPr lang="en-US" sz="1600" b="0" i="0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O</m:t>
                    </m:r>
                    <m:r>
                      <a:rPr lang="en-US" sz="1600" b="0" i="0" baseline="-25000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2</m:t>
                    </m:r>
                    <m:r>
                      <a:rPr lang="en-US" sz="1600" b="0" i="0" baseline="-25000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available</m:t>
                    </m:r>
                  </m:oMath>
                </a14:m>
                <a:r>
                  <a:rPr lang="en-US" sz="1600" b="0" dirty="0"/>
                  <a:t>, O</a:t>
                </a:r>
                <a:r>
                  <a:rPr lang="en-US" sz="1600" b="0" baseline="-25000" dirty="0"/>
                  <a:t>2</a:t>
                </a:r>
                <a:r>
                  <a:rPr lang="en-US" sz="1600" b="0" dirty="0"/>
                  <a:t> in excess, Mg in limiting</a:t>
                </a:r>
              </a:p>
              <a:p>
                <a:pPr marL="0" indent="0">
                  <a:buNone/>
                </a:pPr>
                <a:endParaRPr lang="en-US" sz="1600" baseline="-250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2.40 </m:t>
                      </m:r>
                      <m:r>
                        <m:rPr>
                          <m:sty m:val="p"/>
                        </m:rP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g</m:t>
                      </m:r>
                      <m: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Mg</m:t>
                      </m:r>
                      <m: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mol</m:t>
                          </m:r>
                          <m: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Mg</m:t>
                          </m:r>
                        </m:num>
                        <m:den>
                          <m: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24.31 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g</m:t>
                          </m:r>
                          <m: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Mg</m:t>
                          </m:r>
                        </m:den>
                      </m:f>
                      <m: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mol</m:t>
                          </m:r>
                          <m: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MgO</m:t>
                          </m:r>
                        </m:num>
                        <m:den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mol</m:t>
                          </m:r>
                          <m: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Mg</m:t>
                          </m:r>
                        </m:den>
                      </m:f>
                      <m: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40.31</m:t>
                          </m:r>
                          <m: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g</m:t>
                          </m:r>
                          <m: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MgO</m:t>
                          </m:r>
                        </m:num>
                        <m:den>
                          <m: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mol</m:t>
                          </m:r>
                          <m: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MgO</m:t>
                          </m:r>
                        </m:den>
                      </m:f>
                      <m:r>
                        <a:rPr lang="en-US" sz="16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=3.98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g</m:t>
                      </m:r>
                      <m:r>
                        <a:rPr lang="en-US" sz="16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MgO</m:t>
                      </m:r>
                      <m:r>
                        <a:rPr lang="en-US" sz="16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to</m:t>
                      </m:r>
                      <m:r>
                        <a:rPr lang="en-US" sz="16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be</m:t>
                      </m:r>
                      <m:r>
                        <a:rPr lang="en-US" sz="16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produced</m:t>
                      </m:r>
                      <m:r>
                        <a:rPr lang="en-US" sz="16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58CCB1-B9F2-2ABC-9610-915621906C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7522" y="1023897"/>
                <a:ext cx="8387645" cy="5382432"/>
              </a:xfrm>
              <a:blipFill>
                <a:blip r:embed="rId2"/>
                <a:stretch>
                  <a:fillRect l="-655" t="-680" r="-4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07638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87F73-A8B0-D03D-C6FB-79E4A9057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370D4-1079-27EB-C32C-2B99EFE15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99" y="254456"/>
            <a:ext cx="8421512" cy="769441"/>
          </a:xfrm>
        </p:spPr>
        <p:txBody>
          <a:bodyPr/>
          <a:lstStyle/>
          <a:p>
            <a:r>
              <a:rPr lang="en-US" sz="4400" dirty="0"/>
              <a:t>Practice: Reactant Limit/Excess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87AB8A-EDD5-4E1B-2944-2BC6A2881E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7522" y="1023897"/>
                <a:ext cx="8387645" cy="538243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22.7 g </a:t>
                </a:r>
                <a:r>
                  <a:rPr lang="en-US" sz="18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MgO</a:t>
                </a:r>
                <a:r>
                  <a:rPr lang="en-US" sz="1800" b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</a:t>
                </a:r>
                <a:r>
                  <a:rPr lang="en-US" sz="1800" dirty="0">
                    <a:sym typeface="Wingdings" panose="05000000000000000000" pitchFamily="2" charset="2"/>
                  </a:rPr>
                  <a:t>reacts with </a:t>
                </a:r>
                <a:r>
                  <a:rPr lang="en-US" sz="1800" b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17.9 g</a:t>
                </a:r>
                <a:r>
                  <a:rPr lang="en-US" sz="1800" dirty="0">
                    <a:sym typeface="Wingdings" panose="05000000000000000000" pitchFamily="2" charset="2"/>
                  </a:rPr>
                  <a:t> </a:t>
                </a:r>
                <a:r>
                  <a:rPr lang="en-US" sz="18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H</a:t>
                </a:r>
                <a:r>
                  <a:rPr lang="en-US" sz="1800" baseline="-25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sz="18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S</a:t>
                </a:r>
                <a:r>
                  <a:rPr lang="en-US" sz="1800" dirty="0">
                    <a:sym typeface="Wingdings" panose="05000000000000000000" pitchFamily="2" charset="2"/>
                  </a:rPr>
                  <a:t> to make </a:t>
                </a:r>
                <a:r>
                  <a:rPr lang="en-US" sz="1800" dirty="0" err="1">
                    <a:sym typeface="Wingdings" panose="05000000000000000000" pitchFamily="2" charset="2"/>
                  </a:rPr>
                  <a:t>MgS</a:t>
                </a:r>
                <a:r>
                  <a:rPr lang="en-US" sz="1800" dirty="0">
                    <a:sym typeface="Wingdings" panose="05000000000000000000" pitchFamily="2" charset="2"/>
                  </a:rPr>
                  <a:t> and H</a:t>
                </a:r>
                <a:r>
                  <a:rPr lang="en-US" sz="1800" baseline="-25000" dirty="0">
                    <a:sym typeface="Wingdings" panose="05000000000000000000" pitchFamily="2" charset="2"/>
                  </a:rPr>
                  <a:t>2</a:t>
                </a:r>
                <a:r>
                  <a:rPr lang="en-US" sz="1800" dirty="0">
                    <a:sym typeface="Wingdings" panose="05000000000000000000" pitchFamily="2" charset="2"/>
                  </a:rPr>
                  <a:t>O. What is mass of excess reactant that will remain?</a:t>
                </a:r>
              </a:p>
              <a:p>
                <a:pPr marL="0" indent="0" algn="ctr">
                  <a:buNone/>
                </a:pPr>
                <a:r>
                  <a:rPr lang="en-US" sz="18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MgO (</a:t>
                </a:r>
                <a:r>
                  <a:rPr lang="en-US" sz="1800" i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s</a:t>
                </a:r>
                <a:r>
                  <a:rPr lang="en-US" sz="18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 + H</a:t>
                </a:r>
                <a:r>
                  <a:rPr lang="en-US" sz="1800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sz="18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S (</a:t>
                </a:r>
                <a:r>
                  <a:rPr lang="en-US" sz="1800" i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g</a:t>
                </a:r>
                <a:r>
                  <a:rPr lang="en-US" sz="18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  </a:t>
                </a:r>
                <a:r>
                  <a:rPr lang="en-US" sz="1800" dirty="0" err="1">
                    <a:solidFill>
                      <a:srgbClr val="FFC000"/>
                    </a:solidFill>
                    <a:sym typeface="Wingdings" panose="05000000000000000000" pitchFamily="2" charset="2"/>
                  </a:rPr>
                  <a:t>MgS</a:t>
                </a:r>
                <a:r>
                  <a:rPr lang="en-US" sz="18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(</a:t>
                </a:r>
                <a:r>
                  <a:rPr lang="en-US" sz="1800" i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s</a:t>
                </a:r>
                <a:r>
                  <a:rPr lang="en-US" sz="18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 + H</a:t>
                </a:r>
                <a:r>
                  <a:rPr lang="en-US" sz="1800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sz="18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O (</a:t>
                </a:r>
                <a:r>
                  <a:rPr lang="en-US" sz="1800" i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l</a:t>
                </a:r>
                <a:r>
                  <a:rPr lang="en-US" sz="18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</a:t>
                </a:r>
                <a:endParaRPr lang="en-US" sz="1800" baseline="-25000" dirty="0">
                  <a:solidFill>
                    <a:srgbClr val="FFC000"/>
                  </a:solidFill>
                  <a:sym typeface="Wingdings" panose="05000000000000000000" pitchFamily="2" charset="2"/>
                </a:endParaRPr>
              </a:p>
              <a:p>
                <a:pPr>
                  <a:buClr>
                    <a:srgbClr val="FFFF00"/>
                  </a:buClr>
                </a:pPr>
                <a:r>
                  <a:rPr lang="en-US" sz="1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Identify given data and needed quantities:</a:t>
                </a:r>
              </a:p>
              <a:p>
                <a:pPr marL="461963" lvl="1" indent="-230188">
                  <a:buClr>
                    <a:srgbClr val="FFFF00"/>
                  </a:buClr>
                </a:pP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provided: MgO: mass = 22.7 g</a:t>
                </a:r>
                <a:r>
                  <a:rPr lang="en-US" sz="1800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, 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molar mass = 40.304 g/mol;</a:t>
                </a:r>
                <a:b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</a:b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H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S: mass = 17.9 g molar mass = 34.082 g/mol</a:t>
                </a:r>
              </a:p>
              <a:p>
                <a:pPr>
                  <a:buClr>
                    <a:srgbClr val="FFFF00"/>
                  </a:buClr>
                </a:pPr>
                <a:r>
                  <a:rPr lang="en-US" sz="1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Substitute values &amp; solve:</a:t>
                </a:r>
              </a:p>
              <a:p>
                <a:pPr marL="0" indent="0">
                  <a:buClr>
                    <a:srgbClr val="FFFF00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22</m:t>
                      </m:r>
                      <m:r>
                        <a:rPr lang="en-US" sz="16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6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sz="16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g</m:t>
                      </m:r>
                      <m: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MgO</m:t>
                      </m:r>
                      <m: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mol</m:t>
                          </m:r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MgO</m:t>
                          </m:r>
                        </m:num>
                        <m:den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40.304 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g</m:t>
                          </m:r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MgO</m:t>
                          </m:r>
                        </m:den>
                      </m:f>
                      <m: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mol</m:t>
                          </m:r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600" b="0" i="0" baseline="-250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num>
                        <m:den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mol</m:t>
                          </m:r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MgO</m:t>
                          </m:r>
                        </m:den>
                      </m:f>
                      <m: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34.082 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g</m:t>
                          </m:r>
                          <m: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600" b="0" i="0" baseline="-250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num>
                        <m:den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mol</m:t>
                          </m:r>
                          <m: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600" b="0" i="0" baseline="-250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den>
                      </m:f>
                      <m: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19.2</m:t>
                      </m:r>
                      <m: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g</m:t>
                      </m:r>
                      <m: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1600" b="0" i="0" baseline="-250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sz="1600" b="0" i="0" baseline="-250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needed</m:t>
                      </m:r>
                      <m:r>
                        <a:rPr lang="en-US" sz="1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consumed</m:t>
                      </m:r>
                    </m:oMath>
                  </m:oMathPara>
                </a14:m>
                <a:endParaRPr lang="en-US" sz="1600" dirty="0">
                  <a:solidFill>
                    <a:srgbClr val="FFFF00"/>
                  </a:solidFill>
                </a:endParaRPr>
              </a:p>
              <a:p>
                <a:pPr>
                  <a:buClr>
                    <a:srgbClr val="FFFF00"/>
                  </a:buClr>
                </a:pPr>
                <a:endParaRPr lang="en-US" sz="1600" baseline="-25000" dirty="0">
                  <a:solidFill>
                    <a:srgbClr val="FFFF00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b="0" i="0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17.9 </m:t>
                    </m:r>
                    <m:r>
                      <m:rPr>
                        <m:sty m:val="p"/>
                      </m:rPr>
                      <a:rPr lang="en-US" sz="1600" b="0" i="0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g</m:t>
                    </m:r>
                    <m:r>
                      <a:rPr lang="en-US" sz="1600" b="0" i="0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H</m:t>
                    </m:r>
                    <m:r>
                      <a:rPr lang="en-US" sz="1600" b="0" i="0" baseline="-25000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2</m:t>
                    </m:r>
                    <m:r>
                      <m:rPr>
                        <m:sty m:val="p"/>
                      </m:rPr>
                      <a:rPr lang="en-US" sz="1600" b="0" i="0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S</m:t>
                    </m:r>
                    <m:r>
                      <a:rPr lang="en-US" sz="1600" b="0" i="0" baseline="-25000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 </m:t>
                    </m:r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available</m:t>
                    </m:r>
                  </m:oMath>
                </a14:m>
                <a:r>
                  <a:rPr lang="en-US" sz="1600" b="0" dirty="0"/>
                  <a:t>, MgO in excess, H</a:t>
                </a:r>
                <a:r>
                  <a:rPr lang="en-US" sz="1600" b="0" baseline="-25000" dirty="0"/>
                  <a:t>2</a:t>
                </a:r>
                <a:r>
                  <a:rPr lang="en-US" sz="1600" b="0" dirty="0"/>
                  <a:t>S in limiting</a:t>
                </a:r>
              </a:p>
              <a:p>
                <a:pPr marL="0" indent="0">
                  <a:buNone/>
                </a:pPr>
                <a:endParaRPr lang="en-US" sz="1600" baseline="-25000" dirty="0">
                  <a:sym typeface="Wingdings" panose="05000000000000000000" pitchFamily="2" charset="2"/>
                </a:endParaRPr>
              </a:p>
              <a:p>
                <a:pPr marL="0" indent="0">
                  <a:buClr>
                    <a:srgbClr val="FFFF00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17</m:t>
                      </m:r>
                      <m:r>
                        <a:rPr lang="en-US" sz="16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6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sz="16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g</m:t>
                      </m:r>
                      <m: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1600" b="0" i="0" baseline="-250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mol</m:t>
                          </m:r>
                          <m: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600" b="0" i="0" baseline="-250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num>
                        <m:den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34.082</m:t>
                          </m:r>
                          <m: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g</m:t>
                          </m:r>
                          <m: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600" b="0" i="0" baseline="-250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den>
                      </m:f>
                      <m:r>
                        <a:rPr lang="en-US" sz="16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mol</m:t>
                          </m:r>
                          <m: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MgO</m:t>
                          </m:r>
                        </m:num>
                        <m:den>
                          <m: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mol</m:t>
                          </m:r>
                          <m: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600" b="0" i="0" baseline="-250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den>
                      </m:f>
                      <m: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40.304</m:t>
                          </m:r>
                          <m: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g</m:t>
                          </m:r>
                          <m: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MgO</m:t>
                          </m:r>
                        </m:num>
                        <m:den>
                          <m: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mol</m:t>
                          </m:r>
                          <m: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MgO</m:t>
                          </m:r>
                        </m:den>
                      </m:f>
                      <m: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21.2</m:t>
                      </m:r>
                      <m: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g</m:t>
                      </m:r>
                      <m: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MgO</m:t>
                      </m:r>
                      <m:r>
                        <a:rPr lang="en-US" sz="1600" baseline="-250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600">
                              <a:latin typeface="Cambria Math" panose="02040503050406030204" pitchFamily="18" charset="0"/>
                            </a:rPr>
                            <m:t>needed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1600">
                              <a:latin typeface="Cambria Math" panose="02040503050406030204" pitchFamily="18" charset="0"/>
                            </a:rPr>
                            <m:t>consumed</m:t>
                          </m:r>
                        </m:den>
                      </m:f>
                    </m:oMath>
                  </m:oMathPara>
                </a14:m>
                <a:endParaRPr lang="en-US" sz="1600" dirty="0"/>
              </a:p>
              <a:p>
                <a:pPr marL="0" indent="0">
                  <a:buClr>
                    <a:srgbClr val="FFFF00"/>
                  </a:buClr>
                  <a:buNone/>
                </a:pPr>
                <a:endParaRPr lang="en-US" sz="1600" dirty="0"/>
              </a:p>
              <a:p>
                <a:pPr marL="0" indent="0">
                  <a:buClr>
                    <a:srgbClr val="FFFF00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22.7</m:t>
                      </m:r>
                      <m:r>
                        <a:rPr lang="en-US" sz="16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g</m:t>
                      </m:r>
                      <m: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MgO</m:t>
                      </m:r>
                      <m:r>
                        <a:rPr lang="en-US" sz="16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available</m:t>
                      </m:r>
                      <m:r>
                        <a:rPr lang="en-US" sz="16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16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21.2 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</m:t>
                      </m:r>
                      <m:r>
                        <a:rPr lang="en-US" sz="16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MgO</m:t>
                      </m:r>
                      <m:r>
                        <a:rPr lang="en-US" sz="16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needed</m:t>
                      </m:r>
                      <m:r>
                        <a:rPr lang="en-US" sz="16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=1.5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</m:t>
                      </m:r>
                      <m:r>
                        <a:rPr lang="en-US" sz="16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excess</m:t>
                      </m:r>
                    </m:oMath>
                  </m:oMathPara>
                </a14:m>
                <a:endParaRPr lang="en-US" sz="16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87AB8A-EDD5-4E1B-2944-2BC6A2881E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7522" y="1023897"/>
                <a:ext cx="8387645" cy="5382432"/>
              </a:xfrm>
              <a:blipFill>
                <a:blip r:embed="rId2"/>
                <a:stretch>
                  <a:fillRect l="-655" t="-6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51353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75D83-48EC-E544-6E39-31D98C917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5E1D5-B82C-CCD4-772D-4A6C34893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99" y="285234"/>
            <a:ext cx="8421512" cy="707886"/>
          </a:xfrm>
        </p:spPr>
        <p:txBody>
          <a:bodyPr/>
          <a:lstStyle/>
          <a:p>
            <a:r>
              <a:rPr lang="en-US" sz="4000" dirty="0"/>
              <a:t>Yield: Theoretical, Actual, Percent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F2FE8F-BB38-6714-AB2C-115E497CBC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532" y="1083858"/>
                <a:ext cx="8387645" cy="5382432"/>
              </a:xfrm>
            </p:spPr>
            <p:txBody>
              <a:bodyPr/>
              <a:lstStyle/>
              <a:p>
                <a:r>
                  <a:rPr lang="en-US" sz="2000" dirty="0"/>
                  <a:t>When doing a synthesis from reactants to products, there is a concern about amount of product obtained for reactant used. This is the </a:t>
                </a:r>
                <a:r>
                  <a:rPr lang="en-US" sz="2000" b="1" dirty="0">
                    <a:solidFill>
                      <a:srgbClr val="00FF00"/>
                    </a:solidFill>
                  </a:rPr>
                  <a:t>yield</a:t>
                </a:r>
              </a:p>
              <a:p>
                <a:r>
                  <a:rPr lang="en-US" sz="2000" dirty="0"/>
                  <a:t>The </a:t>
                </a:r>
                <a:r>
                  <a:rPr lang="en-US" sz="2000" b="1" dirty="0">
                    <a:solidFill>
                      <a:srgbClr val="00FF00"/>
                    </a:solidFill>
                  </a:rPr>
                  <a:t>theoretical yield </a:t>
                </a:r>
                <a:r>
                  <a:rPr lang="en-US" sz="2000" dirty="0"/>
                  <a:t>is the possible yield based on the amount of reactants used keeping in mind the limiting reactant</a:t>
                </a:r>
              </a:p>
              <a:p>
                <a:r>
                  <a:rPr lang="en-US" sz="2000" dirty="0"/>
                  <a:t>The </a:t>
                </a:r>
                <a:r>
                  <a:rPr lang="en-US" sz="2000" b="1" dirty="0">
                    <a:solidFill>
                      <a:srgbClr val="00FF00"/>
                    </a:solidFill>
                  </a:rPr>
                  <a:t>actual yield</a:t>
                </a:r>
                <a:r>
                  <a:rPr lang="en-US" sz="2000" dirty="0">
                    <a:solidFill>
                      <a:srgbClr val="00FF00"/>
                    </a:solidFill>
                  </a:rPr>
                  <a:t> </a:t>
                </a:r>
                <a:r>
                  <a:rPr lang="en-US" sz="2000" dirty="0"/>
                  <a:t>is the amount of product obtained during the processing.</a:t>
                </a:r>
              </a:p>
              <a:p>
                <a:r>
                  <a:rPr lang="en-US" sz="2000" dirty="0"/>
                  <a:t>The </a:t>
                </a:r>
                <a:r>
                  <a:rPr lang="en-US" sz="2000" b="1" dirty="0">
                    <a:solidFill>
                      <a:srgbClr val="00FF00"/>
                    </a:solidFill>
                  </a:rPr>
                  <a:t>percent yield </a:t>
                </a:r>
                <a:r>
                  <a:rPr lang="en-US" sz="2000" dirty="0"/>
                  <a:t>is the ratio of 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actual yield </a:t>
                </a:r>
                <a:r>
                  <a:rPr lang="en-US" sz="2000" dirty="0"/>
                  <a:t>to 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theoretical yield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i="0">
                          <a:latin typeface="Cambria Math" panose="02040503050406030204" pitchFamily="18" charset="0"/>
                        </a:rPr>
                        <m:t>percent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i="0">
                          <a:latin typeface="Cambria Math" panose="02040503050406030204" pitchFamily="18" charset="0"/>
                        </a:rPr>
                        <m:t>yield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actual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yield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theoretical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yield</m:t>
                          </m:r>
                        </m:den>
                      </m:f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100%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i="1" dirty="0">
                    <a:solidFill>
                      <a:srgbClr val="FF99FF"/>
                    </a:solidFill>
                  </a:rPr>
                  <a:t>Does it matter if the amounts are in moles or grams?</a:t>
                </a:r>
              </a:p>
              <a:p>
                <a:pPr marL="0" indent="0">
                  <a:buNone/>
                </a:pPr>
                <a:endParaRPr lang="en-US" sz="16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F2FE8F-BB38-6714-AB2C-115E497CBC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532" y="1083858"/>
                <a:ext cx="8387645" cy="5382432"/>
              </a:xfrm>
              <a:blipFill>
                <a:blip r:embed="rId2"/>
                <a:stretch>
                  <a:fillRect l="-799" t="-793" r="-1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24445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623C4-8771-93E2-55CF-C8BA7BE7E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13996-B71E-8D4F-E70B-21A5B20BB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99" y="254456"/>
            <a:ext cx="8421512" cy="769441"/>
          </a:xfrm>
        </p:spPr>
        <p:txBody>
          <a:bodyPr/>
          <a:lstStyle/>
          <a:p>
            <a:r>
              <a:rPr lang="en-US" sz="4400" dirty="0"/>
              <a:t>Practice: Yields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1C15C0-BA38-6B9D-251E-9613B3BB96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7522" y="1023897"/>
                <a:ext cx="8387645" cy="538243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40.0 g</a:t>
                </a:r>
                <a:r>
                  <a:rPr lang="en-US" sz="1800" dirty="0">
                    <a:sym typeface="Wingdings" panose="05000000000000000000" pitchFamily="2" charset="2"/>
                  </a:rPr>
                  <a:t> </a:t>
                </a:r>
                <a:r>
                  <a:rPr lang="en-US" sz="18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potassium chlorate </a:t>
                </a:r>
                <a:r>
                  <a:rPr lang="en-US" sz="1800" dirty="0">
                    <a:sym typeface="Wingdings" panose="05000000000000000000" pitchFamily="2" charset="2"/>
                  </a:rPr>
                  <a:t>is decomposed in Bunsen burner and the </a:t>
                </a:r>
                <a:r>
                  <a:rPr lang="en-US" sz="18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oxygen</a:t>
                </a:r>
                <a:r>
                  <a:rPr lang="en-US" sz="1800" dirty="0">
                    <a:sym typeface="Wingdings" panose="05000000000000000000" pitchFamily="2" charset="2"/>
                  </a:rPr>
                  <a:t> gas is collected mass = </a:t>
                </a:r>
                <a:r>
                  <a:rPr lang="en-US" sz="1800" b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14.9 g  </a:t>
                </a:r>
                <a:r>
                  <a:rPr lang="en-US" sz="1800" dirty="0">
                    <a:sym typeface="Wingdings" panose="05000000000000000000" pitchFamily="2" charset="2"/>
                  </a:rPr>
                  <a:t>What is theoretical, % yield</a:t>
                </a:r>
              </a:p>
              <a:p>
                <a:pPr marL="0" indent="0" algn="ctr">
                  <a:buNone/>
                </a:pPr>
                <a:r>
                  <a:rPr lang="en-US" sz="18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2 KClO</a:t>
                </a:r>
                <a:r>
                  <a:rPr lang="en-US" sz="1800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sz="18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(s)  2 KCl (s) + 3 O</a:t>
                </a:r>
                <a:r>
                  <a:rPr lang="en-US" sz="1800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sz="18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(</a:t>
                </a:r>
                <a:r>
                  <a:rPr lang="en-US" sz="1800" i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g</a:t>
                </a:r>
                <a:r>
                  <a:rPr lang="en-US" sz="18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</a:t>
                </a:r>
                <a:endParaRPr lang="en-US" sz="1800" baseline="-25000" dirty="0">
                  <a:solidFill>
                    <a:srgbClr val="FFC000"/>
                  </a:solidFill>
                  <a:sym typeface="Wingdings" panose="05000000000000000000" pitchFamily="2" charset="2"/>
                </a:endParaRPr>
              </a:p>
              <a:p>
                <a:pPr>
                  <a:buClr>
                    <a:srgbClr val="FFFF00"/>
                  </a:buClr>
                </a:pPr>
                <a:r>
                  <a:rPr lang="en-US" sz="1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Identify given data and needed quantities:</a:t>
                </a:r>
              </a:p>
              <a:p>
                <a:pPr marL="461963" lvl="1" indent="-230188">
                  <a:buClr>
                    <a:srgbClr val="FFFF00"/>
                  </a:buClr>
                </a:pP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provided: KClO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3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: mass = 40.0 g</a:t>
                </a:r>
                <a:r>
                  <a:rPr lang="en-US" sz="1800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, 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molar mass = 122.55 g/mol;</a:t>
                </a:r>
                <a:b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</a:b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O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: mass = 14.9 g; molar mass = 32.00 g/mol</a:t>
                </a:r>
              </a:p>
              <a:p>
                <a:pPr>
                  <a:buClr>
                    <a:srgbClr val="FFFF00"/>
                  </a:buClr>
                </a:pPr>
                <a:r>
                  <a:rPr lang="en-US" sz="1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Substitute values &amp; solve:</a:t>
                </a:r>
              </a:p>
              <a:p>
                <a:pPr marL="0" indent="0">
                  <a:buClr>
                    <a:srgbClr val="FFFF00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40.0</m:t>
                      </m:r>
                      <m:r>
                        <a:rPr lang="en-US" sz="16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g</m:t>
                      </m:r>
                      <m: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KClO</m:t>
                      </m:r>
                      <m:r>
                        <a:rPr lang="en-US" sz="1600" b="0" i="0" baseline="-250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mol</m:t>
                          </m:r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KClO</m:t>
                          </m:r>
                          <m:r>
                            <a:rPr lang="en-US" sz="1600" baseline="-250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122.55 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g</m:t>
                          </m:r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KClO</m:t>
                          </m:r>
                          <m:r>
                            <a:rPr lang="en-US" sz="1600" baseline="-250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3 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mol</m:t>
                          </m:r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  <m:r>
                            <a:rPr lang="en-US" sz="1600" b="0" i="0" baseline="-250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mol</m:t>
                          </m:r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KClO</m:t>
                          </m:r>
                          <m:r>
                            <a:rPr lang="en-US" sz="1600" baseline="-250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32.00 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g</m:t>
                          </m:r>
                          <m: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  <m:r>
                            <a:rPr lang="en-US" sz="1600" baseline="-250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mol</m:t>
                          </m:r>
                          <m: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  <m:r>
                            <a:rPr lang="en-US" sz="1600" b="0" i="0" baseline="-250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15.</m:t>
                      </m:r>
                      <m:r>
                        <a:rPr lang="en-US" sz="16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g</m:t>
                      </m:r>
                      <m: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en-US" sz="1600" b="0" i="0" baseline="-250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2  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theoretical</m:t>
                      </m:r>
                      <m:r>
                        <a:rPr lang="en-US" sz="1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mass</m:t>
                      </m:r>
                    </m:oMath>
                  </m:oMathPara>
                </a14:m>
                <a:endParaRPr lang="en-US" sz="1600" dirty="0">
                  <a:solidFill>
                    <a:srgbClr val="FFFF00"/>
                  </a:solidFill>
                </a:endParaRPr>
              </a:p>
              <a:p>
                <a:pPr>
                  <a:buClr>
                    <a:srgbClr val="FFFF00"/>
                  </a:buClr>
                </a:pPr>
                <a:endParaRPr lang="en-US" sz="1600" baseline="-25000" dirty="0">
                  <a:solidFill>
                    <a:srgbClr val="FFFF00"/>
                  </a:solidFill>
                </a:endParaRPr>
              </a:p>
              <a:p>
                <a:pPr marL="0" indent="0">
                  <a:buNone/>
                </a:pPr>
                <a:endParaRPr lang="en-US" sz="1600" baseline="-250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14.9 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g</m:t>
                          </m:r>
                          <m: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  <m:r>
                            <a:rPr lang="en-US" sz="1600" b="0" i="0" baseline="-250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2  </m:t>
                          </m:r>
                          <m:r>
                            <a:rPr lang="en-US" sz="16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actual</m:t>
                          </m:r>
                          <m:r>
                            <a:rPr lang="en-US" sz="16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mass</m:t>
                          </m:r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15.7</m:t>
                          </m:r>
                          <m: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g</m:t>
                          </m:r>
                          <m: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  <m:r>
                            <a:rPr lang="en-US" sz="1600" b="0" i="0" baseline="-250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2  </m:t>
                          </m:r>
                          <m:r>
                            <a:rPr lang="en-US" sz="16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theoretical</m:t>
                          </m:r>
                          <m:r>
                            <a:rPr lang="en-US" sz="16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mass</m:t>
                          </m:r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16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100%</m:t>
                      </m:r>
                      <m:r>
                        <a:rPr lang="en-US" sz="16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=94.9%</m:t>
                      </m:r>
                    </m:oMath>
                  </m:oMathPara>
                </a14:m>
                <a:endParaRPr lang="en-US" sz="16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1C15C0-BA38-6B9D-251E-9613B3BB96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7522" y="1023897"/>
                <a:ext cx="8387645" cy="5382432"/>
              </a:xfrm>
              <a:blipFill>
                <a:blip r:embed="rId2"/>
                <a:stretch>
                  <a:fillRect l="-655" t="-6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86379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E617B-73FF-089C-5267-D885649F6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6362B-2072-1B06-AE74-E50DC9944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99" y="254456"/>
            <a:ext cx="8421512" cy="769441"/>
          </a:xfrm>
        </p:spPr>
        <p:txBody>
          <a:bodyPr/>
          <a:lstStyle/>
          <a:p>
            <a:r>
              <a:rPr lang="en-US" sz="4400" dirty="0"/>
              <a:t>Practice: Yields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208031-7DEA-3FC5-2915-3C2312217B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7522" y="1023897"/>
                <a:ext cx="8387645" cy="538243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32.9 g</a:t>
                </a:r>
                <a:r>
                  <a:rPr lang="en-US" sz="1800" dirty="0">
                    <a:sym typeface="Wingdings" panose="05000000000000000000" pitchFamily="2" charset="2"/>
                  </a:rPr>
                  <a:t> </a:t>
                </a:r>
                <a:r>
                  <a:rPr lang="en-US" sz="18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carbon tetrachloride </a:t>
                </a:r>
                <a:r>
                  <a:rPr lang="en-US" sz="1800" dirty="0">
                    <a:sym typeface="Wingdings" panose="05000000000000000000" pitchFamily="2" charset="2"/>
                  </a:rPr>
                  <a:t>is reacted in excess </a:t>
                </a:r>
                <a:r>
                  <a:rPr lang="en-US" sz="18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hydrofluoric acid</a:t>
                </a:r>
                <a:r>
                  <a:rPr lang="en-US" sz="1800" dirty="0">
                    <a:sym typeface="Wingdings" panose="05000000000000000000" pitchFamily="2" charset="2"/>
                  </a:rPr>
                  <a:t> and it makes </a:t>
                </a:r>
                <a:r>
                  <a:rPr lang="en-US" sz="1800" b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12.5 g</a:t>
                </a:r>
                <a:r>
                  <a:rPr lang="en-US" sz="1800" dirty="0">
                    <a:sym typeface="Wingdings" panose="05000000000000000000" pitchFamily="2" charset="2"/>
                  </a:rPr>
                  <a:t> of </a:t>
                </a:r>
                <a:r>
                  <a:rPr lang="en-US" sz="18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Freon</a:t>
                </a:r>
                <a:r>
                  <a:rPr lang="en-US" sz="1800" dirty="0">
                    <a:sym typeface="Wingdings" panose="05000000000000000000" pitchFamily="2" charset="2"/>
                  </a:rPr>
                  <a:t> (</a:t>
                </a:r>
                <a:r>
                  <a:rPr lang="en-US" sz="18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CF</a:t>
                </a:r>
                <a:r>
                  <a:rPr lang="en-US" sz="1800" baseline="-25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sz="18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Cl</a:t>
                </a:r>
                <a:r>
                  <a:rPr lang="en-US" sz="1800" baseline="-25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sz="1800" dirty="0">
                    <a:sym typeface="Wingdings" panose="05000000000000000000" pitchFamily="2" charset="2"/>
                  </a:rPr>
                  <a:t>). What is the percent yield?</a:t>
                </a:r>
              </a:p>
              <a:p>
                <a:pPr marL="0" indent="0" algn="ctr">
                  <a:buNone/>
                </a:pPr>
                <a:r>
                  <a:rPr lang="en-US" sz="18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CCl</a:t>
                </a:r>
                <a:r>
                  <a:rPr lang="en-US" sz="1800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4</a:t>
                </a:r>
                <a:r>
                  <a:rPr lang="en-US" sz="18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(</a:t>
                </a:r>
                <a:r>
                  <a:rPr lang="en-US" sz="1800" i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l</a:t>
                </a:r>
                <a:r>
                  <a:rPr lang="en-US" sz="18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 + 2 HF (</a:t>
                </a:r>
                <a:r>
                  <a:rPr lang="en-US" sz="1800" i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l</a:t>
                </a:r>
                <a:r>
                  <a:rPr lang="en-US" sz="18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  CF</a:t>
                </a:r>
                <a:r>
                  <a:rPr lang="en-US" sz="1800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sz="18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Cl</a:t>
                </a:r>
                <a:r>
                  <a:rPr lang="en-US" sz="1800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sz="18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(</a:t>
                </a:r>
                <a:r>
                  <a:rPr lang="en-US" sz="1800" i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g</a:t>
                </a:r>
                <a:r>
                  <a:rPr lang="en-US" sz="18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 + 2 HCl (</a:t>
                </a:r>
                <a:r>
                  <a:rPr lang="en-US" sz="1800" i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g</a:t>
                </a:r>
                <a:r>
                  <a:rPr lang="en-US" sz="18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</a:t>
                </a:r>
                <a:endParaRPr lang="en-US" sz="1800" baseline="-25000" dirty="0">
                  <a:solidFill>
                    <a:srgbClr val="FFC000"/>
                  </a:solidFill>
                  <a:sym typeface="Wingdings" panose="05000000000000000000" pitchFamily="2" charset="2"/>
                </a:endParaRPr>
              </a:p>
              <a:p>
                <a:pPr>
                  <a:buClr>
                    <a:srgbClr val="FFFF00"/>
                  </a:buClr>
                </a:pPr>
                <a:r>
                  <a:rPr lang="en-US" sz="1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Identify given data and needed quantities:</a:t>
                </a:r>
              </a:p>
              <a:p>
                <a:pPr marL="461963" lvl="1" indent="-230188">
                  <a:buClr>
                    <a:srgbClr val="FFFF00"/>
                  </a:buClr>
                </a:pP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provided: CCl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4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: mass = 32.9 g</a:t>
                </a:r>
                <a:r>
                  <a:rPr lang="en-US" sz="1800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, 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molar mass = 153.81 g/mol;</a:t>
                </a:r>
                <a:b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</a:b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CF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Cl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: mass = 12.5 g; molar mass = 120.91 g/mol</a:t>
                </a:r>
              </a:p>
              <a:p>
                <a:pPr>
                  <a:buClr>
                    <a:srgbClr val="FFFF00"/>
                  </a:buClr>
                </a:pPr>
                <a:r>
                  <a:rPr lang="en-US" sz="1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Substitute values &amp; solve:</a:t>
                </a:r>
              </a:p>
              <a:p>
                <a:pPr marL="0" indent="0">
                  <a:buClr>
                    <a:srgbClr val="FFFF00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32.9</m:t>
                      </m:r>
                      <m:r>
                        <a:rPr lang="en-US" sz="16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g</m:t>
                      </m:r>
                      <m:r>
                        <a:rPr lang="en-US" sz="16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CCl</m:t>
                      </m:r>
                      <m:r>
                        <a:rPr lang="en-US" sz="1600" baseline="-250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mol</m:t>
                          </m:r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CCl</m:t>
                          </m:r>
                          <m:r>
                            <a:rPr lang="en-US" sz="1600" baseline="-250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153.81 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g</m:t>
                          </m:r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CCl</m:t>
                          </m:r>
                          <m:r>
                            <a:rPr lang="en-US" sz="1600" baseline="-250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mol</m:t>
                          </m:r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CF</m:t>
                          </m:r>
                          <m:r>
                            <a:rPr lang="en-US" sz="1600" baseline="-250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Cl</m:t>
                          </m:r>
                          <m:r>
                            <a:rPr lang="en-US" sz="1600" baseline="-250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mol</m:t>
                          </m:r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CCl</m:t>
                          </m:r>
                          <m:r>
                            <a:rPr lang="en-US" sz="1600" baseline="-250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120.91 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g</m:t>
                          </m:r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CF</m:t>
                          </m:r>
                          <m:r>
                            <a:rPr lang="en-US" sz="1600" baseline="-250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Cl</m:t>
                          </m:r>
                          <m:r>
                            <a:rPr lang="en-US" sz="1600" baseline="-250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mol</m:t>
                          </m:r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CF</m:t>
                          </m:r>
                          <m:r>
                            <a:rPr lang="en-US" sz="1600" baseline="-250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Cl</m:t>
                          </m:r>
                          <m:r>
                            <a:rPr lang="en-US" sz="1600" baseline="-250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25.9</m:t>
                      </m:r>
                      <m: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g</m:t>
                      </m:r>
                      <m:r>
                        <a:rPr lang="en-US" sz="16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CF</m:t>
                      </m:r>
                      <m:r>
                        <a:rPr lang="en-US" sz="1600" baseline="-250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Cl</m:t>
                      </m:r>
                      <m:r>
                        <a:rPr lang="en-US" sz="1600" baseline="-250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600" b="0" i="0" baseline="-250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theoretical</m:t>
                      </m:r>
                      <m:r>
                        <a:rPr lang="en-US" sz="1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mass</m:t>
                      </m:r>
                    </m:oMath>
                  </m:oMathPara>
                </a14:m>
                <a:endParaRPr lang="en-US" sz="1600" dirty="0">
                  <a:solidFill>
                    <a:srgbClr val="FFFF00"/>
                  </a:solidFill>
                </a:endParaRPr>
              </a:p>
              <a:p>
                <a:pPr>
                  <a:buClr>
                    <a:srgbClr val="FFFF00"/>
                  </a:buClr>
                </a:pPr>
                <a:endParaRPr lang="en-US" sz="1600" baseline="-25000" dirty="0">
                  <a:solidFill>
                    <a:srgbClr val="FFFF00"/>
                  </a:solidFill>
                </a:endParaRPr>
              </a:p>
              <a:p>
                <a:pPr marL="0" indent="0">
                  <a:buNone/>
                </a:pPr>
                <a:endParaRPr lang="en-US" sz="1600" baseline="-250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12.5 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g</m:t>
                          </m:r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CF</m:t>
                          </m:r>
                          <m:r>
                            <a:rPr lang="en-US" sz="1600" baseline="-250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Cl</m:t>
                          </m:r>
                          <m:r>
                            <a:rPr lang="en-US" sz="1600" baseline="-250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b="0" i="0" baseline="-250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16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actual</m:t>
                          </m:r>
                          <m:r>
                            <a:rPr lang="en-US" sz="16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mass</m:t>
                          </m:r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25.9</m:t>
                          </m:r>
                          <m: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g</m:t>
                          </m:r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CF</m:t>
                          </m:r>
                          <m:r>
                            <a:rPr lang="en-US" sz="1600" baseline="-250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Cl</m:t>
                          </m:r>
                          <m:r>
                            <a:rPr lang="en-US" sz="1600" baseline="-250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b="0" i="0" baseline="-250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sz="16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theoretical</m:t>
                          </m:r>
                          <m:r>
                            <a:rPr lang="en-US" sz="16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mass</m:t>
                          </m:r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16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100%</m:t>
                      </m:r>
                      <m:r>
                        <a:rPr lang="en-US" sz="16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=48.3%</m:t>
                      </m:r>
                    </m:oMath>
                  </m:oMathPara>
                </a14:m>
                <a:endParaRPr lang="en-US" sz="16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208031-7DEA-3FC5-2915-3C2312217B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7522" y="1023897"/>
                <a:ext cx="8387645" cy="5382432"/>
              </a:xfrm>
              <a:blipFill>
                <a:blip r:embed="rId2"/>
                <a:stretch>
                  <a:fillRect l="-655" t="-6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31256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E470E-4920-0FFB-5994-EF29CC10F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089B6-E875-F12F-6329-9D9364119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99" y="346790"/>
            <a:ext cx="8421512" cy="584775"/>
          </a:xfrm>
        </p:spPr>
        <p:txBody>
          <a:bodyPr/>
          <a:lstStyle/>
          <a:p>
            <a:r>
              <a:rPr lang="en-US" sz="3200" dirty="0"/>
              <a:t>Causes for </a:t>
            </a:r>
            <a:r>
              <a:rPr lang="en-US" sz="3200" dirty="0">
                <a:solidFill>
                  <a:srgbClr val="00FF00"/>
                </a:solidFill>
              </a:rPr>
              <a:t>Less Than </a:t>
            </a:r>
            <a:r>
              <a:rPr lang="en-US" sz="3200" dirty="0"/>
              <a:t>100% Percent Yield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E8788-CC79-7887-B772-241410235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2" y="1083858"/>
            <a:ext cx="8387645" cy="5382432"/>
          </a:xfrm>
        </p:spPr>
        <p:txBody>
          <a:bodyPr/>
          <a:lstStyle/>
          <a:p>
            <a:r>
              <a:rPr lang="en-US" dirty="0"/>
              <a:t>Incomplete reaction: some reactions may be slow or even reversible (equilibrium between reactants and products), so limiting reactant not converted to product</a:t>
            </a:r>
          </a:p>
          <a:p>
            <a:r>
              <a:rPr lang="en-US" dirty="0"/>
              <a:t>Side reaction: there is competing, undesired side reaction</a:t>
            </a:r>
          </a:p>
          <a:p>
            <a:r>
              <a:rPr lang="en-US" dirty="0"/>
              <a:t>Losses in transfer/workup/handling: these are physical losses related to loss of intermediates or products between containers, purification, filtration, extraction, spillage</a:t>
            </a:r>
          </a:p>
          <a:p>
            <a:r>
              <a:rPr lang="en-US" dirty="0"/>
              <a:t>Impure reactants: what was thought to be a certain amount of limiting reactant was actually less because impurities added to the total mass</a:t>
            </a:r>
          </a:p>
        </p:txBody>
      </p:sp>
    </p:spTree>
    <p:extLst>
      <p:ext uri="{BB962C8B-B14F-4D97-AF65-F5344CB8AC3E}">
        <p14:creationId xmlns:p14="http://schemas.microsoft.com/office/powerpoint/2010/main" val="7567309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30300-CE4B-80C1-3B62-08745E1B9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F05C1-6427-B743-097A-41C980592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99" y="346790"/>
            <a:ext cx="8421512" cy="584775"/>
          </a:xfrm>
        </p:spPr>
        <p:txBody>
          <a:bodyPr/>
          <a:lstStyle/>
          <a:p>
            <a:r>
              <a:rPr lang="en-US" sz="3200" dirty="0"/>
              <a:t>Causes for </a:t>
            </a:r>
            <a:r>
              <a:rPr lang="en-US" sz="3200" dirty="0">
                <a:solidFill>
                  <a:srgbClr val="00FF00"/>
                </a:solidFill>
              </a:rPr>
              <a:t>Greater Than</a:t>
            </a:r>
            <a:r>
              <a:rPr lang="en-US" sz="3200" dirty="0"/>
              <a:t> 100% Percent Yield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92E21-8A87-6231-F6E4-2FDCF54FE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2" y="1083858"/>
            <a:ext cx="8387645" cy="5382432"/>
          </a:xfrm>
        </p:spPr>
        <p:txBody>
          <a:bodyPr/>
          <a:lstStyle/>
          <a:p>
            <a:r>
              <a:rPr lang="en-US" dirty="0"/>
              <a:t>Experimental or measurement error in determining amounts/masses of reactant(s): otherwise it violates conservation of mass principle</a:t>
            </a:r>
          </a:p>
          <a:p>
            <a:r>
              <a:rPr lang="en-US" dirty="0"/>
              <a:t>Incomplete drying or impurity: most common reason is product that is contaminated with substance adding mass:</a:t>
            </a:r>
          </a:p>
          <a:p>
            <a:pPr lvl="1"/>
            <a:r>
              <a:rPr lang="en-US" dirty="0"/>
              <a:t>Solvent (water): used for product washing and product mass obtained before full drying</a:t>
            </a:r>
          </a:p>
          <a:p>
            <a:pPr lvl="1"/>
            <a:r>
              <a:rPr lang="en-US" dirty="0"/>
              <a:t>Unreacted starting material or byproducts not removed during purification</a:t>
            </a:r>
          </a:p>
          <a:p>
            <a:r>
              <a:rPr lang="en-US" dirty="0"/>
              <a:t>Measurement error: errors getting mass of final product (forgetting to “tare” or zero balance), calculation errors (wrong molar mass)</a:t>
            </a:r>
          </a:p>
        </p:txBody>
      </p:sp>
    </p:spTree>
    <p:extLst>
      <p:ext uri="{BB962C8B-B14F-4D97-AF65-F5344CB8AC3E}">
        <p14:creationId xmlns:p14="http://schemas.microsoft.com/office/powerpoint/2010/main" val="5786668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5EA05-4C3E-2621-03C0-F742AC04C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0F72C-C09D-3CD5-F1AE-DE284E8BC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99" y="316012"/>
            <a:ext cx="8421512" cy="646331"/>
          </a:xfrm>
        </p:spPr>
        <p:txBody>
          <a:bodyPr/>
          <a:lstStyle/>
          <a:p>
            <a:r>
              <a:rPr lang="en-US" sz="3600" dirty="0"/>
              <a:t>Energy in Reactions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1ADF9-2A5B-5A19-C05E-C6788CB99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2" y="1083858"/>
            <a:ext cx="8387645" cy="5382432"/>
          </a:xfrm>
        </p:spPr>
        <p:txBody>
          <a:bodyPr/>
          <a:lstStyle/>
          <a:p>
            <a:pPr marL="0" indent="0">
              <a:buNone/>
            </a:pPr>
            <a:r>
              <a:rPr lang="en-US" sz="2800" i="1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Previously addressed</a:t>
            </a:r>
          </a:p>
          <a:p>
            <a:r>
              <a:rPr lang="en-US" dirty="0">
                <a:solidFill>
                  <a:srgbClr val="FFFF00"/>
                </a:solidFill>
              </a:rPr>
              <a:t>Law of Conservation of Energy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System</a:t>
            </a:r>
            <a:r>
              <a:rPr lang="en-US" dirty="0"/>
              <a:t> and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Surroundings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Endothermic</a:t>
            </a:r>
            <a:r>
              <a:rPr lang="en-US" dirty="0"/>
              <a:t> and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Exothermic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B7D9ED-0502-6500-D2F6-010050CBA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898" y="3199620"/>
            <a:ext cx="5499623" cy="3087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4620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EBE59-2F32-2003-B8E5-E98DD0B08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1E61A-F6F6-E154-B4E2-C3C9FB7F1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65" y="252861"/>
            <a:ext cx="8421512" cy="830997"/>
          </a:xfrm>
        </p:spPr>
        <p:txBody>
          <a:bodyPr/>
          <a:lstStyle/>
          <a:p>
            <a:r>
              <a:rPr lang="en-US" dirty="0"/>
              <a:t>Enthalpy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144C9-D77E-00A0-6282-2494B3BA9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2" y="1083858"/>
            <a:ext cx="8387645" cy="5382432"/>
          </a:xfrm>
        </p:spPr>
        <p:txBody>
          <a:bodyPr/>
          <a:lstStyle/>
          <a:p>
            <a:r>
              <a:rPr lang="en-US" b="1" dirty="0">
                <a:solidFill>
                  <a:srgbClr val="00FF00"/>
                </a:solidFill>
              </a:rPr>
              <a:t>Enthalpy</a:t>
            </a:r>
            <a:r>
              <a:rPr lang="en-US" dirty="0"/>
              <a:t> refers to </a:t>
            </a:r>
            <a:r>
              <a:rPr lang="en-US" dirty="0">
                <a:solidFill>
                  <a:srgbClr val="FFFF00"/>
                </a:solidFill>
              </a:rPr>
              <a:t>energy</a:t>
            </a:r>
            <a:r>
              <a:rPr lang="en-US" dirty="0"/>
              <a:t> of a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system</a:t>
            </a:r>
            <a:r>
              <a:rPr lang="en-US" dirty="0"/>
              <a:t> under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constant pressure </a:t>
            </a:r>
            <a:r>
              <a:rPr lang="en-US" dirty="0"/>
              <a:t>(usually atmospheric)</a:t>
            </a:r>
          </a:p>
          <a:p>
            <a:r>
              <a:rPr lang="en-US" dirty="0"/>
              <a:t>Its symbol is </a:t>
            </a:r>
            <a:r>
              <a:rPr lang="en-US" b="1" i="1" dirty="0">
                <a:solidFill>
                  <a:srgbClr val="00FF00"/>
                </a:solidFill>
              </a:rPr>
              <a:t>H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FFFF00"/>
                </a:solidFill>
              </a:rPr>
              <a:t>change in enthalpy </a:t>
            </a:r>
            <a:r>
              <a:rPr lang="en-US" dirty="0"/>
              <a:t>(</a:t>
            </a:r>
            <a:r>
              <a:rPr lang="en-US" b="1" dirty="0">
                <a:solidFill>
                  <a:srgbClr val="FFC000"/>
                </a:solidFill>
                <a:latin typeface="Symbol" panose="05050102010706020507" pitchFamily="18" charset="2"/>
              </a:rPr>
              <a:t>D</a:t>
            </a:r>
            <a:r>
              <a:rPr lang="en-US" b="1" i="1" dirty="0">
                <a:solidFill>
                  <a:srgbClr val="FFC000"/>
                </a:solidFill>
              </a:rPr>
              <a:t>H</a:t>
            </a:r>
            <a:r>
              <a:rPr lang="en-US" dirty="0"/>
              <a:t>) = heat (energy) absorbed or release in a chemical reaction at constant pressure</a:t>
            </a:r>
          </a:p>
          <a:p>
            <a:r>
              <a:rPr lang="en-US" dirty="0"/>
              <a:t> </a:t>
            </a:r>
            <a:r>
              <a:rPr lang="en-US" b="1" dirty="0">
                <a:solidFill>
                  <a:srgbClr val="FFC000"/>
                </a:solidFill>
                <a:latin typeface="Symbol" panose="05050102010706020507" pitchFamily="18" charset="2"/>
              </a:rPr>
              <a:t>D</a:t>
            </a:r>
            <a:r>
              <a:rPr lang="en-US" b="1" i="1" dirty="0">
                <a:solidFill>
                  <a:srgbClr val="FFC000"/>
                </a:solidFill>
              </a:rPr>
              <a:t>H = </a:t>
            </a:r>
            <a:r>
              <a:rPr lang="en-US" b="1" i="1" dirty="0" err="1">
                <a:solidFill>
                  <a:srgbClr val="FFC000"/>
                </a:solidFill>
              </a:rPr>
              <a:t>H</a:t>
            </a:r>
            <a:r>
              <a:rPr lang="en-US" b="1" baseline="-25000" dirty="0" err="1">
                <a:solidFill>
                  <a:srgbClr val="FFC000"/>
                </a:solidFill>
              </a:rPr>
              <a:t>products</a:t>
            </a:r>
            <a:r>
              <a:rPr lang="en-US" b="1" i="1" baseline="-25000" dirty="0">
                <a:solidFill>
                  <a:srgbClr val="FFC000"/>
                </a:solidFill>
              </a:rPr>
              <a:t> </a:t>
            </a:r>
            <a:r>
              <a:rPr lang="en-US" b="1" i="1" dirty="0">
                <a:solidFill>
                  <a:srgbClr val="FFC000"/>
                </a:solidFill>
              </a:rPr>
              <a:t>– </a:t>
            </a:r>
            <a:r>
              <a:rPr lang="en-US" b="1" i="1" dirty="0" err="1">
                <a:solidFill>
                  <a:srgbClr val="FFC000"/>
                </a:solidFill>
              </a:rPr>
              <a:t>H</a:t>
            </a:r>
            <a:r>
              <a:rPr lang="en-US" b="1" baseline="-25000" dirty="0" err="1">
                <a:solidFill>
                  <a:srgbClr val="FFC000"/>
                </a:solidFill>
              </a:rPr>
              <a:t>reactants</a:t>
            </a:r>
            <a:endParaRPr lang="en-US" b="1" baseline="-25000" dirty="0">
              <a:solidFill>
                <a:srgbClr val="FFC000"/>
              </a:solidFill>
            </a:endParaRPr>
          </a:p>
          <a:p>
            <a:r>
              <a:rPr lang="en-US" dirty="0"/>
              <a:t>What energy? Energy that breaks and makes/forms chemical bonds in reactions</a:t>
            </a:r>
          </a:p>
          <a:p>
            <a:r>
              <a:rPr lang="en-US" dirty="0"/>
              <a:t>Factors: amounts of and phase/state (solid, liquid, gas) determine enthalpy</a:t>
            </a:r>
          </a:p>
        </p:txBody>
      </p:sp>
    </p:spTree>
    <p:extLst>
      <p:ext uri="{BB962C8B-B14F-4D97-AF65-F5344CB8AC3E}">
        <p14:creationId xmlns:p14="http://schemas.microsoft.com/office/powerpoint/2010/main" val="12265318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F1720-733F-FA39-C9BA-469D553F4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D9D2D-6EA6-49EF-F24D-898B8D603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99" y="216725"/>
            <a:ext cx="8421512" cy="769441"/>
          </a:xfrm>
        </p:spPr>
        <p:txBody>
          <a:bodyPr/>
          <a:lstStyle/>
          <a:p>
            <a:r>
              <a:rPr lang="en-US" sz="4400" dirty="0"/>
              <a:t>Thermochemical Equation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9F42C-EBEF-2B97-05A0-B537B24ABD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056808"/>
            <a:ext cx="8387645" cy="5490748"/>
          </a:xfrm>
        </p:spPr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A </a:t>
            </a:r>
            <a:r>
              <a:rPr lang="en-US" dirty="0">
                <a:solidFill>
                  <a:srgbClr val="00FF00"/>
                </a:solidFill>
                <a:sym typeface="Wingdings" panose="05000000000000000000" pitchFamily="2" charset="2"/>
              </a:rPr>
              <a:t>thermochemical equation </a:t>
            </a:r>
            <a:r>
              <a:rPr lang="en-US" dirty="0">
                <a:sym typeface="Wingdings" panose="05000000000000000000" pitchFamily="2" charset="2"/>
              </a:rPr>
              <a:t>is a chemical reaction equation that includes the change in enthalpy of the reaction</a:t>
            </a:r>
          </a:p>
          <a:p>
            <a:pPr marL="0" indent="0" algn="ctr">
              <a:buNone/>
            </a:pPr>
            <a:r>
              <a:rPr lang="en-US" sz="2200" dirty="0">
                <a:solidFill>
                  <a:srgbClr val="FFC000"/>
                </a:solidFill>
                <a:sym typeface="Wingdings" panose="05000000000000000000" pitchFamily="2" charset="2"/>
              </a:rPr>
              <a:t>CH</a:t>
            </a:r>
            <a:r>
              <a:rPr lang="en-US" sz="2200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4</a:t>
            </a:r>
            <a:r>
              <a:rPr lang="en-US" sz="2200" dirty="0">
                <a:solidFill>
                  <a:srgbClr val="FFC000"/>
                </a:solidFill>
                <a:sym typeface="Wingdings" panose="05000000000000000000" pitchFamily="2" charset="2"/>
              </a:rPr>
              <a:t> (g) + 2 O</a:t>
            </a:r>
            <a:r>
              <a:rPr lang="en-US" sz="2200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sz="2200" dirty="0">
                <a:solidFill>
                  <a:srgbClr val="FFC000"/>
                </a:solidFill>
                <a:sym typeface="Wingdings" panose="05000000000000000000" pitchFamily="2" charset="2"/>
              </a:rPr>
              <a:t> (g)  CO</a:t>
            </a:r>
            <a:r>
              <a:rPr lang="en-US" sz="2200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sz="2200" dirty="0">
                <a:solidFill>
                  <a:srgbClr val="FFC000"/>
                </a:solidFill>
                <a:sym typeface="Wingdings" panose="05000000000000000000" pitchFamily="2" charset="2"/>
              </a:rPr>
              <a:t> (g) + 2 H</a:t>
            </a:r>
            <a:r>
              <a:rPr lang="en-US" sz="2200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sz="2200" dirty="0">
                <a:solidFill>
                  <a:srgbClr val="FFC000"/>
                </a:solidFill>
                <a:sym typeface="Wingdings" panose="05000000000000000000" pitchFamily="2" charset="2"/>
              </a:rPr>
              <a:t>O (l) + </a:t>
            </a:r>
            <a:r>
              <a:rPr lang="en-US" sz="2200" b="1" dirty="0">
                <a:solidFill>
                  <a:srgbClr val="FFC000"/>
                </a:solidFill>
                <a:sym typeface="Wingdings" panose="05000000000000000000" pitchFamily="2" charset="2"/>
              </a:rPr>
              <a:t>890.4 kJ</a:t>
            </a:r>
          </a:p>
          <a:p>
            <a:r>
              <a:rPr lang="en-US" dirty="0"/>
              <a:t>The combustion of methane includes the release of 890.4 kJ as a product of the reaction</a:t>
            </a:r>
          </a:p>
          <a:p>
            <a:r>
              <a:rPr lang="en-US" dirty="0"/>
              <a:t>In another typical expression of the reaction, the enthalpy is shown to the side: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rgbClr val="FFC000"/>
                </a:solidFill>
                <a:sym typeface="Wingdings" panose="05000000000000000000" pitchFamily="2" charset="2"/>
              </a:rPr>
              <a:t>CH</a:t>
            </a:r>
            <a:r>
              <a:rPr lang="en-US" sz="2000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4</a:t>
            </a:r>
            <a:r>
              <a:rPr lang="en-US" sz="2000" dirty="0">
                <a:solidFill>
                  <a:srgbClr val="FFC000"/>
                </a:solidFill>
                <a:sym typeface="Wingdings" panose="05000000000000000000" pitchFamily="2" charset="2"/>
              </a:rPr>
              <a:t> (g) + 2 O</a:t>
            </a:r>
            <a:r>
              <a:rPr lang="en-US" sz="2000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sz="2000" dirty="0">
                <a:solidFill>
                  <a:srgbClr val="FFC000"/>
                </a:solidFill>
                <a:sym typeface="Wingdings" panose="05000000000000000000" pitchFamily="2" charset="2"/>
              </a:rPr>
              <a:t> (g)  CO</a:t>
            </a:r>
            <a:r>
              <a:rPr lang="en-US" sz="2000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sz="2000" dirty="0">
                <a:solidFill>
                  <a:srgbClr val="FFC000"/>
                </a:solidFill>
                <a:sym typeface="Wingdings" panose="05000000000000000000" pitchFamily="2" charset="2"/>
              </a:rPr>
              <a:t> (g) + 2 H</a:t>
            </a:r>
            <a:r>
              <a:rPr lang="en-US" sz="2000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sz="2000" dirty="0">
                <a:solidFill>
                  <a:srgbClr val="FFC000"/>
                </a:solidFill>
                <a:sym typeface="Wingdings" panose="05000000000000000000" pitchFamily="2" charset="2"/>
              </a:rPr>
              <a:t>O (l)   </a:t>
            </a:r>
            <a:r>
              <a:rPr lang="en-US" sz="2000" dirty="0">
                <a:solidFill>
                  <a:srgbClr val="FFC000"/>
                </a:solidFill>
                <a:latin typeface="Symbol" panose="05050102010706020507" pitchFamily="18" charset="2"/>
                <a:sym typeface="Wingdings" panose="05000000000000000000" pitchFamily="2" charset="2"/>
              </a:rPr>
              <a:t>D</a:t>
            </a:r>
            <a:r>
              <a:rPr lang="en-US" sz="2000" i="1" dirty="0">
                <a:solidFill>
                  <a:srgbClr val="FFC000"/>
                </a:solidFill>
                <a:sym typeface="Wingdings" panose="05000000000000000000" pitchFamily="2" charset="2"/>
              </a:rPr>
              <a:t>H</a:t>
            </a:r>
            <a:r>
              <a:rPr lang="en-US" sz="2000" dirty="0">
                <a:solidFill>
                  <a:srgbClr val="FFC000"/>
                </a:solidFill>
                <a:sym typeface="Wingdings" panose="05000000000000000000" pitchFamily="2" charset="2"/>
              </a:rPr>
              <a:t> = –890.4 kJ</a:t>
            </a:r>
          </a:p>
          <a:p>
            <a:r>
              <a:rPr lang="en-US" dirty="0"/>
              <a:t>Note that </a:t>
            </a:r>
            <a:r>
              <a:rPr lang="en-US" dirty="0">
                <a:solidFill>
                  <a:srgbClr val="FFC000"/>
                </a:solidFill>
                <a:latin typeface="Symbol" panose="05050102010706020507" pitchFamily="18" charset="2"/>
                <a:sym typeface="Wingdings" panose="05000000000000000000" pitchFamily="2" charset="2"/>
              </a:rPr>
              <a:t>D</a:t>
            </a:r>
            <a:r>
              <a:rPr lang="en-US" i="1" dirty="0">
                <a:solidFill>
                  <a:srgbClr val="FFC000"/>
                </a:solidFill>
                <a:sym typeface="Wingdings" panose="05000000000000000000" pitchFamily="2" charset="2"/>
              </a:rPr>
              <a:t>H = </a:t>
            </a:r>
            <a:r>
              <a:rPr lang="en-US" b="1" i="1" dirty="0" err="1">
                <a:solidFill>
                  <a:srgbClr val="FFC000"/>
                </a:solidFill>
              </a:rPr>
              <a:t>H</a:t>
            </a:r>
            <a:r>
              <a:rPr lang="en-US" b="1" baseline="-25000" dirty="0" err="1">
                <a:solidFill>
                  <a:srgbClr val="FFC000"/>
                </a:solidFill>
              </a:rPr>
              <a:t>products</a:t>
            </a:r>
            <a:r>
              <a:rPr lang="en-US" b="1" i="1" baseline="-25000" dirty="0">
                <a:solidFill>
                  <a:srgbClr val="FFC000"/>
                </a:solidFill>
              </a:rPr>
              <a:t> </a:t>
            </a:r>
            <a:r>
              <a:rPr lang="en-US" b="1" i="1" dirty="0">
                <a:solidFill>
                  <a:srgbClr val="FFC000"/>
                </a:solidFill>
              </a:rPr>
              <a:t>– </a:t>
            </a:r>
            <a:r>
              <a:rPr lang="en-US" b="1" i="1" dirty="0" err="1">
                <a:solidFill>
                  <a:srgbClr val="FFC000"/>
                </a:solidFill>
              </a:rPr>
              <a:t>H</a:t>
            </a:r>
            <a:r>
              <a:rPr lang="en-US" b="1" baseline="-25000" dirty="0" err="1">
                <a:solidFill>
                  <a:srgbClr val="FFC000"/>
                </a:solidFill>
              </a:rPr>
              <a:t>reactants</a:t>
            </a:r>
            <a:r>
              <a:rPr lang="en-US" b="1" baseline="-25000" dirty="0">
                <a:solidFill>
                  <a:srgbClr val="FFC000"/>
                </a:solidFill>
              </a:rPr>
              <a:t> </a:t>
            </a:r>
            <a:r>
              <a:rPr lang="en-US" dirty="0"/>
              <a:t>is less than zero, that is the energy of the products is less than the energy of reactants, which makes sense, as combustion is an exothermic reaction</a:t>
            </a:r>
          </a:p>
        </p:txBody>
      </p:sp>
    </p:spTree>
    <p:extLst>
      <p:ext uri="{BB962C8B-B14F-4D97-AF65-F5344CB8AC3E}">
        <p14:creationId xmlns:p14="http://schemas.microsoft.com/office/powerpoint/2010/main" val="17200196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D522E-157F-44BA-FB1D-37D6F426A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76FF8-14B8-B71E-082F-A47E6D951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99" y="216725"/>
            <a:ext cx="8421512" cy="769441"/>
          </a:xfrm>
        </p:spPr>
        <p:txBody>
          <a:bodyPr/>
          <a:lstStyle/>
          <a:p>
            <a:r>
              <a:rPr lang="en-US" sz="4400" dirty="0"/>
              <a:t>Thermochemical Equation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C45DA-EE22-4D68-DD21-65996ED30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056808"/>
            <a:ext cx="8387645" cy="5490748"/>
          </a:xfrm>
        </p:spPr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Look at the thermochemical equation of an endothermic reaction</a:t>
            </a:r>
          </a:p>
          <a:p>
            <a:pPr marL="0" indent="0" algn="ctr">
              <a:buNone/>
            </a:pPr>
            <a:r>
              <a:rPr lang="en-US" sz="2200" dirty="0">
                <a:solidFill>
                  <a:srgbClr val="FFC000"/>
                </a:solidFill>
                <a:sym typeface="Wingdings" panose="05000000000000000000" pitchFamily="2" charset="2"/>
              </a:rPr>
              <a:t>CaCO</a:t>
            </a:r>
            <a:r>
              <a:rPr lang="en-US" sz="2200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3</a:t>
            </a:r>
            <a:r>
              <a:rPr lang="en-US" sz="2200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sz="2200" i="1" dirty="0">
                <a:solidFill>
                  <a:srgbClr val="FFC000"/>
                </a:solidFill>
                <a:sym typeface="Wingdings" panose="05000000000000000000" pitchFamily="2" charset="2"/>
              </a:rPr>
              <a:t>s</a:t>
            </a:r>
            <a:r>
              <a:rPr lang="en-US" sz="2200" dirty="0">
                <a:solidFill>
                  <a:srgbClr val="FFC000"/>
                </a:solidFill>
                <a:sym typeface="Wingdings" panose="05000000000000000000" pitchFamily="2" charset="2"/>
              </a:rPr>
              <a:t>) + </a:t>
            </a:r>
            <a:r>
              <a:rPr lang="en-US" sz="2200" b="1" dirty="0">
                <a:solidFill>
                  <a:srgbClr val="FFC000"/>
                </a:solidFill>
                <a:sym typeface="Wingdings" panose="05000000000000000000" pitchFamily="2" charset="2"/>
              </a:rPr>
              <a:t>177.8 kJ</a:t>
            </a:r>
            <a:r>
              <a:rPr lang="en-US" sz="2200" dirty="0">
                <a:solidFill>
                  <a:srgbClr val="FFC000"/>
                </a:solidFill>
                <a:sym typeface="Wingdings" panose="05000000000000000000" pitchFamily="2" charset="2"/>
              </a:rPr>
              <a:t>  CaO (</a:t>
            </a:r>
            <a:r>
              <a:rPr lang="en-US" sz="2200" i="1" dirty="0">
                <a:solidFill>
                  <a:srgbClr val="FFC000"/>
                </a:solidFill>
                <a:sym typeface="Wingdings" panose="05000000000000000000" pitchFamily="2" charset="2"/>
              </a:rPr>
              <a:t>s</a:t>
            </a:r>
            <a:r>
              <a:rPr lang="en-US" sz="2200" dirty="0">
                <a:solidFill>
                  <a:srgbClr val="FFC000"/>
                </a:solidFill>
                <a:sym typeface="Wingdings" panose="05000000000000000000" pitchFamily="2" charset="2"/>
              </a:rPr>
              <a:t>) + CO</a:t>
            </a:r>
            <a:r>
              <a:rPr lang="en-US" sz="2200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sz="2200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sz="2200" i="1" dirty="0">
                <a:solidFill>
                  <a:srgbClr val="FFC000"/>
                </a:solidFill>
                <a:sym typeface="Wingdings" panose="05000000000000000000" pitchFamily="2" charset="2"/>
              </a:rPr>
              <a:t>g</a:t>
            </a:r>
            <a:r>
              <a:rPr lang="en-US" sz="2200" dirty="0">
                <a:solidFill>
                  <a:srgbClr val="FFC000"/>
                </a:solidFill>
                <a:sym typeface="Wingdings" panose="05000000000000000000" pitchFamily="2" charset="2"/>
              </a:rPr>
              <a:t>)</a:t>
            </a:r>
            <a:endParaRPr lang="en-US" sz="2200" b="1" dirty="0">
              <a:solidFill>
                <a:srgbClr val="FFC000"/>
              </a:solidFill>
              <a:sym typeface="Wingdings" panose="05000000000000000000" pitchFamily="2" charset="2"/>
            </a:endParaRPr>
          </a:p>
          <a:p>
            <a:r>
              <a:rPr lang="en-US" dirty="0"/>
              <a:t>Heat is absorbed for this reaction to occur (you are likely getting this reaction to happen on a hot plate)</a:t>
            </a:r>
          </a:p>
          <a:p>
            <a:r>
              <a:rPr lang="en-US" dirty="0"/>
              <a:t>The other way of expressing this is: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rgbClr val="FFC000"/>
                </a:solidFill>
                <a:sym typeface="Wingdings" panose="05000000000000000000" pitchFamily="2" charset="2"/>
              </a:rPr>
              <a:t>CaCO</a:t>
            </a:r>
            <a:r>
              <a:rPr lang="en-US" sz="2000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sz="2000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sz="2000" i="1" dirty="0">
                <a:solidFill>
                  <a:srgbClr val="FFC000"/>
                </a:solidFill>
                <a:sym typeface="Wingdings" panose="05000000000000000000" pitchFamily="2" charset="2"/>
              </a:rPr>
              <a:t>s</a:t>
            </a:r>
            <a:r>
              <a:rPr lang="en-US" sz="2000" dirty="0">
                <a:solidFill>
                  <a:srgbClr val="FFC000"/>
                </a:solidFill>
                <a:sym typeface="Wingdings" panose="05000000000000000000" pitchFamily="2" charset="2"/>
              </a:rPr>
              <a:t>)  CaO (</a:t>
            </a:r>
            <a:r>
              <a:rPr lang="en-US" sz="2000" i="1" dirty="0">
                <a:solidFill>
                  <a:srgbClr val="FFC000"/>
                </a:solidFill>
                <a:sym typeface="Wingdings" panose="05000000000000000000" pitchFamily="2" charset="2"/>
              </a:rPr>
              <a:t>s</a:t>
            </a:r>
            <a:r>
              <a:rPr lang="en-US" sz="2000" dirty="0">
                <a:solidFill>
                  <a:srgbClr val="FFC000"/>
                </a:solidFill>
                <a:sym typeface="Wingdings" panose="05000000000000000000" pitchFamily="2" charset="2"/>
              </a:rPr>
              <a:t>) + CO</a:t>
            </a:r>
            <a:r>
              <a:rPr lang="en-US" sz="2000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sz="2000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sz="2000" i="1" dirty="0">
                <a:solidFill>
                  <a:srgbClr val="FFC000"/>
                </a:solidFill>
                <a:sym typeface="Wingdings" panose="05000000000000000000" pitchFamily="2" charset="2"/>
              </a:rPr>
              <a:t>g</a:t>
            </a:r>
            <a:r>
              <a:rPr lang="en-US" sz="2000" dirty="0">
                <a:solidFill>
                  <a:srgbClr val="FFC000"/>
                </a:solidFill>
                <a:sym typeface="Wingdings" panose="05000000000000000000" pitchFamily="2" charset="2"/>
              </a:rPr>
              <a:t>)   </a:t>
            </a:r>
            <a:r>
              <a:rPr lang="en-US" sz="2000" dirty="0">
                <a:solidFill>
                  <a:srgbClr val="FFC000"/>
                </a:solidFill>
                <a:latin typeface="Symbol" panose="05050102010706020507" pitchFamily="18" charset="2"/>
                <a:sym typeface="Wingdings" panose="05000000000000000000" pitchFamily="2" charset="2"/>
              </a:rPr>
              <a:t>D</a:t>
            </a:r>
            <a:r>
              <a:rPr lang="en-US" sz="2000" i="1" dirty="0">
                <a:solidFill>
                  <a:srgbClr val="FFC000"/>
                </a:solidFill>
                <a:sym typeface="Wingdings" panose="05000000000000000000" pitchFamily="2" charset="2"/>
              </a:rPr>
              <a:t>H</a:t>
            </a:r>
            <a:r>
              <a:rPr lang="en-US" sz="2000" dirty="0">
                <a:solidFill>
                  <a:srgbClr val="FFC000"/>
                </a:solidFill>
                <a:sym typeface="Wingdings" panose="05000000000000000000" pitchFamily="2" charset="2"/>
              </a:rPr>
              <a:t> = 177.8 kJ</a:t>
            </a:r>
          </a:p>
          <a:p>
            <a:r>
              <a:rPr lang="en-US" dirty="0"/>
              <a:t>A reaction like this can be reversed too: carbon dioxide gas in </a:t>
            </a:r>
            <a:r>
              <a:rPr lang="en-US" dirty="0" err="1"/>
              <a:t>calcum</a:t>
            </a:r>
            <a:r>
              <a:rPr lang="en-US" dirty="0"/>
              <a:t> oxide will form calcium carbonate: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CaO (</a:t>
            </a:r>
            <a:r>
              <a:rPr lang="en-US" i="1" dirty="0">
                <a:solidFill>
                  <a:srgbClr val="FFC000"/>
                </a:solidFill>
                <a:sym typeface="Wingdings" panose="05000000000000000000" pitchFamily="2" charset="2"/>
              </a:rPr>
              <a:t>s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CO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>
                <a:solidFill>
                  <a:srgbClr val="FFC000"/>
                </a:solidFill>
                <a:sym typeface="Wingdings" panose="05000000000000000000" pitchFamily="2" charset="2"/>
              </a:rPr>
              <a:t>g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 CaCO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>
                <a:solidFill>
                  <a:srgbClr val="FFC000"/>
                </a:solidFill>
                <a:sym typeface="Wingdings" panose="05000000000000000000" pitchFamily="2" charset="2"/>
              </a:rPr>
              <a:t>s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   </a:t>
            </a:r>
            <a:r>
              <a:rPr lang="en-US" dirty="0">
                <a:solidFill>
                  <a:srgbClr val="FFC000"/>
                </a:solidFill>
                <a:latin typeface="Symbol" panose="05050102010706020507" pitchFamily="18" charset="2"/>
                <a:sym typeface="Wingdings" panose="05000000000000000000" pitchFamily="2" charset="2"/>
              </a:rPr>
              <a:t>D</a:t>
            </a:r>
            <a:r>
              <a:rPr lang="en-US" i="1" dirty="0">
                <a:solidFill>
                  <a:srgbClr val="FFC000"/>
                </a:solidFill>
                <a:sym typeface="Wingdings" panose="05000000000000000000" pitchFamily="2" charset="2"/>
              </a:rPr>
              <a:t>H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= –177.8 kJ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62712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650BA-E069-3667-8A7E-978D768F8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1D2A1-0AED-1AEF-4CFE-649261EBC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99" y="216725"/>
            <a:ext cx="8421512" cy="769441"/>
          </a:xfrm>
        </p:spPr>
        <p:txBody>
          <a:bodyPr/>
          <a:lstStyle/>
          <a:p>
            <a:r>
              <a:rPr lang="en-US" sz="4400" dirty="0"/>
              <a:t>Enthalpy Calculations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711CB-CC29-C074-D748-258499A657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056808"/>
            <a:ext cx="8387645" cy="549074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Energies in reactions under constant pressure of enthalpies. The energies also depend on amounts as well: if one mole of methane burned in oxygen releases 890.4 kJ energy, then two moles releases 2 x 890.4 kJ (= 1781 kJ) and a 0.5 mol releases 0.5 x 890.4 kJ (=445.2 kJ)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A84599-1F13-089E-FDBA-2219E3781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1" y="3671767"/>
            <a:ext cx="4056481" cy="2946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4167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87F15-E891-77D1-B434-8C1846E44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E9E65-B631-3417-9AD3-5E8C5D1C3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99" y="216725"/>
            <a:ext cx="8421512" cy="769441"/>
          </a:xfrm>
        </p:spPr>
        <p:txBody>
          <a:bodyPr/>
          <a:lstStyle/>
          <a:p>
            <a:r>
              <a:rPr lang="en-US" sz="4400" dirty="0"/>
              <a:t>Practice: Enthalpy Calculations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BF9374-C825-145D-A0E5-2E312F491D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533" y="1056808"/>
                <a:ext cx="8387645" cy="549074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Sulfur dioxide </a:t>
                </a:r>
                <a:r>
                  <a:rPr lang="en-US" dirty="0">
                    <a:sym typeface="Wingdings" panose="05000000000000000000" pitchFamily="2" charset="2"/>
                  </a:rPr>
                  <a:t>(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SO</a:t>
                </a:r>
                <a:r>
                  <a:rPr lang="en-US" baseline="-25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ym typeface="Wingdings" panose="05000000000000000000" pitchFamily="2" charset="2"/>
                  </a:rPr>
                  <a:t>) gas reacts with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oxygen</a:t>
                </a:r>
                <a:r>
                  <a:rPr lang="en-US" dirty="0">
                    <a:sym typeface="Wingdings" panose="05000000000000000000" pitchFamily="2" charset="2"/>
                  </a:rPr>
                  <a:t> (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O</a:t>
                </a:r>
                <a:r>
                  <a:rPr lang="en-US" baseline="-25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ym typeface="Wingdings" panose="05000000000000000000" pitchFamily="2" charset="2"/>
                  </a:rPr>
                  <a:t>) to form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sulfur trioxide</a:t>
                </a:r>
                <a:r>
                  <a:rPr lang="en-US" dirty="0">
                    <a:sym typeface="Wingdings" panose="05000000000000000000" pitchFamily="2" charset="2"/>
                  </a:rPr>
                  <a:t> (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SO</a:t>
                </a:r>
                <a:r>
                  <a:rPr lang="en-US" baseline="-25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ym typeface="Wingdings" panose="05000000000000000000" pitchFamily="2" charset="2"/>
                  </a:rPr>
                  <a:t>) in an exothermic reaction</a:t>
                </a:r>
              </a:p>
              <a:p>
                <a:pPr marL="0" indent="0" algn="ctr">
                  <a:buNone/>
                </a:pP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2 SO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(</a:t>
                </a:r>
                <a:r>
                  <a:rPr lang="en-US" i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g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 + O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(</a:t>
                </a:r>
                <a:r>
                  <a:rPr lang="en-US" i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g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  2 SO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(</a:t>
                </a:r>
                <a:r>
                  <a:rPr lang="en-US" i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g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 + 198 kJ</a:t>
                </a:r>
              </a:p>
              <a:p>
                <a:pPr marL="0" indent="0">
                  <a:buNone/>
                </a:pPr>
                <a:r>
                  <a:rPr lang="en-US" dirty="0"/>
                  <a:t>What is </a:t>
                </a:r>
                <a:r>
                  <a:rPr lang="en-US" b="1" dirty="0">
                    <a:solidFill>
                      <a:srgbClr val="FFC000"/>
                    </a:solidFill>
                    <a:latin typeface="Symbol" panose="05050102010706020507" pitchFamily="18" charset="2"/>
                  </a:rPr>
                  <a:t>D</a:t>
                </a:r>
                <a:r>
                  <a:rPr lang="en-US" b="1" i="1" dirty="0">
                    <a:solidFill>
                      <a:srgbClr val="FFC000"/>
                    </a:solidFill>
                  </a:rPr>
                  <a:t>H</a:t>
                </a:r>
                <a:r>
                  <a:rPr lang="en-US" b="1" dirty="0">
                    <a:solidFill>
                      <a:srgbClr val="FFC000"/>
                    </a:solidFill>
                  </a:rPr>
                  <a:t> </a:t>
                </a:r>
                <a:r>
                  <a:rPr lang="en-US" dirty="0"/>
                  <a:t>when </a:t>
                </a:r>
                <a:r>
                  <a:rPr lang="en-US" b="1" dirty="0">
                    <a:solidFill>
                      <a:srgbClr val="FFC000"/>
                    </a:solidFill>
                  </a:rPr>
                  <a:t>58.0 g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SO</a:t>
                </a:r>
                <a:r>
                  <a:rPr lang="en-US" baseline="-25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2</a:t>
                </a:r>
                <a:r>
                  <a:rPr lang="en-US" dirty="0"/>
                  <a:t> reacts with excess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O</a:t>
                </a:r>
                <a:r>
                  <a:rPr lang="en-US" baseline="-25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2</a:t>
                </a:r>
                <a:r>
                  <a:rPr lang="en-US" dirty="0"/>
                  <a:t>?</a:t>
                </a:r>
              </a:p>
              <a:p>
                <a:pPr>
                  <a:buClr>
                    <a:srgbClr val="FFFF00"/>
                  </a:buClr>
                </a:pPr>
                <a:endParaRPr lang="en-US" sz="1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Wingdings" panose="05000000000000000000" pitchFamily="2" charset="2"/>
                </a:endParaRPr>
              </a:p>
              <a:p>
                <a:pPr>
                  <a:buClr>
                    <a:srgbClr val="FFFF00"/>
                  </a:buClr>
                </a:pPr>
                <a:r>
                  <a:rPr lang="en-US" sz="1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Identify given data and needed quantities:</a:t>
                </a:r>
              </a:p>
              <a:p>
                <a:pPr marL="461963" lvl="1" indent="-230188">
                  <a:buClr>
                    <a:srgbClr val="FFFF00"/>
                  </a:buClr>
                </a:pP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provided: SO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: mass = 58.0 g</a:t>
                </a:r>
                <a:r>
                  <a:rPr lang="en-US" sz="1800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, </a:t>
                </a:r>
                <a:r>
                  <a:rPr lang="en-US" sz="1800" dirty="0">
                    <a:latin typeface="Symbol" panose="05050102010706020507" pitchFamily="18" charset="2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D</a:t>
                </a:r>
                <a:r>
                  <a:rPr lang="en-US" sz="1800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H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= 198 kJ for 2 mol SO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;</a:t>
                </a:r>
                <a:b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</a:b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SO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molar mass = 64.07 g/mol</a:t>
                </a:r>
              </a:p>
              <a:p>
                <a:pPr>
                  <a:buClr>
                    <a:srgbClr val="FFFF00"/>
                  </a:buClr>
                </a:pPr>
                <a:r>
                  <a:rPr lang="en-US" sz="1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Substitute values &amp; solve:</a:t>
                </a:r>
              </a:p>
              <a:p>
                <a:pPr marL="0" indent="0">
                  <a:buClr>
                    <a:srgbClr val="FFFF00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6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sz="16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16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 58.0 </m:t>
                      </m:r>
                      <m:r>
                        <m:rPr>
                          <m:sty m:val="p"/>
                        </m:rP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g</m:t>
                      </m:r>
                      <m: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SO</m:t>
                      </m:r>
                      <m:r>
                        <a:rPr lang="en-US" sz="1600" b="0" i="0" baseline="-250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mol</m:t>
                          </m:r>
                          <m: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SO</m:t>
                          </m:r>
                          <m:r>
                            <a:rPr lang="en-US" sz="1600" b="0" i="0" baseline="-250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64.07</m:t>
                          </m:r>
                          <m: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g</m:t>
                          </m:r>
                          <m: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SO</m:t>
                          </m:r>
                          <m:r>
                            <a:rPr lang="en-US" sz="1600" b="0" i="0" baseline="-250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6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1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−198 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kJ</m:t>
                          </m:r>
                        </m:num>
                        <m:den>
                          <m: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mol</m:t>
                          </m:r>
                          <m:r>
                            <a:rPr lang="en-US" sz="16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SO</m:t>
                          </m:r>
                          <m:r>
                            <a:rPr lang="en-US" sz="1600" b="0" i="0" baseline="-250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6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=−89.6</m:t>
                      </m:r>
                      <m:r>
                        <a:rPr lang="en-US" sz="16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kJ</m:t>
                      </m:r>
                    </m:oMath>
                  </m:oMathPara>
                </a14:m>
                <a:endParaRPr lang="en-US" sz="1600" dirty="0">
                  <a:solidFill>
                    <a:srgbClr val="FFFF00"/>
                  </a:solidFill>
                </a:endParaRPr>
              </a:p>
              <a:p>
                <a:pPr>
                  <a:buClr>
                    <a:srgbClr val="FFFF00"/>
                  </a:buClr>
                </a:pPr>
                <a:endParaRPr lang="en-US" sz="1600" baseline="-25000" dirty="0">
                  <a:solidFill>
                    <a:srgbClr val="FFFF00"/>
                  </a:solidFill>
                </a:endParaRPr>
              </a:p>
              <a:p>
                <a:pPr marL="0" indent="0">
                  <a:buNone/>
                </a:pPr>
                <a:endParaRPr lang="en-US" sz="1600" baseline="-250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BF9374-C825-145D-A0E5-2E312F491D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533" y="1056808"/>
                <a:ext cx="8387645" cy="5490748"/>
              </a:xfrm>
              <a:blipFill>
                <a:blip r:embed="rId2"/>
                <a:stretch>
                  <a:fillRect l="-1090" t="-8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698505"/>
      </p:ext>
    </p:extLst>
  </p:cSld>
  <p:clrMapOvr>
    <a:masterClrMapping/>
  </p:clrMapOvr>
</p:sld>
</file>

<file path=ppt/theme/theme1.xml><?xml version="1.0" encoding="utf-8"?>
<a:theme xmlns:a="http://schemas.openxmlformats.org/drawingml/2006/main" name="Light-on-dark-standard-presentation">
  <a:themeElements>
    <a:clrScheme name="4_LightOnDar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4_LightOnDark">
      <a:majorFont>
        <a:latin typeface="Arial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1600" dirty="0" smtClean="0">
            <a:solidFill>
              <a:schemeClr val="bg1"/>
            </a:solidFill>
          </a:defRPr>
        </a:defPPr>
      </a:lstStyle>
    </a:txDef>
  </a:objectDefaults>
  <a:extraClrSchemeLst>
    <a:extraClrScheme>
      <a:clrScheme name="4_LightOnDar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LightOnDark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31786</TotalTime>
  <Words>3286</Words>
  <Application>Microsoft Office PowerPoint</Application>
  <PresentationFormat>On-screen Show (4:3)</PresentationFormat>
  <Paragraphs>239</Paragraphs>
  <Slides>35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5" baseType="lpstr">
      <vt:lpstr>Arial</vt:lpstr>
      <vt:lpstr>Cambria</vt:lpstr>
      <vt:lpstr>Cambria Math</vt:lpstr>
      <vt:lpstr>Courier New</vt:lpstr>
      <vt:lpstr>Symbol</vt:lpstr>
      <vt:lpstr>Tahoma</vt:lpstr>
      <vt:lpstr>Times New Roman</vt:lpstr>
      <vt:lpstr>Verdana</vt:lpstr>
      <vt:lpstr>Wingdings</vt:lpstr>
      <vt:lpstr>Light-on-dark-standard-presentation</vt:lpstr>
      <vt:lpstr>Introductory General Chemistry</vt:lpstr>
      <vt:lpstr>PowerPoint Presentation</vt:lpstr>
      <vt:lpstr>General Stoichiometry</vt:lpstr>
      <vt:lpstr>Moles Reactant / Moles Product</vt:lpstr>
      <vt:lpstr>Stoichiometry Map</vt:lpstr>
      <vt:lpstr>The Mass-to-Mass Pathway</vt:lpstr>
      <vt:lpstr>Example: Mass-to-Mass </vt:lpstr>
      <vt:lpstr>Practice: Mass-to-Mass </vt:lpstr>
      <vt:lpstr>Solution Stoichiometry</vt:lpstr>
      <vt:lpstr>Example: Volume Calculations</vt:lpstr>
      <vt:lpstr>Moles Reactant / Moles Product</vt:lpstr>
      <vt:lpstr>Example: Gas Calculations</vt:lpstr>
      <vt:lpstr>Example: Gas Calculations</vt:lpstr>
      <vt:lpstr>Gas Stoichiometry at STP</vt:lpstr>
      <vt:lpstr>Titration</vt:lpstr>
      <vt:lpstr>Titration Example</vt:lpstr>
      <vt:lpstr>Titration Indicators</vt:lpstr>
      <vt:lpstr>Limiting Reactant (Reagent)</vt:lpstr>
      <vt:lpstr>Identifying the Limiting Reactant</vt:lpstr>
      <vt:lpstr>Identifying the Limiting Reactant</vt:lpstr>
      <vt:lpstr>Moles Reactant / Moles Product</vt:lpstr>
      <vt:lpstr>Practice: Reactant Limit/Excess</vt:lpstr>
      <vt:lpstr>Practice: Reactant Limit/Excess</vt:lpstr>
      <vt:lpstr>Practice: Reactant Limit/Excess</vt:lpstr>
      <vt:lpstr>Yield: Theoretical, Actual, Percent</vt:lpstr>
      <vt:lpstr>Practice: Yields</vt:lpstr>
      <vt:lpstr>Practice: Yields</vt:lpstr>
      <vt:lpstr>Causes for Less Than 100% Percent Yield</vt:lpstr>
      <vt:lpstr>Causes for Greater Than 100% Percent Yield</vt:lpstr>
      <vt:lpstr>Energy in Reactions</vt:lpstr>
      <vt:lpstr>Enthalpy</vt:lpstr>
      <vt:lpstr>Thermochemical Equation</vt:lpstr>
      <vt:lpstr>Thermochemical Equation</vt:lpstr>
      <vt:lpstr>Enthalpy Calculations</vt:lpstr>
      <vt:lpstr>Practice: Enthalpy Calculations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 M Halloran</dc:creator>
  <cp:lastModifiedBy>sm h</cp:lastModifiedBy>
  <cp:revision>1116</cp:revision>
  <cp:lastPrinted>2016-03-14T04:22:58Z</cp:lastPrinted>
  <dcterms:created xsi:type="dcterms:W3CDTF">2005-12-08T13:54:14Z</dcterms:created>
  <dcterms:modified xsi:type="dcterms:W3CDTF">2025-11-16T19:53:23Z</dcterms:modified>
</cp:coreProperties>
</file>