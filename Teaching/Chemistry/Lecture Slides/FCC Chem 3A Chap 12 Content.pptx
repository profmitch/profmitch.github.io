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45"/>
  </p:notesMasterIdLst>
  <p:sldIdLst>
    <p:sldId id="608" r:id="rId2"/>
    <p:sldId id="875" r:id="rId3"/>
    <p:sldId id="831" r:id="rId4"/>
    <p:sldId id="864" r:id="rId5"/>
    <p:sldId id="836" r:id="rId6"/>
    <p:sldId id="835" r:id="rId7"/>
    <p:sldId id="837" r:id="rId8"/>
    <p:sldId id="838" r:id="rId9"/>
    <p:sldId id="840" r:id="rId10"/>
    <p:sldId id="841" r:id="rId11"/>
    <p:sldId id="834" r:id="rId12"/>
    <p:sldId id="842" r:id="rId13"/>
    <p:sldId id="843" r:id="rId14"/>
    <p:sldId id="844" r:id="rId15"/>
    <p:sldId id="845" r:id="rId16"/>
    <p:sldId id="846" r:id="rId17"/>
    <p:sldId id="847" r:id="rId18"/>
    <p:sldId id="848" r:id="rId19"/>
    <p:sldId id="849" r:id="rId20"/>
    <p:sldId id="850" r:id="rId21"/>
    <p:sldId id="851" r:id="rId22"/>
    <p:sldId id="852" r:id="rId23"/>
    <p:sldId id="853" r:id="rId24"/>
    <p:sldId id="865" r:id="rId25"/>
    <p:sldId id="866" r:id="rId26"/>
    <p:sldId id="854" r:id="rId27"/>
    <p:sldId id="868" r:id="rId28"/>
    <p:sldId id="867" r:id="rId29"/>
    <p:sldId id="855" r:id="rId30"/>
    <p:sldId id="856" r:id="rId31"/>
    <p:sldId id="857" r:id="rId32"/>
    <p:sldId id="869" r:id="rId33"/>
    <p:sldId id="870" r:id="rId34"/>
    <p:sldId id="871" r:id="rId35"/>
    <p:sldId id="858" r:id="rId36"/>
    <p:sldId id="872" r:id="rId37"/>
    <p:sldId id="873" r:id="rId38"/>
    <p:sldId id="874" r:id="rId39"/>
    <p:sldId id="859" r:id="rId40"/>
    <p:sldId id="860" r:id="rId41"/>
    <p:sldId id="861" r:id="rId42"/>
    <p:sldId id="862" r:id="rId43"/>
    <p:sldId id="863" r:id="rId4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FF99CC"/>
    <a:srgbClr val="99CCFF"/>
    <a:srgbClr val="00FF00"/>
    <a:srgbClr val="FFFFCC"/>
    <a:srgbClr val="339933"/>
    <a:srgbClr val="CCFFFF"/>
    <a:srgbClr val="FFFF99"/>
    <a:srgbClr val="99FFCC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2" autoAdjust="0"/>
    <p:restoredTop sz="94620" autoAdjust="0"/>
  </p:normalViewPr>
  <p:slideViewPr>
    <p:cSldViewPr snapToGrid="0">
      <p:cViewPr varScale="1">
        <p:scale>
          <a:sx n="134" d="100"/>
          <a:sy n="134" d="100"/>
        </p:scale>
        <p:origin x="1158" y="120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3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3C9FD-BB70-7A66-1D77-1340C35A2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7B3E2-E413-4BBF-87A8-148331BF0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5321" y="636499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803D5D98-E6AF-418F-A1B9-21EEB670A939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2436" y="2274838"/>
            <a:ext cx="8111067" cy="2308324"/>
          </a:xfrm>
        </p:spPr>
        <p:txBody>
          <a:bodyPr/>
          <a:lstStyle/>
          <a:p>
            <a:r>
              <a:rPr lang="en-US" sz="7200" dirty="0"/>
              <a:t>Introductory General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933" y="335982"/>
            <a:ext cx="6793992" cy="1466314"/>
          </a:xfrm>
        </p:spPr>
        <p:txBody>
          <a:bodyPr/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S. M.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1FBD3-0514-8353-DC9F-F58F99F36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77" y="374828"/>
            <a:ext cx="8387645" cy="627600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Acids and Bases</a:t>
            </a:r>
          </a:p>
          <a:p>
            <a:r>
              <a:rPr lang="en-US" sz="1800" dirty="0"/>
              <a:t>Acids</a:t>
            </a:r>
          </a:p>
          <a:p>
            <a:r>
              <a:rPr lang="en-US" sz="1800" dirty="0"/>
              <a:t>Specific Acids</a:t>
            </a:r>
          </a:p>
          <a:p>
            <a:r>
              <a:rPr lang="en-US" sz="1800" dirty="0"/>
              <a:t>Bases</a:t>
            </a:r>
          </a:p>
          <a:p>
            <a:r>
              <a:rPr lang="en-US" sz="1800" dirty="0"/>
              <a:t>Specific Bases</a:t>
            </a:r>
          </a:p>
          <a:p>
            <a:r>
              <a:rPr lang="en-US" sz="1800" dirty="0"/>
              <a:t>Definition of Acid, Base</a:t>
            </a:r>
          </a:p>
          <a:p>
            <a:r>
              <a:rPr lang="en-US" sz="1800" dirty="0"/>
              <a:t>- Bronsted-Lowry</a:t>
            </a:r>
          </a:p>
          <a:p>
            <a:r>
              <a:rPr lang="en-US" sz="1800" dirty="0"/>
              <a:t>Hydronium Ion</a:t>
            </a:r>
          </a:p>
          <a:p>
            <a:r>
              <a:rPr lang="en-US" sz="1800" dirty="0"/>
              <a:t>Conjugate Acid-Base Pair</a:t>
            </a:r>
          </a:p>
          <a:p>
            <a:r>
              <a:rPr lang="en-US" sz="1800" dirty="0"/>
              <a:t>Reactions</a:t>
            </a:r>
          </a:p>
          <a:p>
            <a:r>
              <a:rPr lang="en-US" sz="1800" dirty="0"/>
              <a:t>- Neutralization</a:t>
            </a:r>
          </a:p>
          <a:p>
            <a:r>
              <a:rPr lang="en-US" sz="1800" dirty="0"/>
              <a:t>- With Active Metals</a:t>
            </a:r>
          </a:p>
          <a:p>
            <a:r>
              <a:rPr lang="en-US" sz="1800" dirty="0"/>
              <a:t>Strong and Weak Acids &amp; Bases</a:t>
            </a:r>
          </a:p>
          <a:p>
            <a:r>
              <a:rPr lang="en-US" sz="1800" dirty="0"/>
              <a:t>Water Equilibrium Constant, Kw</a:t>
            </a:r>
          </a:p>
          <a:p>
            <a:r>
              <a:rPr lang="en-US" sz="1800" dirty="0"/>
              <a:t>pH scale and math of pH</a:t>
            </a:r>
          </a:p>
          <a:p>
            <a:r>
              <a:rPr lang="en-US" sz="1800" dirty="0"/>
              <a:t>pOH</a:t>
            </a:r>
          </a:p>
          <a:p>
            <a:r>
              <a:rPr lang="en-US" sz="1800" dirty="0"/>
              <a:t>Buffers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91663-B6F6-CAD8-7320-9D92AA490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759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BA4E7-1830-0D36-516C-B27EB7C8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0364B-602F-A0FF-46EC-B13EFD8BB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Equilibrium Symbol/Character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0E291-FA40-9CC8-12A3-682F11E344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49292"/>
                <a:ext cx="8387645" cy="53982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6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⇌</m:t>
                      </m:r>
                    </m:oMath>
                  </m:oMathPara>
                </a14:m>
                <a:endParaRPr lang="en-US" sz="6000" dirty="0">
                  <a:solidFill>
                    <a:schemeClr val="bg1"/>
                  </a:solidFill>
                </a:endParaRPr>
              </a:p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right-left double harpoons </a:t>
                </a:r>
                <a:r>
                  <a:rPr lang="en-US" dirty="0">
                    <a:solidFill>
                      <a:srgbClr val="FFFF00"/>
                    </a:solidFill>
                  </a:rPr>
                  <a:t>symbol</a:t>
                </a:r>
                <a:r>
                  <a:rPr lang="en-US" dirty="0"/>
                  <a:t> or </a:t>
                </a:r>
                <a:r>
                  <a:rPr lang="en-US" dirty="0">
                    <a:solidFill>
                      <a:srgbClr val="FFFF00"/>
                    </a:solidFill>
                  </a:rPr>
                  <a:t>character</a:t>
                </a:r>
                <a:r>
                  <a:rPr lang="en-US" dirty="0"/>
                  <a:t> is used to show an important concept in chemistry</a:t>
                </a:r>
              </a:p>
              <a:p>
                <a:r>
                  <a:rPr lang="en-US" dirty="0"/>
                  <a:t>This concept is </a:t>
                </a:r>
                <a:r>
                  <a:rPr lang="en-US" b="1" dirty="0">
                    <a:solidFill>
                      <a:srgbClr val="00FF00"/>
                    </a:solidFill>
                  </a:rPr>
                  <a:t>equilibrium</a:t>
                </a:r>
              </a:p>
              <a:p>
                <a:r>
                  <a:rPr lang="en-US" dirty="0"/>
                  <a:t>Not all chemical reactions are </a:t>
                </a:r>
                <a:r>
                  <a:rPr lang="en-US" dirty="0">
                    <a:solidFill>
                      <a:srgbClr val="FFFF00"/>
                    </a:solidFill>
                  </a:rPr>
                  <a:t>one way</a:t>
                </a:r>
                <a:r>
                  <a:rPr lang="en-US" dirty="0"/>
                  <a:t>. Many are </a:t>
                </a:r>
                <a:r>
                  <a:rPr lang="en-US" dirty="0">
                    <a:solidFill>
                      <a:srgbClr val="FFFF00"/>
                    </a:solidFill>
                  </a:rPr>
                  <a:t>two way</a:t>
                </a:r>
                <a:r>
                  <a:rPr lang="en-US" dirty="0"/>
                  <a:t>. That is, there is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forward reaction </a:t>
                </a:r>
                <a:r>
                  <a:rPr lang="en-US" dirty="0"/>
                  <a:t>and also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reverse reaction</a:t>
                </a:r>
              </a:p>
              <a:p>
                <a:r>
                  <a:rPr lang="en-US" dirty="0"/>
                  <a:t>When a reaction starts out with no </a:t>
                </a:r>
                <a:r>
                  <a:rPr lang="en-US" dirty="0">
                    <a:solidFill>
                      <a:srgbClr val="FFFF00"/>
                    </a:solidFill>
                  </a:rPr>
                  <a:t>products</a:t>
                </a:r>
                <a:r>
                  <a:rPr lang="en-US" dirty="0"/>
                  <a:t>, the </a:t>
                </a:r>
                <a:r>
                  <a:rPr lang="en-US" dirty="0">
                    <a:solidFill>
                      <a:srgbClr val="FFFF00"/>
                    </a:solidFill>
                  </a:rPr>
                  <a:t>forward reaction </a:t>
                </a:r>
                <a:r>
                  <a:rPr lang="en-US" dirty="0"/>
                  <a:t>occurs</a:t>
                </a:r>
              </a:p>
              <a:p>
                <a:r>
                  <a:rPr lang="en-US" dirty="0"/>
                  <a:t>But when </a:t>
                </a:r>
                <a:r>
                  <a:rPr lang="en-US" dirty="0">
                    <a:solidFill>
                      <a:srgbClr val="FFFF00"/>
                    </a:solidFill>
                  </a:rPr>
                  <a:t>products</a:t>
                </a:r>
                <a:r>
                  <a:rPr lang="en-US" dirty="0"/>
                  <a:t> accumulate, they become </a:t>
                </a:r>
                <a:r>
                  <a:rPr lang="en-US" dirty="0">
                    <a:solidFill>
                      <a:srgbClr val="FFFF00"/>
                    </a:solidFill>
                  </a:rPr>
                  <a:t>reactants</a:t>
                </a:r>
                <a:r>
                  <a:rPr lang="en-US" dirty="0"/>
                  <a:t> in the </a:t>
                </a:r>
                <a:r>
                  <a:rPr lang="en-US" dirty="0">
                    <a:solidFill>
                      <a:srgbClr val="FFFF00"/>
                    </a:solidFill>
                  </a:rPr>
                  <a:t>reverse reaction</a:t>
                </a:r>
              </a:p>
              <a:p>
                <a:r>
                  <a:rPr lang="en-US" dirty="0"/>
                  <a:t>An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equilibrium</a:t>
                </a:r>
                <a:r>
                  <a:rPr lang="en-US" dirty="0"/>
                  <a:t> is reached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0E291-FA40-9CC8-12A3-682F11E34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49292"/>
                <a:ext cx="8387645" cy="5398263"/>
              </a:xfrm>
              <a:blipFill>
                <a:blip r:embed="rId2"/>
                <a:stretch>
                  <a:fillRect l="-1090" r="-363" b="-3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9001A72-02F5-1BB4-2282-814894DA25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26965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1317A-F16B-F457-91C8-127D56890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0BF20B-72DE-62B2-2F55-FB3629412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9E3366-89EC-998E-35DA-36646B0C7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9292"/>
            <a:ext cx="8387645" cy="5398263"/>
          </a:xfrm>
        </p:spPr>
        <p:txBody>
          <a:bodyPr/>
          <a:lstStyle/>
          <a:p>
            <a:r>
              <a:rPr lang="en-US" dirty="0"/>
              <a:t>Foods</a:t>
            </a:r>
          </a:p>
          <a:p>
            <a:pPr lvl="1"/>
            <a:r>
              <a:rPr lang="en-US" dirty="0"/>
              <a:t>Citrus: oranges, lemons</a:t>
            </a:r>
          </a:p>
          <a:p>
            <a:r>
              <a:rPr lang="en-US" dirty="0"/>
              <a:t>Compounds: citric acid,</a:t>
            </a:r>
            <a:br>
              <a:rPr lang="en-US" dirty="0"/>
            </a:br>
            <a:r>
              <a:rPr lang="en-US" sz="2000" dirty="0"/>
              <a:t>L</a:t>
            </a:r>
            <a:r>
              <a:rPr lang="en-US" dirty="0"/>
              <a:t>-ascorbic acid (Vitamin C),</a:t>
            </a:r>
            <a:br>
              <a:rPr lang="en-US" dirty="0"/>
            </a:br>
            <a:r>
              <a:rPr lang="en-US" dirty="0"/>
              <a:t>phosphoric acid (soft drinks),</a:t>
            </a:r>
            <a:br>
              <a:rPr lang="en-US" dirty="0"/>
            </a:br>
            <a:r>
              <a:rPr lang="en-US" dirty="0"/>
              <a:t>acetic acid (vinegar),</a:t>
            </a:r>
            <a:br>
              <a:rPr lang="en-US" dirty="0"/>
            </a:br>
            <a:r>
              <a:rPr lang="en-US" dirty="0"/>
              <a:t>hydrochloric acid (stomach acid)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3EE6D0-634A-1FFA-18D4-5BCB30DCC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751" y="342150"/>
            <a:ext cx="3179427" cy="17791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521A94D-6B13-EF1A-C6F2-6A9F939DE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86" y="4350869"/>
            <a:ext cx="3380147" cy="19513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79CD49-1085-8A46-B7A1-8CA32234C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273" y="4128900"/>
            <a:ext cx="4283650" cy="2284292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7A660DC-80CC-F114-AED6-B93F810C5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46486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B6082-D0D5-C2DC-66A2-74E77D35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77FA45-0FE9-922B-930D-267D42C81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EEC0E0-2190-A598-7B9E-C2D488D1B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9292"/>
            <a:ext cx="8387645" cy="5398263"/>
          </a:xfrm>
        </p:spPr>
        <p:txBody>
          <a:bodyPr/>
          <a:lstStyle/>
          <a:p>
            <a:r>
              <a:rPr lang="en-US" dirty="0"/>
              <a:t>The protic kind of acids release </a:t>
            </a:r>
            <a:r>
              <a:rPr lang="en-US" dirty="0">
                <a:solidFill>
                  <a:srgbClr val="00FF00"/>
                </a:solidFill>
              </a:rPr>
              <a:t>hydrogen ions </a:t>
            </a:r>
            <a:r>
              <a:rPr lang="en-US" dirty="0"/>
              <a:t>(H</a:t>
            </a:r>
            <a:r>
              <a:rPr lang="en-US" baseline="30000" dirty="0"/>
              <a:t>+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rgbClr val="FFFF00"/>
                </a:solidFill>
              </a:rPr>
              <a:t>Hydrogen ions </a:t>
            </a:r>
            <a:r>
              <a:rPr lang="en-US" dirty="0"/>
              <a:t>are actually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protons</a:t>
            </a:r>
            <a:r>
              <a:rPr lang="en-US" dirty="0"/>
              <a:t>, so you will hear the word </a:t>
            </a:r>
            <a:r>
              <a:rPr lang="en-US" dirty="0">
                <a:solidFill>
                  <a:srgbClr val="FFFF00"/>
                </a:solidFill>
              </a:rPr>
              <a:t>proton</a:t>
            </a:r>
            <a:r>
              <a:rPr lang="en-US" dirty="0"/>
              <a:t> used in reference to acids</a:t>
            </a:r>
          </a:p>
          <a:p>
            <a:r>
              <a:rPr lang="en-US" dirty="0"/>
              <a:t>Acids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electrolytes</a:t>
            </a:r>
            <a:r>
              <a:rPr lang="en-US" dirty="0"/>
              <a:t>: conduct electrical current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Strong acids</a:t>
            </a:r>
            <a:r>
              <a:rPr lang="en-US" dirty="0"/>
              <a:t>: (nearly) complete (100%) ionization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Weak acids</a:t>
            </a:r>
            <a:r>
              <a:rPr lang="en-US" dirty="0"/>
              <a:t>: moderately weak 10-99% ionization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Very weak acids</a:t>
            </a:r>
            <a:r>
              <a:rPr lang="en-US" dirty="0"/>
              <a:t>: &lt; 10% ionization</a:t>
            </a:r>
          </a:p>
          <a:p>
            <a:r>
              <a:rPr lang="en-US" dirty="0"/>
              <a:t>Sour taste</a:t>
            </a:r>
          </a:p>
          <a:p>
            <a:r>
              <a:rPr lang="en-US" dirty="0">
                <a:solidFill>
                  <a:srgbClr val="FFFF00"/>
                </a:solidFill>
              </a:rPr>
              <a:t>Blue litmus </a:t>
            </a:r>
            <a:r>
              <a:rPr lang="en-US" dirty="0">
                <a:sym typeface="Wingdings" panose="05000000000000000000" pitchFamily="2" charset="2"/>
              </a:rPr>
              <a:t> red,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phenolphthalein</a:t>
            </a:r>
            <a:r>
              <a:rPr lang="en-US" dirty="0">
                <a:sym typeface="Wingdings" panose="05000000000000000000" pitchFamily="2" charset="2"/>
              </a:rPr>
              <a:t>  colorless</a:t>
            </a:r>
          </a:p>
          <a:p>
            <a:r>
              <a:rPr lang="en-US" dirty="0"/>
              <a:t>React with active metals </a:t>
            </a:r>
            <a:r>
              <a:rPr lang="en-US" dirty="0">
                <a:sym typeface="Wingdings" panose="05000000000000000000" pitchFamily="2" charset="2"/>
              </a:rPr>
              <a:t> hydrogen gas (H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Neutralization</a:t>
            </a:r>
            <a:r>
              <a:rPr lang="en-US" dirty="0">
                <a:sym typeface="Wingdings" panose="05000000000000000000" pitchFamily="2" charset="2"/>
              </a:rPr>
              <a:t>: react with bases  salt + water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42616-BF41-2026-77B4-77342012DD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9673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4764-ED57-6BE5-7EFC-0A533C5B3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3EB0F3-8E7C-E32A-F0F3-D02703FB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endParaRPr lang="en-US" sz="4000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D20BB78-1F6A-E6AB-3321-E06323F79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58421" y="576903"/>
            <a:ext cx="8317106" cy="584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EDEBA8-3B42-6E18-34B3-82AD7356DE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02794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DA6E-C6D2-DBBF-7B81-DF0A8111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6462D9-419B-42CB-4D57-4B8E1033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0E365E-6BC0-57A2-A898-EEC37AEB0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Hydrochloric acid (HCl)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HCl (</a:t>
            </a:r>
            <a:r>
              <a:rPr lang="en-US" i="1" dirty="0">
                <a:solidFill>
                  <a:srgbClr val="FFC000"/>
                </a:solidFill>
              </a:rPr>
              <a:t>g</a:t>
            </a:r>
            <a:r>
              <a:rPr lang="en-US" dirty="0">
                <a:solidFill>
                  <a:srgbClr val="FFC000"/>
                </a:solidFill>
              </a:rPr>
              <a:t>) + H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O (</a:t>
            </a:r>
            <a:r>
              <a:rPr lang="en-US" i="1" dirty="0">
                <a:solidFill>
                  <a:srgbClr val="FFC000"/>
                </a:solidFill>
              </a:rPr>
              <a:t>l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/>
              <a:t>a STRONG acid</a:t>
            </a:r>
          </a:p>
          <a:p>
            <a:r>
              <a:rPr lang="en-US" dirty="0">
                <a:sym typeface="Wingdings" panose="05000000000000000000" pitchFamily="2" charset="2"/>
              </a:rPr>
              <a:t>Often used is titration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Sulfuric acid (H</a:t>
            </a:r>
            <a:r>
              <a:rPr lang="en-US" sz="2800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2</a:t>
            </a: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SO</a:t>
            </a:r>
            <a:r>
              <a:rPr lang="en-US" sz="2800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4</a:t>
            </a: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another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strong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diprotic</a:t>
            </a:r>
            <a:r>
              <a:rPr lang="en-US" dirty="0">
                <a:sym typeface="Wingdings" panose="05000000000000000000" pitchFamily="2" charset="2"/>
              </a:rPr>
              <a:t> acid</a:t>
            </a:r>
          </a:p>
          <a:p>
            <a:r>
              <a:rPr lang="en-US" dirty="0">
                <a:sym typeface="Wingdings" panose="05000000000000000000" pitchFamily="2" charset="2"/>
              </a:rPr>
              <a:t>strongly dehydrating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Diprotic</a:t>
            </a:r>
            <a:r>
              <a:rPr lang="en-US" dirty="0">
                <a:sym typeface="Wingdings" panose="05000000000000000000" pitchFamily="2" charset="2"/>
              </a:rPr>
              <a:t> – releases two H+ ions in solvent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Monoprotic</a:t>
            </a:r>
            <a:r>
              <a:rPr lang="en-US" dirty="0">
                <a:sym typeface="Wingdings" panose="05000000000000000000" pitchFamily="2" charset="2"/>
              </a:rPr>
              <a:t> – releases one H+ ion in solvent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E531F-E7F7-692B-E31C-A8EA35789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5469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51887-795B-BDA8-0DAD-11BF93C9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E86F9D-0E3D-6B26-815A-E01D5B1A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8" y="180238"/>
            <a:ext cx="8421512" cy="707886"/>
          </a:xfrm>
        </p:spPr>
        <p:txBody>
          <a:bodyPr/>
          <a:lstStyle/>
          <a:p>
            <a:r>
              <a:rPr lang="en-US" sz="4000" dirty="0"/>
              <a:t>Specific 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3E7515-1F09-E913-D129-BABC03B9D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2" y="888124"/>
            <a:ext cx="8387645" cy="521546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Nitric acid (HNO</a:t>
            </a:r>
            <a:r>
              <a:rPr lang="en-US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3</a:t>
            </a: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Production: 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3 NO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g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 2 HNO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sz="2000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+ NO (g)</a:t>
            </a:r>
            <a:endParaRPr lang="en-US" dirty="0">
              <a:solidFill>
                <a:srgbClr val="FFC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strong corrosive mineral acid</a:t>
            </a:r>
          </a:p>
          <a:p>
            <a:r>
              <a:rPr lang="en-US" dirty="0">
                <a:sym typeface="Wingdings" panose="05000000000000000000" pitchFamily="2" charset="2"/>
              </a:rPr>
              <a:t>Reactive with metals Mn, Mg, Zn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metal + 2 HNO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 metal(NO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(g)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Carbonic acid (H</a:t>
            </a:r>
            <a:r>
              <a:rPr lang="en-US" b="1" baseline="-25000" dirty="0">
                <a:solidFill>
                  <a:srgbClr val="00FF00"/>
                </a:solidFill>
              </a:rPr>
              <a:t>2</a:t>
            </a:r>
            <a:r>
              <a:rPr lang="en-US" b="1" dirty="0">
                <a:solidFill>
                  <a:srgbClr val="00FF00"/>
                </a:solidFill>
              </a:rPr>
              <a:t>CO</a:t>
            </a:r>
            <a:r>
              <a:rPr lang="en-US" b="1" baseline="-25000" dirty="0">
                <a:solidFill>
                  <a:srgbClr val="00FF00"/>
                </a:solidFill>
              </a:rPr>
              <a:t>3</a:t>
            </a:r>
            <a:r>
              <a:rPr lang="en-US" b="1" dirty="0">
                <a:solidFill>
                  <a:srgbClr val="00FF00"/>
                </a:solidFill>
              </a:rPr>
              <a:t>)</a:t>
            </a:r>
          </a:p>
          <a:p>
            <a:r>
              <a:rPr lang="en-US" dirty="0"/>
              <a:t>a weak </a:t>
            </a:r>
            <a:r>
              <a:rPr lang="en-US" dirty="0">
                <a:solidFill>
                  <a:srgbClr val="FFFF00"/>
                </a:solidFill>
              </a:rPr>
              <a:t>diprotic</a:t>
            </a:r>
            <a:r>
              <a:rPr lang="en-US" dirty="0"/>
              <a:t> acid that can</a:t>
            </a:r>
            <a:br>
              <a:rPr lang="en-US" dirty="0"/>
            </a:br>
            <a:r>
              <a:rPr lang="en-US" dirty="0"/>
              <a:t>form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carbonates</a:t>
            </a:r>
            <a:r>
              <a:rPr lang="en-US" dirty="0"/>
              <a:t> (</a:t>
            </a:r>
            <a:r>
              <a:rPr lang="en-US" dirty="0">
                <a:solidFill>
                  <a:srgbClr val="FFC000"/>
                </a:solidFill>
              </a:rPr>
              <a:t>CO</a:t>
            </a:r>
            <a:r>
              <a:rPr lang="en-US" baseline="-25000" dirty="0">
                <a:solidFill>
                  <a:srgbClr val="FFC000"/>
                </a:solidFill>
              </a:rPr>
              <a:t>3</a:t>
            </a:r>
            <a:r>
              <a:rPr lang="en-US" baseline="30000" dirty="0">
                <a:solidFill>
                  <a:srgbClr val="FFC000"/>
                </a:solidFill>
              </a:rPr>
              <a:t>2–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bicarbonates</a:t>
            </a:r>
            <a:r>
              <a:rPr lang="en-US" dirty="0"/>
              <a:t> (</a:t>
            </a:r>
            <a:r>
              <a:rPr lang="en-US" dirty="0">
                <a:solidFill>
                  <a:srgbClr val="FFC000"/>
                </a:solidFill>
              </a:rPr>
              <a:t>HCO</a:t>
            </a:r>
            <a:r>
              <a:rPr lang="en-US" baseline="-25000" dirty="0">
                <a:solidFill>
                  <a:srgbClr val="FFC000"/>
                </a:solidFill>
              </a:rPr>
              <a:t>3</a:t>
            </a:r>
            <a:r>
              <a:rPr lang="en-US" baseline="30000" dirty="0">
                <a:solidFill>
                  <a:srgbClr val="FFC000"/>
                </a:solidFill>
              </a:rPr>
              <a:t>–</a:t>
            </a:r>
            <a:r>
              <a:rPr lang="en-US" dirty="0"/>
              <a:t>)</a:t>
            </a:r>
          </a:p>
          <a:p>
            <a:r>
              <a:rPr lang="en-US" dirty="0"/>
              <a:t>Found in carbonated</a:t>
            </a:r>
            <a:br>
              <a:rPr lang="en-US" dirty="0"/>
            </a:br>
            <a:r>
              <a:rPr lang="en-US" dirty="0"/>
              <a:t>beverages</a:t>
            </a:r>
          </a:p>
          <a:p>
            <a:r>
              <a:rPr lang="en-US" dirty="0"/>
              <a:t>Dissolves </a:t>
            </a:r>
            <a:r>
              <a:rPr lang="en-US" dirty="0">
                <a:solidFill>
                  <a:srgbClr val="FFFF00"/>
                </a:solidFill>
              </a:rPr>
              <a:t>limestone</a:t>
            </a:r>
            <a:br>
              <a:rPr lang="en-US" dirty="0"/>
            </a:br>
            <a:r>
              <a:rPr lang="en-US" dirty="0"/>
              <a:t>(to </a:t>
            </a:r>
            <a:r>
              <a:rPr lang="en-US" dirty="0">
                <a:solidFill>
                  <a:srgbClr val="FFC000"/>
                </a:solidFill>
              </a:rPr>
              <a:t>Ca(HCO</a:t>
            </a:r>
            <a:r>
              <a:rPr lang="en-US" baseline="-25000" dirty="0">
                <a:solidFill>
                  <a:srgbClr val="FFC000"/>
                </a:solidFill>
              </a:rPr>
              <a:t>3</a:t>
            </a:r>
            <a:r>
              <a:rPr lang="en-US" dirty="0">
                <a:solidFill>
                  <a:srgbClr val="FFC000"/>
                </a:solidFill>
              </a:rPr>
              <a:t>)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/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6CF99E-ACD5-7410-C77B-9E122CD43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557" y="4062588"/>
            <a:ext cx="3953620" cy="22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3C7BE9-0113-D031-E5CE-A7E770D8C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1009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115B4-6B0F-E510-3E97-25CCA0FCB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69B690-886A-938D-9C58-36C59555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8DEDBF-2B87-1924-55A8-65F043ED7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Formic acid (HCOOH)</a:t>
            </a:r>
          </a:p>
          <a:p>
            <a:r>
              <a:rPr lang="en-US" dirty="0"/>
              <a:t>simplest of carboxylic acids</a:t>
            </a:r>
          </a:p>
          <a:p>
            <a:r>
              <a:rPr lang="en-US" dirty="0"/>
              <a:t>an acid strongly associated with ants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Citric acid (C</a:t>
            </a:r>
            <a:r>
              <a:rPr lang="en-US" b="1" baseline="-25000" dirty="0">
                <a:solidFill>
                  <a:srgbClr val="00FF00"/>
                </a:solidFill>
              </a:rPr>
              <a:t>6</a:t>
            </a:r>
            <a:r>
              <a:rPr lang="en-US" b="1" dirty="0">
                <a:solidFill>
                  <a:srgbClr val="00FF00"/>
                </a:solidFill>
              </a:rPr>
              <a:t>H</a:t>
            </a:r>
            <a:r>
              <a:rPr lang="en-US" b="1" baseline="-25000" dirty="0">
                <a:solidFill>
                  <a:srgbClr val="00FF00"/>
                </a:solidFill>
              </a:rPr>
              <a:t>8</a:t>
            </a:r>
            <a:r>
              <a:rPr lang="en-US" b="1" dirty="0">
                <a:solidFill>
                  <a:srgbClr val="00FF00"/>
                </a:solidFill>
              </a:rPr>
              <a:t>O</a:t>
            </a:r>
            <a:r>
              <a:rPr lang="en-US" b="1" baseline="-25000" dirty="0">
                <a:solidFill>
                  <a:srgbClr val="00FF00"/>
                </a:solidFill>
              </a:rPr>
              <a:t>7</a:t>
            </a:r>
            <a:r>
              <a:rPr lang="en-US" b="1" dirty="0">
                <a:solidFill>
                  <a:srgbClr val="00FF00"/>
                </a:solidFill>
              </a:rPr>
              <a:t>)</a:t>
            </a:r>
          </a:p>
          <a:p>
            <a:r>
              <a:rPr lang="en-US" dirty="0"/>
              <a:t>weak tricarboxylic acid in citrus fruits</a:t>
            </a:r>
          </a:p>
          <a:p>
            <a:r>
              <a:rPr lang="en-US" dirty="0"/>
              <a:t>At the start of 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tricarboxylic acid cycle</a:t>
            </a:r>
            <a:r>
              <a:rPr lang="en-US" dirty="0"/>
              <a:t> (also called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Krebs cycle</a:t>
            </a:r>
            <a:r>
              <a:rPr lang="en-US" dirty="0"/>
              <a:t>,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citric acid cycle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Acetylsalicylic acid (aspirin)</a:t>
            </a:r>
          </a:p>
          <a:p>
            <a:r>
              <a:rPr lang="en-US" dirty="0"/>
              <a:t>effective anti-inflammatory agent (fever, pain)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7F2CF2-5BF9-A26B-01BB-1F71D0B47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8849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F73F2-6F21-7A44-CD7D-56995035B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61BA2C-6D15-6501-AF37-A8127C08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F3E440-72AF-C194-1B28-6F608565A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77" y="1153664"/>
            <a:ext cx="8387645" cy="5398263"/>
          </a:xfrm>
        </p:spPr>
        <p:txBody>
          <a:bodyPr/>
          <a:lstStyle/>
          <a:p>
            <a:r>
              <a:rPr lang="en-US" dirty="0"/>
              <a:t>Bases often generate </a:t>
            </a:r>
            <a:r>
              <a:rPr lang="en-US" dirty="0">
                <a:solidFill>
                  <a:srgbClr val="00FF00"/>
                </a:solidFill>
              </a:rPr>
              <a:t>hydroxyl ions </a:t>
            </a:r>
            <a:r>
              <a:rPr lang="en-US" dirty="0"/>
              <a:t>(OH</a:t>
            </a:r>
            <a:r>
              <a:rPr lang="en-US" baseline="30000" dirty="0"/>
              <a:t>–</a:t>
            </a:r>
            <a:r>
              <a:rPr lang="en-US" dirty="0"/>
              <a:t>)</a:t>
            </a:r>
          </a:p>
          <a:p>
            <a:r>
              <a:rPr lang="en-US" dirty="0"/>
              <a:t>Like acids, they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electrolytes</a:t>
            </a:r>
            <a:endParaRPr lang="en-US" dirty="0"/>
          </a:p>
          <a:p>
            <a:r>
              <a:rPr lang="en-US" dirty="0"/>
              <a:t>There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Strong</a:t>
            </a:r>
            <a:r>
              <a:rPr lang="en-US" dirty="0"/>
              <a:t>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Weak</a:t>
            </a:r>
            <a:r>
              <a:rPr lang="en-US" dirty="0"/>
              <a:t> bases</a:t>
            </a:r>
          </a:p>
          <a:p>
            <a:r>
              <a:rPr lang="en-US" dirty="0"/>
              <a:t>Usually have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bitter</a:t>
            </a:r>
            <a:r>
              <a:rPr lang="en-US" dirty="0"/>
              <a:t> taste, not typical in foods</a:t>
            </a:r>
          </a:p>
          <a:p>
            <a:r>
              <a:rPr lang="en-US" dirty="0">
                <a:solidFill>
                  <a:srgbClr val="FFFF00"/>
                </a:solidFill>
              </a:rPr>
              <a:t>Red litmus </a:t>
            </a:r>
            <a:r>
              <a:rPr lang="en-US" dirty="0">
                <a:sym typeface="Wingdings" panose="05000000000000000000" pitchFamily="2" charset="2"/>
              </a:rPr>
              <a:t> blue,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phenolphthalein</a:t>
            </a:r>
            <a:r>
              <a:rPr lang="en-US" dirty="0">
                <a:sym typeface="Wingdings" panose="05000000000000000000" pitchFamily="2" charset="2"/>
              </a:rPr>
              <a:t>  pink</a:t>
            </a:r>
          </a:p>
          <a:p>
            <a:r>
              <a:rPr lang="en-US" dirty="0"/>
              <a:t>Not reactive with metals </a:t>
            </a:r>
            <a:r>
              <a:rPr lang="en-US" dirty="0">
                <a:sym typeface="Wingdings" panose="05000000000000000000" pitchFamily="2" charset="2"/>
              </a:rPr>
              <a:t>like acids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Neutralization</a:t>
            </a:r>
            <a:r>
              <a:rPr lang="en-US" dirty="0">
                <a:sym typeface="Wingdings" panose="05000000000000000000" pitchFamily="2" charset="2"/>
              </a:rPr>
              <a:t>: react with acids  salt + water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D1851C-9A49-FC08-2ED3-9AAA6130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10</a:t>
            </a:fld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23FFA-51B0-5B4B-EB52-8BDCFAC35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4499887"/>
            <a:ext cx="3343659" cy="1648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DCFA6-A5DC-5E14-EC7A-778F6A1D9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423" y="4360969"/>
            <a:ext cx="3343659" cy="223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67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4079E-7516-18D5-E040-16F274EFA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05E02B-8B3E-D5A2-D0A1-C717CDC26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F6C2FE-40E4-D4C8-24B3-560753CC6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31CA5A-8D2B-D5A3-29D8-9F7792A6D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11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29611-0B61-1D79-A09F-32BDD8BB9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" y="1332090"/>
            <a:ext cx="8145012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9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4633-8AEA-A44E-C0F4-BC4975D9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CECC99-17FA-B4DD-7E0C-47FFE550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55B05E-ED0D-5F82-0718-AF5413150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Sodium Hydroxide (NaOH)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NaOH (</a:t>
            </a:r>
            <a:r>
              <a:rPr lang="en-US" i="1" dirty="0">
                <a:solidFill>
                  <a:srgbClr val="FFC000"/>
                </a:solidFill>
              </a:rPr>
              <a:t>s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Na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/>
              <a:t>a STRONG base: called lye and caustic soda</a:t>
            </a:r>
          </a:p>
          <a:p>
            <a:r>
              <a:rPr lang="en-US" dirty="0"/>
              <a:t>Dissolution quite exothermic (heat-releasing)</a:t>
            </a:r>
          </a:p>
          <a:p>
            <a:r>
              <a:rPr lang="en-US" dirty="0">
                <a:sym typeface="Wingdings" panose="05000000000000000000" pitchFamily="2" charset="2"/>
              </a:rPr>
              <a:t>Often used is titration; feels slippery to skin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Potassium Hydroxide (KOH)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KOH (</a:t>
            </a:r>
            <a:r>
              <a:rPr lang="en-US" i="1" dirty="0">
                <a:solidFill>
                  <a:srgbClr val="FFC000"/>
                </a:solidFill>
              </a:rPr>
              <a:t>s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K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another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strong</a:t>
            </a:r>
            <a:r>
              <a:rPr lang="en-US" dirty="0">
                <a:sym typeface="Wingdings" panose="05000000000000000000" pitchFamily="2" charset="2"/>
              </a:rPr>
              <a:t> base: caustic potash</a:t>
            </a:r>
          </a:p>
          <a:p>
            <a:r>
              <a:rPr lang="en-US" dirty="0">
                <a:sym typeface="Wingdings" panose="05000000000000000000" pitchFamily="2" charset="2"/>
              </a:rPr>
              <a:t>Also exothermic on dissolution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765D-4C36-4C8C-BC5A-B08AAD8136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1552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6DD00-1DAF-5455-D6EF-80302BD8B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FD3EC7-323F-1792-9E99-1F04849F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22DE82-F54C-5085-E351-6C06CECDF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Magnesium Hydroxide [Mg(OH)</a:t>
            </a:r>
            <a:r>
              <a:rPr lang="en-US" sz="2800" b="1" baseline="-25000" dirty="0">
                <a:solidFill>
                  <a:srgbClr val="00FF00"/>
                </a:solidFill>
              </a:rPr>
              <a:t>2</a:t>
            </a:r>
            <a:r>
              <a:rPr lang="en-US" sz="2800" b="1" dirty="0">
                <a:solidFill>
                  <a:srgbClr val="00FF00"/>
                </a:solidFill>
              </a:rPr>
              <a:t>]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Mg(OH)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 (</a:t>
            </a:r>
            <a:r>
              <a:rPr lang="en-US" i="1" dirty="0">
                <a:solidFill>
                  <a:srgbClr val="FFC000"/>
                </a:solidFill>
              </a:rPr>
              <a:t>s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Mg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2+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Common in antacids and laxatives</a:t>
            </a:r>
          </a:p>
          <a:p>
            <a:r>
              <a:rPr lang="en-US" dirty="0">
                <a:sym typeface="Wingdings" panose="05000000000000000000" pitchFamily="2" charset="2"/>
              </a:rPr>
              <a:t>White solid with low aqueous solubility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Calcium Hydroxide [Ca(OH)</a:t>
            </a:r>
            <a:r>
              <a:rPr lang="en-US" sz="2800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2</a:t>
            </a: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]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Ca(OH)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 (</a:t>
            </a:r>
            <a:r>
              <a:rPr lang="en-US" i="1" dirty="0">
                <a:solidFill>
                  <a:srgbClr val="FFC000"/>
                </a:solidFill>
              </a:rPr>
              <a:t>s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Ca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2+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“slaked lime” colorless crystal or white powder</a:t>
            </a:r>
          </a:p>
          <a:p>
            <a:r>
              <a:rPr lang="en-US" dirty="0">
                <a:sym typeface="Wingdings" panose="05000000000000000000" pitchFamily="2" charset="2"/>
              </a:rPr>
              <a:t>relatively insoluble in water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7433E-05A7-D4E2-ABB9-B6E3148CF9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78660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7D30C-3E61-6450-ACBC-1DFD6D46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2B9B74-3A7D-C6AC-8FB6-B48B46A6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Bases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24ECB1F-6361-2386-3561-416EF6B5BE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00FF00"/>
                    </a:solidFill>
                  </a:rPr>
                  <a:t>Ammonia (NH</a:t>
                </a:r>
                <a:r>
                  <a:rPr lang="en-US" sz="2800" b="1" baseline="-25000" dirty="0">
                    <a:solidFill>
                      <a:srgbClr val="00FF00"/>
                    </a:solidFill>
                  </a:rPr>
                  <a:t>3</a:t>
                </a:r>
                <a:r>
                  <a:rPr lang="en-US" sz="2800" b="1" dirty="0">
                    <a:solidFill>
                      <a:srgbClr val="00FF00"/>
                    </a:solidFill>
                  </a:rPr>
                  <a:t>)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NH3 (</a:t>
                </a:r>
                <a:r>
                  <a:rPr lang="en-US" i="1" dirty="0">
                    <a:solidFill>
                      <a:srgbClr val="FFC000"/>
                    </a:solidFill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O (</a:t>
                </a:r>
                <a:r>
                  <a:rPr lang="en-US" i="1" dirty="0">
                    <a:solidFill>
                      <a:srgbClr val="FFC000"/>
                    </a:solidFill>
                  </a:rPr>
                  <a:t>l</a:t>
                </a:r>
                <a:r>
                  <a:rPr lang="en-US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OH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en-US" dirty="0"/>
                  <a:t>colorless gas with pungent smell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Many applications, including cleaning solutions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The “ammonia” sold in stores is really ammonium hydroxide (ammonia dissolved in water)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24ECB1F-6361-2386-3561-416EF6B5BE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3" t="-1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D9F5F-968D-1365-7482-8EE2F86F5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14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FF6FA1-2F67-2DF0-325E-66A2B17EC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136" y="4080499"/>
            <a:ext cx="3305636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49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D655D-BE93-0831-8E2C-32FE15A09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6DC01D-93BA-EC60-2B4B-750FB6F5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What Defines An Acid, A Base?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887527-8CDB-F0E4-E6AC-4831D143B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Arrhenius Theory of Acids/Bases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1884: Arrhenius proposes acid increases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ions as hydronium (H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 ion concentration in aqueous solvent, base increase 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ions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HCl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NaOH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Na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>
                <a:sym typeface="Wingdings" panose="05000000000000000000" pitchFamily="2" charset="2"/>
              </a:rPr>
              <a:t>Limitations</a:t>
            </a:r>
          </a:p>
          <a:p>
            <a:r>
              <a:rPr lang="en-US" sz="2200" dirty="0">
                <a:sym typeface="Wingdings" panose="05000000000000000000" pitchFamily="2" charset="2"/>
              </a:rPr>
              <a:t>Does not explain how ammonia NH</a:t>
            </a:r>
            <a:r>
              <a:rPr lang="en-US" sz="2200" baseline="-25000" dirty="0">
                <a:sym typeface="Wingdings" panose="05000000000000000000" pitchFamily="2" charset="2"/>
              </a:rPr>
              <a:t>3</a:t>
            </a:r>
            <a:r>
              <a:rPr lang="en-US" sz="2200" dirty="0">
                <a:sym typeface="Wingdings" panose="05000000000000000000" pitchFamily="2" charset="2"/>
              </a:rPr>
              <a:t> achieves this</a:t>
            </a:r>
          </a:p>
          <a:p>
            <a:r>
              <a:rPr lang="en-US" sz="2200" dirty="0">
                <a:sym typeface="Wingdings" panose="05000000000000000000" pitchFamily="2" charset="2"/>
              </a:rPr>
              <a:t>Does not explain alkalinity in non-aqueous solutions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4C92C-FEB1-F564-4159-40F4661565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6813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AF2A5-8573-81E4-F9FB-2C3788DEE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18E494-685D-BA8B-E22C-FB538C24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What Defines An Acid, A Base?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30D571-2DD9-2B23-149B-9D9F8DDF5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Bronsted-Lowry Theory of Acids/Bases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1923: Dane Bronsted and Englishman Lowry propose an acid is a substance that donates a proton (H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 ion to a molecule and a base accepts a proton. This now explains ammonia as a base: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NH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4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49AC2-0D19-44C1-01CA-1C20CCC86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16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882E6B-3F10-1AF0-4351-E53BA0083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29" y="3841590"/>
            <a:ext cx="5586972" cy="263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96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D4D39-A504-D519-38AE-90B6CD24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E9526-2222-BC3D-6792-847C50B25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Hydronium Ion (H</a:t>
            </a:r>
            <a:r>
              <a:rPr lang="en-US" sz="4000" baseline="-25000" dirty="0"/>
              <a:t>3</a:t>
            </a:r>
            <a:r>
              <a:rPr lang="en-US" sz="4000" dirty="0"/>
              <a:t>O</a:t>
            </a:r>
            <a:r>
              <a:rPr lang="en-US" sz="4000" baseline="30000" dirty="0"/>
              <a:t>+</a:t>
            </a:r>
            <a:r>
              <a:rPr lang="en-US" sz="4000" dirty="0"/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108CA7-D5E4-77FF-26E2-53D8CDFA0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An acid can yield a hydrogen ion (H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), a proton, but that does move about alone in water</a:t>
            </a:r>
          </a:p>
          <a:p>
            <a:r>
              <a:rPr lang="en-US" dirty="0">
                <a:sym typeface="Wingdings" panose="05000000000000000000" pitchFamily="2" charset="2"/>
              </a:rPr>
              <a:t>HCl will ionize to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and Cl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particularly in water (aqueous solution), but what really happens is that it transfers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(the proton) to 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O, which actually acts as a (weak) base (proton acceptor) 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06EC6-662C-93D1-D7F9-D865AAAB1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17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03972-4C2B-2E8A-109C-1306FAE9E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199" y="3728374"/>
            <a:ext cx="6166387" cy="273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564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443F-4D7D-54FB-33E2-869C4BC62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259D23-39DE-0A4B-4168-7EE7E337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Definitions of Acids/Bases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A1EA4EF-0818-CD8E-9681-A4DC058D6F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Aniline (C</a:t>
                </a:r>
                <a:r>
                  <a:rPr lang="en-US" baseline="-25000" dirty="0">
                    <a:sym typeface="Wingdings" panose="05000000000000000000" pitchFamily="2" charset="2"/>
                  </a:rPr>
                  <a:t>6</a:t>
                </a:r>
                <a:r>
                  <a:rPr lang="en-US" dirty="0"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ym typeface="Wingdings" panose="05000000000000000000" pitchFamily="2" charset="2"/>
                  </a:rPr>
                  <a:t>5</a:t>
                </a:r>
                <a:r>
                  <a:rPr lang="en-US" dirty="0"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) soluble in water. Its nitrogen atom accepts H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 ion from a water molecule, as nitrogen in ammonia. What is the equation for reaction and what is the acid and what is the base?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6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5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C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6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5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OH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Aniline is basically ammonia, which we know is a base, but with just one of the H atoms replaced with a benzyl function. So aniline is the base. It is reacting with water, which can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>
                    <a:sym typeface="Wingdings" panose="05000000000000000000" pitchFamily="2" charset="2"/>
                  </a:rPr>
                  <a:t>function as a very weak acid or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>
                    <a:sym typeface="Wingdings" panose="05000000000000000000" pitchFamily="2" charset="2"/>
                  </a:rPr>
                  <a:t>base. Note the products are an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 err="1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anilinium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ion</a:t>
                </a:r>
                <a:r>
                  <a:rPr lang="en-US" dirty="0">
                    <a:sym typeface="Wingdings" panose="05000000000000000000" pitchFamily="2" charset="2"/>
                  </a:rPr>
                  <a:t> and a </a:t>
                </a:r>
                <a: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hydroxyl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ion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A1EA4EF-0818-CD8E-9681-A4DC058D6F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901" r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A8BFB-6ECF-A513-7B53-EA9060BABC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18</a:t>
            </a:fld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4E4A74-5DC6-989C-BBB9-C6745ADA4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288" y="4279902"/>
            <a:ext cx="3090570" cy="190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27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1CF35-4A86-9D03-2ACA-78006FC7E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9E83C3-1833-C611-D9C7-61B5BE30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245178"/>
            <a:ext cx="8421512" cy="707886"/>
          </a:xfrm>
        </p:spPr>
        <p:txBody>
          <a:bodyPr/>
          <a:lstStyle/>
          <a:p>
            <a:r>
              <a:rPr lang="en-US" sz="4000" dirty="0"/>
              <a:t>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E30A2C-C62F-4888-59F5-772B2D03CB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46174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What is the Bronsted-Lowry acid and base in the reaction?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PO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HPO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en-US" sz="2000" dirty="0">
                    <a:sym typeface="Wingdings" panose="05000000000000000000" pitchFamily="2" charset="2"/>
                  </a:rPr>
                  <a:t>The acid is H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ym typeface="Wingdings" panose="05000000000000000000" pitchFamily="2" charset="2"/>
                  </a:rPr>
                  <a:t>PO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sz="2000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sz="2000" dirty="0">
                    <a:sym typeface="Wingdings" panose="05000000000000000000" pitchFamily="2" charset="2"/>
                  </a:rPr>
                  <a:t>,</a:t>
                </a:r>
                <a:r>
                  <a:rPr lang="en-US" sz="2000" baseline="30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as it is giving up or donating a proton (H</a:t>
                </a:r>
                <a:r>
                  <a:rPr lang="en-US" sz="2000" baseline="30000" dirty="0">
                    <a:sym typeface="Wingdings" panose="05000000000000000000" pitchFamily="2" charset="2"/>
                  </a:rPr>
                  <a:t>+</a:t>
                </a:r>
                <a:r>
                  <a:rPr lang="en-US" sz="2000" dirty="0">
                    <a:sym typeface="Wingdings" panose="05000000000000000000" pitchFamily="2" charset="2"/>
                  </a:rPr>
                  <a:t>). The base is H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ym typeface="Wingdings" panose="05000000000000000000" pitchFamily="2" charset="2"/>
                  </a:rPr>
                  <a:t>O, as it is accepting a proton</a:t>
                </a:r>
              </a:p>
              <a:p>
                <a:endParaRPr lang="en-US" sz="2000" baseline="30000" dirty="0">
                  <a:sym typeface="Wingdings" panose="05000000000000000000" pitchFamily="2" charset="2"/>
                </a:endParaRPr>
              </a:p>
              <a:p>
                <a:endParaRPr lang="en-US" sz="2000" baseline="30000" dirty="0">
                  <a:sym typeface="Wingdings" panose="05000000000000000000" pitchFamily="2" charset="2"/>
                </a:endParaRPr>
              </a:p>
              <a:p>
                <a:r>
                  <a:rPr lang="en-US" sz="2200" dirty="0">
                    <a:sym typeface="Wingdings" panose="05000000000000000000" pitchFamily="2" charset="2"/>
                  </a:rPr>
                  <a:t>Of the compounds HCl, HPO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sz="2200" baseline="30000" dirty="0">
                    <a:sym typeface="Wingdings" panose="05000000000000000000" pitchFamily="2" charset="2"/>
                  </a:rPr>
                  <a:t>2–</a:t>
                </a:r>
                <a:r>
                  <a:rPr lang="en-US" sz="2200" dirty="0">
                    <a:sym typeface="Wingdings" panose="05000000000000000000" pitchFamily="2" charset="2"/>
                  </a:rPr>
                  <a:t>, H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200" dirty="0">
                    <a:sym typeface="Wingdings" panose="05000000000000000000" pitchFamily="2" charset="2"/>
                  </a:rPr>
                  <a:t>PO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sz="2200" dirty="0">
                    <a:sym typeface="Wingdings" panose="05000000000000000000" pitchFamily="2" charset="2"/>
                  </a:rPr>
                  <a:t>, NH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sz="2200" baseline="30000" dirty="0">
                    <a:sym typeface="Wingdings" panose="05000000000000000000" pitchFamily="2" charset="2"/>
                  </a:rPr>
                  <a:t>+</a:t>
                </a:r>
                <a:r>
                  <a:rPr lang="en-US" sz="2200" dirty="0">
                    <a:sym typeface="Wingdings" panose="05000000000000000000" pitchFamily="2" charset="2"/>
                  </a:rPr>
                  <a:t>, and CH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200" dirty="0">
                    <a:sym typeface="Wingdings" panose="05000000000000000000" pitchFamily="2" charset="2"/>
                  </a:rPr>
                  <a:t>NH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200" baseline="30000" dirty="0">
                    <a:sym typeface="Wingdings" panose="05000000000000000000" pitchFamily="2" charset="2"/>
                  </a:rPr>
                  <a:t>+</a:t>
                </a:r>
                <a:r>
                  <a:rPr lang="en-US" sz="2200" dirty="0">
                    <a:sym typeface="Wingdings" panose="05000000000000000000" pitchFamily="2" charset="2"/>
                  </a:rPr>
                  <a:t>, which of these are a Bronsted-Lowry base?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HCl is strong acid, so it cannot donate a proton (H</a:t>
                </a:r>
                <a:r>
                  <a:rPr lang="en-US" sz="2200" baseline="30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).</a:t>
                </a:r>
                <a:b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: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The others all can act as proton donors as well, as they are all weak acids </a:t>
                </a:r>
              </a:p>
              <a:p>
                <a:r>
                  <a:rPr lang="en-US" sz="2200" dirty="0">
                    <a:sym typeface="Wingdings" panose="05000000000000000000" pitchFamily="2" charset="2"/>
                  </a:rPr>
                  <a:t>There is one compound that can accept a proton. Which one?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HPO</a:t>
                </a:r>
                <a:r>
                  <a:rPr lang="en-US" sz="2200" baseline="-25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sz="2200" baseline="30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2–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E30A2C-C62F-4888-59F5-772B2D03CB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46174"/>
                <a:ext cx="8387645" cy="5411929"/>
              </a:xfrm>
              <a:blipFill>
                <a:blip r:embed="rId2"/>
                <a:stretch>
                  <a:fillRect l="-945" t="-676" r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9C4A7-9428-B70D-33CE-21C9A60058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2799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3D42C-D19E-D2CB-0F74-E9B1D7D3F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8E8628-6160-C626-805B-45ACEFED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245178"/>
            <a:ext cx="8421512" cy="707886"/>
          </a:xfrm>
        </p:spPr>
        <p:txBody>
          <a:bodyPr/>
          <a:lstStyle/>
          <a:p>
            <a:r>
              <a:rPr lang="en-US" sz="4000" dirty="0"/>
              <a:t>Conjugate Acid-Base Pair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FAD72F-AB07-D72F-F468-AA89D4E02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74732"/>
            <a:ext cx="8387645" cy="5472824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FF00"/>
                </a:solidFill>
                <a:sym typeface="Wingdings" panose="05000000000000000000" pitchFamily="2" charset="2"/>
              </a:rPr>
              <a:t>conjugate</a:t>
            </a:r>
            <a:r>
              <a:rPr lang="en-US" sz="2000" dirty="0">
                <a:sym typeface="Wingdings" panose="05000000000000000000" pitchFamily="2" charset="2"/>
              </a:rPr>
              <a:t>: a substance formed by reversible combination of two or more others</a:t>
            </a:r>
          </a:p>
          <a:p>
            <a:r>
              <a:rPr lang="en-US" sz="2000" dirty="0">
                <a:sym typeface="Wingdings" panose="05000000000000000000" pitchFamily="2" charset="2"/>
              </a:rPr>
              <a:t>When ammonia NH</a:t>
            </a:r>
            <a:r>
              <a:rPr lang="en-US" sz="2000" baseline="-25000" dirty="0">
                <a:sym typeface="Wingdings" panose="05000000000000000000" pitchFamily="2" charset="2"/>
              </a:rPr>
              <a:t>3</a:t>
            </a:r>
            <a:r>
              <a:rPr lang="en-US" sz="2000" dirty="0">
                <a:sym typeface="Wingdings" panose="05000000000000000000" pitchFamily="2" charset="2"/>
              </a:rPr>
              <a:t> is dissolved in water, H</a:t>
            </a:r>
            <a:r>
              <a:rPr lang="en-US" sz="2000" baseline="-25000" dirty="0">
                <a:sym typeface="Wingdings" panose="05000000000000000000" pitchFamily="2" charset="2"/>
              </a:rPr>
              <a:t>2</a:t>
            </a:r>
            <a:r>
              <a:rPr lang="en-US" sz="2000" dirty="0">
                <a:sym typeface="Wingdings" panose="05000000000000000000" pitchFamily="2" charset="2"/>
              </a:rPr>
              <a:t>O will act as an acid in donating a proton the NH</a:t>
            </a:r>
            <a:r>
              <a:rPr lang="en-US" sz="2000" baseline="-25000" dirty="0">
                <a:sym typeface="Wingdings" panose="05000000000000000000" pitchFamily="2" charset="2"/>
              </a:rPr>
              <a:t>3</a:t>
            </a:r>
            <a:r>
              <a:rPr lang="en-US" sz="2000" dirty="0">
                <a:sym typeface="Wingdings" panose="05000000000000000000" pitchFamily="2" charset="2"/>
              </a:rPr>
              <a:t> acting as a base. This produces a conjugate base OH</a:t>
            </a:r>
            <a:r>
              <a:rPr lang="en-US" sz="2000" baseline="30000" dirty="0">
                <a:sym typeface="Wingdings" panose="05000000000000000000" pitchFamily="2" charset="2"/>
              </a:rPr>
              <a:t>–</a:t>
            </a:r>
            <a:r>
              <a:rPr lang="en-US" sz="2000" dirty="0">
                <a:sym typeface="Wingdings" panose="05000000000000000000" pitchFamily="2" charset="2"/>
              </a:rPr>
              <a:t> and a conjugate acid NH</a:t>
            </a:r>
            <a:r>
              <a:rPr lang="en-US" sz="2000" baseline="-25000" dirty="0">
                <a:sym typeface="Wingdings" panose="05000000000000000000" pitchFamily="2" charset="2"/>
              </a:rPr>
              <a:t>4</a:t>
            </a:r>
            <a:r>
              <a:rPr lang="en-US" sz="2000" baseline="30000" dirty="0">
                <a:sym typeface="Wingdings" panose="05000000000000000000" pitchFamily="2" charset="2"/>
              </a:rPr>
              <a:t>+</a:t>
            </a:r>
          </a:p>
          <a:p>
            <a:r>
              <a:rPr lang="en-US" sz="2000" dirty="0">
                <a:sym typeface="Wingdings" panose="05000000000000000000" pitchFamily="2" charset="2"/>
              </a:rPr>
              <a:t>The reverse reaction occurs as well, with NH</a:t>
            </a:r>
            <a:r>
              <a:rPr lang="en-US" sz="2000" baseline="-25000" dirty="0">
                <a:sym typeface="Wingdings" panose="05000000000000000000" pitchFamily="2" charset="2"/>
              </a:rPr>
              <a:t>4</a:t>
            </a:r>
            <a:r>
              <a:rPr lang="en-US" sz="2000" baseline="30000" dirty="0">
                <a:sym typeface="Wingdings" panose="05000000000000000000" pitchFamily="2" charset="2"/>
              </a:rPr>
              <a:t>+</a:t>
            </a:r>
            <a:r>
              <a:rPr lang="en-US" sz="2000" dirty="0">
                <a:sym typeface="Wingdings" panose="05000000000000000000" pitchFamily="2" charset="2"/>
              </a:rPr>
              <a:t> acting as an acid (proton donor) and OH</a:t>
            </a:r>
            <a:r>
              <a:rPr lang="en-US" sz="2000" baseline="30000" dirty="0">
                <a:sym typeface="Wingdings" panose="05000000000000000000" pitchFamily="2" charset="2"/>
              </a:rPr>
              <a:t>–</a:t>
            </a:r>
            <a:r>
              <a:rPr lang="en-US" sz="2000" dirty="0">
                <a:sym typeface="Wingdings" panose="05000000000000000000" pitchFamily="2" charset="2"/>
              </a:rPr>
              <a:t> acting as a base (proton acceptor). OH</a:t>
            </a:r>
            <a:r>
              <a:rPr lang="en-US" sz="2000" baseline="30000" dirty="0">
                <a:sym typeface="Wingdings" panose="05000000000000000000" pitchFamily="2" charset="2"/>
              </a:rPr>
              <a:t>–</a:t>
            </a:r>
            <a:r>
              <a:rPr lang="en-US" sz="2000" dirty="0">
                <a:sym typeface="Wingdings" panose="05000000000000000000" pitchFamily="2" charset="2"/>
              </a:rPr>
              <a:t> is in fact a very strong base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CEC46-9182-11B6-7188-BFB74F82C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20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676D81-C73F-6482-668C-1E98E8172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914" y="3816273"/>
            <a:ext cx="6199447" cy="273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46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8F6F0-534D-A540-888A-318DFF12D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D87E6C-5D35-2FD6-A029-5845BDD40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67629"/>
            <a:ext cx="8421512" cy="584775"/>
          </a:xfrm>
        </p:spPr>
        <p:txBody>
          <a:bodyPr/>
          <a:lstStyle/>
          <a:p>
            <a:r>
              <a:rPr lang="en-US" sz="3200" dirty="0"/>
              <a:t>Acid-Base Reactions Forward and Reverse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76F187-B245-2AE7-CAC3-950C9A6A2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Here’s another look at the NH3 in water reaction which shows how a proton (H+) bonds with a lone pair of electrons on the N atom, which is how these reactions usually occur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4E7E1-207B-AD55-FA73-DDAEEDD73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21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72ACDC-6653-C216-D868-21365624B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02" y="3135566"/>
            <a:ext cx="7563906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59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57094-D3C8-DAF4-692A-1D0AC5208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55808E-A157-B9CB-9F74-C5787516F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033" y="367629"/>
            <a:ext cx="5641546" cy="584775"/>
          </a:xfrm>
        </p:spPr>
        <p:txBody>
          <a:bodyPr/>
          <a:lstStyle/>
          <a:p>
            <a:r>
              <a:rPr lang="en-US" sz="3200" dirty="0"/>
              <a:t>Strengths of Conjugate Pairs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E466BE-D1B4-B190-F679-20A18CBF4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8632" y="1135626"/>
            <a:ext cx="5641546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The lists to the left show the known relative strengths of acids and bases. Note this list. Those compounds listed as weak make good buffers (to be discussed)</a:t>
            </a:r>
          </a:p>
          <a:p>
            <a:r>
              <a:rPr lang="en-US" dirty="0">
                <a:sym typeface="Wingdings" panose="05000000000000000000" pitchFamily="2" charset="2"/>
              </a:rPr>
              <a:t>Look at the left side and the right side: these are the conjugate bases and acids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FC0B7-4755-231A-3CFD-1AEF6FFF13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22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97135-DE63-FCBE-52B7-2D6877449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90" y="0"/>
            <a:ext cx="29028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54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B84E1-5C59-ECAC-5AA1-B2243EC9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E68B1D-D2C4-5374-B36D-E98906E8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Conjugate Acid-Base Pairs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92107AB-209D-AA99-FAC8-0E142244F7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What are the conjugate acid-base pairs in this equilibrium reaction?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COOH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donates the proton?  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COOH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accepts the proton? 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acid</a:t>
                </a:r>
                <a:r>
                  <a:rPr lang="en-US" dirty="0">
                    <a:sym typeface="Wingdings" panose="05000000000000000000" pitchFamily="2" charset="2"/>
                  </a:rPr>
                  <a:t> 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COOH  (acetic acid)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base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   (water)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base </a:t>
                </a:r>
                <a:r>
                  <a:rPr lang="en-US" dirty="0">
                    <a:sym typeface="Wingdings" panose="05000000000000000000" pitchFamily="2" charset="2"/>
                  </a:rPr>
                  <a:t> 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COO</a:t>
                </a:r>
                <a:r>
                  <a:rPr lang="en-US" baseline="30000" dirty="0">
                    <a:sym typeface="Wingdings" panose="05000000000000000000" pitchFamily="2" charset="2"/>
                  </a:rPr>
                  <a:t>–  </a:t>
                </a:r>
                <a:r>
                  <a:rPr lang="en-US" dirty="0">
                    <a:sym typeface="Wingdings" panose="05000000000000000000" pitchFamily="2" charset="2"/>
                  </a:rPr>
                  <a:t>(acetate)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acid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  </a:t>
                </a:r>
                <a:r>
                  <a:rPr lang="en-US" dirty="0"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  </a:t>
                </a:r>
                <a:r>
                  <a:rPr lang="en-US" dirty="0">
                    <a:sym typeface="Wingdings" panose="05000000000000000000" pitchFamily="2" charset="2"/>
                  </a:rPr>
                  <a:t>(hydronium ion)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92107AB-209D-AA99-FAC8-0E142244F7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9378-EC25-2FBC-8058-B34AD98E3B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64569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7574C-6443-DB3F-A221-651FDB2FE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CF626F-8430-963F-8616-F8F2EB375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Conjugate Acid-Base Pairs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45A125A-6471-8309-8216-5CB763BF1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What are the conjugate acid-base pairs in this equilibrium reaction?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(CH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OH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donates the proton?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accepts the proton? (CH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N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acid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base</a:t>
                </a:r>
                <a:r>
                  <a:rPr lang="en-US" dirty="0">
                    <a:sym typeface="Wingdings" panose="05000000000000000000" pitchFamily="2" charset="2"/>
                  </a:rPr>
                  <a:t> (CH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N   (trimethylamine)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base </a:t>
                </a:r>
                <a:r>
                  <a:rPr lang="en-US" dirty="0">
                    <a:sym typeface="Wingdings" panose="05000000000000000000" pitchFamily="2" charset="2"/>
                  </a:rPr>
                  <a:t>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  </a:t>
                </a:r>
                <a:r>
                  <a:rPr lang="en-US" dirty="0">
                    <a:sym typeface="Wingdings" panose="05000000000000000000" pitchFamily="2" charset="2"/>
                  </a:rPr>
                  <a:t>(hydroxide ion)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acid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(CH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NH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Trimethylamine is just ammonia NH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000" dirty="0">
                    <a:sym typeface="Wingdings" panose="05000000000000000000" pitchFamily="2" charset="2"/>
                  </a:rPr>
                  <a:t> with three methyl groups (CH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000" dirty="0">
                    <a:sym typeface="Wingdings" panose="05000000000000000000" pitchFamily="2" charset="2"/>
                  </a:rPr>
                  <a:t>–) instead of three hydrogen atoms, and if ammonia is a known base, so is TMA</a:t>
                </a:r>
              </a:p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ALWAYS LOOK FOR PATTERNS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45A125A-6471-8309-8216-5CB763BF1D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901" b="-2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D3F68-D3DC-B65C-5E70-240D4F4A4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52716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C5A9A-4DF1-EBF2-3D67-F524822B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59A9C2-9FB7-33B5-E9A9-DA6E23C1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Conjugate Acid-Base Pairs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84350F3-FAC3-41BA-A7F5-8DF6183000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54288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What are the conjugate acid-base pairs in this equilibrium reaction? What looks like it needs a proton (H+ ion)? Look for where the movement transfer happens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OH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donates the proton?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accepts the proton? NH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acid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base</a:t>
                </a:r>
                <a:r>
                  <a:rPr lang="en-US" dirty="0">
                    <a:sym typeface="Wingdings" panose="05000000000000000000" pitchFamily="2" charset="2"/>
                  </a:rPr>
                  <a:t> NH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base </a:t>
                </a:r>
                <a:r>
                  <a:rPr lang="en-US" dirty="0">
                    <a:sym typeface="Wingdings" panose="05000000000000000000" pitchFamily="2" charset="2"/>
                  </a:rPr>
                  <a:t>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acid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endParaRPr lang="en-US" baseline="300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84350F3-FAC3-41BA-A7F5-8DF6183000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54288"/>
                <a:ext cx="8387645" cy="5411929"/>
              </a:xfrm>
              <a:blipFill>
                <a:blip r:embed="rId2"/>
                <a:stretch>
                  <a:fillRect l="-1090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51CDF-E2ED-4401-EC3F-009D99A1B3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56227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99AAC-FA36-7E6A-7781-F4F505090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C5555F-AA20-A087-2162-EF781F396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Acid-Base Reactions: Neutralization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D836F7-F346-3B05-4CE7-D7F1C548D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Neutralization</a:t>
            </a:r>
            <a:r>
              <a:rPr lang="en-US" dirty="0">
                <a:sym typeface="Wingdings" panose="05000000000000000000" pitchFamily="2" charset="2"/>
              </a:rPr>
              <a:t> is the classic acid-base reaction</a:t>
            </a:r>
          </a:p>
          <a:p>
            <a:r>
              <a:rPr lang="en-US" sz="2000" dirty="0">
                <a:sym typeface="Wingdings" panose="05000000000000000000" pitchFamily="2" charset="2"/>
              </a:rPr>
              <a:t>The classic example of this type is a </a:t>
            </a:r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strong acid </a:t>
            </a:r>
            <a:r>
              <a:rPr lang="en-US" sz="2000" dirty="0">
                <a:sym typeface="Wingdings" panose="05000000000000000000" pitchFamily="2" charset="2"/>
              </a:rPr>
              <a:t>reacting with a </a:t>
            </a:r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strong base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HCl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NaOH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NaCl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pPr marL="231775" lvl="1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Note that the arrow is forward, not the equilibrium arrow, because this reaction really goes 100%</a:t>
            </a:r>
          </a:p>
          <a:p>
            <a:r>
              <a:rPr lang="en-US" sz="2200" dirty="0">
                <a:sym typeface="Wingdings" panose="05000000000000000000" pitchFamily="2" charset="2"/>
              </a:rPr>
              <a:t>Acid-base reactions occur in aqueous solutions so they form solvated ions. This is the complete ionic equation: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Na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</a:t>
            </a:r>
            <a:b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sz="2200" dirty="0">
                <a:sym typeface="Wingdings" panose="05000000000000000000" pitchFamily="2" charset="2"/>
              </a:rPr>
              <a:t>The net ionic equation shows the important effect: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2C0C4-FBAB-CDA5-DA06-7323D6590C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37212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965A8-67BA-E554-5B05-CC641DCB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F4CAC8-17A6-2469-DA19-22AF50F4D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Acid-Base Reactions: Neutralization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C9907D-6ED2-6EFD-467C-9BDF9B087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Propionic acid (CH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CH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COOH) </a:t>
            </a:r>
            <a:r>
              <a:rPr lang="en-US" sz="2000" dirty="0">
                <a:sym typeface="Wingdings" panose="05000000000000000000" pitchFamily="2" charset="2"/>
              </a:rPr>
              <a:t>will react with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calcium hydroxide [Ca(OH)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] </a:t>
            </a:r>
            <a:r>
              <a:rPr lang="en-US" sz="2000" dirty="0">
                <a:sym typeface="Wingdings" panose="05000000000000000000" pitchFamily="2" charset="2"/>
              </a:rPr>
              <a:t>to produce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calcium propionate</a:t>
            </a:r>
            <a:r>
              <a:rPr lang="en-US" sz="2000" dirty="0">
                <a:sym typeface="Wingdings" panose="05000000000000000000" pitchFamily="2" charset="2"/>
              </a:rPr>
              <a:t>. What is the balanced chemical equation?</a:t>
            </a:r>
          </a:p>
          <a:p>
            <a:r>
              <a:rPr lang="en-US" sz="2000" dirty="0">
                <a:sym typeface="Wingdings" panose="05000000000000000000" pitchFamily="2" charset="2"/>
              </a:rPr>
              <a:t>Here is the skeletal chemical equation: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COOH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Ca(OH)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(CH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COO)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Ca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sz="2000" dirty="0">
                <a:sym typeface="Wingdings" panose="05000000000000000000" pitchFamily="2" charset="2"/>
              </a:rPr>
              <a:t>Here is the balanced chemical equation: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2 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COOH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Ca(OH)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(CH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COO)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Ca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2042A-C97C-A655-7659-A8933F7E4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32786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E770E-843D-097F-5650-5F6F0C66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6EDC8D-77DD-2346-F75E-89D8882B5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4"/>
            <a:ext cx="8421512" cy="707886"/>
          </a:xfrm>
        </p:spPr>
        <p:txBody>
          <a:bodyPr/>
          <a:lstStyle/>
          <a:p>
            <a:r>
              <a:rPr lang="en-US" sz="4000" dirty="0"/>
              <a:t>Acid-Base Reactions: Active Metals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223FF2-A55B-BEDE-F5DE-04C779AC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Previously we discussed how solid pure elemental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metals</a:t>
            </a:r>
            <a:r>
              <a:rPr lang="en-US" dirty="0">
                <a:sym typeface="Wingdings" panose="05000000000000000000" pitchFamily="2" charset="2"/>
              </a:rPr>
              <a:t> will react with strong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acids</a:t>
            </a:r>
            <a:r>
              <a:rPr lang="en-US" dirty="0">
                <a:sym typeface="Wingdings" panose="05000000000000000000" pitchFamily="2" charset="2"/>
              </a:rPr>
              <a:t> in a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single displacement</a:t>
            </a:r>
            <a:r>
              <a:rPr lang="en-US" dirty="0">
                <a:sym typeface="Wingdings" panose="05000000000000000000" pitchFamily="2" charset="2"/>
              </a:rPr>
              <a:t> reaction which is actually an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oxidation-reduction (redox)</a:t>
            </a:r>
            <a:r>
              <a:rPr lang="en-US" dirty="0">
                <a:sym typeface="Wingdings" panose="05000000000000000000" pitchFamily="2" charset="2"/>
              </a:rPr>
              <a:t> reaction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Zn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s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HCl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(g) + ZnCl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Certain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metals</a:t>
            </a:r>
            <a:r>
              <a:rPr lang="en-US" dirty="0">
                <a:sym typeface="Wingdings" panose="05000000000000000000" pitchFamily="2" charset="2"/>
              </a:rPr>
              <a:t> will also react with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bases</a:t>
            </a:r>
            <a:r>
              <a:rPr lang="en-US" dirty="0">
                <a:sym typeface="Wingdings" panose="05000000000000000000" pitchFamily="2" charset="2"/>
              </a:rPr>
              <a:t> also in a redox reaction and also producing hydrogen gas: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Zn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s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NaOH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</a:t>
            </a:r>
            <a:b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Na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Zn(OH)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4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g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D81DF-7B87-C98C-4299-4A613E17F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43371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2D8AF-F223-098E-8C03-BBD01EC2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84347E-264B-FA6D-E9E5-F0BCF6D1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Strong / Weak Acids &amp; 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3281E9-2318-F4B8-35EB-080B7C58A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Acids have a strength to them, with strength determined by whether they ionize in water (aqueous solution) completely (100%) or less than that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Strong acids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bases</a:t>
            </a:r>
            <a:r>
              <a:rPr lang="en-US" dirty="0">
                <a:sym typeface="Wingdings" panose="05000000000000000000" pitchFamily="2" charset="2"/>
              </a:rPr>
              <a:t> are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those that dissociate (ionize)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completely (100%) in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aqueous solution</a:t>
            </a:r>
          </a:p>
          <a:p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Weak acids </a:t>
            </a:r>
            <a:r>
              <a:rPr lang="en-US" dirty="0">
                <a:sym typeface="Wingdings" panose="05000000000000000000" pitchFamily="2" charset="2"/>
              </a:rPr>
              <a:t>and </a:t>
            </a: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bases</a:t>
            </a:r>
            <a:r>
              <a:rPr lang="en-US" dirty="0">
                <a:sym typeface="Wingdings" panose="05000000000000000000" pitchFamily="2" charset="2"/>
              </a:rPr>
              <a:t> are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those that dissociate (ionize)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partially (less than 100%)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B8BB0-1350-E35F-6C3D-6167C6E026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29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403522-DFE4-B124-0A88-26D0888B3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442" y="2778121"/>
            <a:ext cx="3515007" cy="294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389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B76D-D59E-6B4C-BEEC-5978FB45E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EB5864-847D-CE12-304C-9A436B9E0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Practice: Strong &amp; Weak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FA9493-08DA-6E7E-B1D8-333B3EAA4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Strong or weak acid or base?</a:t>
            </a:r>
          </a:p>
          <a:p>
            <a:r>
              <a:rPr lang="en-US" dirty="0">
                <a:sym typeface="Wingdings" panose="05000000000000000000" pitchFamily="2" charset="2"/>
              </a:rPr>
              <a:t>HCl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strong acid</a:t>
            </a:r>
          </a:p>
          <a:p>
            <a:r>
              <a:rPr lang="en-US" dirty="0">
                <a:sym typeface="Wingdings" panose="05000000000000000000" pitchFamily="2" charset="2"/>
              </a:rPr>
              <a:t>Mg(OH)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strong base</a:t>
            </a:r>
          </a:p>
          <a:p>
            <a:r>
              <a:rPr lang="en-US" dirty="0">
                <a:sym typeface="Wingdings" panose="05000000000000000000" pitchFamily="2" charset="2"/>
              </a:rPr>
              <a:t>C</a:t>
            </a:r>
            <a:r>
              <a:rPr lang="en-US" baseline="-25000" dirty="0">
                <a:sym typeface="Wingdings" panose="05000000000000000000" pitchFamily="2" charset="2"/>
              </a:rPr>
              <a:t>5</a:t>
            </a:r>
            <a:r>
              <a:rPr lang="en-US" dirty="0">
                <a:sym typeface="Wingdings" panose="05000000000000000000" pitchFamily="2" charset="2"/>
              </a:rPr>
              <a:t>H</a:t>
            </a:r>
            <a:r>
              <a:rPr lang="en-US" baseline="-25000" dirty="0">
                <a:sym typeface="Wingdings" panose="05000000000000000000" pitchFamily="2" charset="2"/>
              </a:rPr>
              <a:t>5</a:t>
            </a:r>
            <a:r>
              <a:rPr lang="en-US" dirty="0">
                <a:sym typeface="Wingdings" panose="05000000000000000000" pitchFamily="2" charset="2"/>
              </a:rPr>
              <a:t>N (pyridine)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weak base</a:t>
            </a:r>
          </a:p>
          <a:p>
            <a:r>
              <a:rPr lang="en-US" dirty="0" err="1">
                <a:sym typeface="Wingdings" panose="05000000000000000000" pitchFamily="2" charset="2"/>
              </a:rPr>
              <a:t>RbOH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strong base</a:t>
            </a:r>
          </a:p>
          <a:p>
            <a:r>
              <a:rPr lang="en-US" dirty="0">
                <a:sym typeface="Wingdings" panose="05000000000000000000" pitchFamily="2" charset="2"/>
              </a:rPr>
              <a:t>HNO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weak acid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8E67-C238-8B98-F5AC-705F25C962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2934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18B76-27BF-47D9-0E58-7346DB12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34BA24-4D78-28E4-FA76-D4036C36B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Water as an Acid and Base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2B180EC-C6B9-A3C7-ACBC-31EECBCF33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r>
                  <a:rPr lang="en-US" dirty="0">
                    <a:sym typeface="Wingdings" panose="05000000000000000000" pitchFamily="2" charset="2"/>
                  </a:rPr>
                  <a:t>As an acid:  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+ 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NH</a:t>
                </a:r>
                <a:r>
                  <a:rPr lang="en-US" baseline="-25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baseline="30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+ OH</a:t>
                </a:r>
                <a:r>
                  <a:rPr lang="en-US" baseline="30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–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As a base:  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HCl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+ 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+ Cl</a:t>
                </a:r>
                <a:r>
                  <a:rPr lang="en-US" baseline="30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–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Water even undergoes acid-base reaction with itself: 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dirty="0">
                    <a:sym typeface="Wingdings" panose="05000000000000000000" pitchFamily="2" charset="2"/>
                  </a:rPr>
                  <a:t> + 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 + 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anose="05000000000000000000" pitchFamily="2" charset="2"/>
                  </a:rPr>
                  <a:t>Called autoionization:  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anose="05000000000000000000" pitchFamily="2" charset="2"/>
                  </a:rPr>
                  <a:t>6 in 10</a:t>
                </a:r>
                <a:r>
                  <a:rPr lang="en-US" sz="1800" baseline="30000" dirty="0">
                    <a:sym typeface="Wingdings" panose="05000000000000000000" pitchFamily="2" charset="2"/>
                  </a:rPr>
                  <a:t>8</a:t>
                </a:r>
                <a:r>
                  <a:rPr lang="en-US" sz="1800" dirty="0">
                    <a:sym typeface="Wingdings" panose="05000000000000000000" pitchFamily="2" charset="2"/>
                  </a:rPr>
                  <a:t> molecules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The concentration of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 and 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 ions in water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>
                    <a:sym typeface="Wingdings" panose="05000000000000000000" pitchFamily="2" charset="2"/>
                  </a:rPr>
                  <a:t>is ~ 1.0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10</a:t>
                </a:r>
                <a:r>
                  <a:rPr lang="en-US" baseline="30000" dirty="0">
                    <a:sym typeface="Wingdings" panose="05000000000000000000" pitchFamily="2" charset="2"/>
                  </a:rPr>
                  <a:t>–7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i="1" dirty="0">
                    <a:sym typeface="Wingdings" panose="05000000000000000000" pitchFamily="2" charset="2"/>
                  </a:rPr>
                  <a:t>M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 =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= 1.0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10</a:t>
                </a:r>
                <a:r>
                  <a:rPr lang="en-US" baseline="30000" dirty="0">
                    <a:sym typeface="Wingdings" panose="05000000000000000000" pitchFamily="2" charset="2"/>
                  </a:rPr>
                  <a:t>–7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i="1" dirty="0">
                    <a:sym typeface="Wingdings" panose="05000000000000000000" pitchFamily="2" charset="2"/>
                  </a:rPr>
                  <a:t>M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Remember that the brackets refer to a concentration and if there is just a number, then units are in molar (mol/L)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2B180EC-C6B9-A3C7-ACBC-31EECBCF33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1014" r="-1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5B9AB-CE0E-F3F0-67AE-AD35763E2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31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F5C09-3A10-ADC1-C271-669643AEC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091" y="2824109"/>
            <a:ext cx="3658488" cy="143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93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9A03-8EBD-42DE-E0CF-A8C28944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3A8401-250B-7CEF-FAC0-200122CF7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i="1" dirty="0"/>
              <a:t>K</a:t>
            </a:r>
            <a:r>
              <a:rPr lang="en-US" baseline="-25000" dirty="0"/>
              <a:t>w</a:t>
            </a:r>
            <a:r>
              <a:rPr lang="en-US" dirty="0"/>
              <a:t> = [H</a:t>
            </a:r>
            <a:r>
              <a:rPr lang="en-US" baseline="-25000" dirty="0"/>
              <a:t>3</a:t>
            </a:r>
            <a:r>
              <a:rPr lang="en-US" dirty="0"/>
              <a:t>O</a:t>
            </a:r>
            <a:r>
              <a:rPr lang="en-US" baseline="30000" dirty="0"/>
              <a:t>+</a:t>
            </a:r>
            <a:r>
              <a:rPr lang="en-US" dirty="0"/>
              <a:t>][OH</a:t>
            </a:r>
            <a:r>
              <a:rPr lang="en-US" baseline="30000" dirty="0"/>
              <a:t>–</a:t>
            </a:r>
            <a:r>
              <a:rPr lang="en-US" dirty="0"/>
              <a:t>] = 10</a:t>
            </a:r>
            <a:r>
              <a:rPr lang="en-US" baseline="30000" dirty="0"/>
              <a:t>–14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A42024-90A3-785C-1FD4-0D08D07A4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The concentration of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(as 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 and 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ions in any aqueous solution can be understood as the product 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x 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 = 10</a:t>
            </a:r>
            <a:r>
              <a:rPr lang="en-US" baseline="30000" dirty="0">
                <a:sym typeface="Wingdings" panose="05000000000000000000" pitchFamily="2" charset="2"/>
              </a:rPr>
              <a:t>–14  </a:t>
            </a:r>
            <a:r>
              <a:rPr lang="en-US" sz="1800" dirty="0">
                <a:sym typeface="Wingdings" panose="05000000000000000000" pitchFamily="2" charset="2"/>
              </a:rPr>
              <a:t>(units are actually </a:t>
            </a:r>
            <a:r>
              <a:rPr lang="en-US" sz="1800" i="1" dirty="0">
                <a:sym typeface="Wingdings" panose="05000000000000000000" pitchFamily="2" charset="2"/>
              </a:rPr>
              <a:t>M</a:t>
            </a:r>
            <a:r>
              <a:rPr lang="en-US" sz="1800" baseline="30000" dirty="0">
                <a:sym typeface="Wingdings" panose="05000000000000000000" pitchFamily="2" charset="2"/>
              </a:rPr>
              <a:t>2</a:t>
            </a:r>
            <a:r>
              <a:rPr lang="en-US" sz="1800" dirty="0"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1800" dirty="0">
                <a:sym typeface="Wingdings" panose="05000000000000000000" pitchFamily="2" charset="2"/>
              </a:rPr>
              <a:t>(the times symbol can be omitted)</a:t>
            </a:r>
          </a:p>
          <a:p>
            <a:r>
              <a:rPr lang="en-US" dirty="0">
                <a:sym typeface="Wingdings" panose="05000000000000000000" pitchFamily="2" charset="2"/>
              </a:rPr>
              <a:t>This equation is the equilibrium constant for water,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: 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 = 10</a:t>
            </a:r>
            <a:r>
              <a:rPr lang="en-US" baseline="30000" dirty="0">
                <a:sym typeface="Wingdings" panose="05000000000000000000" pitchFamily="2" charset="2"/>
              </a:rPr>
              <a:t>–14 </a:t>
            </a:r>
          </a:p>
          <a:p>
            <a:pPr marL="0" indent="0">
              <a:buNone/>
            </a:pPr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When a strong acid 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is added, the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goes up, 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is consumed and 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 goes down</a:t>
            </a:r>
          </a:p>
          <a:p>
            <a:r>
              <a:rPr lang="en-US" dirty="0">
                <a:sym typeface="Wingdings" panose="05000000000000000000" pitchFamily="2" charset="2"/>
              </a:rPr>
              <a:t>When a strong base 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is added, the 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 goes up, 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is consumed and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goes down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F624D-94A1-F920-A4F2-B1B73F50C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120715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F9233-5CA6-7605-7918-0A06D3D5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BEB495-6B3D-E536-0490-0837083AC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</a:t>
            </a:r>
            <a:r>
              <a:rPr lang="en-US" sz="4000" i="1" dirty="0"/>
              <a:t>K</a:t>
            </a:r>
            <a:r>
              <a:rPr lang="en-US" sz="4000" baseline="-25000" dirty="0"/>
              <a:t>w</a:t>
            </a:r>
            <a:r>
              <a:rPr lang="en-US" sz="4000" dirty="0"/>
              <a:t> = [H</a:t>
            </a:r>
            <a:r>
              <a:rPr lang="en-US" sz="4000" baseline="-25000" dirty="0"/>
              <a:t>3</a:t>
            </a:r>
            <a:r>
              <a:rPr lang="en-US" sz="4000" dirty="0"/>
              <a:t>O</a:t>
            </a:r>
            <a:r>
              <a:rPr lang="en-US" sz="4000" baseline="30000" dirty="0"/>
              <a:t>+</a:t>
            </a:r>
            <a:r>
              <a:rPr lang="en-US" sz="4000" dirty="0"/>
              <a:t>][OH</a:t>
            </a:r>
            <a:r>
              <a:rPr lang="en-US" sz="4000" baseline="30000" dirty="0"/>
              <a:t>–</a:t>
            </a:r>
            <a:r>
              <a:rPr lang="en-US" sz="4000" dirty="0"/>
              <a:t>] = 10</a:t>
            </a:r>
            <a:r>
              <a:rPr lang="en-US" sz="4000" baseline="30000" dirty="0"/>
              <a:t>–14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F82BD0B-686F-1DE7-9779-06C8C017B4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r>
                  <a:rPr lang="en-US" dirty="0">
                    <a:sym typeface="Wingdings" panose="05000000000000000000" pitchFamily="2" charset="2"/>
                  </a:rPr>
                  <a:t>Water is acidified such that 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 = 1.0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10</a:t>
                </a:r>
                <a:r>
                  <a:rPr lang="en-US" baseline="30000" dirty="0">
                    <a:sym typeface="Wingdings" panose="05000000000000000000" pitchFamily="2" charset="2"/>
                  </a:rPr>
                  <a:t>-4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i="1" dirty="0">
                    <a:sym typeface="Wingdings" panose="05000000000000000000" pitchFamily="2" charset="2"/>
                  </a:rPr>
                  <a:t>M</a:t>
                </a:r>
                <a:r>
                  <a:rPr lang="en-US" dirty="0">
                    <a:sym typeface="Wingdings" panose="05000000000000000000" pitchFamily="2" charset="2"/>
                  </a:rPr>
                  <a:t>. What is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]?</a:t>
                </a:r>
              </a:p>
              <a:p>
                <a:pPr marL="0" indent="0" algn="ctr">
                  <a:buNone/>
                </a:pPr>
                <a:r>
                  <a:rPr lang="en-US" i="1" dirty="0">
                    <a:sym typeface="Wingdings" panose="05000000000000000000" pitchFamily="2" charset="2"/>
                  </a:rPr>
                  <a:t>K</a:t>
                </a:r>
                <a:r>
                  <a:rPr lang="en-US" baseline="-25000" dirty="0">
                    <a:sym typeface="Wingdings" panose="05000000000000000000" pitchFamily="2" charset="2"/>
                  </a:rPr>
                  <a:t>w</a:t>
                </a:r>
                <a:r>
                  <a:rPr lang="en-US" dirty="0">
                    <a:sym typeface="Wingdings" panose="05000000000000000000" pitchFamily="2" charset="2"/>
                  </a:rPr>
                  <a:t> = 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= 10</a:t>
                </a:r>
                <a:r>
                  <a:rPr lang="en-US" baseline="30000" dirty="0">
                    <a:sym typeface="Wingdings" panose="05000000000000000000" pitchFamily="2" charset="2"/>
                  </a:rPr>
                  <a:t>–14 </a:t>
                </a: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[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OH</m:t>
                      </m:r>
                      <m:r>
                        <m:rPr>
                          <m:nor/>
                        </m:rPr>
                        <a:rPr lang="en-US" baseline="30000" dirty="0">
                          <a:sym typeface="Wingdings" panose="05000000000000000000" pitchFamily="2" charset="2"/>
                        </a:rPr>
                        <m:t>–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]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 =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H</m:t>
                          </m:r>
                          <m:r>
                            <a:rPr lang="en-US" b="0" i="0" baseline="-2500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b="0" i="0" baseline="3000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  <m:r>
                            <a:rPr lang="en-US" b="0" i="1" baseline="30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=1.0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10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−10</m:t>
                          </m:r>
                        </m:sup>
                      </m:sSup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</m:oMath>
                  </m:oMathPara>
                </a14:m>
                <a:endParaRPr lang="en-US" i="1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Assuming both protons ionize, what is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of a </a:t>
                </a:r>
                <a:r>
                  <a:rPr lang="en-US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0.00032 </a:t>
                </a:r>
                <a:r>
                  <a:rPr lang="en-US" b="1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M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SO</a:t>
                </a:r>
                <a:r>
                  <a:rPr lang="en-US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dirty="0">
                    <a:sym typeface="Wingdings" panose="05000000000000000000" pitchFamily="2" charset="2"/>
                  </a:rPr>
                  <a:t> solution?</a:t>
                </a: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[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OH</m:t>
                      </m:r>
                      <m:r>
                        <m:rPr>
                          <m:nor/>
                        </m:rPr>
                        <a:rPr lang="en-US" baseline="30000" dirty="0">
                          <a:sym typeface="Wingdings" panose="05000000000000000000" pitchFamily="2" charset="2"/>
                        </a:rPr>
                        <m:t>–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] = 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H</m:t>
                          </m:r>
                          <m:r>
                            <a:rPr lang="en-US" baseline="-25000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baseline="30000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  <m:r>
                            <a:rPr lang="en-US" i="1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6.4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=1.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6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10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p>
                      </m:sSup>
                      <m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</m:oMath>
                  </m:oMathPara>
                </a14:m>
                <a:endParaRPr lang="en-US" i="1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baseline="30000" dirty="0">
                    <a:sym typeface="Wingdings" panose="05000000000000000000" pitchFamily="2" charset="2"/>
                  </a:rPr>
                  <a:t>Note concentration converted to scientific notation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F82BD0B-686F-1DE7-9779-06C8C017B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1014" r="-1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02908-64AA-B6B6-38EF-B5D261369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129719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CB741-47E8-C1C0-64C8-F1694B48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DDFC3A-707F-A8C3-0305-30218552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</a:t>
            </a:r>
            <a:r>
              <a:rPr lang="en-US" sz="4000" i="1" dirty="0"/>
              <a:t>K</a:t>
            </a:r>
            <a:r>
              <a:rPr lang="en-US" sz="4000" baseline="-25000" dirty="0"/>
              <a:t>w</a:t>
            </a:r>
            <a:r>
              <a:rPr lang="en-US" sz="4000" dirty="0"/>
              <a:t> = [H</a:t>
            </a:r>
            <a:r>
              <a:rPr lang="en-US" sz="4000" baseline="-25000" dirty="0"/>
              <a:t>3</a:t>
            </a:r>
            <a:r>
              <a:rPr lang="en-US" sz="4000" dirty="0"/>
              <a:t>O</a:t>
            </a:r>
            <a:r>
              <a:rPr lang="en-US" sz="4000" baseline="30000" dirty="0"/>
              <a:t>+</a:t>
            </a:r>
            <a:r>
              <a:rPr lang="en-US" sz="4000" dirty="0"/>
              <a:t>][OH</a:t>
            </a:r>
            <a:r>
              <a:rPr lang="en-US" sz="4000" baseline="30000" dirty="0"/>
              <a:t>–</a:t>
            </a:r>
            <a:r>
              <a:rPr lang="en-US" sz="4000" dirty="0"/>
              <a:t>] = 10</a:t>
            </a:r>
            <a:r>
              <a:rPr lang="en-US" sz="4000" baseline="30000" dirty="0"/>
              <a:t>–14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B631A5-0BAD-29D9-ED84-8E2B228B59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r>
                  <a:rPr lang="en-US" dirty="0">
                    <a:sym typeface="Wingdings" panose="05000000000000000000" pitchFamily="2" charset="2"/>
                  </a:rPr>
                  <a:t>Water is acidified such that 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 = 1.0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10</a:t>
                </a:r>
                <a:r>
                  <a:rPr lang="en-US" baseline="30000" dirty="0">
                    <a:sym typeface="Wingdings" panose="05000000000000000000" pitchFamily="2" charset="2"/>
                  </a:rPr>
                  <a:t>-4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i="1" dirty="0">
                    <a:sym typeface="Wingdings" panose="05000000000000000000" pitchFamily="2" charset="2"/>
                  </a:rPr>
                  <a:t>M</a:t>
                </a:r>
                <a:r>
                  <a:rPr lang="en-US" dirty="0">
                    <a:sym typeface="Wingdings" panose="05000000000000000000" pitchFamily="2" charset="2"/>
                  </a:rPr>
                  <a:t>. What is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]?</a:t>
                </a:r>
              </a:p>
              <a:p>
                <a:pPr marL="0" indent="0" algn="ctr">
                  <a:buNone/>
                </a:pPr>
                <a:r>
                  <a:rPr lang="en-US" i="1" dirty="0">
                    <a:sym typeface="Wingdings" panose="05000000000000000000" pitchFamily="2" charset="2"/>
                  </a:rPr>
                  <a:t>K</a:t>
                </a:r>
                <a:r>
                  <a:rPr lang="en-US" baseline="-25000" dirty="0">
                    <a:sym typeface="Wingdings" panose="05000000000000000000" pitchFamily="2" charset="2"/>
                  </a:rPr>
                  <a:t>w</a:t>
                </a:r>
                <a:r>
                  <a:rPr lang="en-US" dirty="0">
                    <a:sym typeface="Wingdings" panose="05000000000000000000" pitchFamily="2" charset="2"/>
                  </a:rPr>
                  <a:t> = 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= 10</a:t>
                </a:r>
                <a:r>
                  <a:rPr lang="en-US" baseline="30000" dirty="0">
                    <a:sym typeface="Wingdings" panose="05000000000000000000" pitchFamily="2" charset="2"/>
                  </a:rPr>
                  <a:t>–14 </a:t>
                </a: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[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OH</m:t>
                      </m:r>
                      <m:r>
                        <m:rPr>
                          <m:nor/>
                        </m:rPr>
                        <a:rPr lang="en-US" baseline="30000" dirty="0">
                          <a:sym typeface="Wingdings" panose="05000000000000000000" pitchFamily="2" charset="2"/>
                        </a:rPr>
                        <m:t>–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]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 =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H</m:t>
                          </m:r>
                          <m:r>
                            <a:rPr lang="en-US" b="0" i="0" baseline="-2500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b="0" i="0" baseline="3000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  <m:r>
                            <a:rPr lang="en-US" b="0" i="1" baseline="30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=1.0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10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−10</m:t>
                          </m:r>
                        </m:sup>
                      </m:sSup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</m:oMath>
                  </m:oMathPara>
                </a14:m>
                <a:endParaRPr lang="en-US" i="1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Assuming both protons ionize, what is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of a </a:t>
                </a:r>
                <a:r>
                  <a:rPr lang="en-US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0.00032 </a:t>
                </a:r>
                <a:r>
                  <a:rPr lang="en-US" b="1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M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SO</a:t>
                </a:r>
                <a:r>
                  <a:rPr lang="en-US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dirty="0">
                    <a:sym typeface="Wingdings" panose="05000000000000000000" pitchFamily="2" charset="2"/>
                  </a:rPr>
                  <a:t> solution?</a:t>
                </a: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[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OH</m:t>
                      </m:r>
                      <m:r>
                        <m:rPr>
                          <m:nor/>
                        </m:rPr>
                        <a:rPr lang="en-US" baseline="30000" dirty="0">
                          <a:sym typeface="Wingdings" panose="05000000000000000000" pitchFamily="2" charset="2"/>
                        </a:rPr>
                        <m:t>–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] = 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H</m:t>
                          </m:r>
                          <m:r>
                            <a:rPr lang="en-US" baseline="-25000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baseline="30000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  <m:r>
                            <a:rPr lang="en-US" i="1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=1.0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10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−10</m:t>
                          </m:r>
                        </m:sup>
                      </m:sSup>
                      <m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</m:oMath>
                  </m:oMathPara>
                </a14:m>
                <a:endParaRPr lang="en-US" i="1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B631A5-0BAD-29D9-ED84-8E2B228B5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1014" r="-1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32E20-DB55-C287-B35A-607E9E3FEB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82463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032B6-F517-6AB3-B64D-99C4757A7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FAB011-F343-1DA5-3BA6-9DCAC9CE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pH Defined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737339-7CBC-F16A-D694-552B65F02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Writing out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= 1.45 x 10</a:t>
            </a:r>
            <a:r>
              <a:rPr lang="en-US" baseline="30000" dirty="0">
                <a:sym typeface="Wingdings" panose="05000000000000000000" pitchFamily="2" charset="2"/>
              </a:rPr>
              <a:t>–8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i="1" dirty="0">
                <a:sym typeface="Wingdings" panose="05000000000000000000" pitchFamily="2" charset="2"/>
              </a:rPr>
              <a:t>M</a:t>
            </a:r>
            <a:r>
              <a:rPr lang="en-US" dirty="0">
                <a:sym typeface="Wingdings" panose="05000000000000000000" pitchFamily="2" charset="2"/>
              </a:rPr>
              <a:t> for chemists can lead to a kind of eye strain and brain punch</a:t>
            </a:r>
          </a:p>
          <a:p>
            <a:r>
              <a:rPr lang="en-US" dirty="0">
                <a:sym typeface="Wingdings" panose="05000000000000000000" pitchFamily="2" charset="2"/>
              </a:rPr>
              <a:t>So they came up with a convenient conversion</a:t>
            </a:r>
          </a:p>
          <a:p>
            <a:r>
              <a:rPr lang="en-US" dirty="0">
                <a:sym typeface="Wingdings" panose="05000000000000000000" pitchFamily="2" charset="2"/>
              </a:rPr>
              <a:t>pH = –log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  also written pH = –log [H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r>
              <a:rPr lang="en-US" dirty="0">
                <a:sym typeface="Wingdings" panose="05000000000000000000" pitchFamily="2" charset="2"/>
              </a:rPr>
              <a:t>Recall that water with no added acid or base has a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= 1.0 × 10</a:t>
            </a:r>
            <a:r>
              <a:rPr lang="en-US" baseline="30000" dirty="0">
                <a:sym typeface="Wingdings" panose="05000000000000000000" pitchFamily="2" charset="2"/>
              </a:rPr>
              <a:t>–7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i="1" dirty="0">
                <a:sym typeface="Wingdings" panose="05000000000000000000" pitchFamily="2" charset="2"/>
              </a:rPr>
              <a:t>M</a:t>
            </a:r>
            <a:r>
              <a:rPr lang="en-US" dirty="0">
                <a:sym typeface="Wingdings" panose="05000000000000000000" pitchFamily="2" charset="2"/>
              </a:rPr>
              <a:t>. The pH would be:</a:t>
            </a:r>
          </a:p>
          <a:p>
            <a:r>
              <a:rPr lang="en-US" dirty="0">
                <a:sym typeface="Wingdings" panose="05000000000000000000" pitchFamily="2" charset="2"/>
              </a:rPr>
              <a:t>pH = –log (1.0 × 10</a:t>
            </a:r>
            <a:r>
              <a:rPr lang="en-US" baseline="30000" dirty="0">
                <a:sym typeface="Wingdings" panose="05000000000000000000" pitchFamily="2" charset="2"/>
              </a:rPr>
              <a:t>–7</a:t>
            </a:r>
            <a:r>
              <a:rPr lang="en-US" dirty="0">
                <a:sym typeface="Wingdings" panose="05000000000000000000" pitchFamily="2" charset="2"/>
              </a:rPr>
              <a:t>) = 7.0</a:t>
            </a:r>
          </a:p>
          <a:p>
            <a:r>
              <a:rPr lang="en-US" dirty="0">
                <a:sym typeface="Wingdings" panose="05000000000000000000" pitchFamily="2" charset="2"/>
              </a:rPr>
              <a:t>You can also compute that if acid is added, the pH will be less than 7.0; if base added, pH greater than 7.0</a:t>
            </a:r>
          </a:p>
          <a:p>
            <a:r>
              <a:rPr lang="en-US" dirty="0">
                <a:sym typeface="Wingdings" panose="05000000000000000000" pitchFamily="2" charset="2"/>
              </a:rPr>
              <a:t>The pH scale will go from 0 to 14, in fact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94B5F-034C-E46C-762A-E8704F8962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1432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F1148-92A4-46E6-917B-4DE3EE7E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7CDDD6-4642-EFCA-038A-5AB215D96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The pH Scale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55A970-6D7E-0428-3088-47693761F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4343305" cy="541192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Acidic, basic or neutral?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milk of magnesia, pH 10.5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basic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pure water, pH 7.0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neutral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wine pH 3.0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acidic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human blood, pH 7.4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basic (slightly)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ammonia, pH 11.0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basic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cherries pH 3.6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acidic</a:t>
            </a:r>
          </a:p>
          <a:p>
            <a:pPr marL="0" indent="0">
              <a:buNone/>
            </a:pPr>
            <a:endParaRPr lang="en-US" sz="2000" i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D5221-E8B3-26B8-BA9B-C1E0FDADCC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36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5C093-8752-CBAF-1F49-6DB5D14AD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092" y="1048590"/>
            <a:ext cx="4203629" cy="51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3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0A3B-44AB-D4F1-2C02-2CC1A4E2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B888C2-5DEC-C131-2413-504A4899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Math of pH</a:t>
            </a:r>
            <a:endParaRPr lang="en-US" sz="4000" baseline="30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FDE67C-436E-A820-1739-CBF20D8F1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You should be able to calculate 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</a:t>
            </a:r>
            <a:r>
              <a:rPr lang="en-US" sz="20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from 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[H</a:t>
            </a:r>
            <a:r>
              <a:rPr lang="en-US" sz="2000" baseline="-25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</a:t>
            </a:r>
            <a:r>
              <a:rPr lang="en-US" sz="2000" baseline="30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 </a:t>
            </a:r>
            <a:r>
              <a:rPr lang="en-US" sz="20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and 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[H</a:t>
            </a:r>
            <a:r>
              <a:rPr lang="en-US" sz="2000" baseline="-25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</a:t>
            </a:r>
            <a:r>
              <a:rPr lang="en-US" sz="2000" baseline="30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en-US" sz="20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from 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What is the pH if 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 = 1 × 10</a:t>
            </a:r>
            <a:r>
              <a:rPr lang="en-US" sz="1800" baseline="30000" dirty="0">
                <a:sym typeface="Wingdings" panose="05000000000000000000" pitchFamily="2" charset="2"/>
              </a:rPr>
              <a:t>-3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i="1" dirty="0">
                <a:sym typeface="Wingdings" panose="05000000000000000000" pitchFamily="2" charset="2"/>
              </a:rPr>
              <a:t>M</a:t>
            </a:r>
            <a:r>
              <a:rPr lang="en-US" sz="1800" dirty="0">
                <a:sym typeface="Wingdings" panose="05000000000000000000" pitchFamily="2" charset="2"/>
              </a:rPr>
              <a:t>?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pH = –log [1 × 10</a:t>
            </a:r>
            <a:r>
              <a:rPr lang="en-US" sz="1800" baseline="30000" dirty="0">
                <a:sym typeface="Wingdings" panose="05000000000000000000" pitchFamily="2" charset="2"/>
              </a:rPr>
              <a:t>-3</a:t>
            </a:r>
            <a:r>
              <a:rPr lang="en-US" sz="1800" dirty="0">
                <a:sym typeface="Wingdings" panose="05000000000000000000" pitchFamily="2" charset="2"/>
              </a:rPr>
              <a:t>] = 3.0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What is the pH if 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 = 2.5 × 10</a:t>
            </a:r>
            <a:r>
              <a:rPr lang="en-US" sz="1800" baseline="30000" dirty="0">
                <a:sym typeface="Wingdings" panose="05000000000000000000" pitchFamily="2" charset="2"/>
              </a:rPr>
              <a:t>-11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i="1" dirty="0">
                <a:sym typeface="Wingdings" panose="05000000000000000000" pitchFamily="2" charset="2"/>
              </a:rPr>
              <a:t>M</a:t>
            </a:r>
            <a:r>
              <a:rPr lang="en-US" sz="1800" dirty="0">
                <a:sym typeface="Wingdings" panose="05000000000000000000" pitchFamily="2" charset="2"/>
              </a:rPr>
              <a:t>?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pH = –log [2.5 × 10</a:t>
            </a:r>
            <a:r>
              <a:rPr lang="en-US" sz="1800" baseline="30000" dirty="0">
                <a:sym typeface="Wingdings" panose="05000000000000000000" pitchFamily="2" charset="2"/>
              </a:rPr>
              <a:t>-11</a:t>
            </a:r>
            <a:r>
              <a:rPr lang="en-US" sz="1800" dirty="0">
                <a:sym typeface="Wingdings" panose="05000000000000000000" pitchFamily="2" charset="2"/>
              </a:rPr>
              <a:t>] = 10.60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What is the pH if 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 = 4.7 × 10</a:t>
            </a:r>
            <a:r>
              <a:rPr lang="en-US" sz="1800" baseline="30000" dirty="0">
                <a:sym typeface="Wingdings" panose="05000000000000000000" pitchFamily="2" charset="2"/>
              </a:rPr>
              <a:t>-9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i="1" dirty="0">
                <a:sym typeface="Wingdings" panose="05000000000000000000" pitchFamily="2" charset="2"/>
              </a:rPr>
              <a:t>M</a:t>
            </a:r>
            <a:r>
              <a:rPr lang="en-US" sz="1800" dirty="0">
                <a:sym typeface="Wingdings" panose="05000000000000000000" pitchFamily="2" charset="2"/>
              </a:rPr>
              <a:t>?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pH = –log [4.7 × 10</a:t>
            </a:r>
            <a:r>
              <a:rPr lang="en-US" sz="1800" baseline="30000" dirty="0">
                <a:sym typeface="Wingdings" panose="05000000000000000000" pitchFamily="2" charset="2"/>
              </a:rPr>
              <a:t>-9</a:t>
            </a:r>
            <a:r>
              <a:rPr lang="en-US" sz="1800" dirty="0">
                <a:sym typeface="Wingdings" panose="05000000000000000000" pitchFamily="2" charset="2"/>
              </a:rPr>
              <a:t>] = 8.30</a:t>
            </a:r>
          </a:p>
          <a:p>
            <a:pPr marL="0" indent="0">
              <a:buNone/>
            </a:pPr>
            <a:r>
              <a:rPr lang="en-US" sz="1800" dirty="0" err="1">
                <a:sym typeface="Wingdings" panose="05000000000000000000" pitchFamily="2" charset="2"/>
              </a:rPr>
              <a:t>a.bbb</a:t>
            </a:r>
            <a:r>
              <a:rPr lang="en-US" sz="1800" dirty="0">
                <a:sym typeface="Wingdings" panose="05000000000000000000" pitchFamily="2" charset="2"/>
              </a:rPr>
              <a:t> (pH)   b.bb x 10</a:t>
            </a:r>
            <a:r>
              <a:rPr lang="en-US" sz="1800" baseline="30000" dirty="0">
                <a:sym typeface="Wingdings" panose="05000000000000000000" pitchFamily="2" charset="2"/>
              </a:rPr>
              <a:t>a  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Note how significant digits work in this conversion</a:t>
            </a:r>
          </a:p>
          <a:p>
            <a:pPr marL="0" indent="0">
              <a:buNone/>
            </a:pPr>
            <a:endParaRPr lang="en-US" sz="1600" baseline="30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 err="1">
                <a:sym typeface="Wingdings" panose="05000000000000000000" pitchFamily="2" charset="2"/>
              </a:rPr>
              <a:t>Backconversion</a:t>
            </a:r>
            <a:r>
              <a:rPr lang="en-US" sz="2000" dirty="0">
                <a:sym typeface="Wingdings" panose="05000000000000000000" pitchFamily="2" charset="2"/>
              </a:rPr>
              <a:t>: [H</a:t>
            </a:r>
            <a:r>
              <a:rPr lang="en-US" sz="2000" baseline="-25000" dirty="0">
                <a:sym typeface="Wingdings" panose="05000000000000000000" pitchFamily="2" charset="2"/>
              </a:rPr>
              <a:t>3</a:t>
            </a:r>
            <a:r>
              <a:rPr lang="en-US" sz="2000" dirty="0">
                <a:sym typeface="Wingdings" panose="05000000000000000000" pitchFamily="2" charset="2"/>
              </a:rPr>
              <a:t>O</a:t>
            </a:r>
            <a:r>
              <a:rPr lang="en-US" sz="2000" baseline="30000" dirty="0">
                <a:sym typeface="Wingdings" panose="05000000000000000000" pitchFamily="2" charset="2"/>
              </a:rPr>
              <a:t>+</a:t>
            </a:r>
            <a:r>
              <a:rPr lang="en-US" sz="2000" dirty="0">
                <a:sym typeface="Wingdings" panose="05000000000000000000" pitchFamily="2" charset="2"/>
              </a:rPr>
              <a:t>] = antilog(–pH) = 10</a:t>
            </a:r>
            <a:r>
              <a:rPr lang="en-US" sz="2000" baseline="30000" dirty="0">
                <a:sym typeface="Wingdings" panose="05000000000000000000" pitchFamily="2" charset="2"/>
              </a:rPr>
              <a:t>–pH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You have a solution at pH = 8.3. What is 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]?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 = 10</a:t>
            </a:r>
            <a:r>
              <a:rPr lang="en-US" sz="1800" baseline="30000" dirty="0">
                <a:sym typeface="Wingdings" panose="05000000000000000000" pitchFamily="2" charset="2"/>
              </a:rPr>
              <a:t>–pH = </a:t>
            </a:r>
            <a:r>
              <a:rPr lang="en-US" sz="1800" dirty="0">
                <a:sym typeface="Wingdings" panose="05000000000000000000" pitchFamily="2" charset="2"/>
              </a:rPr>
              <a:t>10</a:t>
            </a:r>
            <a:r>
              <a:rPr lang="en-US" sz="1800" baseline="30000" dirty="0">
                <a:sym typeface="Wingdings" panose="05000000000000000000" pitchFamily="2" charset="2"/>
              </a:rPr>
              <a:t>–8.3</a:t>
            </a:r>
            <a:r>
              <a:rPr lang="en-US" sz="1800" dirty="0">
                <a:sym typeface="Wingdings" panose="05000000000000000000" pitchFamily="2" charset="2"/>
              </a:rPr>
              <a:t> = 5.0 x 10</a:t>
            </a:r>
            <a:r>
              <a:rPr lang="en-US" sz="1800" baseline="30000" dirty="0">
                <a:sym typeface="Wingdings" panose="05000000000000000000" pitchFamily="2" charset="2"/>
              </a:rPr>
              <a:t>-9</a:t>
            </a:r>
            <a:r>
              <a:rPr lang="en-US" sz="1800" dirty="0">
                <a:sym typeface="Wingdings" panose="05000000000000000000" pitchFamily="2" charset="2"/>
              </a:rPr>
              <a:t> 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41965-19A2-F9F4-09A8-7C67B4631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072143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6CE6B-ABE9-B2F6-CDE7-730EB4A9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969F98-99E9-263B-CE46-3BF39280A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pOH</a:t>
            </a:r>
            <a:endParaRPr lang="en-US" sz="4000" baseline="30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BDC9A4-C10C-F4BA-F346-5A9FC424F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Just as pH = – log [H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], pH = –log 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Since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Take negative logarithm of both sides: 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– log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–log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– log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i="1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–log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+ –log[OH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dirty="0" err="1">
                <a:sym typeface="Wingdings" panose="05000000000000000000" pitchFamily="2" charset="2"/>
              </a:rPr>
              <a:t>p</a:t>
            </a:r>
            <a:r>
              <a:rPr lang="en-US" i="1" dirty="0" err="1">
                <a:sym typeface="Wingdings" panose="05000000000000000000" pitchFamily="2" charset="2"/>
              </a:rPr>
              <a:t>K</a:t>
            </a:r>
            <a:r>
              <a:rPr lang="en-US" baseline="-25000" dirty="0" err="1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pH + pOH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Since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1.0 × 10</a:t>
            </a:r>
            <a:r>
              <a:rPr lang="en-US" baseline="30000" dirty="0">
                <a:sym typeface="Wingdings" panose="05000000000000000000" pitchFamily="2" charset="2"/>
              </a:rPr>
              <a:t>–14</a:t>
            </a:r>
            <a:r>
              <a:rPr lang="en-US" dirty="0">
                <a:sym typeface="Wingdings" panose="05000000000000000000" pitchFamily="2" charset="2"/>
              </a:rPr>
              <a:t> (at 25°C)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Then 14.00 = pH + pOH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If the pH = 4.42, what is the pOH?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14.00 = pH + pOH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pOH =14.00 – 4.42 = 9.58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3245D-8075-FF66-0F03-0372FF81E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169073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1EE18-28D8-4F4B-29B0-C5878135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25DB42-F688-8478-D2A9-9507A6AC3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Relating pH to pOH and [ 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7A8202-4D9F-D7D8-0928-BAA8CD2FF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4054687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This shows you how to convert [H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and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], and to pH and pOH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It’s easy after an hour of practice (or less)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837BE-AD85-98E5-27AD-8E43DC0469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39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32BF9-A2E5-120D-B944-81AC6E738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200" y="1836738"/>
            <a:ext cx="4666521" cy="452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040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1666-69E7-E48C-DB91-B17673A8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4BAD6-C124-9D5A-4E41-0596592A3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Buffers: Resisting pH Change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E3988-9CFB-E333-4A36-6FFBFE8E7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The acid of the stomach is the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strong acid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hydrochloric acid </a:t>
            </a: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HCl</a:t>
            </a:r>
            <a:r>
              <a:rPr lang="en-US" dirty="0">
                <a:sym typeface="Wingdings" panose="05000000000000000000" pitchFamily="2" charset="2"/>
              </a:rPr>
              <a:t>). Its concentration is estimated to be 0.05 M. If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1 mL </a:t>
            </a:r>
            <a:r>
              <a:rPr lang="en-US" dirty="0">
                <a:sym typeface="Wingdings" panose="05000000000000000000" pitchFamily="2" charset="2"/>
              </a:rPr>
              <a:t>got into the blood, the blood pH would go from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7.4</a:t>
            </a:r>
            <a:r>
              <a:rPr lang="en-US" dirty="0">
                <a:sym typeface="Wingdings" panose="05000000000000000000" pitchFamily="2" charset="2"/>
              </a:rPr>
              <a:t> to about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4.9</a:t>
            </a:r>
            <a:r>
              <a:rPr lang="en-US" dirty="0">
                <a:sym typeface="Wingdings" panose="05000000000000000000" pitchFamily="2" charset="2"/>
              </a:rPr>
              <a:t>, with fatal results.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Buffers</a:t>
            </a:r>
            <a:r>
              <a:rPr lang="en-US" dirty="0">
                <a:sym typeface="Wingdings" panose="05000000000000000000" pitchFamily="2" charset="2"/>
              </a:rPr>
              <a:t> are made of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weak acid </a:t>
            </a:r>
            <a:r>
              <a:rPr lang="en-US" dirty="0">
                <a:sym typeface="Wingdings" panose="05000000000000000000" pitchFamily="2" charset="2"/>
              </a:rPr>
              <a:t>or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weak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base</a:t>
            </a:r>
            <a:r>
              <a:rPr lang="en-US" dirty="0">
                <a:sym typeface="Wingdings" panose="05000000000000000000" pitchFamily="2" charset="2"/>
              </a:rPr>
              <a:t> along with salt of its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conjugate base</a:t>
            </a:r>
            <a:r>
              <a:rPr lang="en-US" dirty="0">
                <a:sym typeface="Wingdings" panose="05000000000000000000" pitchFamily="2" charset="2"/>
              </a:rPr>
              <a:t> or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conjugate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acid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>
                <a:sym typeface="Wingdings" panose="05000000000000000000" pitchFamily="2" charset="2"/>
              </a:rPr>
              <a:t>An example of a buffer is </a:t>
            </a:r>
            <a:r>
              <a:rPr lang="en-US" b="1" dirty="0">
                <a:solidFill>
                  <a:srgbClr val="FFFF00"/>
                </a:solidFill>
                <a:sym typeface="Wingdings" panose="05000000000000000000" pitchFamily="2" charset="2"/>
              </a:rPr>
              <a:t>acetic acid </a:t>
            </a:r>
            <a:r>
              <a:rPr lang="en-US" dirty="0">
                <a:sym typeface="Wingdings" panose="05000000000000000000" pitchFamily="2" charset="2"/>
              </a:rPr>
              <a:t>and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b="1" dirty="0">
                <a:solidFill>
                  <a:srgbClr val="FFFF00"/>
                </a:solidFill>
                <a:sym typeface="Wingdings" panose="05000000000000000000" pitchFamily="2" charset="2"/>
              </a:rPr>
              <a:t>sodium acetate</a:t>
            </a:r>
            <a:r>
              <a:rPr lang="en-US" dirty="0">
                <a:sym typeface="Wingdings" panose="05000000000000000000" pitchFamily="2" charset="2"/>
              </a:rPr>
              <a:t>, detailed on the next slide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BFB18-DF9C-8BEB-EB71-303E5A46C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40</a:t>
            </a:fld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271932-E6C2-CE18-8945-334FF9E23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67" y="4814498"/>
            <a:ext cx="3657142" cy="15504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685115-AE1A-BA8D-573C-25984C22B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899" y="4880529"/>
            <a:ext cx="4725034" cy="137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960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25E63-B6C9-2E49-0DEA-1CC968CB8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E830EA-85E3-0231-0B7B-DB6E9E2E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Mechanism of Buffering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8EAD249-3571-915E-E830-21F394120B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Acetic acid CH</a:t>
                </a:r>
                <a:r>
                  <a:rPr lang="en-US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COOH </a:t>
                </a:r>
                <a:r>
                  <a:rPr lang="en-US" dirty="0">
                    <a:sym typeface="Wingdings" panose="05000000000000000000" pitchFamily="2" charset="2"/>
                  </a:rPr>
                  <a:t>is a </a:t>
                </a:r>
                <a: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weak acid</a:t>
                </a:r>
              </a:p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OH</a:t>
                </a:r>
                <a:r>
                  <a:rPr lang="en-US" sz="2200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 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(</a:t>
                </a:r>
                <a:r>
                  <a:rPr lang="en-US" sz="2200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CH</a:t>
                </a:r>
                <a:r>
                  <a:rPr lang="en-US" sz="22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COOH (</a:t>
                </a:r>
                <a:r>
                  <a:rPr lang="en-US" sz="2200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H</a:t>
                </a:r>
                <a:r>
                  <a:rPr lang="en-US" sz="22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(</a:t>
                </a:r>
                <a:r>
                  <a:rPr lang="en-US" sz="22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CH</a:t>
                </a:r>
                <a:r>
                  <a:rPr lang="en-US" sz="22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</a:t>
                </a:r>
                <a:r>
                  <a:rPr lang="en-US" sz="2200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sz="2200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If a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strong base </a:t>
                </a:r>
                <a:r>
                  <a:rPr lang="en-US" sz="2000" dirty="0">
                    <a:sym typeface="Wingdings" panose="05000000000000000000" pitchFamily="2" charset="2"/>
                  </a:rPr>
                  <a:t>(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hydroxyl ion OH</a:t>
                </a:r>
                <a:r>
                  <a:rPr lang="en-US" sz="2000" baseline="30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sz="2000" dirty="0">
                    <a:sym typeface="Wingdings" panose="05000000000000000000" pitchFamily="2" charset="2"/>
                  </a:rPr>
                  <a:t>) is added to the solution, the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weak acid </a:t>
                </a:r>
                <a:r>
                  <a:rPr lang="en-US" sz="2000" dirty="0">
                    <a:sym typeface="Wingdings" panose="05000000000000000000" pitchFamily="2" charset="2"/>
                  </a:rPr>
                  <a:t>reacts with it which resists a strong change in pH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Sodium acetate CH</a:t>
                </a:r>
                <a:r>
                  <a:rPr lang="en-US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COONa </a:t>
                </a:r>
                <a:r>
                  <a:rPr lang="en-US" dirty="0">
                    <a:sym typeface="Wingdings" panose="05000000000000000000" pitchFamily="2" charset="2"/>
                  </a:rPr>
                  <a:t>is its </a:t>
                </a:r>
                <a: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conjugate base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COOH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If a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strong acid </a:t>
                </a:r>
                <a:r>
                  <a:rPr lang="en-US" sz="2000" dirty="0">
                    <a:sym typeface="Wingdings" panose="05000000000000000000" pitchFamily="2" charset="2"/>
                  </a:rPr>
                  <a:t>(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hydrogen ion H</a:t>
                </a:r>
                <a:r>
                  <a:rPr lang="en-US" sz="2000" baseline="30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sz="2000" dirty="0">
                    <a:sym typeface="Wingdings" panose="05000000000000000000" pitchFamily="2" charset="2"/>
                  </a:rPr>
                  <a:t>) is added to the solution, the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weak base </a:t>
                </a:r>
                <a:r>
                  <a:rPr lang="en-US" sz="2000" dirty="0">
                    <a:sym typeface="Wingdings" panose="05000000000000000000" pitchFamily="2" charset="2"/>
                  </a:rPr>
                  <a:t>reacts with it which resists a strong change in pH</a:t>
                </a:r>
              </a:p>
              <a:p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8EAD249-3571-915E-E830-21F394120B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901" r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24D75-B966-D4F7-309F-F370647C1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41</a:t>
            </a:fld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4ABA37-D929-9445-A921-9F55E038A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914" y="4499253"/>
            <a:ext cx="6228881" cy="194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466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5A7D2-E18C-54A2-1745-767929929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634043-63AD-4C6D-2B44-CB70674DF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Practice: Buffers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6572B1-DC9B-87FC-EAD0-F8BB79A15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413046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>
                <a:sym typeface="Wingdings" panose="05000000000000000000" pitchFamily="2" charset="2"/>
              </a:rPr>
              <a:t>Are these solute combinations good aqueous buffers?</a:t>
            </a:r>
          </a:p>
          <a:p>
            <a:r>
              <a:rPr lang="en-US" dirty="0">
                <a:sym typeface="Wingdings" panose="05000000000000000000" pitchFamily="2" charset="2"/>
              </a:rPr>
              <a:t>HCOOH + Na</a:t>
            </a:r>
            <a:r>
              <a:rPr lang="en-US" baseline="30000" dirty="0">
                <a:sym typeface="Wingdings" panose="05000000000000000000" pitchFamily="2" charset="2"/>
              </a:rPr>
              <a:t>+ –</a:t>
            </a:r>
            <a:r>
              <a:rPr lang="en-US" dirty="0">
                <a:sym typeface="Wingdings" panose="05000000000000000000" pitchFamily="2" charset="2"/>
              </a:rPr>
              <a:t>OOCH</a:t>
            </a:r>
          </a:p>
          <a:p>
            <a:pPr marL="236538"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Yes</a:t>
            </a:r>
            <a:r>
              <a:rPr lang="en-US" dirty="0">
                <a:sym typeface="Wingdings" panose="05000000000000000000" pitchFamily="2" charset="2"/>
              </a:rPr>
              <a:t> -- Formic acid: weak acid; sodium </a:t>
            </a:r>
            <a:r>
              <a:rPr lang="en-US" dirty="0" err="1">
                <a:sym typeface="Wingdings" panose="05000000000000000000" pitchFamily="2" charset="2"/>
              </a:rPr>
              <a:t>formate</a:t>
            </a:r>
            <a:r>
              <a:rPr lang="en-US" dirty="0">
                <a:sym typeface="Wingdings" panose="05000000000000000000" pitchFamily="2" charset="2"/>
              </a:rPr>
              <a:t>: its conjugate base as a salt </a:t>
            </a:r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HCl + NaCl</a:t>
            </a:r>
          </a:p>
          <a:p>
            <a:pPr marL="236538"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No</a:t>
            </a:r>
            <a:r>
              <a:rPr lang="en-US" dirty="0">
                <a:sym typeface="Wingdings" panose="05000000000000000000" pitchFamily="2" charset="2"/>
              </a:rPr>
              <a:t> -- Hydrochloric acid is a strong acid, not weak; not a good buffer</a:t>
            </a:r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NH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 + CH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NH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Cl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</a:p>
          <a:p>
            <a:pPr marL="236538"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Yes</a:t>
            </a:r>
            <a:r>
              <a:rPr lang="en-US" dirty="0">
                <a:sym typeface="Wingdings" panose="05000000000000000000" pitchFamily="2" charset="2"/>
              </a:rPr>
              <a:t> -- Methylamine is just the methyl derivative of ammonia, which is a known weak base. Its chloride is a conjugate acid</a:t>
            </a:r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NH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 + NaOH</a:t>
            </a:r>
          </a:p>
          <a:p>
            <a:pPr marL="231775"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No</a:t>
            </a:r>
            <a:r>
              <a:rPr lang="en-US" dirty="0">
                <a:sym typeface="Wingdings" panose="05000000000000000000" pitchFamily="2" charset="2"/>
              </a:rPr>
              <a:t> – While ammonia is a weak base, the other solute should be a conjugate acid, like ammonium chloride or sulfate, not a strong base like sodium hydroxide</a:t>
            </a:r>
            <a:endParaRPr lang="en-US" baseline="30000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C6945-1109-E7AF-FCA7-302D6E17F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8664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7938A-C12A-0521-75BE-9644D6CE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7CD145-5FD2-BA4E-715B-563F406F4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Practice: Buffers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55566C-8990-A57D-6731-99C9320A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413046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>
                <a:sym typeface="Wingdings" panose="05000000000000000000" pitchFamily="2" charset="2"/>
              </a:rPr>
              <a:t>Are these solute combinations good aqueous buffers?</a:t>
            </a:r>
          </a:p>
          <a:p>
            <a:r>
              <a:rPr lang="en-US" dirty="0">
                <a:sym typeface="Wingdings" panose="05000000000000000000" pitchFamily="2" charset="2"/>
              </a:rPr>
              <a:t>NaHCO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 + NaCl</a:t>
            </a:r>
          </a:p>
          <a:p>
            <a:pPr marL="236538" lvl="1" indent="0">
              <a:buNone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No</a:t>
            </a:r>
            <a:r>
              <a:rPr lang="en-US" sz="1800" dirty="0">
                <a:sym typeface="Wingdings" panose="05000000000000000000" pitchFamily="2" charset="2"/>
              </a:rPr>
              <a:t> – While sodium bicarbonate is a good weak base, its conjugate acid is carbonic acid H2CO3 should be the other solute. Sodium chloride is not a weak acid or weak base</a:t>
            </a:r>
            <a:endParaRPr lang="en-US" sz="1800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PO</a:t>
            </a:r>
            <a:r>
              <a:rPr lang="en-US" baseline="-25000" dirty="0">
                <a:sym typeface="Wingdings" panose="05000000000000000000" pitchFamily="2" charset="2"/>
              </a:rPr>
              <a:t>4</a:t>
            </a:r>
            <a:r>
              <a:rPr lang="en-US" dirty="0">
                <a:sym typeface="Wingdings" panose="05000000000000000000" pitchFamily="2" charset="2"/>
              </a:rPr>
              <a:t> + NaH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PO</a:t>
            </a:r>
            <a:r>
              <a:rPr lang="en-US" baseline="-25000" dirty="0">
                <a:sym typeface="Wingdings" panose="05000000000000000000" pitchFamily="2" charset="2"/>
              </a:rPr>
              <a:t>4</a:t>
            </a:r>
          </a:p>
          <a:p>
            <a:pPr marL="236538" lvl="1" indent="0">
              <a:buNone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Yes</a:t>
            </a:r>
            <a:r>
              <a:rPr lang="en-US" sz="1800" dirty="0">
                <a:sym typeface="Wingdings" panose="05000000000000000000" pitchFamily="2" charset="2"/>
              </a:rPr>
              <a:t> – Phosphoric acid and its conjugate base sodium dihydrogen phosphate make an excellent buffer</a:t>
            </a:r>
            <a:endParaRPr lang="en-US" sz="1800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NH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 + (NH</a:t>
            </a:r>
            <a:r>
              <a:rPr lang="en-US" baseline="-25000" dirty="0">
                <a:sym typeface="Wingdings" panose="05000000000000000000" pitchFamily="2" charset="2"/>
              </a:rPr>
              <a:t>4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baseline="30000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PO</a:t>
            </a:r>
            <a:r>
              <a:rPr lang="en-US" baseline="-25000" dirty="0">
                <a:sym typeface="Wingdings" panose="05000000000000000000" pitchFamily="2" charset="2"/>
              </a:rPr>
              <a:t>4</a:t>
            </a:r>
            <a:endParaRPr lang="en-US" baseline="30000" dirty="0">
              <a:sym typeface="Wingdings" panose="05000000000000000000" pitchFamily="2" charset="2"/>
            </a:endParaRPr>
          </a:p>
          <a:p>
            <a:pPr marL="236538" lvl="1" indent="0">
              <a:buNone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Yes</a:t>
            </a:r>
            <a:r>
              <a:rPr lang="en-US" sz="1800" dirty="0">
                <a:sym typeface="Wingdings" panose="05000000000000000000" pitchFamily="2" charset="2"/>
              </a:rPr>
              <a:t> – Ammonia is a weak base and ammonium phosphate is a conjugate acid that also includes a phosphate counterion that is itself a buffering chemical</a:t>
            </a:r>
            <a:endParaRPr lang="en-US" sz="1800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NaOH + NaCl</a:t>
            </a:r>
          </a:p>
          <a:p>
            <a:pPr marL="231775" lvl="1" indent="0">
              <a:buNone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No</a:t>
            </a:r>
            <a:r>
              <a:rPr lang="en-US" sz="1800" dirty="0">
                <a:sym typeface="Wingdings" panose="05000000000000000000" pitchFamily="2" charset="2"/>
              </a:rPr>
              <a:t> – Neither strong base sodium hydroxide or sodium chloride (not acid nor base) have properties as a weak acid or base required to be a buffering agent</a:t>
            </a:r>
            <a:endParaRPr lang="en-US" sz="1800" baseline="30000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8D475-9BD9-DCE0-702D-5F24823B70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3739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30307</TotalTime>
  <Words>3512</Words>
  <Application>Microsoft Office PowerPoint</Application>
  <PresentationFormat>On-screen Show (4:3)</PresentationFormat>
  <Paragraphs>373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Cambria</vt:lpstr>
      <vt:lpstr>Cambria Math</vt:lpstr>
      <vt:lpstr>Courier New</vt:lpstr>
      <vt:lpstr>Tahoma</vt:lpstr>
      <vt:lpstr>Times New Roman</vt:lpstr>
      <vt:lpstr>Verdana</vt:lpstr>
      <vt:lpstr>Wingdings</vt:lpstr>
      <vt:lpstr>Light-on-dark-standard-presentation</vt:lpstr>
      <vt:lpstr>Introductory General Chemistry</vt:lpstr>
      <vt:lpstr>PowerPoint Presentation</vt:lpstr>
      <vt:lpstr>The Equilibrium Symbol/Character</vt:lpstr>
      <vt:lpstr>Acids</vt:lpstr>
      <vt:lpstr>Acids</vt:lpstr>
      <vt:lpstr>PowerPoint Presentation</vt:lpstr>
      <vt:lpstr>Specific Acids</vt:lpstr>
      <vt:lpstr>Specific Acids</vt:lpstr>
      <vt:lpstr>Specific Acids</vt:lpstr>
      <vt:lpstr>Bases</vt:lpstr>
      <vt:lpstr>PowerPoint Presentation</vt:lpstr>
      <vt:lpstr>Specific Bases</vt:lpstr>
      <vt:lpstr>Specific Bases</vt:lpstr>
      <vt:lpstr>Specific Bases</vt:lpstr>
      <vt:lpstr>What Defines An Acid, A Base?</vt:lpstr>
      <vt:lpstr>What Defines An Acid, A Base?</vt:lpstr>
      <vt:lpstr>The Hydronium Ion (H3O+)</vt:lpstr>
      <vt:lpstr>Practice: Definitions of Acids/Bases</vt:lpstr>
      <vt:lpstr>Practice</vt:lpstr>
      <vt:lpstr>Conjugate Acid-Base Pair</vt:lpstr>
      <vt:lpstr>Acid-Base Reactions Forward and Reverse</vt:lpstr>
      <vt:lpstr>Strengths of Conjugate Pairs</vt:lpstr>
      <vt:lpstr>Practice: Conjugate Acid-Base Pairs</vt:lpstr>
      <vt:lpstr>Practice: Conjugate Acid-Base Pairs</vt:lpstr>
      <vt:lpstr>Practice: Conjugate Acid-Base Pairs</vt:lpstr>
      <vt:lpstr>Acid-Base Reactions: Neutralization</vt:lpstr>
      <vt:lpstr>Acid-Base Reactions: Neutralization</vt:lpstr>
      <vt:lpstr>Acid-Base Reactions: Active Metals</vt:lpstr>
      <vt:lpstr>Strong / Weak Acids &amp; Bases</vt:lpstr>
      <vt:lpstr>Practice: Strong &amp; Weak</vt:lpstr>
      <vt:lpstr>Water as an Acid and Base</vt:lpstr>
      <vt:lpstr>Kw = [H3O+][OH–] = 10–14</vt:lpstr>
      <vt:lpstr>Practice: Kw = [H3O+][OH–] = 10–14</vt:lpstr>
      <vt:lpstr>Practice: Kw = [H3O+][OH–] = 10–14</vt:lpstr>
      <vt:lpstr>pH Defined</vt:lpstr>
      <vt:lpstr>The pH Scale</vt:lpstr>
      <vt:lpstr>The Math of pH</vt:lpstr>
      <vt:lpstr>pOH</vt:lpstr>
      <vt:lpstr>Relating pH to pOH and [ ]</vt:lpstr>
      <vt:lpstr>Buffers: Resisting pH Change</vt:lpstr>
      <vt:lpstr>Mechanism of Buffering</vt:lpstr>
      <vt:lpstr>Practice: Buffers</vt:lpstr>
      <vt:lpstr>Practice: Buffers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sm h</cp:lastModifiedBy>
  <cp:revision>1162</cp:revision>
  <cp:lastPrinted>2016-03-14T04:22:58Z</cp:lastPrinted>
  <dcterms:created xsi:type="dcterms:W3CDTF">2005-12-08T13:54:14Z</dcterms:created>
  <dcterms:modified xsi:type="dcterms:W3CDTF">2025-11-12T23:05:29Z</dcterms:modified>
</cp:coreProperties>
</file>